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9c71a4c-04a3-87d8-47ed-cb7fca59295a}">
          <p14:sldIdLst>
            <p14:sldId id="256"/>
            <p14:sldId id="257"/>
          </p14:sldIdLst>
        </p14:section>
        <p14:section name="Who we are" id="{36fc9dee-cc08-3982-f85f-43df95d1ab3f}">
          <p14:sldIdLst>
            <p14:sldId id="258"/>
            <p14:sldId id="259"/>
            <p14:sldId id="260"/>
          </p14:sldIdLst>
        </p14:section>
        <p14:section name="The service" id="{fe39d8f4-9f8c-4713-e4cb-6cd338b2cc44}">
          <p14:sldIdLst>
            <p14:sldId id="261"/>
            <p14:sldId id="262"/>
            <p14:sldId id="263"/>
            <p14:sldId id="264"/>
            <p14:sldId id="265"/>
          </p14:sldIdLst>
        </p14:section>
        <p14:section name="Partnership" id="{6a605777-9a80-3bc5-ca6e-629ca580b156}">
          <p14:sldIdLst>
            <p14:sldId id="266"/>
            <p14:sldId id="267"/>
            <p14:sldId id="268"/>
            <p14:sldId id="269"/>
          </p14:sldIdLst>
        </p14:section>
        <p14:section name="Introducing" id="{39597cc3-18c2-b6a3-837c-780965e1c866}">
          <p14:sldIdLst>
            <p14:sldId id="270"/>
            <p14:sldId id="271"/>
            <p14:sldId id="272"/>
            <p14:sldId id="273"/>
            <p14:sldId id="274"/>
          </p14:sldIdLst>
        </p14:section>
        <p14:section name="Workflow" id="{be67749c-1152-0e70-0c78-6e5ebec26e37}">
          <p14:sldIdLst>
            <p14:sldId id="275"/>
            <p14:sldId id="276"/>
            <p14:sldId id="277"/>
            <p14:sldId id="278"/>
          </p14:sldIdLst>
        </p14:section>
        <p14:section name="Marketing" id="{0bcc920b-ada9-249e-4e40-e513e5590dd8}">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2238"/>
        </a:solidFill>
      </p:bgPr>
    </p:bg>
    <p:spTree>
      <p:nvGrpSpPr>
        <p:cNvPr id="1" name=""/>
        <p:cNvGrpSpPr/>
        <p:nvPr/>
      </p:nvGrpSpPr>
      <p:grpSpPr>
        <a:xfrm>
          <a:off x="0" y="0"/>
          <a:ext cx="0" cy="0"/>
          <a:chOff x="0" y="0"/>
          <a:chExt cx="0" cy="0"/>
        </a:xfrm>
      </p:grpSpPr>
      <p:pic>
        <p:nvPicPr>
          <p:cNvPr id="2" name="Image 0" descr="/tmp/claude-0/-home-user-aa/b81485da-2e22-5d10-878f-01904e6d5dc6/scratchpad/rk/logo_dark.png">    </p:cNvPr>
          <p:cNvPicPr>
            <a:picLocks noChangeAspect="1"/>
          </p:cNvPicPr>
          <p:nvPr/>
        </p:nvPicPr>
        <p:blipFill>
          <a:blip r:embed="rId1"/>
          <a:stretch>
            <a:fillRect/>
          </a:stretch>
        </p:blipFill>
        <p:spPr>
          <a:xfrm>
            <a:off x="365760" y="4681728"/>
            <a:ext cx="1675417" cy="274320"/>
          </a:xfrm>
          <a:prstGeom prst="rect">
            <a:avLst/>
          </a:prstGeom>
        </p:spPr>
      </p:pic>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tmp/claude-0/-home-user-aa/b81485da-2e22-5d10-878f-01904e6d5dc6/scratchpad/rk/logo_light.png">    </p:cNvPr>
          <p:cNvPicPr>
            <a:picLocks noChangeAspect="1"/>
          </p:cNvPicPr>
          <p:nvPr/>
        </p:nvPicPr>
        <p:blipFill>
          <a:blip r:embed="rId1"/>
          <a:stretch>
            <a:fillRect/>
          </a:stretch>
        </p:blipFill>
        <p:spPr>
          <a:xfrm>
            <a:off x="365760" y="4681728"/>
            <a:ext cx="1675417" cy="274320"/>
          </a:xfrm>
          <a:prstGeom prst="rect">
            <a:avLst/>
          </a:prstGeom>
        </p:spPr>
      </p:pic>
      <p:sp>
        <p:nvSpPr>
          <p:cNvPr id="3" name="Text 0"/>
          <p:cNvSpPr/>
          <p:nvPr>
            <p:ph idx="101" type="title" hasCustomPrompt="1"/>
          </p:nvPr>
        </p:nvSpPr>
        <p:spPr>
          <a:xfrm>
            <a:off x="457200" y="420624"/>
            <a:ext cx="8229600" cy="731520"/>
          </a:xfrm>
          <a:prstGeom prst="rect">
            <a:avLst/>
          </a:prstGeom>
          <a:noFill/>
          <a:ln/>
        </p:spPr>
        <p:txBody>
          <a:bodyPr wrap="square" rtlCol="0"/>
          <a:lstStyle>
            <a:lvl1pPr algn="l" indent="0" marL="0">
              <a:buNone/>
              <a:defRPr lang="en-US" sz="2600" b="1" dirty="0">
                <a:solidFill>
                  <a:srgbClr val="0E2238"/>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_DARK">
    <p:bg>
      <p:bgPr>
        <a:solidFill>
          <a:srgbClr val="0E223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3.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457200"/>
            <a:ext cx="8229600" cy="4229100"/>
          </a:xfrm>
          <a:prstGeom prst="rect">
            <a:avLst/>
          </a:prstGeom>
          <a:ln w="9525">
            <a:solidFill>
              <a:srgbClr val="B5723B"/>
            </a:solidFill>
            <a:prstDash val="solid"/>
          </a:ln>
        </p:spPr>
      </p:sp>
      <p:pic>
        <p:nvPicPr>
          <p:cNvPr id="3" name="Image 0" descr="/tmp/claude-0/-home-user-aa/b81485da-2e22-5d10-878f-01904e6d5dc6/scratchpad/rk/logo_dark.png">    </p:cNvPr>
          <p:cNvPicPr>
            <a:picLocks noChangeAspect="1"/>
          </p:cNvPicPr>
          <p:nvPr/>
        </p:nvPicPr>
        <p:blipFill>
          <a:blip r:embed="rId1"/>
          <a:stretch>
            <a:fillRect/>
          </a:stretch>
        </p:blipFill>
        <p:spPr>
          <a:xfrm>
            <a:off x="868680" y="868680"/>
            <a:ext cx="4021000" cy="658368"/>
          </a:xfrm>
          <a:prstGeom prst="rect">
            <a:avLst/>
          </a:prstGeom>
        </p:spPr>
      </p:pic>
      <p:sp>
        <p:nvSpPr>
          <p:cNvPr id="4" name="Text 1"/>
          <p:cNvSpPr txBox="1"/>
          <p:nvPr/>
        </p:nvSpPr>
        <p:spPr>
          <a:xfrm>
            <a:off x="868680" y="1965960"/>
            <a:ext cx="7406640" cy="1371600"/>
          </a:xfrm>
          <a:prstGeom prst="rect">
            <a:avLst/>
          </a:prstGeom>
          <a:noFill/>
          <a:ln/>
        </p:spPr>
        <p:txBody>
          <a:bodyPr wrap="square" lIns="0" tIns="0" rIns="0" bIns="0" rtlCol="0" anchor="ctr"/>
          <a:lstStyle/>
          <a:p>
            <a:pPr algn="l" indent="0" marL="0">
              <a:buNone/>
            </a:pPr>
            <a:r>
              <a:rPr lang="en-US" altLang="en-US" sz="3000" b="1" dirty="0">
                <a:solidFill>
                  <a:schemeClr val="bg1"/>
                </a:solidFill>
                <a:latin typeface="Cambria" pitchFamily="34" charset="0"/>
                <a:ea typeface="Cambria" pitchFamily="34" charset="-122"/>
                <a:cs typeface="Cambria" pitchFamily="34" charset="-120"/>
              </a:rPr>
              <a:t>Investor Legal Protection Program</a:t>
            </a:r>
            <a:endParaRPr lang="en-US" sz="3000" dirty="0"/>
          </a:p>
        </p:txBody>
      </p:sp>
      <p:sp>
        <p:nvSpPr>
          <p:cNvPr id="5" name="Text 2"/>
          <p:cNvSpPr txBox="1"/>
          <p:nvPr/>
        </p:nvSpPr>
        <p:spPr>
          <a:xfrm>
            <a:off x="868680" y="3383280"/>
            <a:ext cx="7406640" cy="548640"/>
          </a:xfrm>
          <a:prstGeom prst="rect">
            <a:avLst/>
          </a:prstGeom>
          <a:noFill/>
          <a:ln/>
        </p:spPr>
        <p:txBody>
          <a:bodyPr wrap="square" lIns="0" tIns="0" rIns="0" bIns="0" rtlCol="0" anchor="t"/>
          <a:lstStyle/>
          <a:p>
            <a:pPr algn="l" indent="0" marL="0">
              <a:buNone/>
            </a:pPr>
            <a:r>
              <a:rPr lang="en-US" altLang="en-US" sz="1500" dirty="0">
                <a:solidFill>
                  <a:schemeClr val="accent2"/>
                </a:solidFill>
              </a:rPr>
              <a:t>The detailed guide for partner brokerages: the service, the cooperation model, and how to introduce it to clients</a:t>
            </a:r>
            <a:endParaRPr lang="en-US" sz="1500" dirty="0"/>
          </a:p>
        </p:txBody>
      </p:sp>
      <p:sp>
        <p:nvSpPr>
          <p:cNvPr id="6" name="Text 3"/>
          <p:cNvSpPr txBox="1"/>
          <p:nvPr/>
        </p:nvSpPr>
        <p:spPr>
          <a:xfrm>
            <a:off x="868680" y="4023360"/>
            <a:ext cx="7406640" cy="365760"/>
          </a:xfrm>
          <a:prstGeom prst="rect">
            <a:avLst/>
          </a:prstGeom>
          <a:noFill/>
          <a:ln/>
        </p:spPr>
        <p:txBody>
          <a:bodyPr wrap="square" lIns="0" tIns="0" rIns="0" bIns="0" rtlCol="0" anchor="ctr"/>
          <a:lstStyle/>
          <a:p>
            <a:pPr algn="l" indent="0" marL="0">
              <a:buNone/>
            </a:pPr>
            <a:r>
              <a:rPr lang="en-US" altLang="en-US" sz="1000" dirty="0">
                <a:solidFill>
                  <a:schemeClr val="accent3"/>
                </a:solidFill>
              </a:rPr>
              <a:t>Rashid Alkaitoob Advocates &amp; Legal Consultants · Dubai</a:t>
            </a:r>
            <a:endParaRPr lang="en-US" sz="10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Contents</a:t>
            </a:r>
            <a:endParaRPr lang="en-US" sz="2600" dirty="0"/>
          </a:p>
        </p:txBody>
      </p:sp>
      <p:sp>
        <p:nvSpPr>
          <p:cNvPr id="3" name="Text 1"/>
          <p:cNvSpPr txBox="1"/>
          <p:nvPr/>
        </p:nvSpPr>
        <p:spPr>
          <a:xfrm>
            <a:off x="457200" y="1234440"/>
            <a:ext cx="457200" cy="530352"/>
          </a:xfrm>
          <a:prstGeom prst="rect">
            <a:avLst/>
          </a:prstGeom>
          <a:noFill/>
          <a:ln/>
        </p:spPr>
        <p:txBody>
          <a:bodyPr wrap="square" lIns="0" tIns="0" rIns="0" bIns="0" rtlCol="0" anchor="ctr"/>
          <a:lstStyle/>
          <a:p>
            <a:pPr algn="l"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4" name="Text 2"/>
          <p:cNvSpPr txBox="1"/>
          <p:nvPr/>
        </p:nvSpPr>
        <p:spPr>
          <a:xfrm>
            <a:off x="1005840" y="1234440"/>
            <a:ext cx="3474720" cy="530352"/>
          </a:xfrm>
          <a:prstGeom prst="rect">
            <a:avLst/>
          </a:prstGeom>
          <a:noFill/>
          <a:ln/>
        </p:spPr>
        <p:txBody>
          <a:bodyPr wrap="square" lIns="0" tIns="0" rIns="0" bIns="0" rtlCol="0" anchor="ctr"/>
          <a:lstStyle/>
          <a:p>
            <a:pPr algn="l" indent="0" marL="0">
              <a:buNone/>
            </a:pPr>
            <a:r>
              <a:rPr lang="en-US" altLang="en-US" sz="1350" dirty="0">
                <a:solidFill>
                  <a:schemeClr val="tx1"/>
                </a:solidFill>
              </a:rPr>
              <a:t>Who we are and why this matters to your clients</a:t>
            </a:r>
            <a:endParaRPr lang="en-US" sz="1350" dirty="0"/>
          </a:p>
        </p:txBody>
      </p:sp>
      <p:sp>
        <p:nvSpPr>
          <p:cNvPr id="5" name="Shape 3"/>
          <p:cNvSpPr/>
          <p:nvPr/>
        </p:nvSpPr>
        <p:spPr>
          <a:xfrm>
            <a:off x="457200" y="1801368"/>
            <a:ext cx="4023360" cy="0"/>
          </a:xfrm>
          <a:prstGeom prst="line">
            <a:avLst/>
          </a:prstGeom>
          <a:noFill/>
          <a:ln w="6350">
            <a:solidFill>
              <a:srgbClr val="E6E1D8"/>
            </a:solidFill>
            <a:prstDash val="solid"/>
          </a:ln>
        </p:spPr>
      </p:sp>
      <p:sp>
        <p:nvSpPr>
          <p:cNvPr id="6" name="Text 4"/>
          <p:cNvSpPr txBox="1"/>
          <p:nvPr/>
        </p:nvSpPr>
        <p:spPr>
          <a:xfrm>
            <a:off x="457200" y="1856232"/>
            <a:ext cx="457200" cy="530352"/>
          </a:xfrm>
          <a:prstGeom prst="rect">
            <a:avLst/>
          </a:prstGeom>
          <a:noFill/>
          <a:ln/>
        </p:spPr>
        <p:txBody>
          <a:bodyPr wrap="square" lIns="0" tIns="0" rIns="0" bIns="0" rtlCol="0" anchor="ctr"/>
          <a:lstStyle/>
          <a:p>
            <a:pPr algn="l"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7" name="Text 5"/>
          <p:cNvSpPr txBox="1"/>
          <p:nvPr/>
        </p:nvSpPr>
        <p:spPr>
          <a:xfrm>
            <a:off x="1005840" y="1856232"/>
            <a:ext cx="3474720" cy="530352"/>
          </a:xfrm>
          <a:prstGeom prst="rect">
            <a:avLst/>
          </a:prstGeom>
          <a:noFill/>
          <a:ln/>
        </p:spPr>
        <p:txBody>
          <a:bodyPr wrap="square" lIns="0" tIns="0" rIns="0" bIns="0" rtlCol="0" anchor="ctr"/>
          <a:lstStyle/>
          <a:p>
            <a:pPr algn="l" indent="0" marL="0">
              <a:buNone/>
            </a:pPr>
            <a:r>
              <a:rPr lang="en-US" altLang="en-US" sz="1350" dirty="0">
                <a:solidFill>
                  <a:schemeClr val="tx1"/>
                </a:solidFill>
              </a:rPr>
              <a:t>The service in detail: types and registries</a:t>
            </a:r>
            <a:endParaRPr lang="en-US" sz="1350" dirty="0"/>
          </a:p>
        </p:txBody>
      </p:sp>
      <p:sp>
        <p:nvSpPr>
          <p:cNvPr id="8" name="Shape 6"/>
          <p:cNvSpPr/>
          <p:nvPr/>
        </p:nvSpPr>
        <p:spPr>
          <a:xfrm>
            <a:off x="457200" y="2423160"/>
            <a:ext cx="4023360" cy="0"/>
          </a:xfrm>
          <a:prstGeom prst="line">
            <a:avLst/>
          </a:prstGeom>
          <a:noFill/>
          <a:ln w="6350">
            <a:solidFill>
              <a:srgbClr val="E6E1D8"/>
            </a:solidFill>
            <a:prstDash val="solid"/>
          </a:ln>
        </p:spPr>
      </p:sp>
      <p:sp>
        <p:nvSpPr>
          <p:cNvPr id="9" name="Text 7"/>
          <p:cNvSpPr txBox="1"/>
          <p:nvPr/>
        </p:nvSpPr>
        <p:spPr>
          <a:xfrm>
            <a:off x="457200" y="2478024"/>
            <a:ext cx="457200" cy="530352"/>
          </a:xfrm>
          <a:prstGeom prst="rect">
            <a:avLst/>
          </a:prstGeom>
          <a:noFill/>
          <a:ln/>
        </p:spPr>
        <p:txBody>
          <a:bodyPr wrap="square" lIns="0" tIns="0" rIns="0" bIns="0" rtlCol="0" anchor="ctr"/>
          <a:lstStyle/>
          <a:p>
            <a:pPr algn="l"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005840" y="2478024"/>
            <a:ext cx="3474720" cy="530352"/>
          </a:xfrm>
          <a:prstGeom prst="rect">
            <a:avLst/>
          </a:prstGeom>
          <a:noFill/>
          <a:ln/>
        </p:spPr>
        <p:txBody>
          <a:bodyPr wrap="square" lIns="0" tIns="0" rIns="0" bIns="0" rtlCol="0" anchor="ctr"/>
          <a:lstStyle/>
          <a:p>
            <a:pPr algn="l" indent="0" marL="0">
              <a:buNone/>
            </a:pPr>
            <a:r>
              <a:rPr lang="en-US" altLang="en-US" sz="1350" dirty="0">
                <a:solidFill>
                  <a:schemeClr val="tx1"/>
                </a:solidFill>
              </a:rPr>
              <a:t>Partnership model, agreement and commercial terms</a:t>
            </a:r>
            <a:endParaRPr lang="en-US" sz="1350" dirty="0"/>
          </a:p>
        </p:txBody>
      </p:sp>
      <p:sp>
        <p:nvSpPr>
          <p:cNvPr id="11" name="Shape 9"/>
          <p:cNvSpPr/>
          <p:nvPr/>
        </p:nvSpPr>
        <p:spPr>
          <a:xfrm>
            <a:off x="457200" y="3044952"/>
            <a:ext cx="4023360" cy="0"/>
          </a:xfrm>
          <a:prstGeom prst="line">
            <a:avLst/>
          </a:prstGeom>
          <a:noFill/>
          <a:ln w="6350">
            <a:solidFill>
              <a:srgbClr val="E6E1D8"/>
            </a:solidFill>
            <a:prstDash val="solid"/>
          </a:ln>
        </p:spPr>
      </p:sp>
      <p:sp>
        <p:nvSpPr>
          <p:cNvPr id="12" name="Text 10"/>
          <p:cNvSpPr txBox="1"/>
          <p:nvPr/>
        </p:nvSpPr>
        <p:spPr>
          <a:xfrm>
            <a:off x="457200" y="3099816"/>
            <a:ext cx="457200" cy="530352"/>
          </a:xfrm>
          <a:prstGeom prst="rect">
            <a:avLst/>
          </a:prstGeom>
          <a:noFill/>
          <a:ln/>
        </p:spPr>
        <p:txBody>
          <a:bodyPr wrap="square" lIns="0" tIns="0" rIns="0" bIns="0" rtlCol="0" anchor="ctr"/>
          <a:lstStyle/>
          <a:p>
            <a:pPr algn="l"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3" name="Text 11"/>
          <p:cNvSpPr txBox="1"/>
          <p:nvPr/>
        </p:nvSpPr>
        <p:spPr>
          <a:xfrm>
            <a:off x="1005840" y="3099816"/>
            <a:ext cx="3474720" cy="530352"/>
          </a:xfrm>
          <a:prstGeom prst="rect">
            <a:avLst/>
          </a:prstGeom>
          <a:noFill/>
          <a:ln/>
        </p:spPr>
        <p:txBody>
          <a:bodyPr wrap="square" lIns="0" tIns="0" rIns="0" bIns="0" rtlCol="0" anchor="ctr"/>
          <a:lstStyle/>
          <a:p>
            <a:pPr algn="l" indent="0" marL="0">
              <a:buNone/>
            </a:pPr>
            <a:r>
              <a:rPr lang="en-US" altLang="en-US" sz="1350" dirty="0">
                <a:solidFill>
                  <a:schemeClr val="tx1"/>
                </a:solidFill>
              </a:rPr>
              <a:t>How to introduce the service: timing and script</a:t>
            </a:r>
            <a:endParaRPr lang="en-US" sz="1350" dirty="0"/>
          </a:p>
        </p:txBody>
      </p:sp>
      <p:sp>
        <p:nvSpPr>
          <p:cNvPr id="14" name="Shape 12"/>
          <p:cNvSpPr/>
          <p:nvPr/>
        </p:nvSpPr>
        <p:spPr>
          <a:xfrm>
            <a:off x="457200" y="3666744"/>
            <a:ext cx="4023360" cy="0"/>
          </a:xfrm>
          <a:prstGeom prst="line">
            <a:avLst/>
          </a:prstGeom>
          <a:noFill/>
          <a:ln w="6350">
            <a:solidFill>
              <a:srgbClr val="E6E1D8"/>
            </a:solidFill>
            <a:prstDash val="solid"/>
          </a:ln>
        </p:spPr>
      </p:sp>
      <p:sp>
        <p:nvSpPr>
          <p:cNvPr id="15" name="Text 13"/>
          <p:cNvSpPr txBox="1"/>
          <p:nvPr/>
        </p:nvSpPr>
        <p:spPr>
          <a:xfrm>
            <a:off x="4663440" y="1234440"/>
            <a:ext cx="457200" cy="530352"/>
          </a:xfrm>
          <a:prstGeom prst="rect">
            <a:avLst/>
          </a:prstGeom>
          <a:noFill/>
          <a:ln/>
        </p:spPr>
        <p:txBody>
          <a:bodyPr wrap="square" lIns="0" tIns="0" rIns="0" bIns="0" rtlCol="0" anchor="ctr"/>
          <a:lstStyle/>
          <a:p>
            <a:pPr algn="l"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16" name="Text 14"/>
          <p:cNvSpPr txBox="1"/>
          <p:nvPr/>
        </p:nvSpPr>
        <p:spPr>
          <a:xfrm>
            <a:off x="5212080" y="1234440"/>
            <a:ext cx="3474720" cy="530352"/>
          </a:xfrm>
          <a:prstGeom prst="rect">
            <a:avLst/>
          </a:prstGeom>
          <a:noFill/>
          <a:ln/>
        </p:spPr>
        <p:txBody>
          <a:bodyPr wrap="square" lIns="0" tIns="0" rIns="0" bIns="0" rtlCol="0" anchor="ctr"/>
          <a:lstStyle/>
          <a:p>
            <a:pPr algn="l" indent="0" marL="0">
              <a:buNone/>
            </a:pPr>
            <a:r>
              <a:rPr lang="en-US" altLang="en-US" sz="1350" dirty="0">
                <a:solidFill>
                  <a:schemeClr val="tx1"/>
                </a:solidFill>
              </a:rPr>
              <a:t>What to say, what never to say, and the FAQ</a:t>
            </a:r>
            <a:endParaRPr lang="en-US" sz="1350" dirty="0"/>
          </a:p>
        </p:txBody>
      </p:sp>
      <p:sp>
        <p:nvSpPr>
          <p:cNvPr id="17" name="Shape 15"/>
          <p:cNvSpPr/>
          <p:nvPr/>
        </p:nvSpPr>
        <p:spPr>
          <a:xfrm>
            <a:off x="4663440" y="1801368"/>
            <a:ext cx="4023360" cy="0"/>
          </a:xfrm>
          <a:prstGeom prst="line">
            <a:avLst/>
          </a:prstGeom>
          <a:noFill/>
          <a:ln w="6350">
            <a:solidFill>
              <a:srgbClr val="E6E1D8"/>
            </a:solidFill>
            <a:prstDash val="solid"/>
          </a:ln>
        </p:spPr>
      </p:sp>
      <p:sp>
        <p:nvSpPr>
          <p:cNvPr id="18" name="Text 16"/>
          <p:cNvSpPr txBox="1"/>
          <p:nvPr/>
        </p:nvSpPr>
        <p:spPr>
          <a:xfrm>
            <a:off x="4663440" y="1856232"/>
            <a:ext cx="457200" cy="530352"/>
          </a:xfrm>
          <a:prstGeom prst="rect">
            <a:avLst/>
          </a:prstGeom>
          <a:noFill/>
          <a:ln/>
        </p:spPr>
        <p:txBody>
          <a:bodyPr wrap="square" lIns="0" tIns="0" rIns="0" bIns="0" rtlCol="0" anchor="ctr"/>
          <a:lstStyle/>
          <a:p>
            <a:pPr algn="l" indent="0" marL="0">
              <a:buNone/>
            </a:pPr>
            <a:r>
              <a:rPr lang="en-US" sz="1800" b="1" dirty="0">
                <a:solidFill>
                  <a:schemeClr val="accent1"/>
                </a:solidFill>
                <a:latin typeface="Cambria" pitchFamily="34" charset="0"/>
                <a:ea typeface="Cambria" pitchFamily="34" charset="-122"/>
                <a:cs typeface="Cambria" pitchFamily="34" charset="-120"/>
              </a:rPr>
              <a:t>06</a:t>
            </a:r>
            <a:endParaRPr lang="en-US" sz="1800" dirty="0"/>
          </a:p>
        </p:txBody>
      </p:sp>
      <p:sp>
        <p:nvSpPr>
          <p:cNvPr id="19" name="Text 17"/>
          <p:cNvSpPr txBox="1"/>
          <p:nvPr/>
        </p:nvSpPr>
        <p:spPr>
          <a:xfrm>
            <a:off x="5212080" y="1856232"/>
            <a:ext cx="3474720" cy="530352"/>
          </a:xfrm>
          <a:prstGeom prst="rect">
            <a:avLst/>
          </a:prstGeom>
          <a:noFill/>
          <a:ln/>
        </p:spPr>
        <p:txBody>
          <a:bodyPr wrap="square" lIns="0" tIns="0" rIns="0" bIns="0" rtlCol="0" anchor="ctr"/>
          <a:lstStyle/>
          <a:p>
            <a:pPr algn="l" indent="0" marL="0">
              <a:buNone/>
            </a:pPr>
            <a:r>
              <a:rPr lang="en-US" altLang="en-US" sz="1350" dirty="0">
                <a:solidFill>
                  <a:schemeClr val="tx1"/>
                </a:solidFill>
              </a:rPr>
              <a:t>Referral workflow, service levels and compliance</a:t>
            </a:r>
            <a:endParaRPr lang="en-US" sz="1350" dirty="0"/>
          </a:p>
        </p:txBody>
      </p:sp>
      <p:sp>
        <p:nvSpPr>
          <p:cNvPr id="20" name="Shape 18"/>
          <p:cNvSpPr/>
          <p:nvPr/>
        </p:nvSpPr>
        <p:spPr>
          <a:xfrm>
            <a:off x="4663440" y="2423160"/>
            <a:ext cx="4023360" cy="0"/>
          </a:xfrm>
          <a:prstGeom prst="line">
            <a:avLst/>
          </a:prstGeom>
          <a:noFill/>
          <a:ln w="6350">
            <a:solidFill>
              <a:srgbClr val="E6E1D8"/>
            </a:solidFill>
            <a:prstDash val="solid"/>
          </a:ln>
        </p:spPr>
      </p:sp>
      <p:sp>
        <p:nvSpPr>
          <p:cNvPr id="21" name="Text 19"/>
          <p:cNvSpPr txBox="1"/>
          <p:nvPr/>
        </p:nvSpPr>
        <p:spPr>
          <a:xfrm>
            <a:off x="4663440" y="2478024"/>
            <a:ext cx="457200" cy="530352"/>
          </a:xfrm>
          <a:prstGeom prst="rect">
            <a:avLst/>
          </a:prstGeom>
          <a:noFill/>
          <a:ln/>
        </p:spPr>
        <p:txBody>
          <a:bodyPr wrap="square" lIns="0" tIns="0" rIns="0" bIns="0" rtlCol="0" anchor="ctr"/>
          <a:lstStyle/>
          <a:p>
            <a:pPr algn="l" indent="0" marL="0">
              <a:buNone/>
            </a:pPr>
            <a:r>
              <a:rPr lang="en-US" sz="1800" b="1" dirty="0">
                <a:solidFill>
                  <a:schemeClr val="accent1"/>
                </a:solidFill>
                <a:latin typeface="Cambria" pitchFamily="34" charset="0"/>
                <a:ea typeface="Cambria" pitchFamily="34" charset="-122"/>
                <a:cs typeface="Cambria" pitchFamily="34" charset="-120"/>
              </a:rPr>
              <a:t>07</a:t>
            </a:r>
            <a:endParaRPr lang="en-US" sz="1800" dirty="0"/>
          </a:p>
        </p:txBody>
      </p:sp>
      <p:sp>
        <p:nvSpPr>
          <p:cNvPr id="22" name="Text 20"/>
          <p:cNvSpPr txBox="1"/>
          <p:nvPr/>
        </p:nvSpPr>
        <p:spPr>
          <a:xfrm>
            <a:off x="5212080" y="2478024"/>
            <a:ext cx="3474720" cy="530352"/>
          </a:xfrm>
          <a:prstGeom prst="rect">
            <a:avLst/>
          </a:prstGeom>
          <a:noFill/>
          <a:ln/>
        </p:spPr>
        <p:txBody>
          <a:bodyPr wrap="square" lIns="0" tIns="0" rIns="0" bIns="0" rtlCol="0" anchor="ctr"/>
          <a:lstStyle/>
          <a:p>
            <a:pPr algn="l" indent="0" marL="0">
              <a:buNone/>
            </a:pPr>
            <a:r>
              <a:rPr lang="en-US" altLang="en-US" sz="1350" dirty="0">
                <a:solidFill>
                  <a:schemeClr val="tx1"/>
                </a:solidFill>
              </a:rPr>
              <a:t>Joint marketing and the onboarding plan</a:t>
            </a:r>
            <a:endParaRPr lang="en-US" sz="1350" dirty="0"/>
          </a:p>
        </p:txBody>
      </p:sp>
      <p:sp>
        <p:nvSpPr>
          <p:cNvPr id="23" name="Shape 21"/>
          <p:cNvSpPr/>
          <p:nvPr/>
        </p:nvSpPr>
        <p:spPr>
          <a:xfrm>
            <a:off x="4663440" y="3044952"/>
            <a:ext cx="4023360" cy="0"/>
          </a:xfrm>
          <a:prstGeom prst="line">
            <a:avLst/>
          </a:prstGeom>
          <a:noFill/>
          <a:ln w="6350">
            <a:solidFill>
              <a:srgbClr val="E6E1D8"/>
            </a:solidFill>
            <a:prstDash val="solid"/>
          </a:ln>
        </p:spPr>
      </p:sp>
      <p:sp>
        <p:nvSpPr>
          <p:cNvPr id="24"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463040"/>
            <a:ext cx="1828800" cy="1463040"/>
          </a:xfrm>
          <a:prstGeom prst="rect">
            <a:avLst/>
          </a:prstGeom>
          <a:noFill/>
          <a:ln/>
        </p:spPr>
        <p:txBody>
          <a:bodyPr wrap="square" lIns="0" tIns="0" rIns="0" bIns="0" rtlCol="0" anchor="ctr"/>
          <a:lstStyle/>
          <a:p>
            <a:pPr algn="l" indent="0" marL="0">
              <a:buNone/>
            </a:pPr>
            <a:r>
              <a:rPr lang="en-US" sz="7200" dirty="0">
                <a:solidFill>
                  <a:schemeClr val="accent1"/>
                </a:solidFill>
                <a:latin typeface="Cambria" pitchFamily="34" charset="0"/>
                <a:ea typeface="Cambria" pitchFamily="34" charset="-122"/>
                <a:cs typeface="Cambria" pitchFamily="34" charset="-120"/>
              </a:rPr>
              <a:t>01</a:t>
            </a:r>
            <a:endParaRPr lang="en-US" sz="7200" dirty="0"/>
          </a:p>
        </p:txBody>
      </p:sp>
      <p:sp>
        <p:nvSpPr>
          <p:cNvPr id="3" name="Text 1"/>
          <p:cNvSpPr txBox="1"/>
          <p:nvPr/>
        </p:nvSpPr>
        <p:spPr>
          <a:xfrm>
            <a:off x="457200" y="2743200"/>
            <a:ext cx="7772400" cy="868680"/>
          </a:xfrm>
          <a:prstGeom prst="rect">
            <a:avLst/>
          </a:prstGeom>
          <a:noFill/>
          <a:ln/>
        </p:spPr>
        <p:txBody>
          <a:bodyPr wrap="square" lIns="0" tIns="0" rIns="0" bIns="0" rtlCol="0" anchor="b"/>
          <a:lstStyle/>
          <a:p>
            <a:pPr algn="l" indent="0" marL="0">
              <a:buNone/>
            </a:pPr>
            <a:r>
              <a:rPr lang="en-US" altLang="en-US" sz="3000" b="1" dirty="0">
                <a:solidFill>
                  <a:schemeClr val="bg1"/>
                </a:solidFill>
                <a:latin typeface="Cambria" pitchFamily="34" charset="0"/>
                <a:ea typeface="Cambria" pitchFamily="34" charset="-122"/>
                <a:cs typeface="Cambria" pitchFamily="34" charset="-120"/>
              </a:rPr>
              <a:t>Who we are and why this service</a:t>
            </a:r>
            <a:endParaRPr lang="en-US" sz="3000" dirty="0"/>
          </a:p>
        </p:txBody>
      </p:sp>
      <p:sp>
        <p:nvSpPr>
          <p:cNvPr id="4" name="Text 2"/>
          <p:cNvSpPr txBox="1"/>
          <p:nvPr/>
        </p:nvSpPr>
        <p:spPr>
          <a:xfrm>
            <a:off x="457200" y="3675888"/>
            <a:ext cx="7772400" cy="502920"/>
          </a:xfrm>
          <a:prstGeom prst="rect">
            <a:avLst/>
          </a:prstGeom>
          <a:noFill/>
          <a:ln/>
        </p:spPr>
        <p:txBody>
          <a:bodyPr wrap="square" lIns="0" tIns="0" rIns="0" bIns="0" rtlCol="0" anchor="t"/>
          <a:lstStyle/>
          <a:p>
            <a:pPr algn="l" indent="0" marL="0">
              <a:buNone/>
            </a:pPr>
            <a:r>
              <a:rPr lang="en-US" altLang="en-US" sz="1400" dirty="0">
                <a:solidFill>
                  <a:schemeClr val="accent2"/>
                </a:solidFill>
              </a:rPr>
              <a:t>A legal partner that protects your clients and raises the value of what you sell</a:t>
            </a:r>
            <a:endParaRPr lang="en-US" sz="14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Who we are</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RASHID ALKAITOOB ADVOCATES &amp; LEGAL CONSULTANTS</a:t>
            </a:r>
            <a:endParaRPr lang="en-US" sz="1000" dirty="0"/>
          </a:p>
        </p:txBody>
      </p:sp>
      <p:sp>
        <p:nvSpPr>
          <p:cNvPr id="4" name="Shape 2"/>
          <p:cNvSpPr/>
          <p:nvPr/>
        </p:nvSpPr>
        <p:spPr>
          <a:xfrm>
            <a:off x="457200" y="1188720"/>
            <a:ext cx="2590800" cy="1508760"/>
          </a:xfrm>
          <a:prstGeom prst="rect">
            <a:avLst/>
          </a:prstGeom>
          <a:solidFill>
            <a:srgbClr val="F4F1EB"/>
          </a:solidFill>
          <a:ln w="12700">
            <a:solidFill>
              <a:srgbClr val="F4F1EB"/>
            </a:solidFill>
            <a:prstDash val="solid"/>
          </a:ln>
        </p:spPr>
      </p:sp>
      <p:pic>
        <p:nvPicPr>
          <p:cNvPr id="5" name="icon FaBuildingColumns" descr="preencoded.png">    </p:cNvPr>
          <p:cNvPicPr>
            <a:picLocks noChangeAspect="1"/>
          </p:cNvPicPr>
          <p:nvPr/>
        </p:nvPicPr>
        <p:blipFill>
          <a:blip r:embed="rId1"/>
          <a:stretch>
            <a:fillRect/>
          </a:stretch>
        </p:blipFill>
        <p:spPr>
          <a:xfrm>
            <a:off x="658368" y="1389888"/>
            <a:ext cx="310896" cy="310896"/>
          </a:xfrm>
          <a:prstGeom prst="rect">
            <a:avLst/>
          </a:prstGeom>
        </p:spPr>
      </p:pic>
      <p:sp>
        <p:nvSpPr>
          <p:cNvPr id="6" name="Text 3"/>
          <p:cNvSpPr txBox="1"/>
          <p:nvPr/>
        </p:nvSpPr>
        <p:spPr>
          <a:xfrm>
            <a:off x="658368" y="182880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Licensed since 2014</a:t>
            </a:r>
            <a:endParaRPr lang="en-US" sz="1250" dirty="0"/>
          </a:p>
          <a:p>
            <a:pPr algn="l" indent="0" marL="0">
              <a:spcAft>
                <a:spcPts val="300"/>
              </a:spcAft>
              <a:buNone/>
            </a:pPr>
            <a:r>
              <a:rPr lang="en-US" altLang="en-US" sz="1050" dirty="0">
                <a:solidFill>
                  <a:schemeClr val="accent3"/>
                </a:solidFill>
              </a:rPr>
              <a:t>A UAE-licensed law firm on Sheikh Zayed Road, Dubai, representing individuals and companies before all court levels.</a:t>
            </a:r>
            <a:endParaRPr lang="en-US" sz="1250" dirty="0"/>
          </a:p>
        </p:txBody>
      </p:sp>
      <p:sp>
        <p:nvSpPr>
          <p:cNvPr id="7" name="Shape 4"/>
          <p:cNvSpPr/>
          <p:nvPr/>
        </p:nvSpPr>
        <p:spPr>
          <a:xfrm>
            <a:off x="3276600" y="1188720"/>
            <a:ext cx="2590800" cy="1508760"/>
          </a:xfrm>
          <a:prstGeom prst="rect">
            <a:avLst/>
          </a:prstGeom>
          <a:solidFill>
            <a:srgbClr val="F4F1EB"/>
          </a:solidFill>
          <a:ln w="12700">
            <a:solidFill>
              <a:srgbClr val="F4F1EB"/>
            </a:solidFill>
            <a:prstDash val="solid"/>
          </a:ln>
        </p:spPr>
      </p:sp>
      <p:pic>
        <p:nvPicPr>
          <p:cNvPr id="8" name="icon FaScaleBalanced" descr="preencoded.png">    </p:cNvPr>
          <p:cNvPicPr>
            <a:picLocks noChangeAspect="1"/>
          </p:cNvPicPr>
          <p:nvPr/>
        </p:nvPicPr>
        <p:blipFill>
          <a:blip r:embed="rId2"/>
          <a:stretch>
            <a:fillRect/>
          </a:stretch>
        </p:blipFill>
        <p:spPr>
          <a:xfrm>
            <a:off x="3477768" y="1389888"/>
            <a:ext cx="310896" cy="310896"/>
          </a:xfrm>
          <a:prstGeom prst="rect">
            <a:avLst/>
          </a:prstGeom>
        </p:spPr>
      </p:pic>
      <p:sp>
        <p:nvSpPr>
          <p:cNvPr id="9" name="Text 5"/>
          <p:cNvSpPr txBox="1"/>
          <p:nvPr/>
        </p:nvSpPr>
        <p:spPr>
          <a:xfrm>
            <a:off x="3477768" y="182880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10+ practice areas</a:t>
            </a:r>
            <a:endParaRPr lang="en-US" sz="1250" dirty="0"/>
          </a:p>
          <a:p>
            <a:pPr algn="l" indent="0" marL="0">
              <a:spcAft>
                <a:spcPts val="300"/>
              </a:spcAft>
              <a:buNone/>
            </a:pPr>
            <a:r>
              <a:rPr lang="en-US" altLang="en-US" sz="1050" dirty="0">
                <a:solidFill>
                  <a:schemeClr val="accent3"/>
                </a:solidFill>
              </a:rPr>
              <a:t>Real estate, corporate, arbitration, personal status and estates, AML compliance, IP and more.</a:t>
            </a:r>
            <a:endParaRPr lang="en-US" sz="1250" dirty="0"/>
          </a:p>
        </p:txBody>
      </p:sp>
      <p:sp>
        <p:nvSpPr>
          <p:cNvPr id="10" name="Shape 6"/>
          <p:cNvSpPr/>
          <p:nvPr/>
        </p:nvSpPr>
        <p:spPr>
          <a:xfrm>
            <a:off x="6096000" y="1188720"/>
            <a:ext cx="2590800" cy="1508760"/>
          </a:xfrm>
          <a:prstGeom prst="rect">
            <a:avLst/>
          </a:prstGeom>
          <a:solidFill>
            <a:srgbClr val="F4F1EB"/>
          </a:solidFill>
          <a:ln w="12700">
            <a:solidFill>
              <a:srgbClr val="F4F1EB"/>
            </a:solidFill>
            <a:prstDash val="solid"/>
          </a:ln>
        </p:spPr>
      </p:sp>
      <p:pic>
        <p:nvPicPr>
          <p:cNvPr id="11" name="icon FaGlobe" descr="preencoded.png">    </p:cNvPr>
          <p:cNvPicPr>
            <a:picLocks noChangeAspect="1"/>
          </p:cNvPicPr>
          <p:nvPr/>
        </p:nvPicPr>
        <p:blipFill>
          <a:blip r:embed="rId3"/>
          <a:stretch>
            <a:fillRect/>
          </a:stretch>
        </p:blipFill>
        <p:spPr>
          <a:xfrm>
            <a:off x="6297168" y="1389888"/>
            <a:ext cx="310896" cy="310896"/>
          </a:xfrm>
          <a:prstGeom prst="rect">
            <a:avLst/>
          </a:prstGeom>
        </p:spPr>
      </p:pic>
      <p:sp>
        <p:nvSpPr>
          <p:cNvPr id="12" name="Text 7"/>
          <p:cNvSpPr txBox="1"/>
          <p:nvPr/>
        </p:nvSpPr>
        <p:spPr>
          <a:xfrm>
            <a:off x="6297168" y="182880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Regional and international reach</a:t>
            </a:r>
            <a:endParaRPr lang="en-US" sz="1250" dirty="0"/>
          </a:p>
          <a:p>
            <a:pPr algn="l" indent="0" marL="0">
              <a:spcAft>
                <a:spcPts val="300"/>
              </a:spcAft>
              <a:buNone/>
            </a:pPr>
            <a:r>
              <a:rPr lang="en-US" altLang="en-US" sz="1050" dirty="0">
                <a:solidFill>
                  <a:schemeClr val="accent3"/>
                </a:solidFill>
              </a:rPr>
              <a:t>Established presence across the GCC and Asia, with a dedicated China desk for investors.</a:t>
            </a:r>
            <a:endParaRPr lang="en-US" sz="1250" dirty="0"/>
          </a:p>
        </p:txBody>
      </p:sp>
      <p:sp>
        <p:nvSpPr>
          <p:cNvPr id="13" name="Shape 8"/>
          <p:cNvSpPr/>
          <p:nvPr/>
        </p:nvSpPr>
        <p:spPr>
          <a:xfrm>
            <a:off x="457200" y="2926080"/>
            <a:ext cx="2590800" cy="1508760"/>
          </a:xfrm>
          <a:prstGeom prst="rect">
            <a:avLst/>
          </a:prstGeom>
          <a:solidFill>
            <a:srgbClr val="F4F1EB"/>
          </a:solidFill>
          <a:ln w="12700">
            <a:solidFill>
              <a:srgbClr val="F4F1EB"/>
            </a:solidFill>
            <a:prstDash val="solid"/>
          </a:ln>
        </p:spPr>
      </p:sp>
      <p:pic>
        <p:nvPicPr>
          <p:cNvPr id="14" name="icon FaLanguage" descr="preencoded.png">    </p:cNvPr>
          <p:cNvPicPr>
            <a:picLocks noChangeAspect="1"/>
          </p:cNvPicPr>
          <p:nvPr/>
        </p:nvPicPr>
        <p:blipFill>
          <a:blip r:embed="rId4"/>
          <a:stretch>
            <a:fillRect/>
          </a:stretch>
        </p:blipFill>
        <p:spPr>
          <a:xfrm>
            <a:off x="658368" y="3127248"/>
            <a:ext cx="310896" cy="310896"/>
          </a:xfrm>
          <a:prstGeom prst="rect">
            <a:avLst/>
          </a:prstGeom>
        </p:spPr>
      </p:pic>
      <p:sp>
        <p:nvSpPr>
          <p:cNvPr id="15" name="Text 9"/>
          <p:cNvSpPr txBox="1"/>
          <p:nvPr/>
        </p:nvSpPr>
        <p:spPr>
          <a:xfrm>
            <a:off x="658368" y="356616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Four working languages</a:t>
            </a:r>
            <a:endParaRPr lang="en-US" sz="1250" dirty="0"/>
          </a:p>
          <a:p>
            <a:pPr algn="l" indent="0" marL="0">
              <a:spcAft>
                <a:spcPts val="300"/>
              </a:spcAft>
              <a:buNone/>
            </a:pPr>
            <a:r>
              <a:rPr lang="en-US" altLang="en-US" sz="1050" dirty="0">
                <a:solidFill>
                  <a:schemeClr val="accent3"/>
                </a:solidFill>
              </a:rPr>
              <a:t>Arabic, English, Chinese and Russian, so every client speaks directly with their counsel.</a:t>
            </a:r>
            <a:endParaRPr lang="en-US" sz="1250" dirty="0"/>
          </a:p>
        </p:txBody>
      </p:sp>
      <p:sp>
        <p:nvSpPr>
          <p:cNvPr id="16" name="Shape 10"/>
          <p:cNvSpPr/>
          <p:nvPr/>
        </p:nvSpPr>
        <p:spPr>
          <a:xfrm>
            <a:off x="3276600" y="2926080"/>
            <a:ext cx="2590800" cy="1508760"/>
          </a:xfrm>
          <a:prstGeom prst="rect">
            <a:avLst/>
          </a:prstGeom>
          <a:solidFill>
            <a:srgbClr val="F4F1EB"/>
          </a:solidFill>
          <a:ln w="12700">
            <a:solidFill>
              <a:srgbClr val="F4F1EB"/>
            </a:solidFill>
            <a:prstDash val="solid"/>
          </a:ln>
        </p:spPr>
      </p:sp>
      <p:pic>
        <p:nvPicPr>
          <p:cNvPr id="17" name="icon FaHandshake" descr="preencoded.png">    </p:cNvPr>
          <p:cNvPicPr>
            <a:picLocks noChangeAspect="1"/>
          </p:cNvPicPr>
          <p:nvPr/>
        </p:nvPicPr>
        <p:blipFill>
          <a:blip r:embed="rId5"/>
          <a:stretch>
            <a:fillRect/>
          </a:stretch>
        </p:blipFill>
        <p:spPr>
          <a:xfrm>
            <a:off x="3477768" y="3127248"/>
            <a:ext cx="310896" cy="310896"/>
          </a:xfrm>
          <a:prstGeom prst="rect">
            <a:avLst/>
          </a:prstGeom>
        </p:spPr>
      </p:pic>
      <p:sp>
        <p:nvSpPr>
          <p:cNvPr id="18" name="Text 11"/>
          <p:cNvSpPr txBox="1"/>
          <p:nvPr/>
        </p:nvSpPr>
        <p:spPr>
          <a:xfrm>
            <a:off x="3477768" y="356616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Amicable settlement first</a:t>
            </a:r>
            <a:endParaRPr lang="en-US" sz="1250" dirty="0"/>
          </a:p>
          <a:p>
            <a:pPr algn="l" indent="0" marL="0">
              <a:spcAft>
                <a:spcPts val="300"/>
              </a:spcAft>
              <a:buNone/>
            </a:pPr>
            <a:r>
              <a:rPr lang="en-US" altLang="en-US" sz="1050" dirty="0">
                <a:solidFill>
                  <a:schemeClr val="accent3"/>
                </a:solidFill>
              </a:rPr>
              <a:t>We pursue negotiation and mediation before litigation wherever possible, for the best outcome at the least cost.</a:t>
            </a:r>
            <a:endParaRPr lang="en-US" sz="1250" dirty="0"/>
          </a:p>
        </p:txBody>
      </p:sp>
      <p:sp>
        <p:nvSpPr>
          <p:cNvPr id="19" name="Shape 12"/>
          <p:cNvSpPr/>
          <p:nvPr/>
        </p:nvSpPr>
        <p:spPr>
          <a:xfrm>
            <a:off x="6096000" y="2926080"/>
            <a:ext cx="2590800" cy="1508760"/>
          </a:xfrm>
          <a:prstGeom prst="rect">
            <a:avLst/>
          </a:prstGeom>
          <a:solidFill>
            <a:srgbClr val="F4F1EB"/>
          </a:solidFill>
          <a:ln w="12700">
            <a:solidFill>
              <a:srgbClr val="F4F1EB"/>
            </a:solidFill>
            <a:prstDash val="solid"/>
          </a:ln>
        </p:spPr>
      </p:sp>
      <p:pic>
        <p:nvPicPr>
          <p:cNvPr id="20" name="icon FaUserShield" descr="preencoded.png">    </p:cNvPr>
          <p:cNvPicPr>
            <a:picLocks noChangeAspect="1"/>
          </p:cNvPicPr>
          <p:nvPr/>
        </p:nvPicPr>
        <p:blipFill>
          <a:blip r:embed="rId6"/>
          <a:stretch>
            <a:fillRect/>
          </a:stretch>
        </p:blipFill>
        <p:spPr>
          <a:xfrm>
            <a:off x="6297168" y="3127248"/>
            <a:ext cx="310896" cy="310896"/>
          </a:xfrm>
          <a:prstGeom prst="rect">
            <a:avLst/>
          </a:prstGeom>
        </p:spPr>
      </p:pic>
      <p:sp>
        <p:nvSpPr>
          <p:cNvPr id="21" name="Text 13"/>
          <p:cNvSpPr txBox="1"/>
          <p:nvPr/>
        </p:nvSpPr>
        <p:spPr>
          <a:xfrm>
            <a:off x="6297168" y="356616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Client-focused approach</a:t>
            </a:r>
            <a:endParaRPr lang="en-US" sz="1250" dirty="0"/>
          </a:p>
          <a:p>
            <a:pPr algn="l" indent="0" marL="0">
              <a:spcAft>
                <a:spcPts val="300"/>
              </a:spcAft>
              <a:buNone/>
            </a:pPr>
            <a:r>
              <a:rPr lang="en-US" altLang="en-US" sz="1050" dirty="0">
                <a:solidFill>
                  <a:schemeClr val="accent3"/>
                </a:solidFill>
              </a:rPr>
              <a:t>Clear communication, scheduled updates, and practical solutions designed around each matter.</a:t>
            </a:r>
            <a:endParaRPr lang="en-US" sz="1250" dirty="0"/>
          </a:p>
        </p:txBody>
      </p:sp>
      <p:sp>
        <p:nvSpPr>
          <p:cNvPr id="22"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100" b="1" dirty="0">
                <a:solidFill>
                  <a:schemeClr val="tx1"/>
                </a:solidFill>
                <a:latin typeface="Cambria" pitchFamily="34" charset="0"/>
                <a:ea typeface="Cambria" pitchFamily="34" charset="-122"/>
                <a:cs typeface="Cambria" pitchFamily="34" charset="-120"/>
              </a:rPr>
              <a:t>What happens to your client without legal planning</a:t>
            </a:r>
            <a:endParaRPr lang="en-US" sz="21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PAIN POINTS</a:t>
            </a:r>
            <a:endParaRPr lang="en-US" sz="1000" dirty="0"/>
          </a:p>
        </p:txBody>
      </p:sp>
      <p:sp>
        <p:nvSpPr>
          <p:cNvPr id="4" name="Shape 2"/>
          <p:cNvSpPr/>
          <p:nvPr/>
        </p:nvSpPr>
        <p:spPr>
          <a:xfrm>
            <a:off x="457200" y="1188720"/>
            <a:ext cx="457200" cy="457200"/>
          </a:xfrm>
          <a:prstGeom prst="ellipse">
            <a:avLst/>
          </a:prstGeom>
          <a:solidFill>
            <a:srgbClr val="F4F1EB"/>
          </a:solidFill>
          <a:ln w="12700">
            <a:solidFill>
              <a:srgbClr val="F4F1EB"/>
            </a:solidFill>
            <a:prstDash val="solid"/>
          </a:ln>
        </p:spPr>
      </p:sp>
      <p:pic>
        <p:nvPicPr>
          <p:cNvPr id="5" name="icon FaLock" descr="preencoded.png">    </p:cNvPr>
          <p:cNvPicPr>
            <a:picLocks noChangeAspect="1"/>
          </p:cNvPicPr>
          <p:nvPr/>
        </p:nvPicPr>
        <p:blipFill>
          <a:blip r:embed="rId1"/>
          <a:stretch>
            <a:fillRect/>
          </a:stretch>
        </p:blipFill>
        <p:spPr>
          <a:xfrm>
            <a:off x="548640" y="1280160"/>
            <a:ext cx="274320" cy="274320"/>
          </a:xfrm>
          <a:prstGeom prst="rect">
            <a:avLst/>
          </a:prstGeom>
        </p:spPr>
      </p:pic>
      <p:sp>
        <p:nvSpPr>
          <p:cNvPr id="6" name="Text 3"/>
          <p:cNvSpPr txBox="1"/>
          <p:nvPr/>
        </p:nvSpPr>
        <p:spPr>
          <a:xfrm>
            <a:off x="1097280" y="1170432"/>
            <a:ext cx="4480560" cy="74980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Frozen bank accounts</a:t>
            </a:r>
            <a:endParaRPr lang="en-US" sz="1300" dirty="0"/>
          </a:p>
          <a:p>
            <a:pPr algn="l" indent="0" marL="0">
              <a:spcAft>
                <a:spcPts val="200"/>
              </a:spcAft>
              <a:buNone/>
            </a:pPr>
            <a:r>
              <a:rPr lang="en-US" altLang="en-US" sz="1100" dirty="0">
                <a:solidFill>
                  <a:schemeClr val="accent3"/>
                </a:solidFill>
              </a:rPr>
              <a:t>Accounts may be frozen until an estate distribution order issues, cutting off family expenses.</a:t>
            </a:r>
            <a:endParaRPr lang="en-US" sz="1300" dirty="0"/>
          </a:p>
        </p:txBody>
      </p:sp>
      <p:sp>
        <p:nvSpPr>
          <p:cNvPr id="7" name="Shape 4"/>
          <p:cNvSpPr/>
          <p:nvPr/>
        </p:nvSpPr>
        <p:spPr>
          <a:xfrm>
            <a:off x="457200" y="2011680"/>
            <a:ext cx="457200" cy="457200"/>
          </a:xfrm>
          <a:prstGeom prst="ellipse">
            <a:avLst/>
          </a:prstGeom>
          <a:solidFill>
            <a:srgbClr val="F4F1EB"/>
          </a:solidFill>
          <a:ln w="12700">
            <a:solidFill>
              <a:srgbClr val="F4F1EB"/>
            </a:solidFill>
            <a:prstDash val="solid"/>
          </a:ln>
        </p:spPr>
      </p:sp>
      <p:pic>
        <p:nvPicPr>
          <p:cNvPr id="8" name="icon FaHouseLock" descr="preencoded.png">    </p:cNvPr>
          <p:cNvPicPr>
            <a:picLocks noChangeAspect="1"/>
          </p:cNvPicPr>
          <p:nvPr/>
        </p:nvPicPr>
        <p:blipFill>
          <a:blip r:embed="rId2"/>
          <a:stretch>
            <a:fillRect/>
          </a:stretch>
        </p:blipFill>
        <p:spPr>
          <a:xfrm>
            <a:off x="548640" y="2103120"/>
            <a:ext cx="274320" cy="274320"/>
          </a:xfrm>
          <a:prstGeom prst="rect">
            <a:avLst/>
          </a:prstGeom>
        </p:spPr>
      </p:pic>
      <p:sp>
        <p:nvSpPr>
          <p:cNvPr id="9" name="Text 5"/>
          <p:cNvSpPr txBox="1"/>
          <p:nvPr/>
        </p:nvSpPr>
        <p:spPr>
          <a:xfrm>
            <a:off x="1097280" y="1993392"/>
            <a:ext cx="4480560" cy="74980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Blocked property transfer</a:t>
            </a:r>
            <a:endParaRPr lang="en-US" sz="1300" dirty="0"/>
          </a:p>
          <a:p>
            <a:pPr algn="l" indent="0" marL="0">
              <a:spcAft>
                <a:spcPts val="200"/>
              </a:spcAft>
              <a:buNone/>
            </a:pPr>
            <a:r>
              <a:rPr lang="en-US" altLang="en-US" sz="1100" dirty="0">
                <a:solidFill>
                  <a:schemeClr val="accent3"/>
                </a:solidFill>
              </a:rPr>
              <a:t>Procedures take longer and differ by nationality, religion and family status.</a:t>
            </a:r>
            <a:endParaRPr lang="en-US" sz="1300" dirty="0"/>
          </a:p>
        </p:txBody>
      </p:sp>
      <p:sp>
        <p:nvSpPr>
          <p:cNvPr id="10" name="Shape 6"/>
          <p:cNvSpPr/>
          <p:nvPr/>
        </p:nvSpPr>
        <p:spPr>
          <a:xfrm>
            <a:off x="457200" y="2834640"/>
            <a:ext cx="457200" cy="457200"/>
          </a:xfrm>
          <a:prstGeom prst="ellipse">
            <a:avLst/>
          </a:prstGeom>
          <a:solidFill>
            <a:srgbClr val="F4F1EB"/>
          </a:solidFill>
          <a:ln w="12700">
            <a:solidFill>
              <a:srgbClr val="F4F1EB"/>
            </a:solidFill>
            <a:prstDash val="solid"/>
          </a:ln>
        </p:spPr>
      </p:sp>
      <p:pic>
        <p:nvPicPr>
          <p:cNvPr id="11" name="icon FaPeopleArrows" descr="preencoded.png">    </p:cNvPr>
          <p:cNvPicPr>
            <a:picLocks noChangeAspect="1"/>
          </p:cNvPicPr>
          <p:nvPr/>
        </p:nvPicPr>
        <p:blipFill>
          <a:blip r:embed="rId3"/>
          <a:stretch>
            <a:fillRect/>
          </a:stretch>
        </p:blipFill>
        <p:spPr>
          <a:xfrm>
            <a:off x="548640" y="2926080"/>
            <a:ext cx="274320" cy="274320"/>
          </a:xfrm>
          <a:prstGeom prst="rect">
            <a:avLst/>
          </a:prstGeom>
        </p:spPr>
      </p:pic>
      <p:sp>
        <p:nvSpPr>
          <p:cNvPr id="12" name="Text 7"/>
          <p:cNvSpPr txBox="1"/>
          <p:nvPr/>
        </p:nvSpPr>
        <p:spPr>
          <a:xfrm>
            <a:off x="1097280" y="2816352"/>
            <a:ext cx="4480560" cy="74980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Family disputes</a:t>
            </a:r>
            <a:endParaRPr lang="en-US" sz="1300" dirty="0"/>
          </a:p>
          <a:p>
            <a:pPr algn="l" indent="0" marL="0">
              <a:spcAft>
                <a:spcPts val="200"/>
              </a:spcAft>
              <a:buNone/>
            </a:pPr>
            <a:r>
              <a:rPr lang="en-US" altLang="en-US" sz="1100" dirty="0">
                <a:solidFill>
                  <a:schemeClr val="accent3"/>
                </a:solidFill>
              </a:rPr>
              <a:t>No clear document invites disputes between heirs at home and abroad.</a:t>
            </a:r>
            <a:endParaRPr lang="en-US" sz="1300" dirty="0"/>
          </a:p>
        </p:txBody>
      </p:sp>
      <p:sp>
        <p:nvSpPr>
          <p:cNvPr id="13" name="Shape 8"/>
          <p:cNvSpPr/>
          <p:nvPr/>
        </p:nvSpPr>
        <p:spPr>
          <a:xfrm>
            <a:off x="457200" y="3657600"/>
            <a:ext cx="457200" cy="457200"/>
          </a:xfrm>
          <a:prstGeom prst="ellipse">
            <a:avLst/>
          </a:prstGeom>
          <a:solidFill>
            <a:srgbClr val="F4F1EB"/>
          </a:solidFill>
          <a:ln w="12700">
            <a:solidFill>
              <a:srgbClr val="F4F1EB"/>
            </a:solidFill>
            <a:prstDash val="solid"/>
          </a:ln>
        </p:spPr>
      </p:sp>
      <p:pic>
        <p:nvPicPr>
          <p:cNvPr id="14" name="icon FaChildren" descr="preencoded.png">    </p:cNvPr>
          <p:cNvPicPr>
            <a:picLocks noChangeAspect="1"/>
          </p:cNvPicPr>
          <p:nvPr/>
        </p:nvPicPr>
        <p:blipFill>
          <a:blip r:embed="rId4"/>
          <a:stretch>
            <a:fillRect/>
          </a:stretch>
        </p:blipFill>
        <p:spPr>
          <a:xfrm>
            <a:off x="548640" y="3749040"/>
            <a:ext cx="274320" cy="274320"/>
          </a:xfrm>
          <a:prstGeom prst="rect">
            <a:avLst/>
          </a:prstGeom>
        </p:spPr>
      </p:pic>
      <p:sp>
        <p:nvSpPr>
          <p:cNvPr id="15" name="Text 9"/>
          <p:cNvSpPr txBox="1"/>
          <p:nvPr/>
        </p:nvSpPr>
        <p:spPr>
          <a:xfrm>
            <a:off x="1097280" y="3639312"/>
            <a:ext cx="4480560" cy="74980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Problems for children and heirs</a:t>
            </a:r>
            <a:endParaRPr lang="en-US" sz="1300" dirty="0"/>
          </a:p>
          <a:p>
            <a:pPr algn="l" indent="0" marL="0">
              <a:spcAft>
                <a:spcPts val="200"/>
              </a:spcAft>
              <a:buNone/>
            </a:pPr>
            <a:r>
              <a:rPr lang="en-US" altLang="en-US" sz="1100" dirty="0">
                <a:solidFill>
                  <a:schemeClr val="accent3"/>
                </a:solidFill>
              </a:rPr>
              <a:t>No appointed guardian for minors and no clear path for their shares.</a:t>
            </a:r>
            <a:endParaRPr lang="en-US" sz="1300" dirty="0"/>
          </a:p>
        </p:txBody>
      </p:sp>
      <p:sp>
        <p:nvSpPr>
          <p:cNvPr id="16" name="Shape 10"/>
          <p:cNvSpPr/>
          <p:nvPr/>
        </p:nvSpPr>
        <p:spPr>
          <a:xfrm>
            <a:off x="5943600" y="1188720"/>
            <a:ext cx="2743200" cy="3246120"/>
          </a:xfrm>
          <a:prstGeom prst="rect">
            <a:avLst/>
          </a:prstGeom>
          <a:solidFill>
            <a:srgbClr val="0E2238"/>
          </a:solidFill>
          <a:ln w="12700">
            <a:solidFill>
              <a:srgbClr val="0E2238"/>
            </a:solidFill>
            <a:prstDash val="solid"/>
          </a:ln>
        </p:spPr>
      </p:sp>
      <p:sp>
        <p:nvSpPr>
          <p:cNvPr id="17" name="Shape 11"/>
          <p:cNvSpPr/>
          <p:nvPr/>
        </p:nvSpPr>
        <p:spPr>
          <a:xfrm>
            <a:off x="6053328" y="1298448"/>
            <a:ext cx="2523744" cy="3026664"/>
          </a:xfrm>
          <a:prstGeom prst="rect">
            <a:avLst/>
          </a:prstGeom>
          <a:ln w="9525">
            <a:solidFill>
              <a:srgbClr val="B5723B"/>
            </a:solidFill>
            <a:prstDash val="solid"/>
          </a:ln>
        </p:spPr>
      </p:sp>
      <p:sp>
        <p:nvSpPr>
          <p:cNvPr id="18" name="Text 12"/>
          <p:cNvSpPr txBox="1"/>
          <p:nvPr/>
        </p:nvSpPr>
        <p:spPr>
          <a:xfrm>
            <a:off x="6263640" y="1508760"/>
            <a:ext cx="2103120" cy="731520"/>
          </a:xfrm>
          <a:prstGeom prst="rect">
            <a:avLst/>
          </a:prstGeom>
          <a:noFill/>
          <a:ln/>
        </p:spPr>
        <p:txBody>
          <a:bodyPr wrap="square" lIns="0" tIns="0" rIns="0" bIns="0" rtlCol="0" anchor="t"/>
          <a:lstStyle/>
          <a:p>
            <a:pPr algn="l" indent="0" marL="0">
              <a:buNone/>
            </a:pPr>
            <a:r>
              <a:rPr lang="en-US" altLang="en-US" sz="1600" b="1" dirty="0">
                <a:solidFill>
                  <a:schemeClr val="accent1"/>
                </a:solidFill>
                <a:latin typeface="Cambria" pitchFamily="34" charset="0"/>
                <a:ea typeface="Cambria" pitchFamily="34" charset="-122"/>
                <a:cs typeface="Cambria" pitchFamily="34" charset="-120"/>
              </a:rPr>
              <a:t>The reality</a:t>
            </a:r>
            <a:endParaRPr lang="en-US" sz="1600" dirty="0"/>
          </a:p>
        </p:txBody>
      </p:sp>
      <p:sp>
        <p:nvSpPr>
          <p:cNvPr id="19" name="Text 13"/>
          <p:cNvSpPr txBox="1"/>
          <p:nvPr/>
        </p:nvSpPr>
        <p:spPr>
          <a:xfrm>
            <a:off x="6263640" y="2286000"/>
            <a:ext cx="2103120" cy="1920240"/>
          </a:xfrm>
          <a:prstGeom prst="rect">
            <a:avLst/>
          </a:prstGeom>
          <a:noFill/>
          <a:ln/>
        </p:spPr>
        <p:txBody>
          <a:bodyPr wrap="square" lIns="0" tIns="0" rIns="0" bIns="0" rtlCol="0" anchor="t"/>
          <a:lstStyle/>
          <a:p>
            <a:pPr algn="l" indent="0" marL="0">
              <a:buNone/>
            </a:pPr>
            <a:r>
              <a:rPr lang="en-US" altLang="en-US" sz="1150" dirty="0">
                <a:solidFill>
                  <a:schemeClr val="bg2"/>
                </a:solidFill>
              </a:rPr>
              <a:t>Most foreign buyers do not know UAE inheritance rules, and buy property worth millions of dirhams with no will and no legal structure.</a:t>
            </a:r>
            <a:endParaRPr lang="en-US" sz="1150" dirty="0"/>
          </a:p>
        </p:txBody>
      </p:sp>
      <p:sp>
        <p:nvSpPr>
          <p:cNvPr id="20"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463040"/>
            <a:ext cx="1828800" cy="1463040"/>
          </a:xfrm>
          <a:prstGeom prst="rect">
            <a:avLst/>
          </a:prstGeom>
          <a:noFill/>
          <a:ln/>
        </p:spPr>
        <p:txBody>
          <a:bodyPr wrap="square" lIns="0" tIns="0" rIns="0" bIns="0" rtlCol="0" anchor="ctr"/>
          <a:lstStyle/>
          <a:p>
            <a:pPr algn="l" indent="0" marL="0">
              <a:buNone/>
            </a:pPr>
            <a:r>
              <a:rPr lang="en-US" sz="7200" dirty="0">
                <a:solidFill>
                  <a:schemeClr val="accent1"/>
                </a:solidFill>
                <a:latin typeface="Cambria" pitchFamily="34" charset="0"/>
                <a:ea typeface="Cambria" pitchFamily="34" charset="-122"/>
                <a:cs typeface="Cambria" pitchFamily="34" charset="-120"/>
              </a:rPr>
              <a:t>02</a:t>
            </a:r>
            <a:endParaRPr lang="en-US" sz="7200" dirty="0"/>
          </a:p>
        </p:txBody>
      </p:sp>
      <p:sp>
        <p:nvSpPr>
          <p:cNvPr id="3" name="Text 1"/>
          <p:cNvSpPr txBox="1"/>
          <p:nvPr/>
        </p:nvSpPr>
        <p:spPr>
          <a:xfrm>
            <a:off x="457200" y="2743200"/>
            <a:ext cx="7772400" cy="868680"/>
          </a:xfrm>
          <a:prstGeom prst="rect">
            <a:avLst/>
          </a:prstGeom>
          <a:noFill/>
          <a:ln/>
        </p:spPr>
        <p:txBody>
          <a:bodyPr wrap="square" lIns="0" tIns="0" rIns="0" bIns="0" rtlCol="0" anchor="b"/>
          <a:lstStyle/>
          <a:p>
            <a:pPr algn="l" indent="0" marL="0">
              <a:buNone/>
            </a:pPr>
            <a:r>
              <a:rPr lang="en-US" altLang="en-US" sz="3000" b="1" dirty="0">
                <a:solidFill>
                  <a:schemeClr val="bg1"/>
                </a:solidFill>
                <a:latin typeface="Cambria" pitchFamily="34" charset="0"/>
                <a:ea typeface="Cambria" pitchFamily="34" charset="-122"/>
                <a:cs typeface="Cambria" pitchFamily="34" charset="-120"/>
              </a:rPr>
              <a:t>The service in detail</a:t>
            </a:r>
            <a:endParaRPr lang="en-US" sz="3000" dirty="0"/>
          </a:p>
        </p:txBody>
      </p:sp>
      <p:sp>
        <p:nvSpPr>
          <p:cNvPr id="4" name="Text 2"/>
          <p:cNvSpPr txBox="1"/>
          <p:nvPr/>
        </p:nvSpPr>
        <p:spPr>
          <a:xfrm>
            <a:off x="457200" y="3675888"/>
            <a:ext cx="7772400" cy="502920"/>
          </a:xfrm>
          <a:prstGeom prst="rect">
            <a:avLst/>
          </a:prstGeom>
          <a:noFill/>
          <a:ln/>
        </p:spPr>
        <p:txBody>
          <a:bodyPr wrap="square" lIns="0" tIns="0" rIns="0" bIns="0" rtlCol="0" anchor="t"/>
          <a:lstStyle/>
          <a:p>
            <a:pPr algn="l" indent="0" marL="0">
              <a:buNone/>
            </a:pPr>
            <a:r>
              <a:rPr lang="en-US" altLang="en-US" sz="1400" dirty="0">
                <a:solidFill>
                  <a:schemeClr val="accent2"/>
                </a:solidFill>
              </a:rPr>
              <a:t>Not “writing a will”, but integrated protection of assets, family and investment</a:t>
            </a:r>
            <a:endParaRPr lang="en-US" sz="14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Our asset protection and estate services</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SERVICE CATALOGUE</a:t>
            </a:r>
            <a:endParaRPr lang="en-US" sz="1000" dirty="0"/>
          </a:p>
        </p:txBody>
      </p:sp>
      <p:sp>
        <p:nvSpPr>
          <p:cNvPr id="4" name="Shape 2"/>
          <p:cNvSpPr/>
          <p:nvPr/>
        </p:nvSpPr>
        <p:spPr>
          <a:xfrm>
            <a:off x="457200" y="1188720"/>
            <a:ext cx="1885950" cy="1508760"/>
          </a:xfrm>
          <a:prstGeom prst="rect">
            <a:avLst/>
          </a:prstGeom>
          <a:solidFill>
            <a:srgbClr val="F4F1EB"/>
          </a:solidFill>
          <a:ln w="12700">
            <a:solidFill>
              <a:srgbClr val="F4F1EB"/>
            </a:solidFill>
            <a:prstDash val="solid"/>
          </a:ln>
        </p:spPr>
      </p:sp>
      <p:pic>
        <p:nvPicPr>
          <p:cNvPr id="5" name="icon FaFileSignature" descr="preencoded.png">    </p:cNvPr>
          <p:cNvPicPr>
            <a:picLocks noChangeAspect="1"/>
          </p:cNvPicPr>
          <p:nvPr/>
        </p:nvPicPr>
        <p:blipFill>
          <a:blip r:embed="rId1"/>
          <a:stretch>
            <a:fillRect/>
          </a:stretch>
        </p:blipFill>
        <p:spPr>
          <a:xfrm>
            <a:off x="658368" y="1389888"/>
            <a:ext cx="310896" cy="310896"/>
          </a:xfrm>
          <a:prstGeom prst="rect">
            <a:avLst/>
          </a:prstGeom>
        </p:spPr>
      </p:pic>
      <p:sp>
        <p:nvSpPr>
          <p:cNvPr id="6" name="Text 3"/>
          <p:cNvSpPr txBox="1"/>
          <p:nvPr/>
        </p:nvSpPr>
        <p:spPr>
          <a:xfrm>
            <a:off x="658368" y="1828800"/>
            <a:ext cx="148361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Will drafting</a:t>
            </a:r>
            <a:endParaRPr lang="en-US" sz="1250" dirty="0"/>
          </a:p>
          <a:p>
            <a:pPr algn="l" indent="0" marL="0">
              <a:spcAft>
                <a:spcPts val="300"/>
              </a:spcAft>
              <a:buNone/>
            </a:pPr>
            <a:r>
              <a:rPr lang="en-US" altLang="en-US" sz="1050" dirty="0">
                <a:solidFill>
                  <a:schemeClr val="accent3"/>
                </a:solidFill>
              </a:rPr>
              <a:t>A legally sound will tailored to the client's nationality, family and assets.</a:t>
            </a:r>
            <a:endParaRPr lang="en-US" sz="1250" dirty="0"/>
          </a:p>
        </p:txBody>
      </p:sp>
      <p:sp>
        <p:nvSpPr>
          <p:cNvPr id="7" name="Shape 4"/>
          <p:cNvSpPr/>
          <p:nvPr/>
        </p:nvSpPr>
        <p:spPr>
          <a:xfrm>
            <a:off x="2571750" y="1188720"/>
            <a:ext cx="1885950" cy="1508760"/>
          </a:xfrm>
          <a:prstGeom prst="rect">
            <a:avLst/>
          </a:prstGeom>
          <a:solidFill>
            <a:srgbClr val="F4F1EB"/>
          </a:solidFill>
          <a:ln w="12700">
            <a:solidFill>
              <a:srgbClr val="F4F1EB"/>
            </a:solidFill>
            <a:prstDash val="solid"/>
          </a:ln>
        </p:spPr>
      </p:sp>
      <p:pic>
        <p:nvPicPr>
          <p:cNvPr id="8" name="icon FaStamp" descr="preencoded.png">    </p:cNvPr>
          <p:cNvPicPr>
            <a:picLocks noChangeAspect="1"/>
          </p:cNvPicPr>
          <p:nvPr/>
        </p:nvPicPr>
        <p:blipFill>
          <a:blip r:embed="rId2"/>
          <a:stretch>
            <a:fillRect/>
          </a:stretch>
        </p:blipFill>
        <p:spPr>
          <a:xfrm>
            <a:off x="2772918" y="1389888"/>
            <a:ext cx="310896" cy="310896"/>
          </a:xfrm>
          <a:prstGeom prst="rect">
            <a:avLst/>
          </a:prstGeom>
        </p:spPr>
      </p:pic>
      <p:sp>
        <p:nvSpPr>
          <p:cNvPr id="9" name="Text 5"/>
          <p:cNvSpPr txBox="1"/>
          <p:nvPr/>
        </p:nvSpPr>
        <p:spPr>
          <a:xfrm>
            <a:off x="2772918" y="1828800"/>
            <a:ext cx="148361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Will registration</a:t>
            </a:r>
            <a:endParaRPr lang="en-US" sz="1250" dirty="0"/>
          </a:p>
          <a:p>
            <a:pPr algn="l" indent="0" marL="0">
              <a:spcAft>
                <a:spcPts val="300"/>
              </a:spcAft>
              <a:buNone/>
            </a:pPr>
            <a:r>
              <a:rPr lang="en-US" altLang="en-US" sz="1050" dirty="0">
                <a:solidFill>
                  <a:schemeClr val="accent3"/>
                </a:solidFill>
              </a:rPr>
              <a:t>Registration with the right authority: Dubai Courts, Abu Dhabi, DIFC or ADGM.</a:t>
            </a:r>
            <a:endParaRPr lang="en-US" sz="1250" dirty="0"/>
          </a:p>
        </p:txBody>
      </p:sp>
      <p:sp>
        <p:nvSpPr>
          <p:cNvPr id="10" name="Shape 6"/>
          <p:cNvSpPr/>
          <p:nvPr/>
        </p:nvSpPr>
        <p:spPr>
          <a:xfrm>
            <a:off x="4686300" y="1188720"/>
            <a:ext cx="1885950" cy="1508760"/>
          </a:xfrm>
          <a:prstGeom prst="rect">
            <a:avLst/>
          </a:prstGeom>
          <a:solidFill>
            <a:srgbClr val="F4F1EB"/>
          </a:solidFill>
          <a:ln w="12700">
            <a:solidFill>
              <a:srgbClr val="F4F1EB"/>
            </a:solidFill>
            <a:prstDash val="solid"/>
          </a:ln>
        </p:spPr>
      </p:sp>
      <p:pic>
        <p:nvPicPr>
          <p:cNvPr id="11" name="icon FaSitemap" descr="preencoded.png">    </p:cNvPr>
          <p:cNvPicPr>
            <a:picLocks noChangeAspect="1"/>
          </p:cNvPicPr>
          <p:nvPr/>
        </p:nvPicPr>
        <p:blipFill>
          <a:blip r:embed="rId3"/>
          <a:stretch>
            <a:fillRect/>
          </a:stretch>
        </p:blipFill>
        <p:spPr>
          <a:xfrm>
            <a:off x="4887468" y="1389888"/>
            <a:ext cx="310896" cy="310896"/>
          </a:xfrm>
          <a:prstGeom prst="rect">
            <a:avLst/>
          </a:prstGeom>
        </p:spPr>
      </p:pic>
      <p:sp>
        <p:nvSpPr>
          <p:cNvPr id="12" name="Text 7"/>
          <p:cNvSpPr txBox="1"/>
          <p:nvPr/>
        </p:nvSpPr>
        <p:spPr>
          <a:xfrm>
            <a:off x="4887468" y="1828800"/>
            <a:ext cx="148361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Estate and asset structuring</a:t>
            </a:r>
            <a:endParaRPr lang="en-US" sz="1250" dirty="0"/>
          </a:p>
          <a:p>
            <a:pPr algn="l" indent="0" marL="0">
              <a:spcAft>
                <a:spcPts val="300"/>
              </a:spcAft>
              <a:buNone/>
            </a:pPr>
            <a:r>
              <a:rPr lang="en-US" altLang="en-US" sz="1050" dirty="0">
                <a:solidFill>
                  <a:schemeClr val="accent3"/>
                </a:solidFill>
              </a:rPr>
              <a:t>Arranging succession in advance to prevent freezes and disputes.</a:t>
            </a:r>
            <a:endParaRPr lang="en-US" sz="1250" dirty="0"/>
          </a:p>
        </p:txBody>
      </p:sp>
      <p:sp>
        <p:nvSpPr>
          <p:cNvPr id="13" name="Shape 8"/>
          <p:cNvSpPr/>
          <p:nvPr/>
        </p:nvSpPr>
        <p:spPr>
          <a:xfrm>
            <a:off x="6800850" y="1188720"/>
            <a:ext cx="1885950" cy="1508760"/>
          </a:xfrm>
          <a:prstGeom prst="rect">
            <a:avLst/>
          </a:prstGeom>
          <a:solidFill>
            <a:srgbClr val="F4F1EB"/>
          </a:solidFill>
          <a:ln w="12700">
            <a:solidFill>
              <a:srgbClr val="F4F1EB"/>
            </a:solidFill>
            <a:prstDash val="solid"/>
          </a:ln>
        </p:spPr>
      </p:sp>
      <p:pic>
        <p:nvPicPr>
          <p:cNvPr id="14" name="icon FaUserShield" descr="preencoded.png">    </p:cNvPr>
          <p:cNvPicPr>
            <a:picLocks noChangeAspect="1"/>
          </p:cNvPicPr>
          <p:nvPr/>
        </p:nvPicPr>
        <p:blipFill>
          <a:blip r:embed="rId4"/>
          <a:stretch>
            <a:fillRect/>
          </a:stretch>
        </p:blipFill>
        <p:spPr>
          <a:xfrm>
            <a:off x="7002018" y="1389888"/>
            <a:ext cx="310896" cy="310896"/>
          </a:xfrm>
          <a:prstGeom prst="rect">
            <a:avLst/>
          </a:prstGeom>
        </p:spPr>
      </p:pic>
      <p:sp>
        <p:nvSpPr>
          <p:cNvPr id="15" name="Text 9"/>
          <p:cNvSpPr txBox="1"/>
          <p:nvPr/>
        </p:nvSpPr>
        <p:spPr>
          <a:xfrm>
            <a:off x="7002018" y="1828800"/>
            <a:ext cx="148361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Foreign investor protection</a:t>
            </a:r>
            <a:endParaRPr lang="en-US" sz="1250" dirty="0"/>
          </a:p>
          <a:p>
            <a:pPr algn="l" indent="0" marL="0">
              <a:spcAft>
                <a:spcPts val="300"/>
              </a:spcAft>
              <a:buNone/>
            </a:pPr>
            <a:r>
              <a:rPr lang="en-US" altLang="en-US" sz="1050" dirty="0">
                <a:solidFill>
                  <a:schemeClr val="accent3"/>
                </a:solidFill>
              </a:rPr>
              <a:t>Solutions under Sharia or foreign law, according to each client's situation.</a:t>
            </a:r>
            <a:endParaRPr lang="en-US" sz="1250" dirty="0"/>
          </a:p>
        </p:txBody>
      </p:sp>
      <p:sp>
        <p:nvSpPr>
          <p:cNvPr id="16" name="Shape 10"/>
          <p:cNvSpPr/>
          <p:nvPr/>
        </p:nvSpPr>
        <p:spPr>
          <a:xfrm>
            <a:off x="457200" y="2926080"/>
            <a:ext cx="1885950" cy="1508760"/>
          </a:xfrm>
          <a:prstGeom prst="rect">
            <a:avLst/>
          </a:prstGeom>
          <a:solidFill>
            <a:srgbClr val="F4F1EB"/>
          </a:solidFill>
          <a:ln w="12700">
            <a:solidFill>
              <a:srgbClr val="F4F1EB"/>
            </a:solidFill>
            <a:prstDash val="solid"/>
          </a:ln>
        </p:spPr>
      </p:sp>
      <p:pic>
        <p:nvPicPr>
          <p:cNvPr id="17" name="icon FaKey" descr="preencoded.png">    </p:cNvPr>
          <p:cNvPicPr>
            <a:picLocks noChangeAspect="1"/>
          </p:cNvPicPr>
          <p:nvPr/>
        </p:nvPicPr>
        <p:blipFill>
          <a:blip r:embed="rId5"/>
          <a:stretch>
            <a:fillRect/>
          </a:stretch>
        </p:blipFill>
        <p:spPr>
          <a:xfrm>
            <a:off x="658368" y="3127248"/>
            <a:ext cx="310896" cy="310896"/>
          </a:xfrm>
          <a:prstGeom prst="rect">
            <a:avLst/>
          </a:prstGeom>
        </p:spPr>
      </p:pic>
      <p:sp>
        <p:nvSpPr>
          <p:cNvPr id="18" name="Text 11"/>
          <p:cNvSpPr txBox="1"/>
          <p:nvPr/>
        </p:nvSpPr>
        <p:spPr>
          <a:xfrm>
            <a:off x="658368" y="3566160"/>
            <a:ext cx="148361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Ownership transfer after death</a:t>
            </a:r>
            <a:endParaRPr lang="en-US" sz="1250" dirty="0"/>
          </a:p>
          <a:p>
            <a:pPr algn="l" indent="0" marL="0">
              <a:spcAft>
                <a:spcPts val="300"/>
              </a:spcAft>
              <a:buNone/>
            </a:pPr>
            <a:r>
              <a:rPr lang="en-US" altLang="en-US" sz="1050" dirty="0">
                <a:solidFill>
                  <a:schemeClr val="accent3"/>
                </a:solidFill>
              </a:rPr>
              <a:t>Representing heirs and completing property and account transfers.</a:t>
            </a:r>
            <a:endParaRPr lang="en-US" sz="1250" dirty="0"/>
          </a:p>
        </p:txBody>
      </p:sp>
      <p:sp>
        <p:nvSpPr>
          <p:cNvPr id="19" name="Shape 12"/>
          <p:cNvSpPr/>
          <p:nvPr/>
        </p:nvSpPr>
        <p:spPr>
          <a:xfrm>
            <a:off x="2571750" y="2926080"/>
            <a:ext cx="1885950" cy="1508760"/>
          </a:xfrm>
          <a:prstGeom prst="rect">
            <a:avLst/>
          </a:prstGeom>
          <a:solidFill>
            <a:srgbClr val="F4F1EB"/>
          </a:solidFill>
          <a:ln w="12700">
            <a:solidFill>
              <a:srgbClr val="F4F1EB"/>
            </a:solidFill>
            <a:prstDash val="solid"/>
          </a:ln>
        </p:spPr>
      </p:sp>
      <p:pic>
        <p:nvPicPr>
          <p:cNvPr id="20" name="icon FaBuilding" descr="preencoded.png">    </p:cNvPr>
          <p:cNvPicPr>
            <a:picLocks noChangeAspect="1"/>
          </p:cNvPicPr>
          <p:nvPr/>
        </p:nvPicPr>
        <p:blipFill>
          <a:blip r:embed="rId6"/>
          <a:stretch>
            <a:fillRect/>
          </a:stretch>
        </p:blipFill>
        <p:spPr>
          <a:xfrm>
            <a:off x="2772918" y="3127248"/>
            <a:ext cx="310896" cy="310896"/>
          </a:xfrm>
          <a:prstGeom prst="rect">
            <a:avLst/>
          </a:prstGeom>
        </p:spPr>
      </p:pic>
      <p:sp>
        <p:nvSpPr>
          <p:cNvPr id="21" name="Text 13"/>
          <p:cNvSpPr txBox="1"/>
          <p:nvPr/>
        </p:nvSpPr>
        <p:spPr>
          <a:xfrm>
            <a:off x="2772918" y="3566160"/>
            <a:ext cx="148361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Holding / SPV formation</a:t>
            </a:r>
            <a:endParaRPr lang="en-US" sz="1250" dirty="0"/>
          </a:p>
          <a:p>
            <a:pPr algn="l" indent="0" marL="0">
              <a:spcAft>
                <a:spcPts val="300"/>
              </a:spcAft>
              <a:buNone/>
            </a:pPr>
            <a:r>
              <a:rPr lang="en-US" altLang="en-US" sz="1050" dirty="0">
                <a:solidFill>
                  <a:schemeClr val="accent3"/>
                </a:solidFill>
              </a:rPr>
              <a:t>Holding structures linked to the succession plan to protect investments.</a:t>
            </a:r>
            <a:endParaRPr lang="en-US" sz="1250" dirty="0"/>
          </a:p>
        </p:txBody>
      </p:sp>
      <p:sp>
        <p:nvSpPr>
          <p:cNvPr id="22" name="Shape 14"/>
          <p:cNvSpPr/>
          <p:nvPr/>
        </p:nvSpPr>
        <p:spPr>
          <a:xfrm>
            <a:off x="4686300" y="2926080"/>
            <a:ext cx="1885950" cy="1508760"/>
          </a:xfrm>
          <a:prstGeom prst="rect">
            <a:avLst/>
          </a:prstGeom>
          <a:solidFill>
            <a:srgbClr val="F4F1EB"/>
          </a:solidFill>
          <a:ln w="12700">
            <a:solidFill>
              <a:srgbClr val="F4F1EB"/>
            </a:solidFill>
            <a:prstDash val="solid"/>
          </a:ln>
        </p:spPr>
      </p:sp>
      <p:pic>
        <p:nvPicPr>
          <p:cNvPr id="23" name="icon FaHouse" descr="preencoded.png">    </p:cNvPr>
          <p:cNvPicPr>
            <a:picLocks noChangeAspect="1"/>
          </p:cNvPicPr>
          <p:nvPr/>
        </p:nvPicPr>
        <p:blipFill>
          <a:blip r:embed="rId7"/>
          <a:stretch>
            <a:fillRect/>
          </a:stretch>
        </p:blipFill>
        <p:spPr>
          <a:xfrm>
            <a:off x="4887468" y="3127248"/>
            <a:ext cx="310896" cy="310896"/>
          </a:xfrm>
          <a:prstGeom prst="rect">
            <a:avLst/>
          </a:prstGeom>
        </p:spPr>
      </p:pic>
      <p:sp>
        <p:nvSpPr>
          <p:cNvPr id="24" name="Text 15"/>
          <p:cNvSpPr txBox="1"/>
          <p:nvPr/>
        </p:nvSpPr>
        <p:spPr>
          <a:xfrm>
            <a:off x="4887468" y="3566160"/>
            <a:ext cx="148361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Property and business wills</a:t>
            </a:r>
            <a:endParaRPr lang="en-US" sz="1250" dirty="0"/>
          </a:p>
          <a:p>
            <a:pPr algn="l" indent="0" marL="0">
              <a:spcAft>
                <a:spcPts val="300"/>
              </a:spcAft>
              <a:buNone/>
            </a:pPr>
            <a:r>
              <a:rPr lang="en-US" altLang="en-US" sz="1050" dirty="0">
                <a:solidFill>
                  <a:schemeClr val="accent3"/>
                </a:solidFill>
              </a:rPr>
              <a:t>Wills limited to real estate, or covering company shares and businesses.</a:t>
            </a:r>
            <a:endParaRPr lang="en-US" sz="1250" dirty="0"/>
          </a:p>
        </p:txBody>
      </p:sp>
      <p:sp>
        <p:nvSpPr>
          <p:cNvPr id="25" name="Shape 16"/>
          <p:cNvSpPr/>
          <p:nvPr/>
        </p:nvSpPr>
        <p:spPr>
          <a:xfrm>
            <a:off x="6800850" y="2926080"/>
            <a:ext cx="1885950" cy="1508760"/>
          </a:xfrm>
          <a:prstGeom prst="rect">
            <a:avLst/>
          </a:prstGeom>
          <a:solidFill>
            <a:srgbClr val="F4F1EB"/>
          </a:solidFill>
          <a:ln w="12700">
            <a:solidFill>
              <a:srgbClr val="F4F1EB"/>
            </a:solidFill>
            <a:prstDash val="solid"/>
          </a:ln>
        </p:spPr>
      </p:sp>
      <p:pic>
        <p:nvPicPr>
          <p:cNvPr id="26" name="icon FaPeopleRoof" descr="preencoded.png">    </p:cNvPr>
          <p:cNvPicPr>
            <a:picLocks noChangeAspect="1"/>
          </p:cNvPicPr>
          <p:nvPr/>
        </p:nvPicPr>
        <p:blipFill>
          <a:blip r:embed="rId8"/>
          <a:stretch>
            <a:fillRect/>
          </a:stretch>
        </p:blipFill>
        <p:spPr>
          <a:xfrm>
            <a:off x="7002018" y="3127248"/>
            <a:ext cx="310896" cy="310896"/>
          </a:xfrm>
          <a:prstGeom prst="rect">
            <a:avLst/>
          </a:prstGeom>
        </p:spPr>
      </p:pic>
      <p:sp>
        <p:nvSpPr>
          <p:cNvPr id="27" name="Text 17"/>
          <p:cNvSpPr txBox="1"/>
          <p:nvPr/>
        </p:nvSpPr>
        <p:spPr>
          <a:xfrm>
            <a:off x="7002018" y="3566160"/>
            <a:ext cx="148361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Family governance</a:t>
            </a:r>
            <a:endParaRPr lang="en-US" sz="1250" dirty="0"/>
          </a:p>
          <a:p>
            <a:pPr algn="l" indent="0" marL="0">
              <a:spcAft>
                <a:spcPts val="300"/>
              </a:spcAft>
              <a:buNone/>
            </a:pPr>
            <a:r>
              <a:rPr lang="en-US" altLang="en-US" sz="1050" dirty="0">
                <a:solidFill>
                  <a:schemeClr val="accent3"/>
                </a:solidFill>
              </a:rPr>
              <a:t>Family office, foundations and trusts, and partnership agreements.</a:t>
            </a:r>
            <a:endParaRPr lang="en-US" sz="1250" dirty="0"/>
          </a:p>
        </p:txBody>
      </p:sp>
      <p:sp>
        <p:nvSpPr>
          <p:cNvPr id="28"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Registration routes in the UAE</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LEGAL FRAMEWORK</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3108960"/>
                <a:gridCol w="3108960"/>
              </a:tblGrid>
              <a:tr h="457200">
                <a:tc>
                  <a:txBody>
                    <a:bodyPr/>
                    <a:lstStyle/>
                    <a:p>
                      <a:pPr algn="l" indent="0" marL="0">
                        <a:buNone/>
                      </a:pPr>
                      <a:r>
                        <a:rPr lang="en-US" sz="1100" b="1" dirty="0">
                          <a:solidFill>
                            <a:srgbClr val="D9B38C"/>
                          </a:solidFill>
                          <a:latin typeface="+mn-lt" pitchFamily="34" charset="0"/>
                          <a:ea typeface="+mn-lt" pitchFamily="34" charset="-122"/>
                          <a:cs typeface="+mn-lt" pitchFamily="34" charset="-120"/>
                        </a:rPr>
                        <a:t>Authority</a:t>
                      </a:r>
                      <a:endParaRPr lang="en-US" sz="110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0E2238"/>
                    </a:solidFill>
                  </a:tcPr>
                </a:tc>
                <a:tc>
                  <a:txBody>
                    <a:bodyPr/>
                    <a:lstStyle/>
                    <a:p>
                      <a:pPr algn="l" indent="0" marL="0">
                        <a:buNone/>
                      </a:pPr>
                      <a:r>
                        <a:rPr lang="en-US" sz="1100" b="1" dirty="0">
                          <a:solidFill>
                            <a:srgbClr val="D9B38C"/>
                          </a:solidFill>
                          <a:latin typeface="+mn-lt" pitchFamily="34" charset="0"/>
                          <a:ea typeface="+mn-lt" pitchFamily="34" charset="-122"/>
                          <a:cs typeface="+mn-lt" pitchFamily="34" charset="-120"/>
                        </a:rPr>
                        <a:t>Who it suits</a:t>
                      </a:r>
                      <a:endParaRPr lang="en-US" sz="110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0E2238"/>
                    </a:solidFill>
                  </a:tcPr>
                </a:tc>
                <a:tc>
                  <a:txBody>
                    <a:bodyPr/>
                    <a:lstStyle/>
                    <a:p>
                      <a:pPr algn="l" indent="0" marL="0">
                        <a:buNone/>
                      </a:pPr>
                      <a:r>
                        <a:rPr lang="en-US" sz="1100" b="1" dirty="0">
                          <a:solidFill>
                            <a:srgbClr val="D9B38C"/>
                          </a:solidFill>
                          <a:latin typeface="+mn-lt" pitchFamily="34" charset="0"/>
                          <a:ea typeface="+mn-lt" pitchFamily="34" charset="-122"/>
                          <a:cs typeface="+mn-lt" pitchFamily="34" charset="-120"/>
                        </a:rPr>
                        <a:t>Practical notes</a:t>
                      </a:r>
                      <a:endParaRPr lang="en-US" sz="110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0E2238"/>
                    </a:solidFill>
                  </a:tcPr>
                </a:tc>
              </a:tr>
              <a:tr h="457200">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Dubai Courts</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Non-Muslims with UAE assets who prefer the local route</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Registration with Dubai Courts, with translation and notarisation</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r>
              <a:tr h="457200">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Abu Dhabi Courts</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Clients with assets or residence in Abu Dhabi</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Registration with the Abu Dhabi Judicial Department</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DIFC</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Non-Muslims, especially Europeans, Russians and Indians who prefer an English document</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The DIFC wills registry, covering assets in the UAE</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r>
              <a:tr h="457200">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ADGM</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Non-Muslims who prefer the Abu Dhabi English-language route</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The ADGM wills registry</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Notary Public</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Supporting documents: powers of attorney, declarations, attestations</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Used alongside the routes above when needed</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r>
            </a:tbl>
          </a:graphicData>
        </a:graphic>
      </p:graphicFrame>
      <p:sp>
        <p:nvSpPr>
          <p:cNvPr id="5" name="Text 2"/>
          <p:cNvSpPr txBox="1"/>
          <p:nvPr/>
        </p:nvSpPr>
        <p:spPr>
          <a:xfrm>
            <a:off x="457200" y="4251960"/>
            <a:ext cx="8229600" cy="320040"/>
          </a:xfrm>
          <a:prstGeom prst="rect">
            <a:avLst/>
          </a:prstGeom>
          <a:noFill/>
          <a:ln/>
        </p:spPr>
        <p:txBody>
          <a:bodyPr wrap="square" lIns="0" tIns="0" rIns="0" bIns="0" rtlCol="0" anchor="ctr"/>
          <a:lstStyle/>
          <a:p>
            <a:pPr algn="l" indent="0" marL="0">
              <a:buNone/>
            </a:pPr>
            <a:r>
              <a:rPr lang="en-US" altLang="en-US" sz="950" i="1" dirty="0">
                <a:solidFill>
                  <a:schemeClr val="accent3"/>
                </a:solidFill>
              </a:rPr>
              <a:t>The registry and the applicable law (Sharia or foreign law) are decided for each client after the discovery session.</a:t>
            </a:r>
            <a:endParaRPr lang="en-US" sz="950" dirty="0"/>
          </a:p>
        </p:txBody>
      </p:sp>
      <p:sp>
        <p:nvSpPr>
          <p:cNvPr id="6"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Service types</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WHAT THE CLIENT CHOOSES AFTER ASSESSMENT</a:t>
            </a:r>
            <a:endParaRPr lang="en-US" sz="1000" dirty="0"/>
          </a:p>
        </p:txBody>
      </p:sp>
      <p:sp>
        <p:nvSpPr>
          <p:cNvPr id="4" name="Shape 2"/>
          <p:cNvSpPr/>
          <p:nvPr/>
        </p:nvSpPr>
        <p:spPr>
          <a:xfrm>
            <a:off x="457200" y="1188720"/>
            <a:ext cx="457200" cy="457200"/>
          </a:xfrm>
          <a:prstGeom prst="ellipse">
            <a:avLst/>
          </a:prstGeom>
          <a:solidFill>
            <a:srgbClr val="F4F1EB"/>
          </a:solidFill>
          <a:ln w="12700">
            <a:solidFill>
              <a:srgbClr val="F4F1EB"/>
            </a:solidFill>
            <a:prstDash val="solid"/>
          </a:ln>
        </p:spPr>
      </p:sp>
      <p:pic>
        <p:nvPicPr>
          <p:cNvPr id="5" name="icon FaUser" descr="preencoded.png">    </p:cNvPr>
          <p:cNvPicPr>
            <a:picLocks noChangeAspect="1"/>
          </p:cNvPicPr>
          <p:nvPr/>
        </p:nvPicPr>
        <p:blipFill>
          <a:blip r:embed="rId1"/>
          <a:stretch>
            <a:fillRect/>
          </a:stretch>
        </p:blipFill>
        <p:spPr>
          <a:xfrm>
            <a:off x="548640" y="1280160"/>
            <a:ext cx="274320" cy="274320"/>
          </a:xfrm>
          <a:prstGeom prst="rect">
            <a:avLst/>
          </a:prstGeom>
        </p:spPr>
      </p:pic>
      <p:sp>
        <p:nvSpPr>
          <p:cNvPr id="6" name="Text 3"/>
          <p:cNvSpPr txBox="1"/>
          <p:nvPr/>
        </p:nvSpPr>
        <p:spPr>
          <a:xfrm>
            <a:off x="1097280" y="1170432"/>
            <a:ext cx="7589520" cy="47548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Individual will</a:t>
            </a:r>
            <a:endParaRPr lang="en-US" sz="1300" dirty="0"/>
          </a:p>
          <a:p>
            <a:pPr algn="l" indent="0" marL="0">
              <a:spcAft>
                <a:spcPts val="200"/>
              </a:spcAft>
              <a:buNone/>
            </a:pPr>
            <a:r>
              <a:rPr lang="en-US" altLang="en-US" sz="1100" dirty="0">
                <a:solidFill>
                  <a:schemeClr val="accent3"/>
                </a:solidFill>
              </a:rPr>
              <a:t>For one person, covering UAE assets and appointing guardians and executors.</a:t>
            </a:r>
            <a:endParaRPr lang="en-US" sz="1300" dirty="0"/>
          </a:p>
        </p:txBody>
      </p:sp>
      <p:sp>
        <p:nvSpPr>
          <p:cNvPr id="7" name="Shape 4"/>
          <p:cNvSpPr/>
          <p:nvPr/>
        </p:nvSpPr>
        <p:spPr>
          <a:xfrm>
            <a:off x="457200" y="1737360"/>
            <a:ext cx="457200" cy="457200"/>
          </a:xfrm>
          <a:prstGeom prst="ellipse">
            <a:avLst/>
          </a:prstGeom>
          <a:solidFill>
            <a:srgbClr val="F4F1EB"/>
          </a:solidFill>
          <a:ln w="12700">
            <a:solidFill>
              <a:srgbClr val="F4F1EB"/>
            </a:solidFill>
            <a:prstDash val="solid"/>
          </a:ln>
        </p:spPr>
      </p:sp>
      <p:pic>
        <p:nvPicPr>
          <p:cNvPr id="8" name="icon FaUserGroup" descr="preencoded.png">    </p:cNvPr>
          <p:cNvPicPr>
            <a:picLocks noChangeAspect="1"/>
          </p:cNvPicPr>
          <p:nvPr/>
        </p:nvPicPr>
        <p:blipFill>
          <a:blip r:embed="rId2"/>
          <a:stretch>
            <a:fillRect/>
          </a:stretch>
        </p:blipFill>
        <p:spPr>
          <a:xfrm>
            <a:off x="548640" y="1828800"/>
            <a:ext cx="274320" cy="274320"/>
          </a:xfrm>
          <a:prstGeom prst="rect">
            <a:avLst/>
          </a:prstGeom>
        </p:spPr>
      </p:pic>
      <p:sp>
        <p:nvSpPr>
          <p:cNvPr id="9" name="Text 5"/>
          <p:cNvSpPr txBox="1"/>
          <p:nvPr/>
        </p:nvSpPr>
        <p:spPr>
          <a:xfrm>
            <a:off x="1097280" y="1719072"/>
            <a:ext cx="7589520" cy="47548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Spousal (mirror) wills</a:t>
            </a:r>
            <a:endParaRPr lang="en-US" sz="1300" dirty="0"/>
          </a:p>
          <a:p>
            <a:pPr algn="l" indent="0" marL="0">
              <a:spcAft>
                <a:spcPts val="200"/>
              </a:spcAft>
              <a:buNone/>
            </a:pPr>
            <a:r>
              <a:rPr lang="en-US" altLang="en-US" sz="1100" dirty="0">
                <a:solidFill>
                  <a:schemeClr val="accent3"/>
                </a:solidFill>
              </a:rPr>
              <a:t>Two matching wills for spouses, protecting the family and the children.</a:t>
            </a:r>
            <a:endParaRPr lang="en-US" sz="1300" dirty="0"/>
          </a:p>
        </p:txBody>
      </p:sp>
      <p:sp>
        <p:nvSpPr>
          <p:cNvPr id="10" name="Shape 6"/>
          <p:cNvSpPr/>
          <p:nvPr/>
        </p:nvSpPr>
        <p:spPr>
          <a:xfrm>
            <a:off x="457200" y="2286000"/>
            <a:ext cx="457200" cy="457200"/>
          </a:xfrm>
          <a:prstGeom prst="ellipse">
            <a:avLst/>
          </a:prstGeom>
          <a:solidFill>
            <a:srgbClr val="F4F1EB"/>
          </a:solidFill>
          <a:ln w="12700">
            <a:solidFill>
              <a:srgbClr val="F4F1EB"/>
            </a:solidFill>
            <a:prstDash val="solid"/>
          </a:ln>
        </p:spPr>
      </p:sp>
      <p:pic>
        <p:nvPicPr>
          <p:cNvPr id="11" name="icon FaHouse" descr="preencoded.png">    </p:cNvPr>
          <p:cNvPicPr>
            <a:picLocks noChangeAspect="1"/>
          </p:cNvPicPr>
          <p:nvPr/>
        </p:nvPicPr>
        <p:blipFill>
          <a:blip r:embed="rId3"/>
          <a:stretch>
            <a:fillRect/>
          </a:stretch>
        </p:blipFill>
        <p:spPr>
          <a:xfrm>
            <a:off x="548640" y="2377440"/>
            <a:ext cx="274320" cy="274320"/>
          </a:xfrm>
          <a:prstGeom prst="rect">
            <a:avLst/>
          </a:prstGeom>
        </p:spPr>
      </p:pic>
      <p:sp>
        <p:nvSpPr>
          <p:cNvPr id="12" name="Text 7"/>
          <p:cNvSpPr txBox="1"/>
          <p:nvPr/>
        </p:nvSpPr>
        <p:spPr>
          <a:xfrm>
            <a:off x="1097280" y="2267712"/>
            <a:ext cx="7589520" cy="47548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Property will</a:t>
            </a:r>
            <a:endParaRPr lang="en-US" sz="1300" dirty="0"/>
          </a:p>
          <a:p>
            <a:pPr algn="l" indent="0" marL="0">
              <a:spcAft>
                <a:spcPts val="200"/>
              </a:spcAft>
              <a:buNone/>
            </a:pPr>
            <a:r>
              <a:rPr lang="en-US" altLang="en-US" sz="1100" dirty="0">
                <a:solidFill>
                  <a:schemeClr val="accent3"/>
                </a:solidFill>
              </a:rPr>
              <a:t>Limited to UAE real estate; suited to the property investor.</a:t>
            </a:r>
            <a:endParaRPr lang="en-US" sz="1300" dirty="0"/>
          </a:p>
        </p:txBody>
      </p:sp>
      <p:sp>
        <p:nvSpPr>
          <p:cNvPr id="13" name="Shape 8"/>
          <p:cNvSpPr/>
          <p:nvPr/>
        </p:nvSpPr>
        <p:spPr>
          <a:xfrm>
            <a:off x="457200" y="2834640"/>
            <a:ext cx="457200" cy="457200"/>
          </a:xfrm>
          <a:prstGeom prst="ellipse">
            <a:avLst/>
          </a:prstGeom>
          <a:solidFill>
            <a:srgbClr val="F4F1EB"/>
          </a:solidFill>
          <a:ln w="12700">
            <a:solidFill>
              <a:srgbClr val="F4F1EB"/>
            </a:solidFill>
            <a:prstDash val="solid"/>
          </a:ln>
        </p:spPr>
      </p:sp>
      <p:pic>
        <p:nvPicPr>
          <p:cNvPr id="14" name="icon FaBriefcase" descr="preencoded.png">    </p:cNvPr>
          <p:cNvPicPr>
            <a:picLocks noChangeAspect="1"/>
          </p:cNvPicPr>
          <p:nvPr/>
        </p:nvPicPr>
        <p:blipFill>
          <a:blip r:embed="rId4"/>
          <a:stretch>
            <a:fillRect/>
          </a:stretch>
        </p:blipFill>
        <p:spPr>
          <a:xfrm>
            <a:off x="548640" y="2926080"/>
            <a:ext cx="274320" cy="274320"/>
          </a:xfrm>
          <a:prstGeom prst="rect">
            <a:avLst/>
          </a:prstGeom>
        </p:spPr>
      </p:pic>
      <p:sp>
        <p:nvSpPr>
          <p:cNvPr id="15" name="Text 9"/>
          <p:cNvSpPr txBox="1"/>
          <p:nvPr/>
        </p:nvSpPr>
        <p:spPr>
          <a:xfrm>
            <a:off x="1097280" y="2816352"/>
            <a:ext cx="7589520" cy="47548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Business will</a:t>
            </a:r>
            <a:endParaRPr lang="en-US" sz="1300" dirty="0"/>
          </a:p>
          <a:p>
            <a:pPr algn="l" indent="0" marL="0">
              <a:spcAft>
                <a:spcPts val="200"/>
              </a:spcAft>
              <a:buNone/>
            </a:pPr>
            <a:r>
              <a:rPr lang="en-US" altLang="en-US" sz="1100" dirty="0">
                <a:solidFill>
                  <a:schemeClr val="accent3"/>
                </a:solidFill>
              </a:rPr>
              <a:t>Covers company shares and ensures business continuity.</a:t>
            </a:r>
            <a:endParaRPr lang="en-US" sz="1300" dirty="0"/>
          </a:p>
        </p:txBody>
      </p:sp>
      <p:sp>
        <p:nvSpPr>
          <p:cNvPr id="16" name="Shape 10"/>
          <p:cNvSpPr/>
          <p:nvPr/>
        </p:nvSpPr>
        <p:spPr>
          <a:xfrm>
            <a:off x="457200" y="3383280"/>
            <a:ext cx="457200" cy="457200"/>
          </a:xfrm>
          <a:prstGeom prst="ellipse">
            <a:avLst/>
          </a:prstGeom>
          <a:solidFill>
            <a:srgbClr val="F4F1EB"/>
          </a:solidFill>
          <a:ln w="12700">
            <a:solidFill>
              <a:srgbClr val="F4F1EB"/>
            </a:solidFill>
            <a:prstDash val="solid"/>
          </a:ln>
        </p:spPr>
      </p:sp>
      <p:pic>
        <p:nvPicPr>
          <p:cNvPr id="17" name="icon FaSitemap" descr="preencoded.png">    </p:cNvPr>
          <p:cNvPicPr>
            <a:picLocks noChangeAspect="1"/>
          </p:cNvPicPr>
          <p:nvPr/>
        </p:nvPicPr>
        <p:blipFill>
          <a:blip r:embed="rId5"/>
          <a:stretch>
            <a:fillRect/>
          </a:stretch>
        </p:blipFill>
        <p:spPr>
          <a:xfrm>
            <a:off x="548640" y="3474720"/>
            <a:ext cx="274320" cy="274320"/>
          </a:xfrm>
          <a:prstGeom prst="rect">
            <a:avLst/>
          </a:prstGeom>
        </p:spPr>
      </p:pic>
      <p:sp>
        <p:nvSpPr>
          <p:cNvPr id="18" name="Text 11"/>
          <p:cNvSpPr txBox="1"/>
          <p:nvPr/>
        </p:nvSpPr>
        <p:spPr>
          <a:xfrm>
            <a:off x="1097280" y="3364992"/>
            <a:ext cx="7589520" cy="47548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Corporate structuring / holding / SPV</a:t>
            </a:r>
            <a:endParaRPr lang="en-US" sz="1300" dirty="0"/>
          </a:p>
          <a:p>
            <a:pPr algn="l" indent="0" marL="0">
              <a:spcAft>
                <a:spcPts val="200"/>
              </a:spcAft>
              <a:buNone/>
            </a:pPr>
            <a:r>
              <a:rPr lang="en-US" altLang="en-US" sz="1100" dirty="0">
                <a:solidFill>
                  <a:schemeClr val="accent3"/>
                </a:solidFill>
              </a:rPr>
              <a:t>For larger portfolios and multi-country assets.</a:t>
            </a:r>
            <a:endParaRPr lang="en-US" sz="1300" dirty="0"/>
          </a:p>
        </p:txBody>
      </p:sp>
      <p:sp>
        <p:nvSpPr>
          <p:cNvPr id="19" name="Shape 12"/>
          <p:cNvSpPr/>
          <p:nvPr/>
        </p:nvSpPr>
        <p:spPr>
          <a:xfrm>
            <a:off x="457200" y="3931920"/>
            <a:ext cx="457200" cy="457200"/>
          </a:xfrm>
          <a:prstGeom prst="ellipse">
            <a:avLst/>
          </a:prstGeom>
          <a:solidFill>
            <a:srgbClr val="F4F1EB"/>
          </a:solidFill>
          <a:ln w="12700">
            <a:solidFill>
              <a:srgbClr val="F4F1EB"/>
            </a:solidFill>
            <a:prstDash val="solid"/>
          </a:ln>
        </p:spPr>
      </p:sp>
      <p:pic>
        <p:nvPicPr>
          <p:cNvPr id="20" name="icon FaLandmark" descr="preencoded.png">    </p:cNvPr>
          <p:cNvPicPr>
            <a:picLocks noChangeAspect="1"/>
          </p:cNvPicPr>
          <p:nvPr/>
        </p:nvPicPr>
        <p:blipFill>
          <a:blip r:embed="rId6"/>
          <a:stretch>
            <a:fillRect/>
          </a:stretch>
        </p:blipFill>
        <p:spPr>
          <a:xfrm>
            <a:off x="548640" y="4023360"/>
            <a:ext cx="274320" cy="274320"/>
          </a:xfrm>
          <a:prstGeom prst="rect">
            <a:avLst/>
          </a:prstGeom>
        </p:spPr>
      </p:pic>
      <p:sp>
        <p:nvSpPr>
          <p:cNvPr id="21" name="Text 13"/>
          <p:cNvSpPr txBox="1"/>
          <p:nvPr/>
        </p:nvSpPr>
        <p:spPr>
          <a:xfrm>
            <a:off x="1097280" y="3913632"/>
            <a:ext cx="7589520" cy="475488"/>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Foundation or trust</a:t>
            </a:r>
            <a:endParaRPr lang="en-US" sz="1300" dirty="0"/>
          </a:p>
          <a:p>
            <a:pPr algn="l" indent="0" marL="0">
              <a:spcAft>
                <a:spcPts val="200"/>
              </a:spcAft>
              <a:buNone/>
            </a:pPr>
            <a:r>
              <a:rPr lang="en-US" altLang="en-US" sz="1100" dirty="0">
                <a:solidFill>
                  <a:schemeClr val="accent3"/>
                </a:solidFill>
              </a:rPr>
              <a:t>For family governance and wealth protection across generations.</a:t>
            </a:r>
            <a:endParaRPr lang="en-US" sz="1300" dirty="0"/>
          </a:p>
        </p:txBody>
      </p:sp>
      <p:sp>
        <p:nvSpPr>
          <p:cNvPr id="22"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A concierge-level legal service</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THE PREMIUM EXPERIENCE</a:t>
            </a:r>
            <a:endParaRPr lang="en-US" sz="1000" dirty="0"/>
          </a:p>
        </p:txBody>
      </p:sp>
      <p:sp>
        <p:nvSpPr>
          <p:cNvPr id="4" name="Shape 2"/>
          <p:cNvSpPr/>
          <p:nvPr/>
        </p:nvSpPr>
        <p:spPr>
          <a:xfrm>
            <a:off x="457200" y="1188720"/>
            <a:ext cx="1463040" cy="3246120"/>
          </a:xfrm>
          <a:prstGeom prst="rect">
            <a:avLst/>
          </a:prstGeom>
          <a:solidFill>
            <a:srgbClr val="F4F1EB"/>
          </a:solidFill>
          <a:ln w="12700">
            <a:solidFill>
              <a:srgbClr val="F4F1EB"/>
            </a:solidFill>
            <a:prstDash val="solid"/>
          </a:ln>
        </p:spPr>
      </p:sp>
      <p:pic>
        <p:nvPicPr>
          <p:cNvPr id="5" name="icon FaHouseUser" descr="preencoded.png">    </p:cNvPr>
          <p:cNvPicPr>
            <a:picLocks noChangeAspect="1"/>
          </p:cNvPicPr>
          <p:nvPr/>
        </p:nvPicPr>
        <p:blipFill>
          <a:blip r:embed="rId1"/>
          <a:stretch>
            <a:fillRect/>
          </a:stretch>
        </p:blipFill>
        <p:spPr>
          <a:xfrm>
            <a:off x="658368" y="1389888"/>
            <a:ext cx="310896" cy="310896"/>
          </a:xfrm>
          <a:prstGeom prst="rect">
            <a:avLst/>
          </a:prstGeom>
        </p:spPr>
      </p:pic>
      <p:sp>
        <p:nvSpPr>
          <p:cNvPr id="6" name="Text 3"/>
          <p:cNvSpPr txBox="1"/>
          <p:nvPr/>
        </p:nvSpPr>
        <p:spPr>
          <a:xfrm>
            <a:off x="658368" y="1828800"/>
            <a:ext cx="1060704" cy="2450592"/>
          </a:xfrm>
          <a:prstGeom prst="rect">
            <a:avLst/>
          </a:prstGeom>
          <a:noFill/>
          <a:ln/>
        </p:spPr>
        <p:txBody>
          <a:bodyPr wrap="square" lIns="0" tIns="0" rIns="0" bIns="0" rtlCol="0" anchor="t"/>
          <a:lstStyle/>
          <a:p>
            <a:pPr algn="l" indent="0" marL="0">
              <a:spcAft>
                <a:spcPts val="300"/>
              </a:spcAft>
              <a:buNone/>
            </a:pPr>
            <a:r>
              <a:rPr lang="en-US" altLang="en-US" sz="1400" b="1" dirty="0">
                <a:solidFill>
                  <a:schemeClr val="tx1"/>
                </a:solidFill>
              </a:rPr>
              <a:t>We come to you</a:t>
            </a:r>
            <a:endParaRPr lang="en-US" sz="1400" dirty="0"/>
          </a:p>
          <a:p>
            <a:pPr algn="l" indent="0" marL="0">
              <a:spcAft>
                <a:spcPts val="300"/>
              </a:spcAft>
              <a:buNone/>
            </a:pPr>
            <a:r>
              <a:rPr lang="en-US" altLang="en-US" sz="1150" dirty="0">
                <a:solidFill>
                  <a:schemeClr val="accent3"/>
                </a:solidFill>
              </a:rPr>
              <a:t>At the client's office or home.</a:t>
            </a:r>
            <a:endParaRPr lang="en-US" sz="1400" dirty="0"/>
          </a:p>
        </p:txBody>
      </p:sp>
      <p:sp>
        <p:nvSpPr>
          <p:cNvPr id="7" name="Shape 4"/>
          <p:cNvSpPr/>
          <p:nvPr/>
        </p:nvSpPr>
        <p:spPr>
          <a:xfrm>
            <a:off x="2148840" y="1188720"/>
            <a:ext cx="1463040" cy="3246120"/>
          </a:xfrm>
          <a:prstGeom prst="rect">
            <a:avLst/>
          </a:prstGeom>
          <a:solidFill>
            <a:srgbClr val="F4F1EB"/>
          </a:solidFill>
          <a:ln w="12700">
            <a:solidFill>
              <a:srgbClr val="F4F1EB"/>
            </a:solidFill>
            <a:prstDash val="solid"/>
          </a:ln>
        </p:spPr>
      </p:sp>
      <p:pic>
        <p:nvPicPr>
          <p:cNvPr id="8" name="icon FaCrown" descr="preencoded.png">    </p:cNvPr>
          <p:cNvPicPr>
            <a:picLocks noChangeAspect="1"/>
          </p:cNvPicPr>
          <p:nvPr/>
        </p:nvPicPr>
        <p:blipFill>
          <a:blip r:embed="rId2"/>
          <a:stretch>
            <a:fillRect/>
          </a:stretch>
        </p:blipFill>
        <p:spPr>
          <a:xfrm>
            <a:off x="2350008" y="1389888"/>
            <a:ext cx="310896" cy="310896"/>
          </a:xfrm>
          <a:prstGeom prst="rect">
            <a:avLst/>
          </a:prstGeom>
        </p:spPr>
      </p:pic>
      <p:sp>
        <p:nvSpPr>
          <p:cNvPr id="9" name="Text 5"/>
          <p:cNvSpPr txBox="1"/>
          <p:nvPr/>
        </p:nvSpPr>
        <p:spPr>
          <a:xfrm>
            <a:off x="2350008" y="1828800"/>
            <a:ext cx="1060704" cy="2450592"/>
          </a:xfrm>
          <a:prstGeom prst="rect">
            <a:avLst/>
          </a:prstGeom>
          <a:noFill/>
          <a:ln/>
        </p:spPr>
        <p:txBody>
          <a:bodyPr wrap="square" lIns="0" tIns="0" rIns="0" bIns="0" rtlCol="0" anchor="t"/>
          <a:lstStyle/>
          <a:p>
            <a:pPr algn="l" indent="0" marL="0">
              <a:spcAft>
                <a:spcPts val="300"/>
              </a:spcAft>
              <a:buNone/>
            </a:pPr>
            <a:r>
              <a:rPr lang="en-US" altLang="en-US" sz="1400" b="1" dirty="0">
                <a:solidFill>
                  <a:schemeClr val="tx1"/>
                </a:solidFill>
              </a:rPr>
              <a:t>VIP handling</a:t>
            </a:r>
            <a:endParaRPr lang="en-US" sz="1400" dirty="0"/>
          </a:p>
          <a:p>
            <a:pPr algn="l" indent="0" marL="0">
              <a:spcAft>
                <a:spcPts val="300"/>
              </a:spcAft>
              <a:buNone/>
            </a:pPr>
            <a:r>
              <a:rPr lang="en-US" altLang="en-US" sz="1150" dirty="0">
                <a:solidFill>
                  <a:schemeClr val="accent3"/>
                </a:solidFill>
              </a:rPr>
              <a:t>A dedicated counsel for every client.</a:t>
            </a:r>
            <a:endParaRPr lang="en-US" sz="1400" dirty="0"/>
          </a:p>
        </p:txBody>
      </p:sp>
      <p:sp>
        <p:nvSpPr>
          <p:cNvPr id="10" name="Shape 6"/>
          <p:cNvSpPr/>
          <p:nvPr/>
        </p:nvSpPr>
        <p:spPr>
          <a:xfrm>
            <a:off x="3840480" y="1188720"/>
            <a:ext cx="1463040" cy="3246120"/>
          </a:xfrm>
          <a:prstGeom prst="rect">
            <a:avLst/>
          </a:prstGeom>
          <a:solidFill>
            <a:srgbClr val="F4F1EB"/>
          </a:solidFill>
          <a:ln w="12700">
            <a:solidFill>
              <a:srgbClr val="F4F1EB"/>
            </a:solidFill>
            <a:prstDash val="solid"/>
          </a:ln>
        </p:spPr>
      </p:sp>
      <p:pic>
        <p:nvPicPr>
          <p:cNvPr id="11" name="icon FaLanguage" descr="preencoded.png">    </p:cNvPr>
          <p:cNvPicPr>
            <a:picLocks noChangeAspect="1"/>
          </p:cNvPicPr>
          <p:nvPr/>
        </p:nvPicPr>
        <p:blipFill>
          <a:blip r:embed="rId3"/>
          <a:stretch>
            <a:fillRect/>
          </a:stretch>
        </p:blipFill>
        <p:spPr>
          <a:xfrm>
            <a:off x="4041648" y="1389888"/>
            <a:ext cx="310896" cy="310896"/>
          </a:xfrm>
          <a:prstGeom prst="rect">
            <a:avLst/>
          </a:prstGeom>
        </p:spPr>
      </p:pic>
      <p:sp>
        <p:nvSpPr>
          <p:cNvPr id="12" name="Text 7"/>
          <p:cNvSpPr txBox="1"/>
          <p:nvPr/>
        </p:nvSpPr>
        <p:spPr>
          <a:xfrm>
            <a:off x="4041648" y="1828800"/>
            <a:ext cx="1060704" cy="2450592"/>
          </a:xfrm>
          <a:prstGeom prst="rect">
            <a:avLst/>
          </a:prstGeom>
          <a:noFill/>
          <a:ln/>
        </p:spPr>
        <p:txBody>
          <a:bodyPr wrap="square" lIns="0" tIns="0" rIns="0" bIns="0" rtlCol="0" anchor="t"/>
          <a:lstStyle/>
          <a:p>
            <a:pPr algn="l" indent="0" marL="0">
              <a:spcAft>
                <a:spcPts val="300"/>
              </a:spcAft>
              <a:buNone/>
            </a:pPr>
            <a:r>
              <a:rPr lang="en-US" altLang="en-US" sz="1400" b="1" dirty="0">
                <a:solidFill>
                  <a:schemeClr val="tx1"/>
                </a:solidFill>
              </a:rPr>
              <a:t>Four languages</a:t>
            </a:r>
            <a:endParaRPr lang="en-US" sz="1400" dirty="0"/>
          </a:p>
          <a:p>
            <a:pPr algn="l" indent="0" marL="0">
              <a:spcAft>
                <a:spcPts val="300"/>
              </a:spcAft>
              <a:buNone/>
            </a:pPr>
            <a:r>
              <a:rPr lang="en-US" altLang="en-US" sz="1150" dirty="0">
                <a:solidFill>
                  <a:schemeClr val="accent3"/>
                </a:solidFill>
              </a:rPr>
              <a:t>Arabic, English, Chinese, Russian.</a:t>
            </a:r>
            <a:endParaRPr lang="en-US" sz="1400" dirty="0"/>
          </a:p>
        </p:txBody>
      </p:sp>
      <p:sp>
        <p:nvSpPr>
          <p:cNvPr id="13" name="Shape 8"/>
          <p:cNvSpPr/>
          <p:nvPr/>
        </p:nvSpPr>
        <p:spPr>
          <a:xfrm>
            <a:off x="5532120" y="1188720"/>
            <a:ext cx="1463040" cy="3246120"/>
          </a:xfrm>
          <a:prstGeom prst="rect">
            <a:avLst/>
          </a:prstGeom>
          <a:solidFill>
            <a:srgbClr val="F4F1EB"/>
          </a:solidFill>
          <a:ln w="12700">
            <a:solidFill>
              <a:srgbClr val="F4F1EB"/>
            </a:solidFill>
            <a:prstDash val="solid"/>
          </a:ln>
        </p:spPr>
      </p:sp>
      <p:pic>
        <p:nvPicPr>
          <p:cNvPr id="14" name="icon FaListCheck" descr="preencoded.png">    </p:cNvPr>
          <p:cNvPicPr>
            <a:picLocks noChangeAspect="1"/>
          </p:cNvPicPr>
          <p:nvPr/>
        </p:nvPicPr>
        <p:blipFill>
          <a:blip r:embed="rId4"/>
          <a:stretch>
            <a:fillRect/>
          </a:stretch>
        </p:blipFill>
        <p:spPr>
          <a:xfrm>
            <a:off x="5733288" y="1389888"/>
            <a:ext cx="310896" cy="310896"/>
          </a:xfrm>
          <a:prstGeom prst="rect">
            <a:avLst/>
          </a:prstGeom>
        </p:spPr>
      </p:pic>
      <p:sp>
        <p:nvSpPr>
          <p:cNvPr id="15" name="Text 9"/>
          <p:cNvSpPr txBox="1"/>
          <p:nvPr/>
        </p:nvSpPr>
        <p:spPr>
          <a:xfrm>
            <a:off x="5733288" y="1828800"/>
            <a:ext cx="1060704" cy="2450592"/>
          </a:xfrm>
          <a:prstGeom prst="rect">
            <a:avLst/>
          </a:prstGeom>
          <a:noFill/>
          <a:ln/>
        </p:spPr>
        <p:txBody>
          <a:bodyPr wrap="square" lIns="0" tIns="0" rIns="0" bIns="0" rtlCol="0" anchor="t"/>
          <a:lstStyle/>
          <a:p>
            <a:pPr algn="l" indent="0" marL="0">
              <a:spcAft>
                <a:spcPts val="300"/>
              </a:spcAft>
              <a:buNone/>
            </a:pPr>
            <a:r>
              <a:rPr lang="en-US" altLang="en-US" sz="1400" b="1" dirty="0">
                <a:solidFill>
                  <a:schemeClr val="tx1"/>
                </a:solidFill>
              </a:rPr>
              <a:t>Full coordination</a:t>
            </a:r>
            <a:endParaRPr lang="en-US" sz="1400" dirty="0"/>
          </a:p>
          <a:p>
            <a:pPr algn="l" indent="0" marL="0">
              <a:spcAft>
                <a:spcPts val="300"/>
              </a:spcAft>
              <a:buNone/>
            </a:pPr>
            <a:r>
              <a:rPr lang="en-US" altLang="en-US" sz="1150" dirty="0">
                <a:solidFill>
                  <a:schemeClr val="accent3"/>
                </a:solidFill>
              </a:rPr>
              <a:t>Translation, witnesses, notarisation, registration.</a:t>
            </a:r>
            <a:endParaRPr lang="en-US" sz="1400" dirty="0"/>
          </a:p>
        </p:txBody>
      </p:sp>
      <p:sp>
        <p:nvSpPr>
          <p:cNvPr id="16" name="Shape 10"/>
          <p:cNvSpPr/>
          <p:nvPr/>
        </p:nvSpPr>
        <p:spPr>
          <a:xfrm>
            <a:off x="7223760" y="1188720"/>
            <a:ext cx="1463040" cy="3246120"/>
          </a:xfrm>
          <a:prstGeom prst="rect">
            <a:avLst/>
          </a:prstGeom>
          <a:solidFill>
            <a:srgbClr val="F4F1EB"/>
          </a:solidFill>
          <a:ln w="12700">
            <a:solidFill>
              <a:srgbClr val="F4F1EB"/>
            </a:solidFill>
            <a:prstDash val="solid"/>
          </a:ln>
        </p:spPr>
      </p:sp>
      <p:pic>
        <p:nvPicPr>
          <p:cNvPr id="17" name="icon FaBolt" descr="preencoded.png">    </p:cNvPr>
          <p:cNvPicPr>
            <a:picLocks noChangeAspect="1"/>
          </p:cNvPicPr>
          <p:nvPr/>
        </p:nvPicPr>
        <p:blipFill>
          <a:blip r:embed="rId5"/>
          <a:stretch>
            <a:fillRect/>
          </a:stretch>
        </p:blipFill>
        <p:spPr>
          <a:xfrm>
            <a:off x="7424928" y="1389888"/>
            <a:ext cx="310896" cy="310896"/>
          </a:xfrm>
          <a:prstGeom prst="rect">
            <a:avLst/>
          </a:prstGeom>
        </p:spPr>
      </p:pic>
      <p:sp>
        <p:nvSpPr>
          <p:cNvPr id="18" name="Text 11"/>
          <p:cNvSpPr txBox="1"/>
          <p:nvPr/>
        </p:nvSpPr>
        <p:spPr>
          <a:xfrm>
            <a:off x="7424928" y="1828800"/>
            <a:ext cx="1060704" cy="2450592"/>
          </a:xfrm>
          <a:prstGeom prst="rect">
            <a:avLst/>
          </a:prstGeom>
          <a:noFill/>
          <a:ln/>
        </p:spPr>
        <p:txBody>
          <a:bodyPr wrap="square" lIns="0" tIns="0" rIns="0" bIns="0" rtlCol="0" anchor="t"/>
          <a:lstStyle/>
          <a:p>
            <a:pPr algn="l" indent="0" marL="0">
              <a:spcAft>
                <a:spcPts val="300"/>
              </a:spcAft>
              <a:buNone/>
            </a:pPr>
            <a:r>
              <a:rPr lang="en-US" altLang="en-US" sz="1400" b="1" dirty="0">
                <a:solidFill>
                  <a:schemeClr val="tx1"/>
                </a:solidFill>
              </a:rPr>
              <a:t>Fast-track registration</a:t>
            </a:r>
            <a:endParaRPr lang="en-US" sz="1400" dirty="0"/>
          </a:p>
          <a:p>
            <a:pPr algn="l" indent="0" marL="0">
              <a:spcAft>
                <a:spcPts val="300"/>
              </a:spcAft>
              <a:buNone/>
            </a:pPr>
            <a:r>
              <a:rPr lang="en-US" altLang="en-US" sz="1150" dirty="0">
                <a:solidFill>
                  <a:schemeClr val="accent3"/>
                </a:solidFill>
              </a:rPr>
              <a:t>Direct follow-up with the authorities.</a:t>
            </a:r>
            <a:endParaRPr lang="en-US" sz="1400" dirty="0"/>
          </a:p>
        </p:txBody>
      </p:sp>
      <p:sp>
        <p:nvSpPr>
          <p:cNvPr id="19"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463040"/>
            <a:ext cx="1828800" cy="1463040"/>
          </a:xfrm>
          <a:prstGeom prst="rect">
            <a:avLst/>
          </a:prstGeom>
          <a:noFill/>
          <a:ln/>
        </p:spPr>
        <p:txBody>
          <a:bodyPr wrap="square" lIns="0" tIns="0" rIns="0" bIns="0" rtlCol="0" anchor="ctr"/>
          <a:lstStyle/>
          <a:p>
            <a:pPr algn="l" indent="0" marL="0">
              <a:buNone/>
            </a:pPr>
            <a:r>
              <a:rPr lang="en-US" sz="7200" dirty="0">
                <a:solidFill>
                  <a:schemeClr val="accent1"/>
                </a:solidFill>
                <a:latin typeface="Cambria" pitchFamily="34" charset="0"/>
                <a:ea typeface="Cambria" pitchFamily="34" charset="-122"/>
                <a:cs typeface="Cambria" pitchFamily="34" charset="-120"/>
              </a:rPr>
              <a:t>03</a:t>
            </a:r>
            <a:endParaRPr lang="en-US" sz="7200" dirty="0"/>
          </a:p>
        </p:txBody>
      </p:sp>
      <p:sp>
        <p:nvSpPr>
          <p:cNvPr id="3" name="Text 1"/>
          <p:cNvSpPr txBox="1"/>
          <p:nvPr/>
        </p:nvSpPr>
        <p:spPr>
          <a:xfrm>
            <a:off x="457200" y="2743200"/>
            <a:ext cx="7772400" cy="868680"/>
          </a:xfrm>
          <a:prstGeom prst="rect">
            <a:avLst/>
          </a:prstGeom>
          <a:noFill/>
          <a:ln/>
        </p:spPr>
        <p:txBody>
          <a:bodyPr wrap="square" lIns="0" tIns="0" rIns="0" bIns="0" rtlCol="0" anchor="b"/>
          <a:lstStyle/>
          <a:p>
            <a:pPr algn="l" indent="0" marL="0">
              <a:buNone/>
            </a:pPr>
            <a:r>
              <a:rPr lang="en-US" altLang="en-US" sz="3000" b="1" dirty="0">
                <a:solidFill>
                  <a:schemeClr val="bg1"/>
                </a:solidFill>
                <a:latin typeface="Cambria" pitchFamily="34" charset="0"/>
                <a:ea typeface="Cambria" pitchFamily="34" charset="-122"/>
                <a:cs typeface="Cambria" pitchFamily="34" charset="-120"/>
              </a:rPr>
              <a:t>The partnership model</a:t>
            </a:r>
            <a:endParaRPr lang="en-US" sz="3000" dirty="0"/>
          </a:p>
        </p:txBody>
      </p:sp>
      <p:sp>
        <p:nvSpPr>
          <p:cNvPr id="4" name="Text 2"/>
          <p:cNvSpPr txBox="1"/>
          <p:nvPr/>
        </p:nvSpPr>
        <p:spPr>
          <a:xfrm>
            <a:off x="457200" y="3675888"/>
            <a:ext cx="7772400" cy="502920"/>
          </a:xfrm>
          <a:prstGeom prst="rect">
            <a:avLst/>
          </a:prstGeom>
          <a:noFill/>
          <a:ln/>
        </p:spPr>
        <p:txBody>
          <a:bodyPr wrap="square" lIns="0" tIns="0" rIns="0" bIns="0" rtlCol="0" anchor="t"/>
          <a:lstStyle/>
          <a:p>
            <a:pPr algn="l" indent="0" marL="0">
              <a:buNone/>
            </a:pPr>
            <a:r>
              <a:rPr lang="en-US" altLang="en-US" sz="1400" dirty="0">
                <a:solidFill>
                  <a:schemeClr val="accent2"/>
                </a:solidFill>
              </a:rPr>
              <a:t>You open the door; we carry the entire legal side</a:t>
            </a:r>
            <a:endParaRPr lang="en-US" sz="14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Division of roles</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THE MODEL THAT WORKS</a:t>
            </a:r>
            <a:endParaRPr lang="en-US" sz="1000" dirty="0"/>
          </a:p>
        </p:txBody>
      </p:sp>
      <p:sp>
        <p:nvSpPr>
          <p:cNvPr id="4" name="Shape 2"/>
          <p:cNvSpPr/>
          <p:nvPr/>
        </p:nvSpPr>
        <p:spPr>
          <a:xfrm>
            <a:off x="457200" y="1188720"/>
            <a:ext cx="4000500" cy="548640"/>
          </a:xfrm>
          <a:prstGeom prst="rect">
            <a:avLst/>
          </a:prstGeom>
          <a:solidFill>
            <a:srgbClr val="0E2238"/>
          </a:solidFill>
          <a:ln w="12700">
            <a:solidFill>
              <a:srgbClr val="0E2238"/>
            </a:solidFill>
            <a:prstDash val="solid"/>
          </a:ln>
        </p:spPr>
      </p:sp>
      <p:sp>
        <p:nvSpPr>
          <p:cNvPr id="5" name="Text 3"/>
          <p:cNvSpPr txBox="1"/>
          <p:nvPr/>
        </p:nvSpPr>
        <p:spPr>
          <a:xfrm>
            <a:off x="594360" y="1188720"/>
            <a:ext cx="3726180" cy="548640"/>
          </a:xfrm>
          <a:prstGeom prst="rect">
            <a:avLst/>
          </a:prstGeom>
          <a:noFill/>
          <a:ln/>
        </p:spPr>
        <p:txBody>
          <a:bodyPr wrap="square" lIns="0" tIns="0" rIns="0" bIns="0" rtlCol="0" anchor="ctr"/>
          <a:lstStyle/>
          <a:p>
            <a:pPr algn="l" indent="0" marL="0">
              <a:buNone/>
            </a:pPr>
            <a:r>
              <a:rPr lang="en-US" altLang="en-US" sz="1300" b="1" dirty="0">
                <a:solidFill>
                  <a:schemeClr val="accent2"/>
                </a:solidFill>
              </a:rPr>
              <a:t>The brokerage partner</a:t>
            </a:r>
            <a:endParaRPr lang="en-US" sz="1300" dirty="0"/>
          </a:p>
        </p:txBody>
      </p:sp>
      <p:sp>
        <p:nvSpPr>
          <p:cNvPr id="6" name="Shape 4"/>
          <p:cNvSpPr/>
          <p:nvPr/>
        </p:nvSpPr>
        <p:spPr>
          <a:xfrm>
            <a:off x="457200" y="1737360"/>
            <a:ext cx="4000500" cy="2697480"/>
          </a:xfrm>
          <a:prstGeom prst="rect">
            <a:avLst/>
          </a:prstGeom>
          <a:solidFill>
            <a:srgbClr val="F4F1EB"/>
          </a:solidFill>
          <a:ln w="12700">
            <a:solidFill>
              <a:srgbClr val="F4F1EB"/>
            </a:solidFill>
            <a:prstDash val="solid"/>
          </a:ln>
        </p:spPr>
      </p:sp>
      <p:sp>
        <p:nvSpPr>
          <p:cNvPr id="7" name="Text 5"/>
          <p:cNvSpPr txBox="1"/>
          <p:nvPr/>
        </p:nvSpPr>
        <p:spPr>
          <a:xfrm>
            <a:off x="594360" y="1874520"/>
            <a:ext cx="3726180" cy="2468880"/>
          </a:xfrm>
          <a:prstGeom prst="rect">
            <a:avLst/>
          </a:prstGeom>
          <a:noFill/>
          <a:ln/>
        </p:spPr>
        <p:txBody>
          <a:bodyPr wrap="square" lIns="0" tIns="0" rIns="0" bIns="0" rtlCol="0" anchor="t"/>
          <a:lstStyle/>
          <a:p>
            <a:pPr algn="l" marL="152400" indent="-152400">
              <a:spcAft>
                <a:spcPts val="500"/>
              </a:spcAft>
              <a:buSzPct val="100000"/>
              <a:buChar char="•"/>
            </a:pPr>
            <a:r>
              <a:rPr lang="en-US" altLang="en-US" sz="1100" dirty="0">
                <a:solidFill>
                  <a:schemeClr val="tx2"/>
                </a:solidFill>
              </a:rPr>
              <a:t>Introduces the service at the right moment</a:t>
            </a:r>
            <a:endParaRPr lang="en-US" sz="1100" dirty="0"/>
          </a:p>
          <a:p>
            <a:pPr algn="l" marL="152400" indent="-152400">
              <a:spcAft>
                <a:spcPts val="500"/>
              </a:spcAft>
              <a:buSzPct val="100000"/>
              <a:buChar char="•"/>
            </a:pPr>
            <a:r>
              <a:rPr lang="en-US" altLang="en-US" sz="1100" dirty="0">
                <a:solidFill>
                  <a:schemeClr val="tx2"/>
                </a:solidFill>
              </a:rPr>
              <a:t>Sends the standard introduction and refers the client</a:t>
            </a:r>
            <a:endParaRPr lang="en-US" sz="1100" dirty="0"/>
          </a:p>
          <a:p>
            <a:pPr algn="l" marL="152400" indent="-152400">
              <a:spcAft>
                <a:spcPts val="500"/>
              </a:spcAft>
              <a:buSzPct val="100000"/>
              <a:buChar char="•"/>
            </a:pPr>
            <a:r>
              <a:rPr lang="en-US" altLang="en-US" sz="1100" dirty="0">
                <a:solidFill>
                  <a:schemeClr val="tx2"/>
                </a:solidFill>
              </a:rPr>
              <a:t>Presents the service as a value-add in its offer</a:t>
            </a:r>
            <a:endParaRPr lang="en-US" sz="1100" dirty="0"/>
          </a:p>
          <a:p>
            <a:pPr algn="l" marL="152400" indent="-152400">
              <a:spcAft>
                <a:spcPts val="500"/>
              </a:spcAft>
              <a:buSzPct val="100000"/>
              <a:buChar char="•"/>
            </a:pPr>
            <a:r>
              <a:rPr lang="en-US" altLang="en-US" sz="1100" dirty="0">
                <a:solidFill>
                  <a:schemeClr val="tx2"/>
                </a:solidFill>
              </a:rPr>
              <a:t>Gives no legal advice and guarantees no outcomes</a:t>
            </a:r>
            <a:endParaRPr lang="en-US" sz="1100" dirty="0"/>
          </a:p>
          <a:p>
            <a:pPr algn="l" marL="152400" indent="-152400">
              <a:spcAft>
                <a:spcPts val="500"/>
              </a:spcAft>
              <a:buSzPct val="100000"/>
              <a:buChar char="•"/>
            </a:pPr>
            <a:r>
              <a:rPr lang="en-US" altLang="en-US" sz="1100" dirty="0">
                <a:solidFill>
                  <a:schemeClr val="tx2"/>
                </a:solidFill>
              </a:rPr>
              <a:t>Receives the referral commission under the agreement</a:t>
            </a:r>
            <a:endParaRPr lang="en-US" sz="1100" dirty="0"/>
          </a:p>
        </p:txBody>
      </p:sp>
      <p:sp>
        <p:nvSpPr>
          <p:cNvPr id="8" name="Shape 6"/>
          <p:cNvSpPr/>
          <p:nvPr/>
        </p:nvSpPr>
        <p:spPr>
          <a:xfrm>
            <a:off x="4686300" y="1188720"/>
            <a:ext cx="4000500" cy="548640"/>
          </a:xfrm>
          <a:prstGeom prst="rect">
            <a:avLst/>
          </a:prstGeom>
          <a:solidFill>
            <a:srgbClr val="B5723B"/>
          </a:solidFill>
          <a:ln w="12700">
            <a:solidFill>
              <a:srgbClr val="B5723B"/>
            </a:solidFill>
            <a:prstDash val="solid"/>
          </a:ln>
        </p:spPr>
      </p:sp>
      <p:sp>
        <p:nvSpPr>
          <p:cNvPr id="9" name="Text 7"/>
          <p:cNvSpPr txBox="1"/>
          <p:nvPr/>
        </p:nvSpPr>
        <p:spPr>
          <a:xfrm>
            <a:off x="4823460" y="1188720"/>
            <a:ext cx="3726180" cy="548640"/>
          </a:xfrm>
          <a:prstGeom prst="rect">
            <a:avLst/>
          </a:prstGeom>
          <a:noFill/>
          <a:ln/>
        </p:spPr>
        <p:txBody>
          <a:bodyPr wrap="square" lIns="0" tIns="0" rIns="0" bIns="0" rtlCol="0" anchor="ctr"/>
          <a:lstStyle/>
          <a:p>
            <a:pPr algn="l" indent="0" marL="0">
              <a:buNone/>
            </a:pPr>
            <a:r>
              <a:rPr lang="en-US" altLang="en-US" sz="1300" b="1" dirty="0">
                <a:solidFill>
                  <a:schemeClr val="tx1"/>
                </a:solidFill>
              </a:rPr>
              <a:t>Rashid Alkaitoob Advocates</a:t>
            </a:r>
            <a:endParaRPr lang="en-US" sz="1300" dirty="0"/>
          </a:p>
        </p:txBody>
      </p:sp>
      <p:sp>
        <p:nvSpPr>
          <p:cNvPr id="10" name="Shape 8"/>
          <p:cNvSpPr/>
          <p:nvPr/>
        </p:nvSpPr>
        <p:spPr>
          <a:xfrm>
            <a:off x="4686300" y="1737360"/>
            <a:ext cx="4000500" cy="2697480"/>
          </a:xfrm>
          <a:prstGeom prst="rect">
            <a:avLst/>
          </a:prstGeom>
          <a:solidFill>
            <a:srgbClr val="F4F1EB"/>
          </a:solidFill>
          <a:ln w="12700">
            <a:solidFill>
              <a:srgbClr val="F4F1EB"/>
            </a:solidFill>
            <a:prstDash val="solid"/>
          </a:ln>
        </p:spPr>
      </p:sp>
      <p:sp>
        <p:nvSpPr>
          <p:cNvPr id="11" name="Text 9"/>
          <p:cNvSpPr txBox="1"/>
          <p:nvPr/>
        </p:nvSpPr>
        <p:spPr>
          <a:xfrm>
            <a:off x="4823460" y="1874520"/>
            <a:ext cx="3726180" cy="2468880"/>
          </a:xfrm>
          <a:prstGeom prst="rect">
            <a:avLst/>
          </a:prstGeom>
          <a:noFill/>
          <a:ln/>
        </p:spPr>
        <p:txBody>
          <a:bodyPr wrap="square" lIns="0" tIns="0" rIns="0" bIns="0" rtlCol="0" anchor="t"/>
          <a:lstStyle/>
          <a:p>
            <a:pPr algn="l" marL="152400" indent="-152400">
              <a:spcAft>
                <a:spcPts val="500"/>
              </a:spcAft>
              <a:buSzPct val="100000"/>
              <a:buChar char="•"/>
            </a:pPr>
            <a:r>
              <a:rPr lang="en-US" altLang="en-US" sz="1100" dirty="0">
                <a:solidFill>
                  <a:schemeClr val="tx2"/>
                </a:solidFill>
              </a:rPr>
              <a:t>Contacts the client within one business day</a:t>
            </a:r>
            <a:endParaRPr lang="en-US" sz="1100" dirty="0"/>
          </a:p>
          <a:p>
            <a:pPr algn="l" marL="152400" indent="-152400">
              <a:spcAft>
                <a:spcPts val="500"/>
              </a:spcAft>
              <a:buSzPct val="100000"/>
              <a:buChar char="•"/>
            </a:pPr>
            <a:r>
              <a:rPr lang="en-US" altLang="en-US" sz="1100" dirty="0">
                <a:solidFill>
                  <a:schemeClr val="tx2"/>
                </a:solidFill>
              </a:rPr>
              <a:t>Consultation, risk assessment and proposal</a:t>
            </a:r>
            <a:endParaRPr lang="en-US" sz="1100" dirty="0"/>
          </a:p>
          <a:p>
            <a:pPr algn="l" marL="152400" indent="-152400">
              <a:spcAft>
                <a:spcPts val="500"/>
              </a:spcAft>
              <a:buSzPct val="100000"/>
              <a:buChar char="•"/>
            </a:pPr>
            <a:r>
              <a:rPr lang="en-US" altLang="en-US" sz="1100" dirty="0">
                <a:solidFill>
                  <a:schemeClr val="tx2"/>
                </a:solidFill>
              </a:rPr>
              <a:t>Drafting, translation, witnesses, notarisation</a:t>
            </a:r>
            <a:endParaRPr lang="en-US" sz="1100" dirty="0"/>
          </a:p>
          <a:p>
            <a:pPr algn="l" marL="152400" indent="-152400">
              <a:spcAft>
                <a:spcPts val="500"/>
              </a:spcAft>
              <a:buSzPct val="100000"/>
              <a:buChar char="•"/>
            </a:pPr>
            <a:r>
              <a:rPr lang="en-US" altLang="en-US" sz="1100" dirty="0">
                <a:solidFill>
                  <a:schemeClr val="tx2"/>
                </a:solidFill>
              </a:rPr>
              <a:t>Registration and follow-up with authorities</a:t>
            </a:r>
            <a:endParaRPr lang="en-US" sz="1100" dirty="0"/>
          </a:p>
          <a:p>
            <a:pPr algn="l" marL="152400" indent="-152400">
              <a:spcAft>
                <a:spcPts val="500"/>
              </a:spcAft>
              <a:buSzPct val="100000"/>
              <a:buChar char="•"/>
            </a:pPr>
            <a:r>
              <a:rPr lang="en-US" altLang="en-US" sz="1100" dirty="0">
                <a:solidFill>
                  <a:schemeClr val="tx2"/>
                </a:solidFill>
              </a:rPr>
              <a:t>Shields the partner from any legal liability</a:t>
            </a:r>
            <a:endParaRPr lang="en-US" sz="1100" dirty="0"/>
          </a:p>
        </p:txBody>
      </p:sp>
      <p:sp>
        <p:nvSpPr>
          <p:cNvPr id="12"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The referral and cooperation agreement</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WHAT IT CONTAINS</a:t>
            </a:r>
            <a:endParaRPr lang="en-US" sz="1000" dirty="0"/>
          </a:p>
        </p:txBody>
      </p:sp>
      <p:sp>
        <p:nvSpPr>
          <p:cNvPr id="4" name="Shape 2"/>
          <p:cNvSpPr/>
          <p:nvPr/>
        </p:nvSpPr>
        <p:spPr>
          <a:xfrm>
            <a:off x="457200" y="1188720"/>
            <a:ext cx="457200" cy="457200"/>
          </a:xfrm>
          <a:prstGeom prst="ellipse">
            <a:avLst/>
          </a:prstGeom>
          <a:solidFill>
            <a:srgbClr val="F4F1EB"/>
          </a:solidFill>
          <a:ln w="12700">
            <a:solidFill>
              <a:srgbClr val="F4F1EB"/>
            </a:solidFill>
            <a:prstDash val="solid"/>
          </a:ln>
        </p:spPr>
      </p:sp>
      <p:pic>
        <p:nvPicPr>
          <p:cNvPr id="5" name="icon FaArrowRightArrowLeft" descr="preencoded.png">    </p:cNvPr>
          <p:cNvPicPr>
            <a:picLocks noChangeAspect="1"/>
          </p:cNvPicPr>
          <p:nvPr/>
        </p:nvPicPr>
        <p:blipFill>
          <a:blip r:embed="rId1"/>
          <a:stretch>
            <a:fillRect/>
          </a:stretch>
        </p:blipFill>
        <p:spPr>
          <a:xfrm>
            <a:off x="548640" y="1280160"/>
            <a:ext cx="274320" cy="274320"/>
          </a:xfrm>
          <a:prstGeom prst="rect">
            <a:avLst/>
          </a:prstGeom>
        </p:spPr>
      </p:pic>
      <p:sp>
        <p:nvSpPr>
          <p:cNvPr id="6" name="Text 3"/>
          <p:cNvSpPr txBox="1"/>
          <p:nvPr/>
        </p:nvSpPr>
        <p:spPr>
          <a:xfrm>
            <a:off x="1097280" y="1170432"/>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Client referral mechanism</a:t>
            </a:r>
            <a:endParaRPr lang="en-US" sz="1300" dirty="0"/>
          </a:p>
          <a:p>
            <a:pPr algn="l" indent="0" marL="0">
              <a:spcAft>
                <a:spcPts val="200"/>
              </a:spcAft>
              <a:buNone/>
            </a:pPr>
            <a:r>
              <a:rPr lang="en-US" altLang="en-US" sz="1100" dirty="0">
                <a:solidFill>
                  <a:schemeClr val="accent3"/>
                </a:solidFill>
              </a:rPr>
              <a:t>The introduction template, the communication channel and the response time.</a:t>
            </a:r>
            <a:endParaRPr lang="en-US" sz="1300" dirty="0"/>
          </a:p>
        </p:txBody>
      </p:sp>
      <p:sp>
        <p:nvSpPr>
          <p:cNvPr id="7" name="Shape 4"/>
          <p:cNvSpPr/>
          <p:nvPr/>
        </p:nvSpPr>
        <p:spPr>
          <a:xfrm>
            <a:off x="457200" y="1847088"/>
            <a:ext cx="457200" cy="457200"/>
          </a:xfrm>
          <a:prstGeom prst="ellipse">
            <a:avLst/>
          </a:prstGeom>
          <a:solidFill>
            <a:srgbClr val="F4F1EB"/>
          </a:solidFill>
          <a:ln w="12700">
            <a:solidFill>
              <a:srgbClr val="F4F1EB"/>
            </a:solidFill>
            <a:prstDash val="solid"/>
          </a:ln>
        </p:spPr>
      </p:sp>
      <p:pic>
        <p:nvPicPr>
          <p:cNvPr id="8" name="icon FaPercent" descr="preencoded.png">    </p:cNvPr>
          <p:cNvPicPr>
            <a:picLocks noChangeAspect="1"/>
          </p:cNvPicPr>
          <p:nvPr/>
        </p:nvPicPr>
        <p:blipFill>
          <a:blip r:embed="rId2"/>
          <a:stretch>
            <a:fillRect/>
          </a:stretch>
        </p:blipFill>
        <p:spPr>
          <a:xfrm>
            <a:off x="548640" y="1938528"/>
            <a:ext cx="274320" cy="274320"/>
          </a:xfrm>
          <a:prstGeom prst="rect">
            <a:avLst/>
          </a:prstGeom>
        </p:spPr>
      </p:pic>
      <p:sp>
        <p:nvSpPr>
          <p:cNvPr id="9" name="Text 5"/>
          <p:cNvSpPr txBox="1"/>
          <p:nvPr/>
        </p:nvSpPr>
        <p:spPr>
          <a:xfrm>
            <a:off x="1097280" y="1828800"/>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Commission rate and payment mechanism</a:t>
            </a:r>
            <a:endParaRPr lang="en-US" sz="1300" dirty="0"/>
          </a:p>
          <a:p>
            <a:pPr algn="l" indent="0" marL="0">
              <a:spcAft>
                <a:spcPts val="200"/>
              </a:spcAft>
              <a:buNone/>
            </a:pPr>
            <a:r>
              <a:rPr lang="en-US" altLang="en-US" sz="1100" dirty="0">
                <a:solidFill>
                  <a:schemeClr val="accent3"/>
                </a:solidFill>
              </a:rPr>
              <a:t>A fixed percentage or amount per client, respecting professional regulations and local law.</a:t>
            </a:r>
            <a:endParaRPr lang="en-US" sz="1300" dirty="0"/>
          </a:p>
        </p:txBody>
      </p:sp>
      <p:sp>
        <p:nvSpPr>
          <p:cNvPr id="10" name="Shape 6"/>
          <p:cNvSpPr/>
          <p:nvPr/>
        </p:nvSpPr>
        <p:spPr>
          <a:xfrm>
            <a:off x="457200" y="2505456"/>
            <a:ext cx="457200" cy="457200"/>
          </a:xfrm>
          <a:prstGeom prst="ellipse">
            <a:avLst/>
          </a:prstGeom>
          <a:solidFill>
            <a:srgbClr val="F4F1EB"/>
          </a:solidFill>
          <a:ln w="12700">
            <a:solidFill>
              <a:srgbClr val="F4F1EB"/>
            </a:solidFill>
            <a:prstDash val="solid"/>
          </a:ln>
        </p:spPr>
      </p:sp>
      <p:pic>
        <p:nvPicPr>
          <p:cNvPr id="11" name="icon FaLock" descr="preencoded.png">    </p:cNvPr>
          <p:cNvPicPr>
            <a:picLocks noChangeAspect="1"/>
          </p:cNvPicPr>
          <p:nvPr/>
        </p:nvPicPr>
        <p:blipFill>
          <a:blip r:embed="rId3"/>
          <a:stretch>
            <a:fillRect/>
          </a:stretch>
        </p:blipFill>
        <p:spPr>
          <a:xfrm>
            <a:off x="548640" y="2596896"/>
            <a:ext cx="274320" cy="274320"/>
          </a:xfrm>
          <a:prstGeom prst="rect">
            <a:avLst/>
          </a:prstGeom>
        </p:spPr>
      </p:pic>
      <p:sp>
        <p:nvSpPr>
          <p:cNvPr id="12" name="Text 7"/>
          <p:cNvSpPr txBox="1"/>
          <p:nvPr/>
        </p:nvSpPr>
        <p:spPr>
          <a:xfrm>
            <a:off x="1097280" y="2487168"/>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Confidentiality and data protection</a:t>
            </a:r>
            <a:endParaRPr lang="en-US" sz="1300" dirty="0"/>
          </a:p>
          <a:p>
            <a:pPr algn="l" indent="0" marL="0">
              <a:spcAft>
                <a:spcPts val="200"/>
              </a:spcAft>
              <a:buNone/>
            </a:pPr>
            <a:r>
              <a:rPr lang="en-US" altLang="en-US" sz="1100" dirty="0">
                <a:solidFill>
                  <a:schemeClr val="accent3"/>
                </a:solidFill>
              </a:rPr>
              <a:t>An NDA, with client data protected in line with the law.</a:t>
            </a:r>
            <a:endParaRPr lang="en-US" sz="1300" dirty="0"/>
          </a:p>
        </p:txBody>
      </p:sp>
      <p:sp>
        <p:nvSpPr>
          <p:cNvPr id="13" name="Shape 8"/>
          <p:cNvSpPr/>
          <p:nvPr/>
        </p:nvSpPr>
        <p:spPr>
          <a:xfrm>
            <a:off x="457200" y="3163824"/>
            <a:ext cx="457200" cy="457200"/>
          </a:xfrm>
          <a:prstGeom prst="ellipse">
            <a:avLst/>
          </a:prstGeom>
          <a:solidFill>
            <a:srgbClr val="F4F1EB"/>
          </a:solidFill>
          <a:ln w="12700">
            <a:solidFill>
              <a:srgbClr val="F4F1EB"/>
            </a:solidFill>
            <a:prstDash val="solid"/>
          </a:ln>
        </p:spPr>
      </p:sp>
      <p:pic>
        <p:nvPicPr>
          <p:cNvPr id="14" name="icon FaUserShield" descr="preencoded.png">    </p:cNvPr>
          <p:cNvPicPr>
            <a:picLocks noChangeAspect="1"/>
          </p:cNvPicPr>
          <p:nvPr/>
        </p:nvPicPr>
        <p:blipFill>
          <a:blip r:embed="rId4"/>
          <a:stretch>
            <a:fillRect/>
          </a:stretch>
        </p:blipFill>
        <p:spPr>
          <a:xfrm>
            <a:off x="548640" y="3255264"/>
            <a:ext cx="274320" cy="274320"/>
          </a:xfrm>
          <a:prstGeom prst="rect">
            <a:avLst/>
          </a:prstGeom>
        </p:spPr>
      </p:pic>
      <p:sp>
        <p:nvSpPr>
          <p:cNvPr id="15" name="Text 9"/>
          <p:cNvSpPr txBox="1"/>
          <p:nvPr/>
        </p:nvSpPr>
        <p:spPr>
          <a:xfrm>
            <a:off x="1097280" y="3145536"/>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No legal liability on the partner</a:t>
            </a:r>
            <a:endParaRPr lang="en-US" sz="1300" dirty="0"/>
          </a:p>
          <a:p>
            <a:pPr algn="l" indent="0" marL="0">
              <a:spcAft>
                <a:spcPts val="200"/>
              </a:spcAft>
              <a:buNone/>
            </a:pPr>
            <a:r>
              <a:rPr lang="en-US" altLang="en-US" sz="1100" dirty="0">
                <a:solidFill>
                  <a:schemeClr val="accent3"/>
                </a:solidFill>
              </a:rPr>
              <a:t>The partner gives no legal advice; professional responsibility sits with us.</a:t>
            </a:r>
            <a:endParaRPr lang="en-US" sz="1300" dirty="0"/>
          </a:p>
        </p:txBody>
      </p:sp>
      <p:sp>
        <p:nvSpPr>
          <p:cNvPr id="16" name="Shape 10"/>
          <p:cNvSpPr/>
          <p:nvPr/>
        </p:nvSpPr>
        <p:spPr>
          <a:xfrm>
            <a:off x="457200" y="3822192"/>
            <a:ext cx="457200" cy="457200"/>
          </a:xfrm>
          <a:prstGeom prst="ellipse">
            <a:avLst/>
          </a:prstGeom>
          <a:solidFill>
            <a:srgbClr val="F4F1EB"/>
          </a:solidFill>
          <a:ln w="12700">
            <a:solidFill>
              <a:srgbClr val="F4F1EB"/>
            </a:solidFill>
            <a:prstDash val="solid"/>
          </a:ln>
        </p:spPr>
      </p:sp>
      <p:pic>
        <p:nvPicPr>
          <p:cNvPr id="17" name="icon FaBan" descr="preencoded.png">    </p:cNvPr>
          <p:cNvPicPr>
            <a:picLocks noChangeAspect="1"/>
          </p:cNvPicPr>
          <p:nvPr/>
        </p:nvPicPr>
        <p:blipFill>
          <a:blip r:embed="rId5"/>
          <a:stretch>
            <a:fillRect/>
          </a:stretch>
        </p:blipFill>
        <p:spPr>
          <a:xfrm>
            <a:off x="548640" y="3913632"/>
            <a:ext cx="274320" cy="274320"/>
          </a:xfrm>
          <a:prstGeom prst="rect">
            <a:avLst/>
          </a:prstGeom>
        </p:spPr>
      </p:pic>
      <p:sp>
        <p:nvSpPr>
          <p:cNvPr id="18" name="Text 11"/>
          <p:cNvSpPr txBox="1"/>
          <p:nvPr/>
        </p:nvSpPr>
        <p:spPr>
          <a:xfrm>
            <a:off x="1097280" y="3803904"/>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Non-circumvention</a:t>
            </a:r>
            <a:endParaRPr lang="en-US" sz="1300" dirty="0"/>
          </a:p>
          <a:p>
            <a:pPr algn="l" indent="0" marL="0">
              <a:spcAft>
                <a:spcPts val="200"/>
              </a:spcAft>
              <a:buNone/>
            </a:pPr>
            <a:r>
              <a:rPr lang="en-US" altLang="en-US" sz="1100" dirty="0">
                <a:solidFill>
                  <a:schemeClr val="accent3"/>
                </a:solidFill>
              </a:rPr>
              <a:t>Each party's client relationships are protected for the term of the agreement.</a:t>
            </a:r>
            <a:endParaRPr lang="en-US" sz="1300" dirty="0"/>
          </a:p>
        </p:txBody>
      </p:sp>
      <p:sp>
        <p:nvSpPr>
          <p:cNvPr id="19"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Commercial model</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HOW EVERYONE WINS</a:t>
            </a:r>
            <a:endParaRPr lang="en-US" sz="1000" dirty="0"/>
          </a:p>
        </p:txBody>
      </p:sp>
      <p:sp>
        <p:nvSpPr>
          <p:cNvPr id="4" name="Shape 2"/>
          <p:cNvSpPr/>
          <p:nvPr/>
        </p:nvSpPr>
        <p:spPr>
          <a:xfrm>
            <a:off x="457200" y="1188720"/>
            <a:ext cx="2590800" cy="3246120"/>
          </a:xfrm>
          <a:prstGeom prst="rect">
            <a:avLst/>
          </a:prstGeom>
          <a:solidFill>
            <a:srgbClr val="F4F1EB"/>
          </a:solidFill>
          <a:ln w="12700">
            <a:solidFill>
              <a:srgbClr val="F4F1EB"/>
            </a:solidFill>
            <a:prstDash val="solid"/>
          </a:ln>
        </p:spPr>
      </p:sp>
      <p:sp>
        <p:nvSpPr>
          <p:cNvPr id="5" name="Text 3"/>
          <p:cNvSpPr txBox="1"/>
          <p:nvPr/>
        </p:nvSpPr>
        <p:spPr>
          <a:xfrm>
            <a:off x="658368" y="1344168"/>
            <a:ext cx="2188464" cy="457200"/>
          </a:xfrm>
          <a:prstGeom prst="rect">
            <a:avLst/>
          </a:prstGeom>
          <a:noFill/>
          <a:ln/>
        </p:spPr>
        <p:txBody>
          <a:bodyPr wrap="square" lIns="0" tIns="0" rIns="0" bIns="0" rtlCol="0" anchor="ctr"/>
          <a:lstStyle/>
          <a:p>
            <a:pPr algn="l" indent="0" marL="0">
              <a:buNone/>
            </a:pPr>
            <a:r>
              <a:rPr lang="en-US" altLang="en-US" sz="2600" b="1" dirty="0">
                <a:solidFill>
                  <a:schemeClr val="accent1"/>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658368" y="1847088"/>
            <a:ext cx="2188464" cy="2432304"/>
          </a:xfrm>
          <a:prstGeom prst="rect">
            <a:avLst/>
          </a:prstGeom>
          <a:noFill/>
          <a:ln/>
        </p:spPr>
        <p:txBody>
          <a:bodyPr wrap="square" lIns="0" tIns="0" rIns="0" bIns="0" rtlCol="0" anchor="t"/>
          <a:lstStyle/>
          <a:p>
            <a:pPr algn="l" indent="0" marL="0">
              <a:spcAft>
                <a:spcPts val="300"/>
              </a:spcAft>
              <a:buNone/>
            </a:pPr>
            <a:r>
              <a:rPr lang="en-US" altLang="en-US" sz="1400" b="1" dirty="0">
                <a:solidFill>
                  <a:schemeClr val="tx1"/>
                </a:solidFill>
              </a:rPr>
              <a:t>Fixed fee per client</a:t>
            </a:r>
            <a:endParaRPr lang="en-US" sz="1400" dirty="0"/>
          </a:p>
          <a:p>
            <a:pPr algn="l" indent="0" marL="0">
              <a:spcAft>
                <a:spcPts val="300"/>
              </a:spcAft>
              <a:buNone/>
            </a:pPr>
            <a:r>
              <a:rPr lang="en-US" altLang="en-US" sz="1150" dirty="0">
                <a:solidFill>
                  <a:schemeClr val="accent3"/>
                </a:solidFill>
              </a:rPr>
              <a:t>Individual, spousal, property or business will. The client sees the full cost in one proposal covering fees and registration.</a:t>
            </a:r>
            <a:endParaRPr lang="en-US" sz="1400" dirty="0"/>
          </a:p>
        </p:txBody>
      </p:sp>
      <p:sp>
        <p:nvSpPr>
          <p:cNvPr id="7" name="Shape 5"/>
          <p:cNvSpPr/>
          <p:nvPr/>
        </p:nvSpPr>
        <p:spPr>
          <a:xfrm>
            <a:off x="3276600" y="1188720"/>
            <a:ext cx="2590800" cy="3246120"/>
          </a:xfrm>
          <a:prstGeom prst="rect">
            <a:avLst/>
          </a:prstGeom>
          <a:solidFill>
            <a:srgbClr val="F4F1EB"/>
          </a:solidFill>
          <a:ln w="12700">
            <a:solidFill>
              <a:srgbClr val="F4F1EB"/>
            </a:solidFill>
            <a:prstDash val="solid"/>
          </a:ln>
        </p:spPr>
      </p:sp>
      <p:sp>
        <p:nvSpPr>
          <p:cNvPr id="8" name="Text 6"/>
          <p:cNvSpPr txBox="1"/>
          <p:nvPr/>
        </p:nvSpPr>
        <p:spPr>
          <a:xfrm>
            <a:off x="3477768" y="1344168"/>
            <a:ext cx="2188464" cy="457200"/>
          </a:xfrm>
          <a:prstGeom prst="rect">
            <a:avLst/>
          </a:prstGeom>
          <a:noFill/>
          <a:ln/>
        </p:spPr>
        <p:txBody>
          <a:bodyPr wrap="square" lIns="0" tIns="0" rIns="0" bIns="0" rtlCol="0" anchor="ctr"/>
          <a:lstStyle/>
          <a:p>
            <a:pPr algn="l" indent="0" marL="0">
              <a:buNone/>
            </a:pPr>
            <a:r>
              <a:rPr lang="en-US" altLang="en-US" sz="2600" b="1" dirty="0">
                <a:solidFill>
                  <a:schemeClr val="accent1"/>
                </a:solidFill>
                <a:latin typeface="Cambria" pitchFamily="34" charset="0"/>
                <a:ea typeface="Cambria" pitchFamily="34" charset="-122"/>
                <a:cs typeface="Cambria" pitchFamily="34" charset="-120"/>
              </a:rPr>
              <a:t>2</a:t>
            </a:r>
            <a:endParaRPr lang="en-US" sz="2600" dirty="0"/>
          </a:p>
        </p:txBody>
      </p:sp>
      <p:sp>
        <p:nvSpPr>
          <p:cNvPr id="9" name="Text 7"/>
          <p:cNvSpPr txBox="1"/>
          <p:nvPr/>
        </p:nvSpPr>
        <p:spPr>
          <a:xfrm>
            <a:off x="3477768" y="1847088"/>
            <a:ext cx="2188464" cy="2432304"/>
          </a:xfrm>
          <a:prstGeom prst="rect">
            <a:avLst/>
          </a:prstGeom>
          <a:noFill/>
          <a:ln/>
        </p:spPr>
        <p:txBody>
          <a:bodyPr wrap="square" lIns="0" tIns="0" rIns="0" bIns="0" rtlCol="0" anchor="t"/>
          <a:lstStyle/>
          <a:p>
            <a:pPr algn="l" indent="0" marL="0">
              <a:spcAft>
                <a:spcPts val="300"/>
              </a:spcAft>
              <a:buNone/>
            </a:pPr>
            <a:r>
              <a:rPr lang="en-US" altLang="en-US" sz="1400" b="1" dirty="0">
                <a:solidFill>
                  <a:schemeClr val="tx1"/>
                </a:solidFill>
              </a:rPr>
              <a:t>Referral commission to the partner</a:t>
            </a:r>
            <a:endParaRPr lang="en-US" sz="1400" dirty="0"/>
          </a:p>
          <a:p>
            <a:pPr algn="l" indent="0" marL="0">
              <a:spcAft>
                <a:spcPts val="300"/>
              </a:spcAft>
              <a:buNone/>
            </a:pPr>
            <a:r>
              <a:rPr lang="en-US" altLang="en-US" sz="1150" dirty="0">
                <a:solidFill>
                  <a:schemeClr val="accent3"/>
                </a:solidFill>
              </a:rPr>
              <a:t>A fixed percentage or amount per referred client, settled monthly with a detailed report.</a:t>
            </a:r>
            <a:endParaRPr lang="en-US" sz="1400" dirty="0"/>
          </a:p>
        </p:txBody>
      </p:sp>
      <p:sp>
        <p:nvSpPr>
          <p:cNvPr id="10" name="Shape 8"/>
          <p:cNvSpPr/>
          <p:nvPr/>
        </p:nvSpPr>
        <p:spPr>
          <a:xfrm>
            <a:off x="6096000" y="1188720"/>
            <a:ext cx="2590800" cy="3246120"/>
          </a:xfrm>
          <a:prstGeom prst="rect">
            <a:avLst/>
          </a:prstGeom>
          <a:solidFill>
            <a:srgbClr val="F4F1EB"/>
          </a:solidFill>
          <a:ln w="12700">
            <a:solidFill>
              <a:srgbClr val="F4F1EB"/>
            </a:solidFill>
            <a:prstDash val="solid"/>
          </a:ln>
        </p:spPr>
      </p:sp>
      <p:sp>
        <p:nvSpPr>
          <p:cNvPr id="11" name="Text 9"/>
          <p:cNvSpPr txBox="1"/>
          <p:nvPr/>
        </p:nvSpPr>
        <p:spPr>
          <a:xfrm>
            <a:off x="6297168" y="1344168"/>
            <a:ext cx="2188464" cy="457200"/>
          </a:xfrm>
          <a:prstGeom prst="rect">
            <a:avLst/>
          </a:prstGeom>
          <a:noFill/>
          <a:ln/>
        </p:spPr>
        <p:txBody>
          <a:bodyPr wrap="square" lIns="0" tIns="0" rIns="0" bIns="0" rtlCol="0" anchor="ctr"/>
          <a:lstStyle/>
          <a:p>
            <a:pPr algn="l" indent="0" marL="0">
              <a:buNone/>
            </a:pPr>
            <a:r>
              <a:rPr lang="en-US" altLang="en-US" sz="2600" b="1" dirty="0">
                <a:solidFill>
                  <a:schemeClr val="accent1"/>
                </a:solidFill>
                <a:latin typeface="Cambria" pitchFamily="34" charset="0"/>
                <a:ea typeface="Cambria" pitchFamily="34" charset="-122"/>
                <a:cs typeface="Cambria" pitchFamily="34" charset="-120"/>
              </a:rPr>
              <a:t>3</a:t>
            </a:r>
            <a:endParaRPr lang="en-US" sz="2600" dirty="0"/>
          </a:p>
        </p:txBody>
      </p:sp>
      <p:sp>
        <p:nvSpPr>
          <p:cNvPr id="12" name="Text 10"/>
          <p:cNvSpPr txBox="1"/>
          <p:nvPr/>
        </p:nvSpPr>
        <p:spPr>
          <a:xfrm>
            <a:off x="6297168" y="1847088"/>
            <a:ext cx="2188464" cy="2432304"/>
          </a:xfrm>
          <a:prstGeom prst="rect">
            <a:avLst/>
          </a:prstGeom>
          <a:noFill/>
          <a:ln/>
        </p:spPr>
        <p:txBody>
          <a:bodyPr wrap="square" lIns="0" tIns="0" rIns="0" bIns="0" rtlCol="0" anchor="t"/>
          <a:lstStyle/>
          <a:p>
            <a:pPr algn="l" indent="0" marL="0">
              <a:spcAft>
                <a:spcPts val="300"/>
              </a:spcAft>
              <a:buNone/>
            </a:pPr>
            <a:r>
              <a:rPr lang="en-US" altLang="en-US" sz="1400" b="1" dirty="0">
                <a:solidFill>
                  <a:schemeClr val="tx1"/>
                </a:solidFill>
              </a:rPr>
              <a:t>A lifetime relationship</a:t>
            </a:r>
            <a:endParaRPr lang="en-US" sz="1400" dirty="0"/>
          </a:p>
          <a:p>
            <a:pPr algn="l" indent="0" marL="0">
              <a:spcAft>
                <a:spcPts val="300"/>
              </a:spcAft>
              <a:buNone/>
            </a:pPr>
            <a:r>
              <a:rPr lang="en-US" altLang="en-US" sz="1150" dirty="0">
                <a:solidFill>
                  <a:schemeClr val="accent3"/>
                </a:solidFill>
              </a:rPr>
              <a:t>After the will: company formation, ownership transfer, tax structuring, family office, contracts, disputes. The partner stays the original referrer.</a:t>
            </a:r>
            <a:endParaRPr lang="en-US" sz="1400" dirty="0"/>
          </a:p>
        </p:txBody>
      </p:sp>
      <p:sp>
        <p:nvSpPr>
          <p:cNvPr id="13"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463040"/>
            <a:ext cx="1828800" cy="1463040"/>
          </a:xfrm>
          <a:prstGeom prst="rect">
            <a:avLst/>
          </a:prstGeom>
          <a:noFill/>
          <a:ln/>
        </p:spPr>
        <p:txBody>
          <a:bodyPr wrap="square" lIns="0" tIns="0" rIns="0" bIns="0" rtlCol="0" anchor="ctr"/>
          <a:lstStyle/>
          <a:p>
            <a:pPr algn="l" indent="0" marL="0">
              <a:buNone/>
            </a:pPr>
            <a:r>
              <a:rPr lang="en-US" sz="7200" dirty="0">
                <a:solidFill>
                  <a:schemeClr val="accent1"/>
                </a:solidFill>
                <a:latin typeface="Cambria" pitchFamily="34" charset="0"/>
                <a:ea typeface="Cambria" pitchFamily="34" charset="-122"/>
                <a:cs typeface="Cambria" pitchFamily="34" charset="-120"/>
              </a:rPr>
              <a:t>04</a:t>
            </a:r>
            <a:endParaRPr lang="en-US" sz="7200" dirty="0"/>
          </a:p>
        </p:txBody>
      </p:sp>
      <p:sp>
        <p:nvSpPr>
          <p:cNvPr id="3" name="Text 1"/>
          <p:cNvSpPr txBox="1"/>
          <p:nvPr/>
        </p:nvSpPr>
        <p:spPr>
          <a:xfrm>
            <a:off x="457200" y="2743200"/>
            <a:ext cx="7772400" cy="868680"/>
          </a:xfrm>
          <a:prstGeom prst="rect">
            <a:avLst/>
          </a:prstGeom>
          <a:noFill/>
          <a:ln/>
        </p:spPr>
        <p:txBody>
          <a:bodyPr wrap="square" lIns="0" tIns="0" rIns="0" bIns="0" rtlCol="0" anchor="b"/>
          <a:lstStyle/>
          <a:p>
            <a:pPr algn="l" indent="0" marL="0">
              <a:buNone/>
            </a:pPr>
            <a:r>
              <a:rPr lang="en-US" altLang="en-US" sz="2400" b="1" dirty="0">
                <a:solidFill>
                  <a:schemeClr val="bg1"/>
                </a:solidFill>
                <a:latin typeface="Cambria" pitchFamily="34" charset="0"/>
                <a:ea typeface="Cambria" pitchFamily="34" charset="-122"/>
                <a:cs typeface="Cambria" pitchFamily="34" charset="-120"/>
              </a:rPr>
              <a:t>How to introduce the service to the client</a:t>
            </a:r>
            <a:endParaRPr lang="en-US" sz="2400" dirty="0"/>
          </a:p>
        </p:txBody>
      </p:sp>
      <p:sp>
        <p:nvSpPr>
          <p:cNvPr id="4" name="Text 2"/>
          <p:cNvSpPr txBox="1"/>
          <p:nvPr/>
        </p:nvSpPr>
        <p:spPr>
          <a:xfrm>
            <a:off x="457200" y="3675888"/>
            <a:ext cx="7772400" cy="502920"/>
          </a:xfrm>
          <a:prstGeom prst="rect">
            <a:avLst/>
          </a:prstGeom>
          <a:noFill/>
          <a:ln/>
        </p:spPr>
        <p:txBody>
          <a:bodyPr wrap="square" lIns="0" tIns="0" rIns="0" bIns="0" rtlCol="0" anchor="t"/>
          <a:lstStyle/>
          <a:p>
            <a:pPr algn="l" indent="0" marL="0">
              <a:buNone/>
            </a:pPr>
            <a:r>
              <a:rPr lang="en-US" altLang="en-US" sz="1400" dirty="0">
                <a:solidFill>
                  <a:schemeClr val="accent2"/>
                </a:solidFill>
              </a:rPr>
              <a:t>The right timing and one simple sentence</a:t>
            </a:r>
            <a:endParaRPr lang="en-US" sz="14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The best moments to raise it</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TIMING</a:t>
            </a:r>
            <a:endParaRPr lang="en-US" sz="1000" dirty="0"/>
          </a:p>
        </p:txBody>
      </p:sp>
      <p:sp>
        <p:nvSpPr>
          <p:cNvPr id="4" name="Shape 2"/>
          <p:cNvSpPr/>
          <p:nvPr/>
        </p:nvSpPr>
        <p:spPr>
          <a:xfrm>
            <a:off x="731520" y="1600200"/>
            <a:ext cx="7680960" cy="0"/>
          </a:xfrm>
          <a:prstGeom prst="line">
            <a:avLst/>
          </a:prstGeom>
          <a:noFill/>
          <a:ln w="9525">
            <a:solidFill>
              <a:srgbClr val="D9B38C"/>
            </a:solidFill>
            <a:prstDash val="solid"/>
          </a:ln>
        </p:spPr>
      </p:sp>
      <p:sp>
        <p:nvSpPr>
          <p:cNvPr id="5" name="Shape 3"/>
          <p:cNvSpPr/>
          <p:nvPr/>
        </p:nvSpPr>
        <p:spPr>
          <a:xfrm>
            <a:off x="457200" y="1325880"/>
            <a:ext cx="548640" cy="548640"/>
          </a:xfrm>
          <a:prstGeom prst="ellipse">
            <a:avLst/>
          </a:prstGeom>
          <a:solidFill>
            <a:srgbClr val="0E2238"/>
          </a:solidFill>
          <a:ln w="12700">
            <a:solidFill>
              <a:srgbClr val="B5723B"/>
            </a:solidFill>
            <a:prstDash val="solid"/>
          </a:ln>
        </p:spPr>
      </p:sp>
      <p:sp>
        <p:nvSpPr>
          <p:cNvPr id="6" name="Text 4"/>
          <p:cNvSpPr txBox="1"/>
          <p:nvPr/>
        </p:nvSpPr>
        <p:spPr>
          <a:xfrm>
            <a:off x="457200"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457200" y="2057400"/>
            <a:ext cx="1933956"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After booking</a:t>
            </a:r>
            <a:endParaRPr lang="en-US" sz="1300" dirty="0"/>
          </a:p>
        </p:txBody>
      </p:sp>
      <p:sp>
        <p:nvSpPr>
          <p:cNvPr id="8" name="Text 6"/>
          <p:cNvSpPr txBox="1"/>
          <p:nvPr/>
        </p:nvSpPr>
        <p:spPr>
          <a:xfrm>
            <a:off x="457200" y="2606040"/>
            <a:ext cx="1933956"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The client has decided to invest and is now thinking about protecting the purchase.</a:t>
            </a:r>
            <a:endParaRPr lang="en-US" sz="1050" dirty="0"/>
          </a:p>
        </p:txBody>
      </p:sp>
      <p:sp>
        <p:nvSpPr>
          <p:cNvPr id="9" name="Shape 7"/>
          <p:cNvSpPr/>
          <p:nvPr/>
        </p:nvSpPr>
        <p:spPr>
          <a:xfrm>
            <a:off x="2555748" y="1325880"/>
            <a:ext cx="548640" cy="548640"/>
          </a:xfrm>
          <a:prstGeom prst="ellipse">
            <a:avLst/>
          </a:prstGeom>
          <a:solidFill>
            <a:srgbClr val="0E2238"/>
          </a:solidFill>
          <a:ln w="12700">
            <a:solidFill>
              <a:srgbClr val="B5723B"/>
            </a:solidFill>
            <a:prstDash val="solid"/>
          </a:ln>
        </p:spPr>
      </p:sp>
      <p:sp>
        <p:nvSpPr>
          <p:cNvPr id="10" name="Text 8"/>
          <p:cNvSpPr txBox="1"/>
          <p:nvPr/>
        </p:nvSpPr>
        <p:spPr>
          <a:xfrm>
            <a:off x="2555748"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2555748" y="2057400"/>
            <a:ext cx="1933956"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During the SPA signing</a:t>
            </a:r>
            <a:endParaRPr lang="en-US" sz="1300" dirty="0"/>
          </a:p>
        </p:txBody>
      </p:sp>
      <p:sp>
        <p:nvSpPr>
          <p:cNvPr id="12" name="Text 10"/>
          <p:cNvSpPr txBox="1"/>
          <p:nvPr/>
        </p:nvSpPr>
        <p:spPr>
          <a:xfrm>
            <a:off x="2555748" y="2606040"/>
            <a:ext cx="1933956"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A natural moment to discuss ownership and what happens to it in future.</a:t>
            </a:r>
            <a:endParaRPr lang="en-US" sz="1050" dirty="0"/>
          </a:p>
        </p:txBody>
      </p:sp>
      <p:sp>
        <p:nvSpPr>
          <p:cNvPr id="13" name="Shape 11"/>
          <p:cNvSpPr/>
          <p:nvPr/>
        </p:nvSpPr>
        <p:spPr>
          <a:xfrm>
            <a:off x="4654296" y="1325880"/>
            <a:ext cx="548640" cy="548640"/>
          </a:xfrm>
          <a:prstGeom prst="ellipse">
            <a:avLst/>
          </a:prstGeom>
          <a:solidFill>
            <a:srgbClr val="0E2238"/>
          </a:solidFill>
          <a:ln w="12700">
            <a:solidFill>
              <a:srgbClr val="B5723B"/>
            </a:solidFill>
            <a:prstDash val="solid"/>
          </a:ln>
        </p:spPr>
      </p:sp>
      <p:sp>
        <p:nvSpPr>
          <p:cNvPr id="14" name="Text 12"/>
          <p:cNvSpPr txBox="1"/>
          <p:nvPr/>
        </p:nvSpPr>
        <p:spPr>
          <a:xfrm>
            <a:off x="4654296"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4654296" y="2057400"/>
            <a:ext cx="1933956"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After handover</a:t>
            </a:r>
            <a:endParaRPr lang="en-US" sz="1300" dirty="0"/>
          </a:p>
        </p:txBody>
      </p:sp>
      <p:sp>
        <p:nvSpPr>
          <p:cNvPr id="16" name="Text 14"/>
          <p:cNvSpPr txBox="1"/>
          <p:nvPr/>
        </p:nvSpPr>
        <p:spPr>
          <a:xfrm>
            <a:off x="4654296" y="2606040"/>
            <a:ext cx="1933956"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Ownership is now real, and legal protection is the natural next step.</a:t>
            </a:r>
            <a:endParaRPr lang="en-US" sz="1050" dirty="0"/>
          </a:p>
        </p:txBody>
      </p:sp>
      <p:sp>
        <p:nvSpPr>
          <p:cNvPr id="17" name="Shape 15"/>
          <p:cNvSpPr/>
          <p:nvPr/>
        </p:nvSpPr>
        <p:spPr>
          <a:xfrm>
            <a:off x="6752844" y="1325880"/>
            <a:ext cx="548640" cy="548640"/>
          </a:xfrm>
          <a:prstGeom prst="ellipse">
            <a:avLst/>
          </a:prstGeom>
          <a:solidFill>
            <a:srgbClr val="0E2238"/>
          </a:solidFill>
          <a:ln w="12700">
            <a:solidFill>
              <a:srgbClr val="B5723B"/>
            </a:solidFill>
            <a:prstDash val="solid"/>
          </a:ln>
        </p:spPr>
      </p:sp>
      <p:sp>
        <p:nvSpPr>
          <p:cNvPr id="18" name="Text 16"/>
          <p:cNvSpPr txBox="1"/>
          <p:nvPr/>
        </p:nvSpPr>
        <p:spPr>
          <a:xfrm>
            <a:off x="6752844"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6752844" y="2057400"/>
            <a:ext cx="1933956"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When discussing long-term investment</a:t>
            </a:r>
            <a:endParaRPr lang="en-US" sz="1300" dirty="0"/>
          </a:p>
        </p:txBody>
      </p:sp>
      <p:sp>
        <p:nvSpPr>
          <p:cNvPr id="20" name="Text 18"/>
          <p:cNvSpPr txBox="1"/>
          <p:nvPr/>
        </p:nvSpPr>
        <p:spPr>
          <a:xfrm>
            <a:off x="6752844" y="2606040"/>
            <a:ext cx="1933956"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Protection is part of investment planning, not of thinking about death.</a:t>
            </a:r>
            <a:endParaRPr lang="en-US" sz="1050" dirty="0"/>
          </a:p>
        </p:txBody>
      </p:sp>
      <p:sp>
        <p:nvSpPr>
          <p:cNvPr id="21"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The broker's script with the client</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KEEP IT SIMPLE</a:t>
            </a:r>
            <a:endParaRPr lang="en-US" sz="1000" dirty="0"/>
          </a:p>
        </p:txBody>
      </p:sp>
      <p:sp>
        <p:nvSpPr>
          <p:cNvPr id="4" name="Shape 2"/>
          <p:cNvSpPr/>
          <p:nvPr/>
        </p:nvSpPr>
        <p:spPr>
          <a:xfrm>
            <a:off x="457200" y="1188720"/>
            <a:ext cx="3291840" cy="3246120"/>
          </a:xfrm>
          <a:prstGeom prst="rect">
            <a:avLst/>
          </a:prstGeom>
          <a:solidFill>
            <a:srgbClr val="0E2238"/>
          </a:solidFill>
          <a:ln w="12700">
            <a:solidFill>
              <a:srgbClr val="0E2238"/>
            </a:solidFill>
            <a:prstDash val="solid"/>
          </a:ln>
        </p:spPr>
      </p:sp>
      <p:pic>
        <p:nvPicPr>
          <p:cNvPr id="5" name="icon FaComment" descr="preencoded.png">    </p:cNvPr>
          <p:cNvPicPr>
            <a:picLocks noChangeAspect="1"/>
          </p:cNvPicPr>
          <p:nvPr/>
        </p:nvPicPr>
        <p:blipFill>
          <a:blip r:embed="rId1"/>
          <a:stretch>
            <a:fillRect/>
          </a:stretch>
        </p:blipFill>
        <p:spPr>
          <a:xfrm>
            <a:off x="777240" y="1508760"/>
            <a:ext cx="457200" cy="457200"/>
          </a:xfrm>
          <a:prstGeom prst="rect">
            <a:avLst/>
          </a:prstGeom>
        </p:spPr>
      </p:pic>
      <p:sp>
        <p:nvSpPr>
          <p:cNvPr id="6" name="Text 3"/>
          <p:cNvSpPr txBox="1"/>
          <p:nvPr/>
        </p:nvSpPr>
        <p:spPr>
          <a:xfrm>
            <a:off x="777240" y="2103120"/>
            <a:ext cx="2651760" cy="713232"/>
          </a:xfrm>
          <a:prstGeom prst="rect">
            <a:avLst/>
          </a:prstGeom>
          <a:noFill/>
          <a:ln/>
        </p:spPr>
        <p:txBody>
          <a:bodyPr wrap="square" lIns="0" tIns="0" rIns="0" bIns="0" rtlCol="0" anchor="t"/>
          <a:lstStyle/>
          <a:p>
            <a:pPr algn="l" indent="0" marL="0">
              <a:buNone/>
            </a:pPr>
            <a:r>
              <a:rPr lang="en-US" altLang="en-US" sz="1800" b="1" dirty="0">
                <a:solidFill>
                  <a:schemeClr val="accent1"/>
                </a:solidFill>
                <a:latin typeface="Cambria" pitchFamily="34" charset="0"/>
                <a:ea typeface="Cambria" pitchFamily="34" charset="-122"/>
                <a:cs typeface="Cambria" pitchFamily="34" charset="-120"/>
              </a:rPr>
              <a:t>The introduction line</a:t>
            </a:r>
            <a:endParaRPr lang="en-US" sz="1800" dirty="0"/>
          </a:p>
        </p:txBody>
      </p:sp>
      <p:sp>
        <p:nvSpPr>
          <p:cNvPr id="7" name="Text 4"/>
          <p:cNvSpPr txBox="1"/>
          <p:nvPr/>
        </p:nvSpPr>
        <p:spPr>
          <a:xfrm>
            <a:off x="777240" y="2862072"/>
            <a:ext cx="2651760" cy="1481328"/>
          </a:xfrm>
          <a:prstGeom prst="rect">
            <a:avLst/>
          </a:prstGeom>
          <a:noFill/>
          <a:ln/>
        </p:spPr>
        <p:txBody>
          <a:bodyPr wrap="square" lIns="0" tIns="0" rIns="0" bIns="0" rtlCol="0" anchor="t"/>
          <a:lstStyle/>
          <a:p>
            <a:pPr algn="l" indent="0" marL="0">
              <a:buNone/>
            </a:pPr>
            <a:r>
              <a:rPr lang="en-US" altLang="en-US" sz="1100" dirty="0">
                <a:solidFill>
                  <a:schemeClr val="bg2"/>
                </a:solidFill>
              </a:rPr>
              <a:t>“Since you own property in the UAE, it is very important to protect your assets and your family legally. We work with a specialist law firm that can help you prepare a will compliant with UAE law.”</a:t>
            </a:r>
            <a:endParaRPr lang="en-US" sz="1100" dirty="0"/>
          </a:p>
        </p:txBody>
      </p:sp>
      <p:sp>
        <p:nvSpPr>
          <p:cNvPr id="8" name="Text 5"/>
          <p:cNvSpPr txBox="1"/>
          <p:nvPr/>
        </p:nvSpPr>
        <p:spPr>
          <a:xfrm>
            <a:off x="4023360" y="1188720"/>
            <a:ext cx="4663440" cy="3246120"/>
          </a:xfrm>
          <a:prstGeom prst="rect">
            <a:avLst/>
          </a:prstGeom>
          <a:noFill/>
          <a:ln/>
        </p:spPr>
        <p:txBody>
          <a:bodyPr wrap="square" lIns="0" tIns="0" rIns="0" bIns="0" rtlCol="0" anchor="t"/>
          <a:lstStyle/>
          <a:p>
            <a:pPr algn="l" marL="177800" indent="-177800">
              <a:buSzPct val="100000"/>
              <a:buChar char="•"/>
            </a:pPr>
            <a:r>
              <a:rPr lang="en-US" altLang="en-US" sz="1300" b="1" dirty="0">
                <a:solidFill>
                  <a:schemeClr val="tx1"/>
                </a:solidFill>
              </a:rPr>
              <a:t>The broker only opens the door</a:t>
            </a:r>
            <a:endParaRPr lang="en-US" sz="1300" dirty="0"/>
          </a:p>
          <a:p>
            <a:pPr algn="l" indent="0" marL="0">
              <a:spcAft>
                <a:spcPts val="200"/>
              </a:spcAft>
              <a:buNone/>
            </a:pPr>
            <a:r>
              <a:rPr lang="en-US" altLang="en-US" sz="1100" dirty="0">
                <a:solidFill>
                  <a:schemeClr val="accent3"/>
                </a:solidFill>
              </a:rPr>
              <a:t>The right moment, one sentence, then the referral. No legal detail.</a:t>
            </a:r>
            <a:endParaRPr lang="en-US" sz="1300" dirty="0"/>
          </a:p>
          <a:p>
            <a:pPr algn="l" marL="177800" indent="-177800">
              <a:spcBef>
                <a:spcPts val="600"/>
              </a:spcBef>
              <a:buSzPct val="100000"/>
              <a:buChar char="•"/>
            </a:pPr>
            <a:r>
              <a:rPr lang="en-US" altLang="en-US" sz="1300" b="1" dirty="0">
                <a:solidFill>
                  <a:schemeClr val="tx1"/>
                </a:solidFill>
              </a:rPr>
              <a:t>Offer the free consultation</a:t>
            </a:r>
            <a:endParaRPr lang="en-US" sz="1300" dirty="0"/>
          </a:p>
          <a:p>
            <a:pPr algn="l" indent="0" marL="0">
              <a:spcAft>
                <a:spcPts val="200"/>
              </a:spcAft>
              <a:buNone/>
            </a:pPr>
            <a:r>
              <a:rPr lang="en-US" altLang="en-US" sz="1100" dirty="0">
                <a:solidFill>
                  <a:schemeClr val="accent3"/>
                </a:solidFill>
              </a:rPr>
              <a:t>“If you like, I can arrange a free first consultation with them to explain the options that suit you.”</a:t>
            </a:r>
            <a:endParaRPr lang="en-US" sz="1300" dirty="0"/>
          </a:p>
          <a:p>
            <a:pPr algn="l" marL="177800" indent="-177800">
              <a:spcBef>
                <a:spcPts val="600"/>
              </a:spcBef>
              <a:buSzPct val="100000"/>
              <a:buChar char="•"/>
            </a:pPr>
            <a:r>
              <a:rPr lang="en-US" altLang="en-US" sz="1300" b="1" dirty="0">
                <a:solidFill>
                  <a:schemeClr val="tx1"/>
                </a:solidFill>
              </a:rPr>
              <a:t>If asked: why do I need a will?</a:t>
            </a:r>
            <a:endParaRPr lang="en-US" sz="1300" dirty="0"/>
          </a:p>
          <a:p>
            <a:pPr algn="l" indent="0" marL="0">
              <a:spcAft>
                <a:spcPts val="200"/>
              </a:spcAft>
              <a:buNone/>
            </a:pPr>
            <a:r>
              <a:rPr lang="en-US" altLang="en-US" sz="1100" dirty="0">
                <a:solidFill>
                  <a:schemeClr val="accent3"/>
                </a:solidFill>
              </a:rPr>
              <a:t>“Without a will, different legal procedures may apply depending on your situation and nationality, which can cause delays or complications for the property, the accounts or the heirs. That is why many investors prefer to arrange things in advance.”</a:t>
            </a:r>
            <a:endParaRPr lang="en-US" sz="1300" dirty="0"/>
          </a:p>
          <a:p>
            <a:pPr algn="l" marL="177800" indent="-177800">
              <a:spcBef>
                <a:spcPts val="600"/>
              </a:spcBef>
              <a:buSzPct val="100000"/>
              <a:buChar char="•"/>
            </a:pPr>
            <a:r>
              <a:rPr lang="en-US" altLang="en-US" sz="1300" b="1" dirty="0">
                <a:solidFill>
                  <a:schemeClr val="tx1"/>
                </a:solidFill>
              </a:rPr>
              <a:t>If they say: later</a:t>
            </a:r>
            <a:endParaRPr lang="en-US" sz="1300" dirty="0"/>
          </a:p>
          <a:p>
            <a:pPr algn="l" indent="0" marL="0">
              <a:spcAft>
                <a:spcPts val="200"/>
              </a:spcAft>
              <a:buNone/>
            </a:pPr>
            <a:r>
              <a:rPr lang="en-US" altLang="en-US" sz="1100" dirty="0">
                <a:solidFill>
                  <a:schemeClr val="accent3"/>
                </a:solidFill>
              </a:rPr>
              <a:t>“Of course. Most clients prefer to arrange it right after the purchase, while the procedures are easiest and the documents are ready.”</a:t>
            </a:r>
            <a:endParaRPr lang="en-US" sz="1300" dirty="0"/>
          </a:p>
        </p:txBody>
      </p:sp>
      <p:sp>
        <p:nvSpPr>
          <p:cNvPr id="9"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What to say and what never to say</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KEEPING THE BROKER OUT OF LEGAL PRACTICE</a:t>
            </a:r>
            <a:endParaRPr lang="en-US" sz="1000" dirty="0"/>
          </a:p>
        </p:txBody>
      </p:sp>
      <p:sp>
        <p:nvSpPr>
          <p:cNvPr id="4" name="Shape 2"/>
          <p:cNvSpPr/>
          <p:nvPr/>
        </p:nvSpPr>
        <p:spPr>
          <a:xfrm>
            <a:off x="457200" y="1188720"/>
            <a:ext cx="4000500" cy="548640"/>
          </a:xfrm>
          <a:prstGeom prst="rect">
            <a:avLst/>
          </a:prstGeom>
          <a:solidFill>
            <a:srgbClr val="B5723B"/>
          </a:solidFill>
          <a:ln w="12700">
            <a:solidFill>
              <a:srgbClr val="B5723B"/>
            </a:solidFill>
            <a:prstDash val="solid"/>
          </a:ln>
        </p:spPr>
      </p:sp>
      <p:sp>
        <p:nvSpPr>
          <p:cNvPr id="5" name="Text 3"/>
          <p:cNvSpPr txBox="1"/>
          <p:nvPr/>
        </p:nvSpPr>
        <p:spPr>
          <a:xfrm>
            <a:off x="594360" y="1188720"/>
            <a:ext cx="3726180" cy="548640"/>
          </a:xfrm>
          <a:prstGeom prst="rect">
            <a:avLst/>
          </a:prstGeom>
          <a:noFill/>
          <a:ln/>
        </p:spPr>
        <p:txBody>
          <a:bodyPr wrap="square" lIns="0" tIns="0" rIns="0" bIns="0" rtlCol="0" anchor="ctr"/>
          <a:lstStyle/>
          <a:p>
            <a:pPr algn="l" indent="0" marL="0">
              <a:buNone/>
            </a:pPr>
            <a:r>
              <a:rPr lang="en-US" altLang="en-US" sz="1300" b="1" dirty="0">
                <a:solidFill>
                  <a:schemeClr val="tx1"/>
                </a:solidFill>
              </a:rPr>
              <a:t>Say</a:t>
            </a:r>
            <a:endParaRPr lang="en-US" sz="1300" dirty="0"/>
          </a:p>
        </p:txBody>
      </p:sp>
      <p:sp>
        <p:nvSpPr>
          <p:cNvPr id="6" name="Shape 4"/>
          <p:cNvSpPr/>
          <p:nvPr/>
        </p:nvSpPr>
        <p:spPr>
          <a:xfrm>
            <a:off x="457200" y="1737360"/>
            <a:ext cx="4000500" cy="2697480"/>
          </a:xfrm>
          <a:prstGeom prst="rect">
            <a:avLst/>
          </a:prstGeom>
          <a:solidFill>
            <a:srgbClr val="F4F1EB"/>
          </a:solidFill>
          <a:ln w="12700">
            <a:solidFill>
              <a:srgbClr val="F4F1EB"/>
            </a:solidFill>
            <a:prstDash val="solid"/>
          </a:ln>
        </p:spPr>
      </p:sp>
      <p:sp>
        <p:nvSpPr>
          <p:cNvPr id="7" name="Text 5"/>
          <p:cNvSpPr txBox="1"/>
          <p:nvPr/>
        </p:nvSpPr>
        <p:spPr>
          <a:xfrm>
            <a:off x="594360" y="1874520"/>
            <a:ext cx="3726180" cy="2468880"/>
          </a:xfrm>
          <a:prstGeom prst="rect">
            <a:avLst/>
          </a:prstGeom>
          <a:noFill/>
          <a:ln/>
        </p:spPr>
        <p:txBody>
          <a:bodyPr wrap="square" lIns="0" tIns="0" rIns="0" bIns="0" rtlCol="0" anchor="t"/>
          <a:lstStyle/>
          <a:p>
            <a:pPr algn="l" marL="152400" indent="-152400">
              <a:spcAft>
                <a:spcPts val="500"/>
              </a:spcAft>
              <a:buSzPct val="100000"/>
              <a:buChar char="•"/>
            </a:pPr>
            <a:r>
              <a:rPr lang="en-US" altLang="en-US" sz="1100" dirty="0">
                <a:solidFill>
                  <a:schemeClr val="tx2"/>
                </a:solidFill>
              </a:rPr>
              <a:t>“It is important to protect your assets and family legally”</a:t>
            </a:r>
            <a:endParaRPr lang="en-US" sz="1100" dirty="0"/>
          </a:p>
          <a:p>
            <a:pPr algn="l" marL="152400" indent="-152400">
              <a:spcAft>
                <a:spcPts val="500"/>
              </a:spcAft>
              <a:buSzPct val="100000"/>
              <a:buChar char="•"/>
            </a:pPr>
            <a:r>
              <a:rPr lang="en-US" altLang="en-US" sz="1100" dirty="0">
                <a:solidFill>
                  <a:schemeClr val="tx2"/>
                </a:solidFill>
              </a:rPr>
              <a:t>“We work with a specialist law firm”</a:t>
            </a:r>
            <a:endParaRPr lang="en-US" sz="1100" dirty="0"/>
          </a:p>
          <a:p>
            <a:pPr algn="l" marL="152400" indent="-152400">
              <a:spcAft>
                <a:spcPts val="500"/>
              </a:spcAft>
              <a:buSzPct val="100000"/>
              <a:buChar char="•"/>
            </a:pPr>
            <a:r>
              <a:rPr lang="en-US" altLang="en-US" sz="1100" dirty="0">
                <a:solidFill>
                  <a:schemeClr val="tx2"/>
                </a:solidFill>
              </a:rPr>
              <a:t>“I can arrange a free first consultation”</a:t>
            </a:r>
            <a:endParaRPr lang="en-US" sz="1100" dirty="0"/>
          </a:p>
          <a:p>
            <a:pPr algn="l" marL="152400" indent="-152400">
              <a:spcAft>
                <a:spcPts val="500"/>
              </a:spcAft>
              <a:buSzPct val="100000"/>
              <a:buChar char="•"/>
            </a:pPr>
            <a:r>
              <a:rPr lang="en-US" altLang="en-US" sz="1100" dirty="0">
                <a:solidFill>
                  <a:schemeClr val="tx2"/>
                </a:solidFill>
              </a:rPr>
              <a:t>“Many investors prefer to arrange things in advance”</a:t>
            </a:r>
            <a:endParaRPr lang="en-US" sz="1100" dirty="0"/>
          </a:p>
          <a:p>
            <a:pPr algn="l" marL="152400" indent="-152400">
              <a:spcAft>
                <a:spcPts val="500"/>
              </a:spcAft>
              <a:buSzPct val="100000"/>
              <a:buChar char="•"/>
            </a:pPr>
            <a:r>
              <a:rPr lang="en-US" altLang="en-US" sz="1100" dirty="0">
                <a:solidFill>
                  <a:schemeClr val="tx2"/>
                </a:solidFill>
              </a:rPr>
              <a:t>“The firm will explain the options for your situation”</a:t>
            </a:r>
            <a:endParaRPr lang="en-US" sz="1100" dirty="0"/>
          </a:p>
        </p:txBody>
      </p:sp>
      <p:sp>
        <p:nvSpPr>
          <p:cNvPr id="8" name="Shape 6"/>
          <p:cNvSpPr/>
          <p:nvPr/>
        </p:nvSpPr>
        <p:spPr>
          <a:xfrm>
            <a:off x="4686300" y="1188720"/>
            <a:ext cx="4000500" cy="548640"/>
          </a:xfrm>
          <a:prstGeom prst="rect">
            <a:avLst/>
          </a:prstGeom>
          <a:solidFill>
            <a:srgbClr val="0E2238"/>
          </a:solidFill>
          <a:ln w="12700">
            <a:solidFill>
              <a:srgbClr val="0E2238"/>
            </a:solidFill>
            <a:prstDash val="solid"/>
          </a:ln>
        </p:spPr>
      </p:sp>
      <p:sp>
        <p:nvSpPr>
          <p:cNvPr id="9" name="Text 7"/>
          <p:cNvSpPr txBox="1"/>
          <p:nvPr/>
        </p:nvSpPr>
        <p:spPr>
          <a:xfrm>
            <a:off x="4823460" y="1188720"/>
            <a:ext cx="3726180" cy="548640"/>
          </a:xfrm>
          <a:prstGeom prst="rect">
            <a:avLst/>
          </a:prstGeom>
          <a:noFill/>
          <a:ln/>
        </p:spPr>
        <p:txBody>
          <a:bodyPr wrap="square" lIns="0" tIns="0" rIns="0" bIns="0" rtlCol="0" anchor="ctr"/>
          <a:lstStyle/>
          <a:p>
            <a:pPr algn="l" indent="0" marL="0">
              <a:buNone/>
            </a:pPr>
            <a:r>
              <a:rPr lang="en-US" altLang="en-US" sz="1300" b="1" dirty="0">
                <a:solidFill>
                  <a:schemeClr val="accent2"/>
                </a:solidFill>
              </a:rPr>
              <a:t>Never say</a:t>
            </a:r>
            <a:endParaRPr lang="en-US" sz="1300" dirty="0"/>
          </a:p>
        </p:txBody>
      </p:sp>
      <p:sp>
        <p:nvSpPr>
          <p:cNvPr id="10" name="Shape 8"/>
          <p:cNvSpPr/>
          <p:nvPr/>
        </p:nvSpPr>
        <p:spPr>
          <a:xfrm>
            <a:off x="4686300" y="1737360"/>
            <a:ext cx="4000500" cy="2697480"/>
          </a:xfrm>
          <a:prstGeom prst="rect">
            <a:avLst/>
          </a:prstGeom>
          <a:solidFill>
            <a:srgbClr val="F4F1EB"/>
          </a:solidFill>
          <a:ln w="12700">
            <a:solidFill>
              <a:srgbClr val="F4F1EB"/>
            </a:solidFill>
            <a:prstDash val="solid"/>
          </a:ln>
        </p:spPr>
      </p:sp>
      <p:sp>
        <p:nvSpPr>
          <p:cNvPr id="11" name="Text 9"/>
          <p:cNvSpPr txBox="1"/>
          <p:nvPr/>
        </p:nvSpPr>
        <p:spPr>
          <a:xfrm>
            <a:off x="4823460" y="1874520"/>
            <a:ext cx="3726180" cy="2468880"/>
          </a:xfrm>
          <a:prstGeom prst="rect">
            <a:avLst/>
          </a:prstGeom>
          <a:noFill/>
          <a:ln/>
        </p:spPr>
        <p:txBody>
          <a:bodyPr wrap="square" lIns="0" tIns="0" rIns="0" bIns="0" rtlCol="0" anchor="t"/>
          <a:lstStyle/>
          <a:p>
            <a:pPr algn="l" marL="152400" indent="-152400">
              <a:spcAft>
                <a:spcPts val="500"/>
              </a:spcAft>
              <a:buSzPct val="100000"/>
              <a:buChar char="•"/>
            </a:pPr>
            <a:r>
              <a:rPr lang="en-US" altLang="en-US" sz="1100" dirty="0">
                <a:solidFill>
                  <a:schemeClr val="tx2"/>
                </a:solidFill>
              </a:rPr>
              <a:t>“The law says…”</a:t>
            </a:r>
            <a:endParaRPr lang="en-US" sz="1100" dirty="0"/>
          </a:p>
          <a:p>
            <a:pPr algn="l" marL="152400" indent="-152400">
              <a:spcAft>
                <a:spcPts val="500"/>
              </a:spcAft>
              <a:buSzPct val="100000"/>
              <a:buChar char="•"/>
            </a:pPr>
            <a:r>
              <a:rPr lang="en-US" altLang="en-US" sz="1100" dirty="0">
                <a:solidFill>
                  <a:schemeClr val="tx2"/>
                </a:solidFill>
              </a:rPr>
              <a:t>“This will definitely happen…”</a:t>
            </a:r>
            <a:endParaRPr lang="en-US" sz="1100" dirty="0"/>
          </a:p>
          <a:p>
            <a:pPr algn="l" marL="152400" indent="-152400">
              <a:spcAft>
                <a:spcPts val="500"/>
              </a:spcAft>
              <a:buSzPct val="100000"/>
              <a:buChar char="•"/>
            </a:pPr>
            <a:r>
              <a:rPr lang="en-US" altLang="en-US" sz="1100" dirty="0">
                <a:solidFill>
                  <a:schemeClr val="tx2"/>
                </a:solidFill>
              </a:rPr>
              <a:t>“We guarantee you…”</a:t>
            </a:r>
            <a:endParaRPr lang="en-US" sz="1100" dirty="0"/>
          </a:p>
          <a:p>
            <a:pPr algn="l" marL="152400" indent="-152400">
              <a:spcAft>
                <a:spcPts val="500"/>
              </a:spcAft>
              <a:buSzPct val="100000"/>
              <a:buChar char="•"/>
            </a:pPr>
            <a:r>
              <a:rPr lang="en-US" altLang="en-US" sz="1100" dirty="0">
                <a:solidFill>
                  <a:schemeClr val="tx2"/>
                </a:solidFill>
              </a:rPr>
              <a:t>“Which type of will do you want?”</a:t>
            </a:r>
            <a:endParaRPr lang="en-US" sz="1100" dirty="0"/>
          </a:p>
          <a:p>
            <a:pPr algn="l" marL="152400" indent="-152400">
              <a:spcAft>
                <a:spcPts val="500"/>
              </a:spcAft>
              <a:buSzPct val="100000"/>
              <a:buChar char="•"/>
            </a:pPr>
            <a:r>
              <a:rPr lang="en-US" altLang="en-US" sz="1100" dirty="0">
                <a:solidFill>
                  <a:schemeClr val="tx2"/>
                </a:solidFill>
              </a:rPr>
              <a:t>Any opinion on Sharia, foreign law or fees</a:t>
            </a:r>
            <a:endParaRPr lang="en-US" sz="1100" dirty="0"/>
          </a:p>
        </p:txBody>
      </p:sp>
      <p:sp>
        <p:nvSpPr>
          <p:cNvPr id="12"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The questions you will hear</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BROKER FAQ</a:t>
            </a:r>
            <a:endParaRPr lang="en-US" sz="1000" dirty="0"/>
          </a:p>
        </p:txBody>
      </p:sp>
      <p:sp>
        <p:nvSpPr>
          <p:cNvPr id="4" name="Shape 2"/>
          <p:cNvSpPr/>
          <p:nvPr/>
        </p:nvSpPr>
        <p:spPr>
          <a:xfrm>
            <a:off x="457200" y="1188720"/>
            <a:ext cx="457200" cy="457200"/>
          </a:xfrm>
          <a:prstGeom prst="ellipse">
            <a:avLst/>
          </a:prstGeom>
          <a:solidFill>
            <a:srgbClr val="F4F1EB"/>
          </a:solidFill>
          <a:ln w="12700">
            <a:solidFill>
              <a:srgbClr val="F4F1EB"/>
            </a:solidFill>
            <a:prstDash val="solid"/>
          </a:ln>
        </p:spPr>
      </p:sp>
      <p:pic>
        <p:nvPicPr>
          <p:cNvPr id="5" name="icon FaCircleQuestion" descr="preencoded.png">    </p:cNvPr>
          <p:cNvPicPr>
            <a:picLocks noChangeAspect="1"/>
          </p:cNvPicPr>
          <p:nvPr/>
        </p:nvPicPr>
        <p:blipFill>
          <a:blip r:embed="rId1"/>
          <a:stretch>
            <a:fillRect/>
          </a:stretch>
        </p:blipFill>
        <p:spPr>
          <a:xfrm>
            <a:off x="548640" y="1280160"/>
            <a:ext cx="274320" cy="274320"/>
          </a:xfrm>
          <a:prstGeom prst="rect">
            <a:avLst/>
          </a:prstGeom>
        </p:spPr>
      </p:pic>
      <p:sp>
        <p:nvSpPr>
          <p:cNvPr id="6" name="Text 3"/>
          <p:cNvSpPr txBox="1"/>
          <p:nvPr/>
        </p:nvSpPr>
        <p:spPr>
          <a:xfrm>
            <a:off x="1097280" y="1170432"/>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What happens to the property after death?</a:t>
            </a:r>
            <a:endParaRPr lang="en-US" sz="1300" dirty="0"/>
          </a:p>
          <a:p>
            <a:pPr algn="l" indent="0" marL="0">
              <a:spcAft>
                <a:spcPts val="200"/>
              </a:spcAft>
              <a:buNone/>
            </a:pPr>
            <a:r>
              <a:rPr lang="en-US" altLang="en-US" sz="1100" dirty="0">
                <a:solidFill>
                  <a:schemeClr val="accent3"/>
                </a:solidFill>
              </a:rPr>
              <a:t>Legal procedures apply that differ by case; a registered will fixes the path in advance. Refer the question to us.</a:t>
            </a:r>
            <a:endParaRPr lang="en-US" sz="1300" dirty="0"/>
          </a:p>
        </p:txBody>
      </p:sp>
      <p:sp>
        <p:nvSpPr>
          <p:cNvPr id="7" name="Shape 4"/>
          <p:cNvSpPr/>
          <p:nvPr/>
        </p:nvSpPr>
        <p:spPr>
          <a:xfrm>
            <a:off x="457200" y="1847088"/>
            <a:ext cx="457200" cy="457200"/>
          </a:xfrm>
          <a:prstGeom prst="ellipse">
            <a:avLst/>
          </a:prstGeom>
          <a:solidFill>
            <a:srgbClr val="F4F1EB"/>
          </a:solidFill>
          <a:ln w="12700">
            <a:solidFill>
              <a:srgbClr val="F4F1EB"/>
            </a:solidFill>
            <a:prstDash val="solid"/>
          </a:ln>
        </p:spPr>
      </p:sp>
      <p:pic>
        <p:nvPicPr>
          <p:cNvPr id="8" name="icon FaCircleQuestion" descr="preencoded.png">    </p:cNvPr>
          <p:cNvPicPr>
            <a:picLocks noChangeAspect="1"/>
          </p:cNvPicPr>
          <p:nvPr/>
        </p:nvPicPr>
        <p:blipFill>
          <a:blip r:embed="rId2"/>
          <a:stretch>
            <a:fillRect/>
          </a:stretch>
        </p:blipFill>
        <p:spPr>
          <a:xfrm>
            <a:off x="548640" y="1938528"/>
            <a:ext cx="274320" cy="274320"/>
          </a:xfrm>
          <a:prstGeom prst="rect">
            <a:avLst/>
          </a:prstGeom>
        </p:spPr>
      </p:pic>
      <p:sp>
        <p:nvSpPr>
          <p:cNvPr id="9" name="Text 5"/>
          <p:cNvSpPr txBox="1"/>
          <p:nvPr/>
        </p:nvSpPr>
        <p:spPr>
          <a:xfrm>
            <a:off x="1097280" y="1828800"/>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Are accounts frozen?</a:t>
            </a:r>
            <a:endParaRPr lang="en-US" sz="1300" dirty="0"/>
          </a:p>
          <a:p>
            <a:pPr algn="l" indent="0" marL="0">
              <a:spcAft>
                <a:spcPts val="200"/>
              </a:spcAft>
              <a:buNone/>
            </a:pPr>
            <a:r>
              <a:rPr lang="en-US" altLang="en-US" sz="1100" dirty="0">
                <a:solidFill>
                  <a:schemeClr val="accent3"/>
                </a:solidFill>
              </a:rPr>
              <a:t>They may be frozen until a distribution order issues. Planning ahead reduces this risk.</a:t>
            </a:r>
            <a:endParaRPr lang="en-US" sz="1300" dirty="0"/>
          </a:p>
        </p:txBody>
      </p:sp>
      <p:sp>
        <p:nvSpPr>
          <p:cNvPr id="10" name="Shape 6"/>
          <p:cNvSpPr/>
          <p:nvPr/>
        </p:nvSpPr>
        <p:spPr>
          <a:xfrm>
            <a:off x="457200" y="2505456"/>
            <a:ext cx="457200" cy="457200"/>
          </a:xfrm>
          <a:prstGeom prst="ellipse">
            <a:avLst/>
          </a:prstGeom>
          <a:solidFill>
            <a:srgbClr val="F4F1EB"/>
          </a:solidFill>
          <a:ln w="12700">
            <a:solidFill>
              <a:srgbClr val="F4F1EB"/>
            </a:solidFill>
            <a:prstDash val="solid"/>
          </a:ln>
        </p:spPr>
      </p:sp>
      <p:pic>
        <p:nvPicPr>
          <p:cNvPr id="11" name="icon FaCircleQuestion" descr="preencoded.png">    </p:cNvPr>
          <p:cNvPicPr>
            <a:picLocks noChangeAspect="1"/>
          </p:cNvPicPr>
          <p:nvPr/>
        </p:nvPicPr>
        <p:blipFill>
          <a:blip r:embed="rId3"/>
          <a:stretch>
            <a:fillRect/>
          </a:stretch>
        </p:blipFill>
        <p:spPr>
          <a:xfrm>
            <a:off x="548640" y="2596896"/>
            <a:ext cx="274320" cy="274320"/>
          </a:xfrm>
          <a:prstGeom prst="rect">
            <a:avLst/>
          </a:prstGeom>
        </p:spPr>
      </p:pic>
      <p:sp>
        <p:nvSpPr>
          <p:cNvPr id="12" name="Text 7"/>
          <p:cNvSpPr txBox="1"/>
          <p:nvPr/>
        </p:nvSpPr>
        <p:spPr>
          <a:xfrm>
            <a:off x="1097280" y="2487168"/>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How do we protect the children?</a:t>
            </a:r>
            <a:endParaRPr lang="en-US" sz="1300" dirty="0"/>
          </a:p>
          <a:p>
            <a:pPr algn="l" indent="0" marL="0">
              <a:spcAft>
                <a:spcPts val="200"/>
              </a:spcAft>
              <a:buNone/>
            </a:pPr>
            <a:r>
              <a:rPr lang="en-US" altLang="en-US" sz="1100" dirty="0">
                <a:solidFill>
                  <a:schemeClr val="accent3"/>
                </a:solidFill>
              </a:rPr>
              <a:t>By appointing a guardian and defining their shares in the will.</a:t>
            </a:r>
            <a:endParaRPr lang="en-US" sz="1300" dirty="0"/>
          </a:p>
        </p:txBody>
      </p:sp>
      <p:sp>
        <p:nvSpPr>
          <p:cNvPr id="13" name="Shape 8"/>
          <p:cNvSpPr/>
          <p:nvPr/>
        </p:nvSpPr>
        <p:spPr>
          <a:xfrm>
            <a:off x="457200" y="3163824"/>
            <a:ext cx="457200" cy="457200"/>
          </a:xfrm>
          <a:prstGeom prst="ellipse">
            <a:avLst/>
          </a:prstGeom>
          <a:solidFill>
            <a:srgbClr val="F4F1EB"/>
          </a:solidFill>
          <a:ln w="12700">
            <a:solidFill>
              <a:srgbClr val="F4F1EB"/>
            </a:solidFill>
            <a:prstDash val="solid"/>
          </a:ln>
        </p:spPr>
      </p:sp>
      <p:pic>
        <p:nvPicPr>
          <p:cNvPr id="14" name="icon FaCircleQuestion" descr="preencoded.png">    </p:cNvPr>
          <p:cNvPicPr>
            <a:picLocks noChangeAspect="1"/>
          </p:cNvPicPr>
          <p:nvPr/>
        </p:nvPicPr>
        <p:blipFill>
          <a:blip r:embed="rId4"/>
          <a:stretch>
            <a:fillRect/>
          </a:stretch>
        </p:blipFill>
        <p:spPr>
          <a:xfrm>
            <a:off x="548640" y="3255264"/>
            <a:ext cx="274320" cy="274320"/>
          </a:xfrm>
          <a:prstGeom prst="rect">
            <a:avLst/>
          </a:prstGeom>
        </p:spPr>
      </p:pic>
      <p:sp>
        <p:nvSpPr>
          <p:cNvPr id="15" name="Text 9"/>
          <p:cNvSpPr txBox="1"/>
          <p:nvPr/>
        </p:nvSpPr>
        <p:spPr>
          <a:xfrm>
            <a:off x="1097280" y="3145536"/>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What is the difference between DIFC, ADGM and local courts?</a:t>
            </a:r>
            <a:endParaRPr lang="en-US" sz="1300" dirty="0"/>
          </a:p>
          <a:p>
            <a:pPr algn="l" indent="0" marL="0">
              <a:spcAft>
                <a:spcPts val="200"/>
              </a:spcAft>
              <a:buNone/>
            </a:pPr>
            <a:r>
              <a:rPr lang="en-US" altLang="en-US" sz="1100" dirty="0">
                <a:solidFill>
                  <a:schemeClr val="accent3"/>
                </a:solidFill>
              </a:rPr>
              <a:t>Different registration routes for different situations; the firm decides the best after the discovery session.</a:t>
            </a:r>
            <a:endParaRPr lang="en-US" sz="1300" dirty="0"/>
          </a:p>
        </p:txBody>
      </p:sp>
      <p:sp>
        <p:nvSpPr>
          <p:cNvPr id="16" name="Shape 10"/>
          <p:cNvSpPr/>
          <p:nvPr/>
        </p:nvSpPr>
        <p:spPr>
          <a:xfrm>
            <a:off x="457200" y="3822192"/>
            <a:ext cx="457200" cy="457200"/>
          </a:xfrm>
          <a:prstGeom prst="ellipse">
            <a:avLst/>
          </a:prstGeom>
          <a:solidFill>
            <a:srgbClr val="F4F1EB"/>
          </a:solidFill>
          <a:ln w="12700">
            <a:solidFill>
              <a:srgbClr val="F4F1EB"/>
            </a:solidFill>
            <a:prstDash val="solid"/>
          </a:ln>
        </p:spPr>
      </p:sp>
      <p:pic>
        <p:nvPicPr>
          <p:cNvPr id="17" name="icon FaCircleQuestion" descr="preencoded.png">    </p:cNvPr>
          <p:cNvPicPr>
            <a:picLocks noChangeAspect="1"/>
          </p:cNvPicPr>
          <p:nvPr/>
        </p:nvPicPr>
        <p:blipFill>
          <a:blip r:embed="rId5"/>
          <a:stretch>
            <a:fillRect/>
          </a:stretch>
        </p:blipFill>
        <p:spPr>
          <a:xfrm>
            <a:off x="548640" y="3913632"/>
            <a:ext cx="274320" cy="274320"/>
          </a:xfrm>
          <a:prstGeom prst="rect">
            <a:avLst/>
          </a:prstGeom>
        </p:spPr>
      </p:pic>
      <p:sp>
        <p:nvSpPr>
          <p:cNvPr id="18" name="Text 11"/>
          <p:cNvSpPr txBox="1"/>
          <p:nvPr/>
        </p:nvSpPr>
        <p:spPr>
          <a:xfrm>
            <a:off x="1097280" y="3803904"/>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How much does it cost and how long does it take?</a:t>
            </a:r>
            <a:endParaRPr lang="en-US" sz="1300" dirty="0"/>
          </a:p>
          <a:p>
            <a:pPr algn="l" indent="0" marL="0">
              <a:spcAft>
                <a:spcPts val="200"/>
              </a:spcAft>
              <a:buNone/>
            </a:pPr>
            <a:r>
              <a:rPr lang="en-US" altLang="en-US" sz="1100" dirty="0">
                <a:solidFill>
                  <a:schemeClr val="accent3"/>
                </a:solidFill>
              </a:rPr>
              <a:t>The client receives one proposal covering fees, registration cost and timeline after the free consultation.</a:t>
            </a:r>
            <a:endParaRPr lang="en-US" sz="1300" dirty="0"/>
          </a:p>
        </p:txBody>
      </p:sp>
      <p:sp>
        <p:nvSpPr>
          <p:cNvPr id="19"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463040"/>
            <a:ext cx="1828800" cy="1463040"/>
          </a:xfrm>
          <a:prstGeom prst="rect">
            <a:avLst/>
          </a:prstGeom>
          <a:noFill/>
          <a:ln/>
        </p:spPr>
        <p:txBody>
          <a:bodyPr wrap="square" lIns="0" tIns="0" rIns="0" bIns="0" rtlCol="0" anchor="ctr"/>
          <a:lstStyle/>
          <a:p>
            <a:pPr algn="l" indent="0" marL="0">
              <a:buNone/>
            </a:pPr>
            <a:r>
              <a:rPr lang="en-US" sz="7200" dirty="0">
                <a:solidFill>
                  <a:schemeClr val="accent1"/>
                </a:solidFill>
                <a:latin typeface="Cambria" pitchFamily="34" charset="0"/>
                <a:ea typeface="Cambria" pitchFamily="34" charset="-122"/>
                <a:cs typeface="Cambria" pitchFamily="34" charset="-120"/>
              </a:rPr>
              <a:t>05</a:t>
            </a:r>
            <a:endParaRPr lang="en-US" sz="7200" dirty="0"/>
          </a:p>
        </p:txBody>
      </p:sp>
      <p:sp>
        <p:nvSpPr>
          <p:cNvPr id="3" name="Text 1"/>
          <p:cNvSpPr txBox="1"/>
          <p:nvPr/>
        </p:nvSpPr>
        <p:spPr>
          <a:xfrm>
            <a:off x="457200" y="2743200"/>
            <a:ext cx="7772400" cy="868680"/>
          </a:xfrm>
          <a:prstGeom prst="rect">
            <a:avLst/>
          </a:prstGeom>
          <a:noFill/>
          <a:ln/>
        </p:spPr>
        <p:txBody>
          <a:bodyPr wrap="square" lIns="0" tIns="0" rIns="0" bIns="0" rtlCol="0" anchor="b"/>
          <a:lstStyle/>
          <a:p>
            <a:pPr algn="l" indent="0" marL="0">
              <a:buNone/>
            </a:pPr>
            <a:r>
              <a:rPr lang="en-US" altLang="en-US" sz="3000" b="1" dirty="0">
                <a:solidFill>
                  <a:schemeClr val="bg1"/>
                </a:solidFill>
                <a:latin typeface="Cambria" pitchFamily="34" charset="0"/>
                <a:ea typeface="Cambria" pitchFamily="34" charset="-122"/>
                <a:cs typeface="Cambria" pitchFamily="34" charset="-120"/>
              </a:rPr>
              <a:t>Referral workflow and service levels</a:t>
            </a:r>
            <a:endParaRPr lang="en-US" sz="3000" dirty="0"/>
          </a:p>
        </p:txBody>
      </p:sp>
      <p:sp>
        <p:nvSpPr>
          <p:cNvPr id="4" name="Text 2"/>
          <p:cNvSpPr txBox="1"/>
          <p:nvPr/>
        </p:nvSpPr>
        <p:spPr>
          <a:xfrm>
            <a:off x="457200" y="3675888"/>
            <a:ext cx="7772400" cy="502920"/>
          </a:xfrm>
          <a:prstGeom prst="rect">
            <a:avLst/>
          </a:prstGeom>
          <a:noFill/>
          <a:ln/>
        </p:spPr>
        <p:txBody>
          <a:bodyPr wrap="square" lIns="0" tIns="0" rIns="0" bIns="0" rtlCol="0" anchor="t"/>
          <a:lstStyle/>
          <a:p>
            <a:pPr algn="l" indent="0" marL="0">
              <a:buNone/>
            </a:pPr>
            <a:r>
              <a:rPr lang="en-US" altLang="en-US" sz="1400" dirty="0">
                <a:solidFill>
                  <a:schemeClr val="accent2"/>
                </a:solidFill>
              </a:rPr>
              <a:t>What happens after you refer the client</a:t>
            </a:r>
            <a:endParaRPr lang="en-US" sz="14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The referral workflow step by step</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FROM BROKER TO REGISTRATION</a:t>
            </a:r>
            <a:endParaRPr lang="en-US" sz="1000" dirty="0"/>
          </a:p>
        </p:txBody>
      </p:sp>
      <p:sp>
        <p:nvSpPr>
          <p:cNvPr id="4" name="Shape 2"/>
          <p:cNvSpPr/>
          <p:nvPr/>
        </p:nvSpPr>
        <p:spPr>
          <a:xfrm>
            <a:off x="731520" y="1600200"/>
            <a:ext cx="7680960" cy="0"/>
          </a:xfrm>
          <a:prstGeom prst="line">
            <a:avLst/>
          </a:prstGeom>
          <a:noFill/>
          <a:ln w="9525">
            <a:solidFill>
              <a:srgbClr val="D9B38C"/>
            </a:solidFill>
            <a:prstDash val="solid"/>
          </a:ln>
        </p:spPr>
      </p:sp>
      <p:sp>
        <p:nvSpPr>
          <p:cNvPr id="5" name="Shape 3"/>
          <p:cNvSpPr/>
          <p:nvPr/>
        </p:nvSpPr>
        <p:spPr>
          <a:xfrm>
            <a:off x="457200" y="1325880"/>
            <a:ext cx="548640" cy="548640"/>
          </a:xfrm>
          <a:prstGeom prst="ellipse">
            <a:avLst/>
          </a:prstGeom>
          <a:solidFill>
            <a:srgbClr val="0E2238"/>
          </a:solidFill>
          <a:ln w="12700">
            <a:solidFill>
              <a:srgbClr val="B5723B"/>
            </a:solidFill>
            <a:prstDash val="solid"/>
          </a:ln>
        </p:spPr>
      </p:sp>
      <p:sp>
        <p:nvSpPr>
          <p:cNvPr id="6" name="Text 4"/>
          <p:cNvSpPr txBox="1"/>
          <p:nvPr/>
        </p:nvSpPr>
        <p:spPr>
          <a:xfrm>
            <a:off x="457200"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457200" y="2057400"/>
            <a:ext cx="1234440"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Introduction message</a:t>
            </a:r>
            <a:endParaRPr lang="en-US" sz="1300" dirty="0"/>
          </a:p>
        </p:txBody>
      </p:sp>
      <p:sp>
        <p:nvSpPr>
          <p:cNvPr id="8" name="Text 6"/>
          <p:cNvSpPr txBox="1"/>
          <p:nvPr/>
        </p:nvSpPr>
        <p:spPr>
          <a:xfrm>
            <a:off x="457200" y="2606040"/>
            <a:ext cx="1234440"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The broker sends the standard introduction (email or WhatsApp) with us in copy.</a:t>
            </a:r>
            <a:endParaRPr lang="en-US" sz="1050" dirty="0"/>
          </a:p>
        </p:txBody>
      </p:sp>
      <p:sp>
        <p:nvSpPr>
          <p:cNvPr id="9" name="Shape 7"/>
          <p:cNvSpPr/>
          <p:nvPr/>
        </p:nvSpPr>
        <p:spPr>
          <a:xfrm>
            <a:off x="1856232" y="1325880"/>
            <a:ext cx="548640" cy="548640"/>
          </a:xfrm>
          <a:prstGeom prst="ellipse">
            <a:avLst/>
          </a:prstGeom>
          <a:solidFill>
            <a:srgbClr val="0E2238"/>
          </a:solidFill>
          <a:ln w="12700">
            <a:solidFill>
              <a:srgbClr val="B5723B"/>
            </a:solidFill>
            <a:prstDash val="solid"/>
          </a:ln>
        </p:spPr>
      </p:sp>
      <p:sp>
        <p:nvSpPr>
          <p:cNvPr id="10" name="Text 8"/>
          <p:cNvSpPr txBox="1"/>
          <p:nvPr/>
        </p:nvSpPr>
        <p:spPr>
          <a:xfrm>
            <a:off x="1856232"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1856232" y="2057400"/>
            <a:ext cx="1234440"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Our first contact</a:t>
            </a:r>
            <a:endParaRPr lang="en-US" sz="1300" dirty="0"/>
          </a:p>
        </p:txBody>
      </p:sp>
      <p:sp>
        <p:nvSpPr>
          <p:cNvPr id="12" name="Text 10"/>
          <p:cNvSpPr txBox="1"/>
          <p:nvPr/>
        </p:nvSpPr>
        <p:spPr>
          <a:xfrm>
            <a:off x="1856232" y="2606040"/>
            <a:ext cx="1234440"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Within one business day: thanks, team introduction and a consultation slot.</a:t>
            </a:r>
            <a:endParaRPr lang="en-US" sz="1050" dirty="0"/>
          </a:p>
        </p:txBody>
      </p:sp>
      <p:sp>
        <p:nvSpPr>
          <p:cNvPr id="13" name="Shape 11"/>
          <p:cNvSpPr/>
          <p:nvPr/>
        </p:nvSpPr>
        <p:spPr>
          <a:xfrm>
            <a:off x="3255264" y="1325880"/>
            <a:ext cx="548640" cy="548640"/>
          </a:xfrm>
          <a:prstGeom prst="ellipse">
            <a:avLst/>
          </a:prstGeom>
          <a:solidFill>
            <a:srgbClr val="0E2238"/>
          </a:solidFill>
          <a:ln w="12700">
            <a:solidFill>
              <a:srgbClr val="B5723B"/>
            </a:solidFill>
            <a:prstDash val="solid"/>
          </a:ln>
        </p:spPr>
      </p:sp>
      <p:sp>
        <p:nvSpPr>
          <p:cNvPr id="14" name="Text 12"/>
          <p:cNvSpPr txBox="1"/>
          <p:nvPr/>
        </p:nvSpPr>
        <p:spPr>
          <a:xfrm>
            <a:off x="3255264"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3255264" y="2057400"/>
            <a:ext cx="1234440"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Discovery meeting</a:t>
            </a:r>
            <a:endParaRPr lang="en-US" sz="1300" dirty="0"/>
          </a:p>
        </p:txBody>
      </p:sp>
      <p:sp>
        <p:nvSpPr>
          <p:cNvPr id="16" name="Text 14"/>
          <p:cNvSpPr txBox="1"/>
          <p:nvPr/>
        </p:nvSpPr>
        <p:spPr>
          <a:xfrm>
            <a:off x="3255264" y="2606040"/>
            <a:ext cx="1234440"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Discovery questions on property, companies, children, heirs and accounts.</a:t>
            </a:r>
            <a:endParaRPr lang="en-US" sz="1050" dirty="0"/>
          </a:p>
        </p:txBody>
      </p:sp>
      <p:sp>
        <p:nvSpPr>
          <p:cNvPr id="17" name="Shape 15"/>
          <p:cNvSpPr/>
          <p:nvPr/>
        </p:nvSpPr>
        <p:spPr>
          <a:xfrm>
            <a:off x="4654296" y="1325880"/>
            <a:ext cx="548640" cy="548640"/>
          </a:xfrm>
          <a:prstGeom prst="ellipse">
            <a:avLst/>
          </a:prstGeom>
          <a:solidFill>
            <a:srgbClr val="0E2238"/>
          </a:solidFill>
          <a:ln w="12700">
            <a:solidFill>
              <a:srgbClr val="B5723B"/>
            </a:solidFill>
            <a:prstDash val="solid"/>
          </a:ln>
        </p:spPr>
      </p:sp>
      <p:sp>
        <p:nvSpPr>
          <p:cNvPr id="18" name="Text 16"/>
          <p:cNvSpPr txBox="1"/>
          <p:nvPr/>
        </p:nvSpPr>
        <p:spPr>
          <a:xfrm>
            <a:off x="4654296"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4654296" y="2057400"/>
            <a:ext cx="1234440"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Proposal</a:t>
            </a:r>
            <a:endParaRPr lang="en-US" sz="1300" dirty="0"/>
          </a:p>
        </p:txBody>
      </p:sp>
      <p:sp>
        <p:nvSpPr>
          <p:cNvPr id="20" name="Text 18"/>
          <p:cNvSpPr txBox="1"/>
          <p:nvPr/>
        </p:nvSpPr>
        <p:spPr>
          <a:xfrm>
            <a:off x="4654296" y="2606040"/>
            <a:ext cx="1234440"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Within 48 hours: scope, fees, timeline and registration cost.</a:t>
            </a:r>
            <a:endParaRPr lang="en-US" sz="1050" dirty="0"/>
          </a:p>
        </p:txBody>
      </p:sp>
      <p:sp>
        <p:nvSpPr>
          <p:cNvPr id="21" name="Shape 19"/>
          <p:cNvSpPr/>
          <p:nvPr/>
        </p:nvSpPr>
        <p:spPr>
          <a:xfrm>
            <a:off x="6053328" y="1325880"/>
            <a:ext cx="548640" cy="548640"/>
          </a:xfrm>
          <a:prstGeom prst="ellipse">
            <a:avLst/>
          </a:prstGeom>
          <a:solidFill>
            <a:srgbClr val="0E2238"/>
          </a:solidFill>
          <a:ln w="12700">
            <a:solidFill>
              <a:srgbClr val="B5723B"/>
            </a:solidFill>
            <a:prstDash val="solid"/>
          </a:ln>
        </p:spPr>
      </p:sp>
      <p:sp>
        <p:nvSpPr>
          <p:cNvPr id="22" name="Text 20"/>
          <p:cNvSpPr txBox="1"/>
          <p:nvPr/>
        </p:nvSpPr>
        <p:spPr>
          <a:xfrm>
            <a:off x="6053328"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5</a:t>
            </a:r>
            <a:endParaRPr lang="en-US" sz="1600" dirty="0"/>
          </a:p>
        </p:txBody>
      </p:sp>
      <p:sp>
        <p:nvSpPr>
          <p:cNvPr id="23" name="Text 21"/>
          <p:cNvSpPr txBox="1"/>
          <p:nvPr/>
        </p:nvSpPr>
        <p:spPr>
          <a:xfrm>
            <a:off x="6053328" y="2057400"/>
            <a:ext cx="1234440"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Drafting and registration</a:t>
            </a:r>
            <a:endParaRPr lang="en-US" sz="1300" dirty="0"/>
          </a:p>
        </p:txBody>
      </p:sp>
      <p:sp>
        <p:nvSpPr>
          <p:cNvPr id="24" name="Text 22"/>
          <p:cNvSpPr txBox="1"/>
          <p:nvPr/>
        </p:nvSpPr>
        <p:spPr>
          <a:xfrm>
            <a:off x="6053328" y="2606040"/>
            <a:ext cx="1234440"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The will, translation, witnesses, notarisation, then registration with the chosen authority.</a:t>
            </a:r>
            <a:endParaRPr lang="en-US" sz="1050" dirty="0"/>
          </a:p>
        </p:txBody>
      </p:sp>
      <p:sp>
        <p:nvSpPr>
          <p:cNvPr id="25" name="Shape 23"/>
          <p:cNvSpPr/>
          <p:nvPr/>
        </p:nvSpPr>
        <p:spPr>
          <a:xfrm>
            <a:off x="7452360" y="1325880"/>
            <a:ext cx="548640" cy="548640"/>
          </a:xfrm>
          <a:prstGeom prst="ellipse">
            <a:avLst/>
          </a:prstGeom>
          <a:solidFill>
            <a:srgbClr val="0E2238"/>
          </a:solidFill>
          <a:ln w="12700">
            <a:solidFill>
              <a:srgbClr val="B5723B"/>
            </a:solidFill>
            <a:prstDash val="solid"/>
          </a:ln>
        </p:spPr>
      </p:sp>
      <p:sp>
        <p:nvSpPr>
          <p:cNvPr id="26" name="Text 24"/>
          <p:cNvSpPr txBox="1"/>
          <p:nvPr/>
        </p:nvSpPr>
        <p:spPr>
          <a:xfrm>
            <a:off x="7452360"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6</a:t>
            </a:r>
            <a:endParaRPr lang="en-US" sz="1600" dirty="0"/>
          </a:p>
        </p:txBody>
      </p:sp>
      <p:sp>
        <p:nvSpPr>
          <p:cNvPr id="27" name="Text 25"/>
          <p:cNvSpPr txBox="1"/>
          <p:nvPr/>
        </p:nvSpPr>
        <p:spPr>
          <a:xfrm>
            <a:off x="7452360" y="2057400"/>
            <a:ext cx="1234440" cy="548640"/>
          </a:xfrm>
          <a:prstGeom prst="rect">
            <a:avLst/>
          </a:prstGeom>
          <a:noFill/>
          <a:ln/>
        </p:spPr>
        <p:txBody>
          <a:bodyPr wrap="square" lIns="0" tIns="0" rIns="0" bIns="0" rtlCol="0" anchor="t"/>
          <a:lstStyle/>
          <a:p>
            <a:pPr algn="l" indent="0" marL="0">
              <a:buNone/>
            </a:pPr>
            <a:r>
              <a:rPr lang="en-US" altLang="en-US" sz="1300" b="1" dirty="0">
                <a:solidFill>
                  <a:schemeClr val="tx1"/>
                </a:solidFill>
              </a:rPr>
              <a:t>Report to the partner</a:t>
            </a:r>
            <a:endParaRPr lang="en-US" sz="1300" dirty="0"/>
          </a:p>
        </p:txBody>
      </p:sp>
      <p:sp>
        <p:nvSpPr>
          <p:cNvPr id="28" name="Text 26"/>
          <p:cNvSpPr txBox="1"/>
          <p:nvPr/>
        </p:nvSpPr>
        <p:spPr>
          <a:xfrm>
            <a:off x="7452360" y="2606040"/>
            <a:ext cx="1234440" cy="1828800"/>
          </a:xfrm>
          <a:prstGeom prst="rect">
            <a:avLst/>
          </a:prstGeom>
          <a:noFill/>
          <a:ln/>
        </p:spPr>
        <p:txBody>
          <a:bodyPr wrap="square" lIns="0" tIns="0" rIns="0" bIns="0" rtlCol="0" anchor="t"/>
          <a:lstStyle/>
          <a:p>
            <a:pPr algn="l" indent="0" marL="0">
              <a:buNone/>
            </a:pPr>
            <a:r>
              <a:rPr lang="en-US" altLang="en-US" sz="1050" dirty="0">
                <a:solidFill>
                  <a:schemeClr val="accent3"/>
                </a:solidFill>
              </a:rPr>
              <a:t>An update at each stage, and a monthly report with commission settlement.</a:t>
            </a:r>
            <a:endParaRPr lang="en-US" sz="1050" dirty="0"/>
          </a:p>
        </p:txBody>
      </p:sp>
      <p:sp>
        <p:nvSpPr>
          <p:cNvPr id="29"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The service level we commit to</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SLA</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200400"/>
                <a:gridCol w="5029200"/>
              </a:tblGrid>
              <a:tr h="438912">
                <a:tc>
                  <a:txBody>
                    <a:bodyPr/>
                    <a:lstStyle/>
                    <a:p>
                      <a:pPr algn="l" indent="0" marL="0">
                        <a:buNone/>
                      </a:pPr>
                      <a:r>
                        <a:rPr lang="en-US" sz="1100" b="1" dirty="0">
                          <a:solidFill>
                            <a:srgbClr val="D9B38C"/>
                          </a:solidFill>
                          <a:latin typeface="+mn-lt" pitchFamily="34" charset="0"/>
                          <a:ea typeface="+mn-lt" pitchFamily="34" charset="-122"/>
                          <a:cs typeface="+mn-lt" pitchFamily="34" charset="-120"/>
                        </a:rPr>
                        <a:t>Item</a:t>
                      </a:r>
                      <a:endParaRPr lang="en-US" sz="110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0E2238"/>
                    </a:solidFill>
                  </a:tcPr>
                </a:tc>
                <a:tc>
                  <a:txBody>
                    <a:bodyPr/>
                    <a:lstStyle/>
                    <a:p>
                      <a:pPr algn="l" indent="0" marL="0">
                        <a:buNone/>
                      </a:pPr>
                      <a:r>
                        <a:rPr lang="en-US" sz="1100" b="1" dirty="0">
                          <a:solidFill>
                            <a:srgbClr val="D9B38C"/>
                          </a:solidFill>
                          <a:latin typeface="+mn-lt" pitchFamily="34" charset="0"/>
                          <a:ea typeface="+mn-lt" pitchFamily="34" charset="-122"/>
                          <a:cs typeface="+mn-lt" pitchFamily="34" charset="-120"/>
                        </a:rPr>
                        <a:t>Our commitment</a:t>
                      </a:r>
                      <a:endParaRPr lang="en-US" sz="110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0E2238"/>
                    </a:solidFill>
                  </a:tcPr>
                </a:tc>
              </a:tr>
              <a:tr h="438912">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Response to a referral</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Within one business day</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r>
              <a:tr h="438912">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First consultation</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Free, at our office, at the client's place or remotely, in the client's language</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Proposal</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Within 48 hours of the discovery meeting</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r>
              <a:tr h="438912">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Updates</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To the client and the partner at every stage</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Monthly report</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Referrals, status, registered wills, commissions due</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r>
              <a:tr h="438912">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Commission settlement</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Monthly, under the agreement</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FFFFF"/>
                    </a:solidFill>
                  </a:tcPr>
                </a:tc>
              </a:tr>
              <a:tr h="438912">
                <a:tc>
                  <a:txBody>
                    <a:bodyPr/>
                    <a:lstStyle/>
                    <a:p>
                      <a:pPr algn="l" indent="0" marL="0">
                        <a:buNone/>
                      </a:pPr>
                      <a:r>
                        <a:rPr lang="en-US" sz="1050" b="1" dirty="0">
                          <a:solidFill>
                            <a:srgbClr val="0E2238"/>
                          </a:solidFill>
                          <a:latin typeface="+mn-lt" pitchFamily="34" charset="0"/>
                          <a:ea typeface="+mn-lt" pitchFamily="34" charset="-122"/>
                          <a:cs typeface="+mn-lt" pitchFamily="34" charset="-120"/>
                        </a:rPr>
                        <a:t>Confidentiality</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c>
                  <a:txBody>
                    <a:bodyPr/>
                    <a:lstStyle/>
                    <a:p>
                      <a:pPr algn="l" indent="0" marL="0">
                        <a:buNone/>
                      </a:pPr>
                      <a:r>
                        <a:rPr lang="en-US" sz="1050" dirty="0">
                          <a:solidFill>
                            <a:srgbClr val="1F3A52"/>
                          </a:solidFill>
                          <a:latin typeface="+mn-lt" pitchFamily="34" charset="0"/>
                          <a:ea typeface="+mn-lt" pitchFamily="34" charset="-122"/>
                          <a:cs typeface="+mn-lt" pitchFamily="34" charset="-120"/>
                        </a:rPr>
                        <a:t>Client data is never used for any other purpose</a:t>
                      </a:r>
                      <a:endParaRPr lang="en-US" sz="1050" dirty="0">
                        <a:latin typeface="+mn-lt" charset="0"/>
                        <a:ea typeface="+mn-lt" charset="0"/>
                        <a:cs typeface="+mn-lt" charset="0"/>
                      </a:endParaRPr>
                    </a:p>
                  </a:txBody>
                  <a:tcPr marL="91440" marR="91440" marT="45720" marB="45720" anchor="ctr">
                    <a:lnL w="6350" cap="flat" cmpd="sng" algn="ctr">
                      <a:solidFill>
                        <a:srgbClr val="E6E1D8"/>
                      </a:solidFill>
                      <a:prstDash val="solid"/>
                      <a:round/>
                      <a:headEnd type="none" w="med" len="med"/>
                      <a:tailEnd type="none" w="med" len="med"/>
                    </a:lnL>
                    <a:lnR w="6350" cap="flat" cmpd="sng" algn="ctr">
                      <a:solidFill>
                        <a:srgbClr val="E6E1D8"/>
                      </a:solidFill>
                      <a:prstDash val="solid"/>
                      <a:round/>
                      <a:headEnd type="none" w="med" len="med"/>
                      <a:tailEnd type="none" w="med" len="med"/>
                    </a:lnR>
                    <a:lnT w="6350" cap="flat" cmpd="sng" algn="ctr">
                      <a:solidFill>
                        <a:srgbClr val="E6E1D8"/>
                      </a:solidFill>
                      <a:prstDash val="solid"/>
                      <a:round/>
                      <a:headEnd type="none" w="med" len="med"/>
                      <a:tailEnd type="none" w="med" len="med"/>
                    </a:lnT>
                    <a:lnB w="6350" cap="flat" cmpd="sng" algn="ctr">
                      <a:solidFill>
                        <a:srgbClr val="E6E1D8"/>
                      </a:solidFill>
                      <a:prstDash val="solid"/>
                      <a:round/>
                      <a:headEnd type="none" w="med" len="med"/>
                      <a:tailEnd type="none" w="med" len="med"/>
                    </a:lnB>
                    <a:solidFill>
                      <a:srgbClr val="F4F1EB"/>
                    </a:solidFill>
                  </a:tcPr>
                </a:tc>
              </a:tr>
            </a:tbl>
          </a:graphicData>
        </a:graphic>
      </p:graphicFrame>
      <p:sp>
        <p:nvSpPr>
          <p:cNvPr id="5"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Compliance and protecting both parties</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RED LINES</a:t>
            </a:r>
            <a:endParaRPr lang="en-US" sz="1000" dirty="0"/>
          </a:p>
        </p:txBody>
      </p:sp>
      <p:sp>
        <p:nvSpPr>
          <p:cNvPr id="4" name="Shape 2"/>
          <p:cNvSpPr/>
          <p:nvPr/>
        </p:nvSpPr>
        <p:spPr>
          <a:xfrm>
            <a:off x="457200" y="1188720"/>
            <a:ext cx="457200" cy="457200"/>
          </a:xfrm>
          <a:prstGeom prst="ellipse">
            <a:avLst/>
          </a:prstGeom>
          <a:solidFill>
            <a:srgbClr val="F4F1EB"/>
          </a:solidFill>
          <a:ln w="12700">
            <a:solidFill>
              <a:srgbClr val="F4F1EB"/>
            </a:solidFill>
            <a:prstDash val="solid"/>
          </a:ln>
        </p:spPr>
      </p:sp>
      <p:pic>
        <p:nvPicPr>
          <p:cNvPr id="5" name="icon FaGavel" descr="preencoded.png">    </p:cNvPr>
          <p:cNvPicPr>
            <a:picLocks noChangeAspect="1"/>
          </p:cNvPicPr>
          <p:nvPr/>
        </p:nvPicPr>
        <p:blipFill>
          <a:blip r:embed="rId1"/>
          <a:stretch>
            <a:fillRect/>
          </a:stretch>
        </p:blipFill>
        <p:spPr>
          <a:xfrm>
            <a:off x="548640" y="1280160"/>
            <a:ext cx="274320" cy="274320"/>
          </a:xfrm>
          <a:prstGeom prst="rect">
            <a:avLst/>
          </a:prstGeom>
        </p:spPr>
      </p:pic>
      <p:sp>
        <p:nvSpPr>
          <p:cNvPr id="6" name="Text 3"/>
          <p:cNvSpPr txBox="1"/>
          <p:nvPr/>
        </p:nvSpPr>
        <p:spPr>
          <a:xfrm>
            <a:off x="1097280" y="1170432"/>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The broker does not practise law</a:t>
            </a:r>
            <a:endParaRPr lang="en-US" sz="1300" dirty="0"/>
          </a:p>
          <a:p>
            <a:pPr algn="l" indent="0" marL="0">
              <a:spcAft>
                <a:spcPts val="200"/>
              </a:spcAft>
              <a:buNone/>
            </a:pPr>
            <a:r>
              <a:rPr lang="en-US" altLang="en-US" sz="1100" dirty="0">
                <a:solidFill>
                  <a:schemeClr val="accent3"/>
                </a:solidFill>
              </a:rPr>
              <a:t>No advice, no legal opinions, no promised outcomes.</a:t>
            </a:r>
            <a:endParaRPr lang="en-US" sz="1300" dirty="0"/>
          </a:p>
        </p:txBody>
      </p:sp>
      <p:sp>
        <p:nvSpPr>
          <p:cNvPr id="7" name="Shape 4"/>
          <p:cNvSpPr/>
          <p:nvPr/>
        </p:nvSpPr>
        <p:spPr>
          <a:xfrm>
            <a:off x="457200" y="1847088"/>
            <a:ext cx="457200" cy="457200"/>
          </a:xfrm>
          <a:prstGeom prst="ellipse">
            <a:avLst/>
          </a:prstGeom>
          <a:solidFill>
            <a:srgbClr val="F4F1EB"/>
          </a:solidFill>
          <a:ln w="12700">
            <a:solidFill>
              <a:srgbClr val="F4F1EB"/>
            </a:solidFill>
            <a:prstDash val="solid"/>
          </a:ln>
        </p:spPr>
      </p:sp>
      <p:pic>
        <p:nvPicPr>
          <p:cNvPr id="8" name="icon FaLock" descr="preencoded.png">    </p:cNvPr>
          <p:cNvPicPr>
            <a:picLocks noChangeAspect="1"/>
          </p:cNvPicPr>
          <p:nvPr/>
        </p:nvPicPr>
        <p:blipFill>
          <a:blip r:embed="rId2"/>
          <a:stretch>
            <a:fillRect/>
          </a:stretch>
        </p:blipFill>
        <p:spPr>
          <a:xfrm>
            <a:off x="548640" y="1938528"/>
            <a:ext cx="274320" cy="274320"/>
          </a:xfrm>
          <a:prstGeom prst="rect">
            <a:avLst/>
          </a:prstGeom>
        </p:spPr>
      </p:pic>
      <p:sp>
        <p:nvSpPr>
          <p:cNvPr id="9" name="Text 5"/>
          <p:cNvSpPr txBox="1"/>
          <p:nvPr/>
        </p:nvSpPr>
        <p:spPr>
          <a:xfrm>
            <a:off x="1097280" y="1828800"/>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Confidentiality and data protection</a:t>
            </a:r>
            <a:endParaRPr lang="en-US" sz="1300" dirty="0"/>
          </a:p>
          <a:p>
            <a:pPr algn="l" indent="0" marL="0">
              <a:spcAft>
                <a:spcPts val="200"/>
              </a:spcAft>
              <a:buNone/>
            </a:pPr>
            <a:r>
              <a:rPr lang="en-US" altLang="en-US" sz="1100" dirty="0">
                <a:solidFill>
                  <a:schemeClr val="accent3"/>
                </a:solidFill>
              </a:rPr>
              <a:t>Client data moves through an agreed channel and is used for the service only.</a:t>
            </a:r>
            <a:endParaRPr lang="en-US" sz="1300" dirty="0"/>
          </a:p>
        </p:txBody>
      </p:sp>
      <p:sp>
        <p:nvSpPr>
          <p:cNvPr id="10" name="Shape 6"/>
          <p:cNvSpPr/>
          <p:nvPr/>
        </p:nvSpPr>
        <p:spPr>
          <a:xfrm>
            <a:off x="457200" y="2505456"/>
            <a:ext cx="457200" cy="457200"/>
          </a:xfrm>
          <a:prstGeom prst="ellipse">
            <a:avLst/>
          </a:prstGeom>
          <a:solidFill>
            <a:srgbClr val="F4F1EB"/>
          </a:solidFill>
          <a:ln w="12700">
            <a:solidFill>
              <a:srgbClr val="F4F1EB"/>
            </a:solidFill>
            <a:prstDash val="solid"/>
          </a:ln>
        </p:spPr>
      </p:sp>
      <p:pic>
        <p:nvPicPr>
          <p:cNvPr id="11" name="icon FaIdCard" descr="preencoded.png">    </p:cNvPr>
          <p:cNvPicPr>
            <a:picLocks noChangeAspect="1"/>
          </p:cNvPicPr>
          <p:nvPr/>
        </p:nvPicPr>
        <p:blipFill>
          <a:blip r:embed="rId3"/>
          <a:stretch>
            <a:fillRect/>
          </a:stretch>
        </p:blipFill>
        <p:spPr>
          <a:xfrm>
            <a:off x="548640" y="2596896"/>
            <a:ext cx="274320" cy="274320"/>
          </a:xfrm>
          <a:prstGeom prst="rect">
            <a:avLst/>
          </a:prstGeom>
        </p:spPr>
      </p:pic>
      <p:sp>
        <p:nvSpPr>
          <p:cNvPr id="12" name="Text 7"/>
          <p:cNvSpPr txBox="1"/>
          <p:nvPr/>
        </p:nvSpPr>
        <p:spPr>
          <a:xfrm>
            <a:off x="1097280" y="2487168"/>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KYC and anti-money-laundering</a:t>
            </a:r>
            <a:endParaRPr lang="en-US" sz="1300" dirty="0"/>
          </a:p>
          <a:p>
            <a:pPr algn="l" indent="0" marL="0">
              <a:spcAft>
                <a:spcPts val="200"/>
              </a:spcAft>
              <a:buNone/>
            </a:pPr>
            <a:r>
              <a:rPr lang="en-US" altLang="en-US" sz="1100" dirty="0">
                <a:solidFill>
                  <a:schemeClr val="accent3"/>
                </a:solidFill>
              </a:rPr>
              <a:t>Handled by the firm under federal law.</a:t>
            </a:r>
            <a:endParaRPr lang="en-US" sz="1300" dirty="0"/>
          </a:p>
        </p:txBody>
      </p:sp>
      <p:sp>
        <p:nvSpPr>
          <p:cNvPr id="13" name="Shape 8"/>
          <p:cNvSpPr/>
          <p:nvPr/>
        </p:nvSpPr>
        <p:spPr>
          <a:xfrm>
            <a:off x="457200" y="3163824"/>
            <a:ext cx="457200" cy="457200"/>
          </a:xfrm>
          <a:prstGeom prst="ellipse">
            <a:avLst/>
          </a:prstGeom>
          <a:solidFill>
            <a:srgbClr val="F4F1EB"/>
          </a:solidFill>
          <a:ln w="12700">
            <a:solidFill>
              <a:srgbClr val="F4F1EB"/>
            </a:solidFill>
            <a:prstDash val="solid"/>
          </a:ln>
        </p:spPr>
      </p:sp>
      <p:pic>
        <p:nvPicPr>
          <p:cNvPr id="14" name="icon FaBan" descr="preencoded.png">    </p:cNvPr>
          <p:cNvPicPr>
            <a:picLocks noChangeAspect="1"/>
          </p:cNvPicPr>
          <p:nvPr/>
        </p:nvPicPr>
        <p:blipFill>
          <a:blip r:embed="rId4"/>
          <a:stretch>
            <a:fillRect/>
          </a:stretch>
        </p:blipFill>
        <p:spPr>
          <a:xfrm>
            <a:off x="548640" y="3255264"/>
            <a:ext cx="274320" cy="274320"/>
          </a:xfrm>
          <a:prstGeom prst="rect">
            <a:avLst/>
          </a:prstGeom>
        </p:spPr>
      </p:pic>
      <p:sp>
        <p:nvSpPr>
          <p:cNvPr id="15" name="Text 9"/>
          <p:cNvSpPr txBox="1"/>
          <p:nvPr/>
        </p:nvSpPr>
        <p:spPr>
          <a:xfrm>
            <a:off x="1097280" y="3145536"/>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Non-circumvention</a:t>
            </a:r>
            <a:endParaRPr lang="en-US" sz="1300" dirty="0"/>
          </a:p>
          <a:p>
            <a:pPr algn="l" indent="0" marL="0">
              <a:spcAft>
                <a:spcPts val="200"/>
              </a:spcAft>
              <a:buNone/>
            </a:pPr>
            <a:r>
              <a:rPr lang="en-US" altLang="en-US" sz="1100" dirty="0">
                <a:solidFill>
                  <a:schemeClr val="accent3"/>
                </a:solidFill>
              </a:rPr>
              <a:t>Neither party goes around the other with its clients.</a:t>
            </a:r>
            <a:endParaRPr lang="en-US" sz="1300" dirty="0"/>
          </a:p>
        </p:txBody>
      </p:sp>
      <p:sp>
        <p:nvSpPr>
          <p:cNvPr id="16" name="Shape 10"/>
          <p:cNvSpPr/>
          <p:nvPr/>
        </p:nvSpPr>
        <p:spPr>
          <a:xfrm>
            <a:off x="457200" y="3822192"/>
            <a:ext cx="457200" cy="457200"/>
          </a:xfrm>
          <a:prstGeom prst="ellipse">
            <a:avLst/>
          </a:prstGeom>
          <a:solidFill>
            <a:srgbClr val="F4F1EB"/>
          </a:solidFill>
          <a:ln w="12700">
            <a:solidFill>
              <a:srgbClr val="F4F1EB"/>
            </a:solidFill>
            <a:prstDash val="solid"/>
          </a:ln>
        </p:spPr>
      </p:sp>
      <p:pic>
        <p:nvPicPr>
          <p:cNvPr id="17" name="icon FaFileContract" descr="preencoded.png">    </p:cNvPr>
          <p:cNvPicPr>
            <a:picLocks noChangeAspect="1"/>
          </p:cNvPicPr>
          <p:nvPr/>
        </p:nvPicPr>
        <p:blipFill>
          <a:blip r:embed="rId5"/>
          <a:stretch>
            <a:fillRect/>
          </a:stretch>
        </p:blipFill>
        <p:spPr>
          <a:xfrm>
            <a:off x="548640" y="3913632"/>
            <a:ext cx="274320" cy="274320"/>
          </a:xfrm>
          <a:prstGeom prst="rect">
            <a:avLst/>
          </a:prstGeom>
        </p:spPr>
      </p:pic>
      <p:sp>
        <p:nvSpPr>
          <p:cNvPr id="18" name="Text 11"/>
          <p:cNvSpPr txBox="1"/>
          <p:nvPr/>
        </p:nvSpPr>
        <p:spPr>
          <a:xfrm>
            <a:off x="1097280" y="3803904"/>
            <a:ext cx="7589520" cy="585216"/>
          </a:xfrm>
          <a:prstGeom prst="rect">
            <a:avLst/>
          </a:prstGeom>
          <a:noFill/>
          <a:ln/>
        </p:spPr>
        <p:txBody>
          <a:bodyPr wrap="square" lIns="0" tIns="0" rIns="0" bIns="0" rtlCol="0" anchor="t"/>
          <a:lstStyle/>
          <a:p>
            <a:pPr algn="l" indent="0" marL="0">
              <a:spcAft>
                <a:spcPts val="200"/>
              </a:spcAft>
              <a:buNone/>
            </a:pPr>
            <a:r>
              <a:rPr lang="en-US" altLang="en-US" sz="1300" b="1" dirty="0">
                <a:solidFill>
                  <a:schemeClr val="tx1"/>
                </a:solidFill>
              </a:rPr>
              <a:t>Fee transparency</a:t>
            </a:r>
            <a:endParaRPr lang="en-US" sz="1300" dirty="0"/>
          </a:p>
          <a:p>
            <a:pPr algn="l" indent="0" marL="0">
              <a:spcAft>
                <a:spcPts val="200"/>
              </a:spcAft>
              <a:buNone/>
            </a:pPr>
            <a:r>
              <a:rPr lang="en-US" altLang="en-US" sz="1100" dirty="0">
                <a:solidFill>
                  <a:schemeClr val="accent3"/>
                </a:solidFill>
              </a:rPr>
              <a:t>One written proposal to the client; the commission sits in the agreement in line with professional rules.</a:t>
            </a:r>
            <a:endParaRPr lang="en-US" sz="1300" dirty="0"/>
          </a:p>
        </p:txBody>
      </p:sp>
      <p:sp>
        <p:nvSpPr>
          <p:cNvPr id="19"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1463040"/>
            <a:ext cx="1828800" cy="1463040"/>
          </a:xfrm>
          <a:prstGeom prst="rect">
            <a:avLst/>
          </a:prstGeom>
          <a:noFill/>
          <a:ln/>
        </p:spPr>
        <p:txBody>
          <a:bodyPr wrap="square" lIns="0" tIns="0" rIns="0" bIns="0" rtlCol="0" anchor="ctr"/>
          <a:lstStyle/>
          <a:p>
            <a:pPr algn="l" indent="0" marL="0">
              <a:buNone/>
            </a:pPr>
            <a:r>
              <a:rPr lang="en-US" sz="7200" dirty="0">
                <a:solidFill>
                  <a:schemeClr val="accent1"/>
                </a:solidFill>
                <a:latin typeface="Cambria" pitchFamily="34" charset="0"/>
                <a:ea typeface="Cambria" pitchFamily="34" charset="-122"/>
                <a:cs typeface="Cambria" pitchFamily="34" charset="-120"/>
              </a:rPr>
              <a:t>06</a:t>
            </a:r>
            <a:endParaRPr lang="en-US" sz="7200" dirty="0"/>
          </a:p>
        </p:txBody>
      </p:sp>
      <p:sp>
        <p:nvSpPr>
          <p:cNvPr id="3" name="Text 1"/>
          <p:cNvSpPr txBox="1"/>
          <p:nvPr/>
        </p:nvSpPr>
        <p:spPr>
          <a:xfrm>
            <a:off x="457200" y="2743200"/>
            <a:ext cx="7772400" cy="868680"/>
          </a:xfrm>
          <a:prstGeom prst="rect">
            <a:avLst/>
          </a:prstGeom>
          <a:noFill/>
          <a:ln/>
        </p:spPr>
        <p:txBody>
          <a:bodyPr wrap="square" lIns="0" tIns="0" rIns="0" bIns="0" rtlCol="0" anchor="b"/>
          <a:lstStyle/>
          <a:p>
            <a:pPr algn="l" indent="0" marL="0">
              <a:buNone/>
            </a:pPr>
            <a:r>
              <a:rPr lang="en-US" altLang="en-US" sz="3000" b="1" dirty="0">
                <a:solidFill>
                  <a:schemeClr val="bg1"/>
                </a:solidFill>
                <a:latin typeface="Cambria" pitchFamily="34" charset="0"/>
                <a:ea typeface="Cambria" pitchFamily="34" charset="-122"/>
                <a:cs typeface="Cambria" pitchFamily="34" charset="-120"/>
              </a:rPr>
              <a:t>Joint marketing and onboarding</a:t>
            </a:r>
            <a:endParaRPr lang="en-US" sz="3000" dirty="0"/>
          </a:p>
        </p:txBody>
      </p:sp>
      <p:sp>
        <p:nvSpPr>
          <p:cNvPr id="4" name="Text 2"/>
          <p:cNvSpPr txBox="1"/>
          <p:nvPr/>
        </p:nvSpPr>
        <p:spPr>
          <a:xfrm>
            <a:off x="457200" y="3675888"/>
            <a:ext cx="7772400" cy="502920"/>
          </a:xfrm>
          <a:prstGeom prst="rect">
            <a:avLst/>
          </a:prstGeom>
          <a:noFill/>
          <a:ln/>
        </p:spPr>
        <p:txBody>
          <a:bodyPr wrap="square" lIns="0" tIns="0" rIns="0" bIns="0" rtlCol="0" anchor="t"/>
          <a:lstStyle/>
          <a:p>
            <a:pPr algn="l" indent="0" marL="0">
              <a:buNone/>
            </a:pPr>
            <a:r>
              <a:rPr lang="en-US" altLang="en-US" sz="1400" dirty="0">
                <a:solidFill>
                  <a:schemeClr val="accent2"/>
                </a:solidFill>
              </a:rPr>
              <a:t>We help you present the service to your clients with confidence</a:t>
            </a:r>
            <a:endParaRPr lang="en-US" sz="14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What we do with you</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JOINT MARKETING</a:t>
            </a:r>
            <a:endParaRPr lang="en-US" sz="1000" dirty="0"/>
          </a:p>
        </p:txBody>
      </p:sp>
      <p:sp>
        <p:nvSpPr>
          <p:cNvPr id="4" name="Shape 2"/>
          <p:cNvSpPr/>
          <p:nvPr/>
        </p:nvSpPr>
        <p:spPr>
          <a:xfrm>
            <a:off x="457200" y="1188720"/>
            <a:ext cx="2590800" cy="1508760"/>
          </a:xfrm>
          <a:prstGeom prst="rect">
            <a:avLst/>
          </a:prstGeom>
          <a:solidFill>
            <a:srgbClr val="F4F1EB"/>
          </a:solidFill>
          <a:ln w="12700">
            <a:solidFill>
              <a:srgbClr val="F4F1EB"/>
            </a:solidFill>
            <a:prstDash val="solid"/>
          </a:ln>
        </p:spPr>
      </p:sp>
      <p:pic>
        <p:nvPicPr>
          <p:cNvPr id="5" name="icon FaChalkboardUser" descr="preencoded.png">    </p:cNvPr>
          <p:cNvPicPr>
            <a:picLocks noChangeAspect="1"/>
          </p:cNvPicPr>
          <p:nvPr/>
        </p:nvPicPr>
        <p:blipFill>
          <a:blip r:embed="rId1"/>
          <a:stretch>
            <a:fillRect/>
          </a:stretch>
        </p:blipFill>
        <p:spPr>
          <a:xfrm>
            <a:off x="658368" y="1389888"/>
            <a:ext cx="310896" cy="310896"/>
          </a:xfrm>
          <a:prstGeom prst="rect">
            <a:avLst/>
          </a:prstGeom>
        </p:spPr>
      </p:pic>
      <p:sp>
        <p:nvSpPr>
          <p:cNvPr id="6" name="Text 3"/>
          <p:cNvSpPr txBox="1"/>
          <p:nvPr/>
        </p:nvSpPr>
        <p:spPr>
          <a:xfrm>
            <a:off x="658368" y="182880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Free seminar for your sales team</a:t>
            </a:r>
            <a:endParaRPr lang="en-US" sz="1250" dirty="0"/>
          </a:p>
          <a:p>
            <a:pPr algn="l" indent="0" marL="0">
              <a:spcAft>
                <a:spcPts val="300"/>
              </a:spcAft>
              <a:buNone/>
            </a:pPr>
            <a:r>
              <a:rPr lang="en-US" altLang="en-US" sz="1050" dirty="0">
                <a:solidFill>
                  <a:schemeClr val="accent3"/>
                </a:solidFill>
              </a:rPr>
              <a:t>“How to Protect Foreign Investors in the UAE”, one hour at your office.</a:t>
            </a:r>
            <a:endParaRPr lang="en-US" sz="1250" dirty="0"/>
          </a:p>
        </p:txBody>
      </p:sp>
      <p:sp>
        <p:nvSpPr>
          <p:cNvPr id="7" name="Shape 4"/>
          <p:cNvSpPr/>
          <p:nvPr/>
        </p:nvSpPr>
        <p:spPr>
          <a:xfrm>
            <a:off x="3276600" y="1188720"/>
            <a:ext cx="2590800" cy="1508760"/>
          </a:xfrm>
          <a:prstGeom prst="rect">
            <a:avLst/>
          </a:prstGeom>
          <a:solidFill>
            <a:srgbClr val="F4F1EB"/>
          </a:solidFill>
          <a:ln w="12700">
            <a:solidFill>
              <a:srgbClr val="F4F1EB"/>
            </a:solidFill>
            <a:prstDash val="solid"/>
          </a:ln>
        </p:spPr>
      </p:sp>
      <p:pic>
        <p:nvPicPr>
          <p:cNvPr id="8" name="icon FaVideo" descr="preencoded.png">    </p:cNvPr>
          <p:cNvPicPr>
            <a:picLocks noChangeAspect="1"/>
          </p:cNvPicPr>
          <p:nvPr/>
        </p:nvPicPr>
        <p:blipFill>
          <a:blip r:embed="rId2"/>
          <a:stretch>
            <a:fillRect/>
          </a:stretch>
        </p:blipFill>
        <p:spPr>
          <a:xfrm>
            <a:off x="3477768" y="1389888"/>
            <a:ext cx="310896" cy="310896"/>
          </a:xfrm>
          <a:prstGeom prst="rect">
            <a:avLst/>
          </a:prstGeom>
        </p:spPr>
      </p:pic>
      <p:sp>
        <p:nvSpPr>
          <p:cNvPr id="9" name="Text 5"/>
          <p:cNvSpPr txBox="1"/>
          <p:nvPr/>
        </p:nvSpPr>
        <p:spPr>
          <a:xfrm>
            <a:off x="3477768" y="182880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Webinars for your clients</a:t>
            </a:r>
            <a:endParaRPr lang="en-US" sz="1250" dirty="0"/>
          </a:p>
          <a:p>
            <a:pPr algn="l" indent="0" marL="0">
              <a:spcAft>
                <a:spcPts val="300"/>
              </a:spcAft>
              <a:buNone/>
            </a:pPr>
            <a:r>
              <a:rPr lang="en-US" altLang="en-US" sz="1050" dirty="0">
                <a:solidFill>
                  <a:schemeClr val="accent3"/>
                </a:solidFill>
              </a:rPr>
              <a:t>In English, Russian or Chinese, under your name and ours.</a:t>
            </a:r>
            <a:endParaRPr lang="en-US" sz="1250" dirty="0"/>
          </a:p>
        </p:txBody>
      </p:sp>
      <p:sp>
        <p:nvSpPr>
          <p:cNvPr id="10" name="Shape 6"/>
          <p:cNvSpPr/>
          <p:nvPr/>
        </p:nvSpPr>
        <p:spPr>
          <a:xfrm>
            <a:off x="6096000" y="1188720"/>
            <a:ext cx="2590800" cy="1508760"/>
          </a:xfrm>
          <a:prstGeom prst="rect">
            <a:avLst/>
          </a:prstGeom>
          <a:solidFill>
            <a:srgbClr val="F4F1EB"/>
          </a:solidFill>
          <a:ln w="12700">
            <a:solidFill>
              <a:srgbClr val="F4F1EB"/>
            </a:solidFill>
            <a:prstDash val="solid"/>
          </a:ln>
        </p:spPr>
      </p:sp>
      <p:pic>
        <p:nvPicPr>
          <p:cNvPr id="11" name="icon FaUsers" descr="preencoded.png">    </p:cNvPr>
          <p:cNvPicPr>
            <a:picLocks noChangeAspect="1"/>
          </p:cNvPicPr>
          <p:nvPr/>
        </p:nvPicPr>
        <p:blipFill>
          <a:blip r:embed="rId3"/>
          <a:stretch>
            <a:fillRect/>
          </a:stretch>
        </p:blipFill>
        <p:spPr>
          <a:xfrm>
            <a:off x="6297168" y="1389888"/>
            <a:ext cx="310896" cy="310896"/>
          </a:xfrm>
          <a:prstGeom prst="rect">
            <a:avLst/>
          </a:prstGeom>
        </p:spPr>
      </p:pic>
      <p:sp>
        <p:nvSpPr>
          <p:cNvPr id="12" name="Text 7"/>
          <p:cNvSpPr txBox="1"/>
          <p:nvPr/>
        </p:nvSpPr>
        <p:spPr>
          <a:xfrm>
            <a:off x="6297168" y="182880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Investor and launch events</a:t>
            </a:r>
            <a:endParaRPr lang="en-US" sz="1250" dirty="0"/>
          </a:p>
          <a:p>
            <a:pPr algn="l" indent="0" marL="0">
              <a:spcAft>
                <a:spcPts val="300"/>
              </a:spcAft>
              <a:buNone/>
            </a:pPr>
            <a:r>
              <a:rPr lang="en-US" altLang="en-US" sz="1050" dirty="0">
                <a:solidFill>
                  <a:schemeClr val="accent3"/>
                </a:solidFill>
              </a:rPr>
              <a:t>A counsel from the firm on site to answer questions.</a:t>
            </a:r>
            <a:endParaRPr lang="en-US" sz="1250" dirty="0"/>
          </a:p>
        </p:txBody>
      </p:sp>
      <p:sp>
        <p:nvSpPr>
          <p:cNvPr id="13" name="Shape 8"/>
          <p:cNvSpPr/>
          <p:nvPr/>
        </p:nvSpPr>
        <p:spPr>
          <a:xfrm>
            <a:off x="457200" y="2926080"/>
            <a:ext cx="2590800" cy="1508760"/>
          </a:xfrm>
          <a:prstGeom prst="rect">
            <a:avLst/>
          </a:prstGeom>
          <a:solidFill>
            <a:srgbClr val="F4F1EB"/>
          </a:solidFill>
          <a:ln w="12700">
            <a:solidFill>
              <a:srgbClr val="F4F1EB"/>
            </a:solidFill>
            <a:prstDash val="solid"/>
          </a:ln>
        </p:spPr>
      </p:sp>
      <p:pic>
        <p:nvPicPr>
          <p:cNvPr id="14" name="icon FaFolderOpen" descr="preencoded.png">    </p:cNvPr>
          <p:cNvPicPr>
            <a:picLocks noChangeAspect="1"/>
          </p:cNvPicPr>
          <p:nvPr/>
        </p:nvPicPr>
        <p:blipFill>
          <a:blip r:embed="rId4"/>
          <a:stretch>
            <a:fillRect/>
          </a:stretch>
        </p:blipFill>
        <p:spPr>
          <a:xfrm>
            <a:off x="658368" y="3127248"/>
            <a:ext cx="310896" cy="310896"/>
          </a:xfrm>
          <a:prstGeom prst="rect">
            <a:avLst/>
          </a:prstGeom>
        </p:spPr>
      </p:pic>
      <p:sp>
        <p:nvSpPr>
          <p:cNvPr id="15" name="Text 9"/>
          <p:cNvSpPr txBox="1"/>
          <p:nvPr/>
        </p:nvSpPr>
        <p:spPr>
          <a:xfrm>
            <a:off x="658368" y="356616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Ready materials</a:t>
            </a:r>
            <a:endParaRPr lang="en-US" sz="1250" dirty="0"/>
          </a:p>
          <a:p>
            <a:pPr algn="l" indent="0" marL="0">
              <a:spcAft>
                <a:spcPts val="300"/>
              </a:spcAft>
              <a:buNone/>
            </a:pPr>
            <a:r>
              <a:rPr lang="en-US" altLang="en-US" sz="1050" dirty="0">
                <a:solidFill>
                  <a:schemeClr val="accent3"/>
                </a:solidFill>
              </a:rPr>
              <a:t>Brochure, WhatsApp text, FAQ and a bilingual presentation.</a:t>
            </a:r>
            <a:endParaRPr lang="en-US" sz="1250" dirty="0"/>
          </a:p>
        </p:txBody>
      </p:sp>
      <p:sp>
        <p:nvSpPr>
          <p:cNvPr id="16" name="Shape 10"/>
          <p:cNvSpPr/>
          <p:nvPr/>
        </p:nvSpPr>
        <p:spPr>
          <a:xfrm>
            <a:off x="3276600" y="2926080"/>
            <a:ext cx="2590800" cy="1508760"/>
          </a:xfrm>
          <a:prstGeom prst="rect">
            <a:avLst/>
          </a:prstGeom>
          <a:solidFill>
            <a:srgbClr val="F4F1EB"/>
          </a:solidFill>
          <a:ln w="12700">
            <a:solidFill>
              <a:srgbClr val="F4F1EB"/>
            </a:solidFill>
            <a:prstDash val="solid"/>
          </a:ln>
        </p:spPr>
      </p:sp>
      <p:pic>
        <p:nvPicPr>
          <p:cNvPr id="17" name="icon FaHashtag" descr="preencoded.png">    </p:cNvPr>
          <p:cNvPicPr>
            <a:picLocks noChangeAspect="1"/>
          </p:cNvPicPr>
          <p:nvPr/>
        </p:nvPicPr>
        <p:blipFill>
          <a:blip r:embed="rId5"/>
          <a:stretch>
            <a:fillRect/>
          </a:stretch>
        </p:blipFill>
        <p:spPr>
          <a:xfrm>
            <a:off x="3477768" y="3127248"/>
            <a:ext cx="310896" cy="310896"/>
          </a:xfrm>
          <a:prstGeom prst="rect">
            <a:avLst/>
          </a:prstGeom>
        </p:spPr>
      </p:pic>
      <p:sp>
        <p:nvSpPr>
          <p:cNvPr id="18" name="Text 11"/>
          <p:cNvSpPr txBox="1"/>
          <p:nvPr/>
        </p:nvSpPr>
        <p:spPr>
          <a:xfrm>
            <a:off x="3477768" y="356616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Social media content</a:t>
            </a:r>
            <a:endParaRPr lang="en-US" sz="1250" dirty="0"/>
          </a:p>
          <a:p>
            <a:pPr algn="l" indent="0" marL="0">
              <a:spcAft>
                <a:spcPts val="300"/>
              </a:spcAft>
              <a:buNone/>
            </a:pPr>
            <a:r>
              <a:rPr lang="en-US" altLang="en-US" sz="1050" dirty="0">
                <a:solidFill>
                  <a:schemeClr val="accent3"/>
                </a:solidFill>
              </a:rPr>
              <a:t>What happens to your property without a will? Are accounts frozen? DIFC or ADGM?</a:t>
            </a:r>
            <a:endParaRPr lang="en-US" sz="1250" dirty="0"/>
          </a:p>
        </p:txBody>
      </p:sp>
      <p:sp>
        <p:nvSpPr>
          <p:cNvPr id="19" name="Shape 12"/>
          <p:cNvSpPr/>
          <p:nvPr/>
        </p:nvSpPr>
        <p:spPr>
          <a:xfrm>
            <a:off x="6096000" y="2926080"/>
            <a:ext cx="2590800" cy="1508760"/>
          </a:xfrm>
          <a:prstGeom prst="rect">
            <a:avLst/>
          </a:prstGeom>
          <a:solidFill>
            <a:srgbClr val="F4F1EB"/>
          </a:solidFill>
          <a:ln w="12700">
            <a:solidFill>
              <a:srgbClr val="F4F1EB"/>
            </a:solidFill>
            <a:prstDash val="solid"/>
          </a:ln>
        </p:spPr>
      </p:sp>
      <p:pic>
        <p:nvPicPr>
          <p:cNvPr id="20" name="icon FaComments" descr="preencoded.png">    </p:cNvPr>
          <p:cNvPicPr>
            <a:picLocks noChangeAspect="1"/>
          </p:cNvPicPr>
          <p:nvPr/>
        </p:nvPicPr>
        <p:blipFill>
          <a:blip r:embed="rId6"/>
          <a:stretch>
            <a:fillRect/>
          </a:stretch>
        </p:blipFill>
        <p:spPr>
          <a:xfrm>
            <a:off x="6297168" y="3127248"/>
            <a:ext cx="310896" cy="310896"/>
          </a:xfrm>
          <a:prstGeom prst="rect">
            <a:avLst/>
          </a:prstGeom>
        </p:spPr>
      </p:pic>
      <p:sp>
        <p:nvSpPr>
          <p:cNvPr id="21" name="Text 13"/>
          <p:cNvSpPr txBox="1"/>
          <p:nvPr/>
        </p:nvSpPr>
        <p:spPr>
          <a:xfrm>
            <a:off x="6297168" y="3566160"/>
            <a:ext cx="2188464" cy="713232"/>
          </a:xfrm>
          <a:prstGeom prst="rect">
            <a:avLst/>
          </a:prstGeom>
          <a:noFill/>
          <a:ln/>
        </p:spPr>
        <p:txBody>
          <a:bodyPr wrap="square" lIns="0" tIns="0" rIns="0" bIns="0" rtlCol="0" anchor="t"/>
          <a:lstStyle/>
          <a:p>
            <a:pPr algn="l" indent="0" marL="0">
              <a:spcAft>
                <a:spcPts val="300"/>
              </a:spcAft>
              <a:buNone/>
            </a:pPr>
            <a:r>
              <a:rPr lang="en-US" altLang="en-US" sz="1250" b="1" dirty="0">
                <a:solidFill>
                  <a:schemeClr val="tx1"/>
                </a:solidFill>
              </a:rPr>
              <a:t>Free first consultation</a:t>
            </a:r>
            <a:endParaRPr lang="en-US" sz="1250" dirty="0"/>
          </a:p>
          <a:p>
            <a:pPr algn="l" indent="0" marL="0">
              <a:spcAft>
                <a:spcPts val="300"/>
              </a:spcAft>
              <a:buNone/>
            </a:pPr>
            <a:r>
              <a:rPr lang="en-US" altLang="en-US" sz="1050" dirty="0">
                <a:solidFill>
                  <a:schemeClr val="accent3"/>
                </a:solidFill>
              </a:rPr>
              <a:t>For every client you refer, in their language, wherever suits them.</a:t>
            </a:r>
            <a:endParaRPr lang="en-US" sz="1250" dirty="0"/>
          </a:p>
        </p:txBody>
      </p:sp>
      <p:sp>
        <p:nvSpPr>
          <p:cNvPr id="22"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402336"/>
            <a:ext cx="8229600" cy="749808"/>
          </a:xfrm>
          <a:prstGeom prst="rect">
            <a:avLst/>
          </a:prstGeom>
          <a:noFill/>
          <a:ln/>
        </p:spPr>
        <p:txBody>
          <a:bodyPr wrap="square" lIns="0" tIns="0" rIns="0" bIns="0" rtlCol="0" anchor="t"/>
          <a:lstStyle/>
          <a:p>
            <a:pPr algn="l" indent="0" marL="0">
              <a:buNone/>
            </a:pPr>
            <a:r>
              <a:rPr lang="en-US" altLang="en-US" sz="2600" b="1" dirty="0">
                <a:solidFill>
                  <a:schemeClr val="tx1"/>
                </a:solidFill>
                <a:latin typeface="Cambria" pitchFamily="34" charset="0"/>
                <a:ea typeface="Cambria" pitchFamily="34" charset="-122"/>
                <a:cs typeface="Cambria" pitchFamily="34" charset="-120"/>
              </a:rPr>
              <a:t>Up and running in three weeks</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algn="l" indent="0" marL="0">
              <a:buNone/>
            </a:pPr>
            <a:r>
              <a:rPr lang="en-US" altLang="en-US" sz="1000" b="1" spc="300" kern="0" dirty="0">
                <a:solidFill>
                  <a:schemeClr val="accent1"/>
                </a:solidFill>
              </a:rPr>
              <a:t>ONBOARDING PLAN</a:t>
            </a:r>
            <a:endParaRPr lang="en-US" sz="1000" dirty="0"/>
          </a:p>
        </p:txBody>
      </p:sp>
      <p:sp>
        <p:nvSpPr>
          <p:cNvPr id="4" name="Shape 2"/>
          <p:cNvSpPr/>
          <p:nvPr/>
        </p:nvSpPr>
        <p:spPr>
          <a:xfrm>
            <a:off x="457200" y="1188720"/>
            <a:ext cx="2621280" cy="502920"/>
          </a:xfrm>
          <a:prstGeom prst="rect">
            <a:avLst/>
          </a:prstGeom>
          <a:solidFill>
            <a:srgbClr val="0E2238"/>
          </a:solidFill>
          <a:ln w="12700">
            <a:solidFill>
              <a:srgbClr val="0E2238"/>
            </a:solidFill>
            <a:prstDash val="solid"/>
          </a:ln>
        </p:spPr>
      </p:sp>
      <p:sp>
        <p:nvSpPr>
          <p:cNvPr id="5" name="Text 3"/>
          <p:cNvSpPr txBox="1"/>
          <p:nvPr/>
        </p:nvSpPr>
        <p:spPr>
          <a:xfrm>
            <a:off x="594360" y="1188720"/>
            <a:ext cx="2346960" cy="502920"/>
          </a:xfrm>
          <a:prstGeom prst="rect">
            <a:avLst/>
          </a:prstGeom>
          <a:noFill/>
          <a:ln/>
        </p:spPr>
        <p:txBody>
          <a:bodyPr wrap="square" lIns="0" tIns="0" rIns="0" bIns="0" rtlCol="0" anchor="ctr"/>
          <a:lstStyle/>
          <a:p>
            <a:pPr algn="l" indent="0" marL="0">
              <a:buNone/>
            </a:pPr>
            <a:r>
              <a:rPr lang="en-US" altLang="en-US" sz="1200" b="1" dirty="0">
                <a:solidFill>
                  <a:schemeClr val="accent1"/>
                </a:solidFill>
              </a:rPr>
              <a:t>Week 1</a:t>
            </a:r>
            <a:endParaRPr lang="en-US" sz="1200" dirty="0"/>
          </a:p>
        </p:txBody>
      </p:sp>
      <p:sp>
        <p:nvSpPr>
          <p:cNvPr id="6" name="Shape 4"/>
          <p:cNvSpPr/>
          <p:nvPr/>
        </p:nvSpPr>
        <p:spPr>
          <a:xfrm>
            <a:off x="457200" y="1691640"/>
            <a:ext cx="2621280" cy="2743200"/>
          </a:xfrm>
          <a:prstGeom prst="rect">
            <a:avLst/>
          </a:prstGeom>
          <a:solidFill>
            <a:srgbClr val="F4F1EB"/>
          </a:solidFill>
          <a:ln w="12700">
            <a:solidFill>
              <a:srgbClr val="F4F1EB"/>
            </a:solidFill>
            <a:prstDash val="solid"/>
          </a:ln>
        </p:spPr>
      </p:sp>
      <p:sp>
        <p:nvSpPr>
          <p:cNvPr id="7" name="Text 5"/>
          <p:cNvSpPr txBox="1"/>
          <p:nvPr/>
        </p:nvSpPr>
        <p:spPr>
          <a:xfrm>
            <a:off x="594360" y="1828800"/>
            <a:ext cx="2346960" cy="457200"/>
          </a:xfrm>
          <a:prstGeom prst="rect">
            <a:avLst/>
          </a:prstGeom>
          <a:noFill/>
          <a:ln/>
        </p:spPr>
        <p:txBody>
          <a:bodyPr wrap="square" lIns="0" tIns="0" rIns="0" bIns="0" rtlCol="0" anchor="t"/>
          <a:lstStyle/>
          <a:p>
            <a:pPr algn="l" indent="0" marL="0">
              <a:buNone/>
            </a:pPr>
            <a:r>
              <a:rPr lang="en-US" altLang="en-US" sz="1300" b="1" dirty="0">
                <a:solidFill>
                  <a:schemeClr val="tx1"/>
                </a:solidFill>
              </a:rPr>
              <a:t>Agreement</a:t>
            </a:r>
            <a:endParaRPr lang="en-US" sz="1300" dirty="0"/>
          </a:p>
        </p:txBody>
      </p:sp>
      <p:sp>
        <p:nvSpPr>
          <p:cNvPr id="8" name="Text 6"/>
          <p:cNvSpPr txBox="1"/>
          <p:nvPr/>
        </p:nvSpPr>
        <p:spPr>
          <a:xfrm>
            <a:off x="594360" y="2286000"/>
            <a:ext cx="2346960" cy="2057400"/>
          </a:xfrm>
          <a:prstGeom prst="rect">
            <a:avLst/>
          </a:prstGeom>
          <a:noFill/>
          <a:ln/>
        </p:spPr>
        <p:txBody>
          <a:bodyPr wrap="square" lIns="0" tIns="0" rIns="0" bIns="0" rtlCol="0" anchor="t"/>
          <a:lstStyle/>
          <a:p>
            <a:pPr algn="l" marL="152400" indent="-152400">
              <a:spcAft>
                <a:spcPts val="400"/>
              </a:spcAft>
              <a:buSzPct val="100000"/>
              <a:buChar char="•"/>
            </a:pPr>
            <a:r>
              <a:rPr lang="en-US" altLang="en-US" sz="1050" dirty="0">
                <a:solidFill>
                  <a:schemeClr val="accent3"/>
                </a:solidFill>
              </a:rPr>
              <a:t>Management meeting</a:t>
            </a:r>
            <a:endParaRPr lang="en-US" sz="1050" dirty="0"/>
          </a:p>
          <a:p>
            <a:pPr algn="l" marL="152400" indent="-152400">
              <a:spcAft>
                <a:spcPts val="400"/>
              </a:spcAft>
              <a:buSzPct val="100000"/>
              <a:buChar char="•"/>
            </a:pPr>
            <a:r>
              <a:rPr lang="en-US" altLang="en-US" sz="1050" dirty="0">
                <a:solidFill>
                  <a:schemeClr val="accent3"/>
                </a:solidFill>
              </a:rPr>
              <a:t>Sign the referral and cooperation agreement</a:t>
            </a:r>
            <a:endParaRPr lang="en-US" sz="1050" dirty="0"/>
          </a:p>
          <a:p>
            <a:pPr algn="l" marL="152400" indent="-152400">
              <a:spcAft>
                <a:spcPts val="400"/>
              </a:spcAft>
              <a:buSzPct val="100000"/>
              <a:buChar char="•"/>
            </a:pPr>
            <a:r>
              <a:rPr lang="en-US" altLang="en-US" sz="1050" dirty="0">
                <a:solidFill>
                  <a:schemeClr val="accent3"/>
                </a:solidFill>
              </a:rPr>
              <a:t>Agree the channel and the point of contact</a:t>
            </a:r>
            <a:endParaRPr lang="en-US" sz="1050" dirty="0"/>
          </a:p>
        </p:txBody>
      </p:sp>
      <p:sp>
        <p:nvSpPr>
          <p:cNvPr id="9" name="Shape 7"/>
          <p:cNvSpPr/>
          <p:nvPr/>
        </p:nvSpPr>
        <p:spPr>
          <a:xfrm>
            <a:off x="3261360" y="1188720"/>
            <a:ext cx="2621280" cy="502920"/>
          </a:xfrm>
          <a:prstGeom prst="rect">
            <a:avLst/>
          </a:prstGeom>
          <a:solidFill>
            <a:srgbClr val="0E2238"/>
          </a:solidFill>
          <a:ln w="12700">
            <a:solidFill>
              <a:srgbClr val="0E2238"/>
            </a:solidFill>
            <a:prstDash val="solid"/>
          </a:ln>
        </p:spPr>
      </p:sp>
      <p:sp>
        <p:nvSpPr>
          <p:cNvPr id="10" name="Text 8"/>
          <p:cNvSpPr txBox="1"/>
          <p:nvPr/>
        </p:nvSpPr>
        <p:spPr>
          <a:xfrm>
            <a:off x="3398520" y="1188720"/>
            <a:ext cx="2346960" cy="502920"/>
          </a:xfrm>
          <a:prstGeom prst="rect">
            <a:avLst/>
          </a:prstGeom>
          <a:noFill/>
          <a:ln/>
        </p:spPr>
        <p:txBody>
          <a:bodyPr wrap="square" lIns="0" tIns="0" rIns="0" bIns="0" rtlCol="0" anchor="ctr"/>
          <a:lstStyle/>
          <a:p>
            <a:pPr algn="l" indent="0" marL="0">
              <a:buNone/>
            </a:pPr>
            <a:r>
              <a:rPr lang="en-US" altLang="en-US" sz="1200" b="1" dirty="0">
                <a:solidFill>
                  <a:schemeClr val="accent1"/>
                </a:solidFill>
              </a:rPr>
              <a:t>Week 2</a:t>
            </a:r>
            <a:endParaRPr lang="en-US" sz="1200" dirty="0"/>
          </a:p>
        </p:txBody>
      </p:sp>
      <p:sp>
        <p:nvSpPr>
          <p:cNvPr id="11" name="Shape 9"/>
          <p:cNvSpPr/>
          <p:nvPr/>
        </p:nvSpPr>
        <p:spPr>
          <a:xfrm>
            <a:off x="3261360" y="1691640"/>
            <a:ext cx="2621280" cy="2743200"/>
          </a:xfrm>
          <a:prstGeom prst="rect">
            <a:avLst/>
          </a:prstGeom>
          <a:solidFill>
            <a:srgbClr val="F4F1EB"/>
          </a:solidFill>
          <a:ln w="12700">
            <a:solidFill>
              <a:srgbClr val="F4F1EB"/>
            </a:solidFill>
            <a:prstDash val="solid"/>
          </a:ln>
        </p:spPr>
      </p:sp>
      <p:sp>
        <p:nvSpPr>
          <p:cNvPr id="12" name="Text 10"/>
          <p:cNvSpPr txBox="1"/>
          <p:nvPr/>
        </p:nvSpPr>
        <p:spPr>
          <a:xfrm>
            <a:off x="3398520" y="1828800"/>
            <a:ext cx="2346960" cy="457200"/>
          </a:xfrm>
          <a:prstGeom prst="rect">
            <a:avLst/>
          </a:prstGeom>
          <a:noFill/>
          <a:ln/>
        </p:spPr>
        <p:txBody>
          <a:bodyPr wrap="square" lIns="0" tIns="0" rIns="0" bIns="0" rtlCol="0" anchor="t"/>
          <a:lstStyle/>
          <a:p>
            <a:pPr algn="l" indent="0" marL="0">
              <a:buNone/>
            </a:pPr>
            <a:r>
              <a:rPr lang="en-US" altLang="en-US" sz="1300" b="1" dirty="0">
                <a:solidFill>
                  <a:schemeClr val="tx1"/>
                </a:solidFill>
              </a:rPr>
              <a:t>Training</a:t>
            </a:r>
            <a:endParaRPr lang="en-US" sz="1300" dirty="0"/>
          </a:p>
        </p:txBody>
      </p:sp>
      <p:sp>
        <p:nvSpPr>
          <p:cNvPr id="13" name="Text 11"/>
          <p:cNvSpPr txBox="1"/>
          <p:nvPr/>
        </p:nvSpPr>
        <p:spPr>
          <a:xfrm>
            <a:off x="3398520" y="2286000"/>
            <a:ext cx="2346960" cy="2057400"/>
          </a:xfrm>
          <a:prstGeom prst="rect">
            <a:avLst/>
          </a:prstGeom>
          <a:noFill/>
          <a:ln/>
        </p:spPr>
        <p:txBody>
          <a:bodyPr wrap="square" lIns="0" tIns="0" rIns="0" bIns="0" rtlCol="0" anchor="t"/>
          <a:lstStyle/>
          <a:p>
            <a:pPr algn="l" marL="152400" indent="-152400">
              <a:spcAft>
                <a:spcPts val="400"/>
              </a:spcAft>
              <a:buSzPct val="100000"/>
              <a:buChar char="•"/>
            </a:pPr>
            <a:r>
              <a:rPr lang="en-US" altLang="en-US" sz="1050" dirty="0">
                <a:solidFill>
                  <a:schemeClr val="accent3"/>
                </a:solidFill>
              </a:rPr>
              <a:t>Sales team seminar</a:t>
            </a:r>
            <a:endParaRPr lang="en-US" sz="1050" dirty="0"/>
          </a:p>
          <a:p>
            <a:pPr algn="l" marL="152400" indent="-152400">
              <a:spcAft>
                <a:spcPts val="400"/>
              </a:spcAft>
              <a:buSzPct val="100000"/>
              <a:buChar char="•"/>
            </a:pPr>
            <a:r>
              <a:rPr lang="en-US" altLang="en-US" sz="1050" dirty="0">
                <a:solidFill>
                  <a:schemeClr val="accent3"/>
                </a:solidFill>
              </a:rPr>
              <a:t>Hand over materials: PDF, deck, FAQ, script</a:t>
            </a:r>
            <a:endParaRPr lang="en-US" sz="1050" dirty="0"/>
          </a:p>
          <a:p>
            <a:pPr algn="l" marL="152400" indent="-152400">
              <a:spcAft>
                <a:spcPts val="400"/>
              </a:spcAft>
              <a:buSzPct val="100000"/>
              <a:buChar char="•"/>
            </a:pPr>
            <a:r>
              <a:rPr lang="en-US" altLang="en-US" sz="1050" dirty="0">
                <a:solidFill>
                  <a:schemeClr val="accent3"/>
                </a:solidFill>
              </a:rPr>
              <a:t>Test the first introduction message</a:t>
            </a:r>
            <a:endParaRPr lang="en-US" sz="1050" dirty="0"/>
          </a:p>
        </p:txBody>
      </p:sp>
      <p:sp>
        <p:nvSpPr>
          <p:cNvPr id="14" name="Shape 12"/>
          <p:cNvSpPr/>
          <p:nvPr/>
        </p:nvSpPr>
        <p:spPr>
          <a:xfrm>
            <a:off x="6065520" y="1188720"/>
            <a:ext cx="2621280" cy="502920"/>
          </a:xfrm>
          <a:prstGeom prst="rect">
            <a:avLst/>
          </a:prstGeom>
          <a:solidFill>
            <a:srgbClr val="0E2238"/>
          </a:solidFill>
          <a:ln w="12700">
            <a:solidFill>
              <a:srgbClr val="0E2238"/>
            </a:solidFill>
            <a:prstDash val="solid"/>
          </a:ln>
        </p:spPr>
      </p:sp>
      <p:sp>
        <p:nvSpPr>
          <p:cNvPr id="15" name="Text 13"/>
          <p:cNvSpPr txBox="1"/>
          <p:nvPr/>
        </p:nvSpPr>
        <p:spPr>
          <a:xfrm>
            <a:off x="6202680" y="1188720"/>
            <a:ext cx="2346960" cy="502920"/>
          </a:xfrm>
          <a:prstGeom prst="rect">
            <a:avLst/>
          </a:prstGeom>
          <a:noFill/>
          <a:ln/>
        </p:spPr>
        <p:txBody>
          <a:bodyPr wrap="square" lIns="0" tIns="0" rIns="0" bIns="0" rtlCol="0" anchor="ctr"/>
          <a:lstStyle/>
          <a:p>
            <a:pPr algn="l" indent="0" marL="0">
              <a:buNone/>
            </a:pPr>
            <a:r>
              <a:rPr lang="en-US" altLang="en-US" sz="1200" b="1" dirty="0">
                <a:solidFill>
                  <a:schemeClr val="accent1"/>
                </a:solidFill>
              </a:rPr>
              <a:t>Week 3</a:t>
            </a:r>
            <a:endParaRPr lang="en-US" sz="1200" dirty="0"/>
          </a:p>
        </p:txBody>
      </p:sp>
      <p:sp>
        <p:nvSpPr>
          <p:cNvPr id="16" name="Shape 14"/>
          <p:cNvSpPr/>
          <p:nvPr/>
        </p:nvSpPr>
        <p:spPr>
          <a:xfrm>
            <a:off x="6065520" y="1691640"/>
            <a:ext cx="2621280" cy="2743200"/>
          </a:xfrm>
          <a:prstGeom prst="rect">
            <a:avLst/>
          </a:prstGeom>
          <a:solidFill>
            <a:srgbClr val="F4F1EB"/>
          </a:solidFill>
          <a:ln w="12700">
            <a:solidFill>
              <a:srgbClr val="F4F1EB"/>
            </a:solidFill>
            <a:prstDash val="solid"/>
          </a:ln>
        </p:spPr>
      </p:sp>
      <p:sp>
        <p:nvSpPr>
          <p:cNvPr id="17" name="Text 15"/>
          <p:cNvSpPr txBox="1"/>
          <p:nvPr/>
        </p:nvSpPr>
        <p:spPr>
          <a:xfrm>
            <a:off x="6202680" y="1828800"/>
            <a:ext cx="2346960" cy="457200"/>
          </a:xfrm>
          <a:prstGeom prst="rect">
            <a:avLst/>
          </a:prstGeom>
          <a:noFill/>
          <a:ln/>
        </p:spPr>
        <p:txBody>
          <a:bodyPr wrap="square" lIns="0" tIns="0" rIns="0" bIns="0" rtlCol="0" anchor="t"/>
          <a:lstStyle/>
          <a:p>
            <a:pPr algn="l" indent="0" marL="0">
              <a:buNone/>
            </a:pPr>
            <a:r>
              <a:rPr lang="en-US" altLang="en-US" sz="1300" b="1" dirty="0">
                <a:solidFill>
                  <a:schemeClr val="tx1"/>
                </a:solidFill>
              </a:rPr>
              <a:t>Go live</a:t>
            </a:r>
            <a:endParaRPr lang="en-US" sz="1300" dirty="0"/>
          </a:p>
        </p:txBody>
      </p:sp>
      <p:sp>
        <p:nvSpPr>
          <p:cNvPr id="18" name="Text 16"/>
          <p:cNvSpPr txBox="1"/>
          <p:nvPr/>
        </p:nvSpPr>
        <p:spPr>
          <a:xfrm>
            <a:off x="6202680" y="2286000"/>
            <a:ext cx="2346960" cy="2057400"/>
          </a:xfrm>
          <a:prstGeom prst="rect">
            <a:avLst/>
          </a:prstGeom>
          <a:noFill/>
          <a:ln/>
        </p:spPr>
        <p:txBody>
          <a:bodyPr wrap="square" lIns="0" tIns="0" rIns="0" bIns="0" rtlCol="0" anchor="t"/>
          <a:lstStyle/>
          <a:p>
            <a:pPr algn="l" marL="152400" indent="-152400">
              <a:spcAft>
                <a:spcPts val="400"/>
              </a:spcAft>
              <a:buSzPct val="100000"/>
              <a:buChar char="•"/>
            </a:pPr>
            <a:r>
              <a:rPr lang="en-US" altLang="en-US" sz="1050" dirty="0">
                <a:solidFill>
                  <a:schemeClr val="accent3"/>
                </a:solidFill>
              </a:rPr>
              <a:t>First referrals</a:t>
            </a:r>
            <a:endParaRPr lang="en-US" sz="1050" dirty="0"/>
          </a:p>
          <a:p>
            <a:pPr algn="l" marL="152400" indent="-152400">
              <a:spcAft>
                <a:spcPts val="400"/>
              </a:spcAft>
              <a:buSzPct val="100000"/>
              <a:buChar char="•"/>
            </a:pPr>
            <a:r>
              <a:rPr lang="en-US" altLang="en-US" sz="1050" dirty="0">
                <a:solidFill>
                  <a:schemeClr val="accent3"/>
                </a:solidFill>
              </a:rPr>
              <a:t>First free consultations</a:t>
            </a:r>
            <a:endParaRPr lang="en-US" sz="1050" dirty="0"/>
          </a:p>
          <a:p>
            <a:pPr algn="l" marL="152400" indent="-152400">
              <a:spcAft>
                <a:spcPts val="400"/>
              </a:spcAft>
              <a:buSzPct val="100000"/>
              <a:buChar char="•"/>
            </a:pPr>
            <a:r>
              <a:rPr lang="en-US" altLang="en-US" sz="1050" dirty="0">
                <a:solidFill>
                  <a:schemeClr val="accent3"/>
                </a:solidFill>
              </a:rPr>
              <a:t>Weekly review during the first month</a:t>
            </a:r>
            <a:endParaRPr lang="en-US" sz="1050" dirty="0"/>
          </a:p>
        </p:txBody>
      </p:sp>
      <p:sp>
        <p:nvSpPr>
          <p:cNvPr id="19" name="Text 0"/>
          <p:cNvSpPr/>
          <p:nvPr>
            <p:ph idx="101" type="title" hasCustomPrompt="1"/>
          </p:nvPr>
        </p:nvSpPr>
        <p:spPr>
          <a:xfrm>
            <a:off x="457200" y="420624"/>
            <a:ext cx="8229600" cy="731520"/>
          </a:xfrm>
          <a:prstGeom prst="rect">
            <a:avLst/>
          </a:prstGeom>
          <a:noFill/>
          <a:ln/>
        </p:spPr>
        <p:txBody>
          <a:bodyPr wrap="square" lIns="0" tIns="0" rIns="0" bIns="0" rtlCol="0" anchor="t"/>
          <a:lstStyle/>
          <a:p>
            <a:pPr algn="l" indent="0" marL="0">
              <a:buNone/>
            </a:pPr>
            <a:endParaRPr lang="en-US" sz="26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E7B8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457200"/>
            <a:ext cx="8229600" cy="4023360"/>
          </a:xfrm>
          <a:prstGeom prst="rect">
            <a:avLst/>
          </a:prstGeom>
          <a:ln w="9525">
            <a:solidFill>
              <a:srgbClr val="B5723B"/>
            </a:solidFill>
            <a:prstDash val="solid"/>
          </a:ln>
        </p:spPr>
      </p:sp>
      <p:sp>
        <p:nvSpPr>
          <p:cNvPr id="3" name="Text 1"/>
          <p:cNvSpPr txBox="1"/>
          <p:nvPr/>
        </p:nvSpPr>
        <p:spPr>
          <a:xfrm>
            <a:off x="822960" y="640080"/>
            <a:ext cx="914400" cy="1005840"/>
          </a:xfrm>
          <a:prstGeom prst="rect">
            <a:avLst/>
          </a:prstGeom>
          <a:noFill/>
          <a:ln/>
        </p:spPr>
        <p:txBody>
          <a:bodyPr wrap="square" lIns="0" tIns="0" rIns="0" bIns="0" rtlCol="0" anchor="t"/>
          <a:lstStyle/>
          <a:p>
            <a:pPr algn="l" indent="0" marL="0">
              <a:buNone/>
            </a:pPr>
            <a:r>
              <a:rPr lang="en-US" sz="7200" dirty="0">
                <a:solidFill>
                  <a:schemeClr val="accent1"/>
                </a:solidFill>
                <a:latin typeface="Cambria" pitchFamily="34" charset="0"/>
                <a:ea typeface="Cambria" pitchFamily="34" charset="-122"/>
                <a:cs typeface="Cambria" pitchFamily="34" charset="-120"/>
              </a:rPr>
              <a:t>“</a:t>
            </a:r>
            <a:endParaRPr lang="en-US" sz="7200" dirty="0"/>
          </a:p>
        </p:txBody>
      </p:sp>
      <p:sp>
        <p:nvSpPr>
          <p:cNvPr id="4" name="Text 2"/>
          <p:cNvSpPr txBox="1"/>
          <p:nvPr/>
        </p:nvSpPr>
        <p:spPr>
          <a:xfrm>
            <a:off x="914400" y="1463040"/>
            <a:ext cx="7315200" cy="2011680"/>
          </a:xfrm>
          <a:prstGeom prst="rect">
            <a:avLst/>
          </a:prstGeom>
          <a:noFill/>
          <a:ln/>
        </p:spPr>
        <p:txBody>
          <a:bodyPr wrap="square" lIns="0" tIns="0" rIns="0" bIns="0" rtlCol="0" anchor="ctr"/>
          <a:lstStyle/>
          <a:p>
            <a:pPr algn="l" indent="0" marL="0">
              <a:buNone/>
            </a:pPr>
            <a:r>
              <a:rPr lang="en-US" altLang="en-US" sz="2200" i="1" dirty="0">
                <a:solidFill>
                  <a:schemeClr val="bg1"/>
                </a:solidFill>
                <a:latin typeface="Cambria" pitchFamily="34" charset="0"/>
                <a:ea typeface="Cambria" pitchFamily="34" charset="-122"/>
                <a:cs typeface="Cambria" pitchFamily="34" charset="-120"/>
              </a:rPr>
              <a:t>The best marketing word is not “will” but “asset protection”. A will is linked to death; asset protection is linked to investment and security.</a:t>
            </a:r>
            <a:endParaRPr lang="en-US" sz="2200" dirty="0"/>
          </a:p>
        </p:txBody>
      </p:sp>
      <p:sp>
        <p:nvSpPr>
          <p:cNvPr id="5" name="Text 3"/>
          <p:cNvSpPr txBox="1"/>
          <p:nvPr/>
        </p:nvSpPr>
        <p:spPr>
          <a:xfrm>
            <a:off x="914400" y="3566160"/>
            <a:ext cx="7315200" cy="457200"/>
          </a:xfrm>
          <a:prstGeom prst="rect">
            <a:avLst/>
          </a:prstGeom>
          <a:noFill/>
          <a:ln/>
        </p:spPr>
        <p:txBody>
          <a:bodyPr wrap="square" lIns="0" tIns="0" rIns="0" bIns="0" rtlCol="0" anchor="ctr"/>
          <a:lstStyle/>
          <a:p>
            <a:pPr algn="l" indent="0" marL="0">
              <a:buNone/>
            </a:pPr>
            <a:r>
              <a:rPr lang="en-US" altLang="en-US" sz="1200" dirty="0">
                <a:solidFill>
                  <a:schemeClr val="accent2"/>
                </a:solidFill>
              </a:rPr>
              <a:t>A key marketing point</a:t>
            </a:r>
            <a:endParaRPr lang="en-US" sz="12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457200"/>
            <a:ext cx="8229600" cy="4229100"/>
          </a:xfrm>
          <a:prstGeom prst="rect">
            <a:avLst/>
          </a:prstGeom>
          <a:ln w="9525">
            <a:solidFill>
              <a:srgbClr val="B5723B"/>
            </a:solidFill>
            <a:prstDash val="solid"/>
          </a:ln>
        </p:spPr>
      </p:sp>
      <p:sp>
        <p:nvSpPr>
          <p:cNvPr id="3" name="Text 1"/>
          <p:cNvSpPr txBox="1"/>
          <p:nvPr/>
        </p:nvSpPr>
        <p:spPr>
          <a:xfrm>
            <a:off x="868680" y="777240"/>
            <a:ext cx="7406640" cy="822960"/>
          </a:xfrm>
          <a:prstGeom prst="rect">
            <a:avLst/>
          </a:prstGeom>
          <a:noFill/>
          <a:ln/>
        </p:spPr>
        <p:txBody>
          <a:bodyPr wrap="square" lIns="0" tIns="0" rIns="0" bIns="0" rtlCol="0" anchor="ctr"/>
          <a:lstStyle/>
          <a:p>
            <a:pPr algn="l" indent="0" marL="0">
              <a:buNone/>
            </a:pPr>
            <a:r>
              <a:rPr lang="en-US" altLang="en-US" sz="2800" b="1" dirty="0">
                <a:solidFill>
                  <a:schemeClr val="bg1"/>
                </a:solidFill>
                <a:latin typeface="Cambria" pitchFamily="34" charset="0"/>
                <a:ea typeface="Cambria" pitchFamily="34" charset="-122"/>
                <a:cs typeface="Cambria" pitchFamily="34" charset="-120"/>
              </a:rPr>
              <a:t>Partner contact</a:t>
            </a:r>
            <a:endParaRPr lang="en-US" sz="2800" dirty="0"/>
          </a:p>
        </p:txBody>
      </p:sp>
      <p:sp>
        <p:nvSpPr>
          <p:cNvPr id="4" name="Text 2"/>
          <p:cNvSpPr txBox="1"/>
          <p:nvPr/>
        </p:nvSpPr>
        <p:spPr>
          <a:xfrm>
            <a:off x="868680" y="1554480"/>
            <a:ext cx="7406640" cy="457200"/>
          </a:xfrm>
          <a:prstGeom prst="rect">
            <a:avLst/>
          </a:prstGeom>
          <a:noFill/>
          <a:ln/>
        </p:spPr>
        <p:txBody>
          <a:bodyPr wrap="square" lIns="0" tIns="0" rIns="0" bIns="0" rtlCol="0" anchor="ctr"/>
          <a:lstStyle/>
          <a:p>
            <a:pPr algn="l" indent="0" marL="0">
              <a:buNone/>
            </a:pPr>
            <a:r>
              <a:rPr lang="en-US" altLang="en-US" sz="1300" dirty="0">
                <a:solidFill>
                  <a:schemeClr val="accent2"/>
                </a:solidFill>
              </a:rPr>
              <a:t>Dr. Ward Shueibi — Business Development &amp; International Relations Manager</a:t>
            </a:r>
            <a:endParaRPr lang="en-US" sz="1300" dirty="0"/>
          </a:p>
        </p:txBody>
      </p:sp>
      <p:pic>
        <p:nvPicPr>
          <p:cNvPr id="5" name="icon FaLocationDot" descr="preencoded.png">    </p:cNvPr>
          <p:cNvPicPr>
            <a:picLocks noChangeAspect="1"/>
          </p:cNvPicPr>
          <p:nvPr/>
        </p:nvPicPr>
        <p:blipFill>
          <a:blip r:embed="rId1"/>
          <a:stretch>
            <a:fillRect/>
          </a:stretch>
        </p:blipFill>
        <p:spPr>
          <a:xfrm>
            <a:off x="868680" y="2286000"/>
            <a:ext cx="274320" cy="274320"/>
          </a:xfrm>
          <a:prstGeom prst="rect">
            <a:avLst/>
          </a:prstGeom>
        </p:spPr>
      </p:pic>
      <p:sp>
        <p:nvSpPr>
          <p:cNvPr id="6" name="Text 3"/>
          <p:cNvSpPr txBox="1"/>
          <p:nvPr/>
        </p:nvSpPr>
        <p:spPr>
          <a:xfrm>
            <a:off x="1325880" y="2240280"/>
            <a:ext cx="6949440" cy="365760"/>
          </a:xfrm>
          <a:prstGeom prst="rect">
            <a:avLst/>
          </a:prstGeom>
          <a:noFill/>
          <a:ln/>
        </p:spPr>
        <p:txBody>
          <a:bodyPr wrap="square" lIns="0" tIns="0" rIns="0" bIns="0" rtlCol="0" anchor="ctr"/>
          <a:lstStyle/>
          <a:p>
            <a:pPr algn="l" indent="0" marL="0">
              <a:buNone/>
            </a:pPr>
            <a:r>
              <a:rPr lang="en-US" altLang="en-US" sz="1200" dirty="0">
                <a:solidFill>
                  <a:schemeClr val="bg2"/>
                </a:solidFill>
              </a:rPr>
              <a:t>Sheikh Zayed Road, Saeed Tower 2, Office 501, Dubai, UAE</a:t>
            </a:r>
            <a:endParaRPr lang="en-US" sz="1200" dirty="0"/>
          </a:p>
        </p:txBody>
      </p:sp>
      <p:pic>
        <p:nvPicPr>
          <p:cNvPr id="7" name="icon FaPhone" descr="preencoded.png">    </p:cNvPr>
          <p:cNvPicPr>
            <a:picLocks noChangeAspect="1"/>
          </p:cNvPicPr>
          <p:nvPr/>
        </p:nvPicPr>
        <p:blipFill>
          <a:blip r:embed="rId2"/>
          <a:stretch>
            <a:fillRect/>
          </a:stretch>
        </p:blipFill>
        <p:spPr>
          <a:xfrm>
            <a:off x="868680" y="2788920"/>
            <a:ext cx="274320" cy="274320"/>
          </a:xfrm>
          <a:prstGeom prst="rect">
            <a:avLst/>
          </a:prstGeom>
        </p:spPr>
      </p:pic>
      <p:sp>
        <p:nvSpPr>
          <p:cNvPr id="8" name="Text 4"/>
          <p:cNvSpPr txBox="1"/>
          <p:nvPr/>
        </p:nvSpPr>
        <p:spPr>
          <a:xfrm>
            <a:off x="1325880" y="2743200"/>
            <a:ext cx="6949440" cy="365760"/>
          </a:xfrm>
          <a:prstGeom prst="rect">
            <a:avLst/>
          </a:prstGeom>
          <a:noFill/>
          <a:ln/>
        </p:spPr>
        <p:txBody>
          <a:bodyPr wrap="square" lIns="0" tIns="0" rIns="0" bIns="0" rtlCol="0" anchor="ctr"/>
          <a:lstStyle/>
          <a:p>
            <a:pPr algn="l" indent="0" marL="0">
              <a:buNone/>
            </a:pPr>
            <a:r>
              <a:rPr lang="en-US" altLang="en-US" sz="1200" dirty="0">
                <a:solidFill>
                  <a:schemeClr val="bg2"/>
                </a:solidFill>
              </a:rPr>
              <a:t>+971 4 359 5552  |  Mobile &amp; WhatsApp: +971 52 107 4972</a:t>
            </a:r>
            <a:endParaRPr lang="en-US" sz="1200" dirty="0"/>
          </a:p>
        </p:txBody>
      </p:sp>
      <p:pic>
        <p:nvPicPr>
          <p:cNvPr id="9" name="icon FaEnvelope" descr="preencoded.png">    </p:cNvPr>
          <p:cNvPicPr>
            <a:picLocks noChangeAspect="1"/>
          </p:cNvPicPr>
          <p:nvPr/>
        </p:nvPicPr>
        <p:blipFill>
          <a:blip r:embed="rId3"/>
          <a:stretch>
            <a:fillRect/>
          </a:stretch>
        </p:blipFill>
        <p:spPr>
          <a:xfrm>
            <a:off x="868680" y="3291840"/>
            <a:ext cx="274320" cy="274320"/>
          </a:xfrm>
          <a:prstGeom prst="rect">
            <a:avLst/>
          </a:prstGeom>
        </p:spPr>
      </p:pic>
      <p:sp>
        <p:nvSpPr>
          <p:cNvPr id="10" name="Text 5"/>
          <p:cNvSpPr txBox="1"/>
          <p:nvPr/>
        </p:nvSpPr>
        <p:spPr>
          <a:xfrm>
            <a:off x="1325880" y="3246120"/>
            <a:ext cx="6949440" cy="365760"/>
          </a:xfrm>
          <a:prstGeom prst="rect">
            <a:avLst/>
          </a:prstGeom>
          <a:noFill/>
          <a:ln/>
        </p:spPr>
        <p:txBody>
          <a:bodyPr wrap="square" lIns="0" tIns="0" rIns="0" bIns="0" rtlCol="0" anchor="ctr"/>
          <a:lstStyle/>
          <a:p>
            <a:pPr algn="l" indent="0" marL="0">
              <a:buNone/>
            </a:pPr>
            <a:r>
              <a:rPr lang="en-US" altLang="en-US" sz="1200" dirty="0">
                <a:solidFill>
                  <a:schemeClr val="bg2"/>
                </a:solidFill>
              </a:rPr>
              <a:t>ward.shueibi@rk-advocates.com  |  rk-advocates.com</a:t>
            </a:r>
            <a:endParaRPr lang="en-US" sz="1200" dirty="0"/>
          </a:p>
        </p:txBody>
      </p:sp>
      <p:pic>
        <p:nvPicPr>
          <p:cNvPr id="11" name="icon FaClock" descr="preencoded.png">    </p:cNvPr>
          <p:cNvPicPr>
            <a:picLocks noChangeAspect="1"/>
          </p:cNvPicPr>
          <p:nvPr/>
        </p:nvPicPr>
        <p:blipFill>
          <a:blip r:embed="rId4"/>
          <a:stretch>
            <a:fillRect/>
          </a:stretch>
        </p:blipFill>
        <p:spPr>
          <a:xfrm>
            <a:off x="868680" y="3794760"/>
            <a:ext cx="274320" cy="274320"/>
          </a:xfrm>
          <a:prstGeom prst="rect">
            <a:avLst/>
          </a:prstGeom>
        </p:spPr>
      </p:pic>
      <p:sp>
        <p:nvSpPr>
          <p:cNvPr id="12" name="Text 6"/>
          <p:cNvSpPr txBox="1"/>
          <p:nvPr/>
        </p:nvSpPr>
        <p:spPr>
          <a:xfrm>
            <a:off x="1325880" y="3749040"/>
            <a:ext cx="6949440" cy="365760"/>
          </a:xfrm>
          <a:prstGeom prst="rect">
            <a:avLst/>
          </a:prstGeom>
          <a:noFill/>
          <a:ln/>
        </p:spPr>
        <p:txBody>
          <a:bodyPr wrap="square" lIns="0" tIns="0" rIns="0" bIns="0" rtlCol="0" anchor="ctr"/>
          <a:lstStyle/>
          <a:p>
            <a:pPr algn="l" indent="0" marL="0">
              <a:buNone/>
            </a:pPr>
            <a:r>
              <a:rPr lang="en-US" altLang="en-US" sz="1200" dirty="0">
                <a:solidFill>
                  <a:schemeClr val="bg2"/>
                </a:solidFill>
              </a:rPr>
              <a:t>Monday – Friday, 8:30 – 17:30  |  Arabic · English · Chinese · Russian</a:t>
            </a:r>
            <a:endParaRPr lang="en-US" sz="1200" dirty="0"/>
          </a:p>
        </p:txBody>
      </p:sp>
      <p:sp>
        <p:nvSpPr>
          <p:cNvPr id="25" name="Slide Number Placeholder 0"/>
          <p:cNvSpPr>
            <a:spLocks noGrp="1"/>
          </p:cNvSpPr>
          <p:nvPr>
            <p:ph type="sldNum" sz="quarter" idx="4294967295"/>
          </p:nvPr>
        </p:nvSpPr>
        <p:spPr>
          <a:xfrm>
            <a:off x="822960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9B38C"/>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idnight Copper">
  <a:themeElements>
    <a:clrScheme name="Midnight Copper">
      <a:dk1>
        <a:srgbClr val="0E2238"/>
      </a:dk1>
      <a:lt1>
        <a:srgbClr val="FFFFFF"/>
      </a:lt1>
      <a:dk2>
        <a:srgbClr val="1F3A52"/>
      </a:dk2>
      <a:lt2>
        <a:srgbClr val="F4F1EB"/>
      </a:lt2>
      <a:accent1>
        <a:srgbClr val="B5723B"/>
      </a:accent1>
      <a:accent2>
        <a:srgbClr val="D9B38C"/>
      </a:accent2>
      <a:accent3>
        <a:srgbClr val="6E7B88"/>
      </a:accent3>
      <a:accent4>
        <a:srgbClr val="8C5527"/>
      </a:accent4>
      <a:accent5>
        <a:srgbClr val="E6E1D8"/>
      </a:accent5>
      <a:accent6>
        <a:srgbClr val="5B7A8C"/>
      </a:accent6>
      <a:hlink>
        <a:srgbClr val="B5723B"/>
      </a:hlink>
      <a:folHlink>
        <a:srgbClr val="8C5527"/>
      </a:folHlink>
    </a:clrScheme>
    <a:fontScheme name="Midnight Cop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Rashid Alkaitoob Advocates &amp; Legal Consultants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Legal Protection Program — Partner Guide</dc:title>
  <dc:subject>PptxGenJS Presentation</dc:subject>
  <dc:creator>Rashid Alkaitoob Advocates &amp; Legal Consultants</dc:creator>
  <cp:lastModifiedBy>Rashid Alkaitoob Advocates &amp; Legal Consultants</cp:lastModifiedBy>
  <cp:revision>1</cp:revision>
  <dcterms:created xsi:type="dcterms:W3CDTF">2026-10-27T13:23:57Z</dcterms:created>
  <dcterms:modified xsi:type="dcterms:W3CDTF">2026-10-27T13:23:57Z</dcterms:modified>
</cp:coreProperties>
</file>