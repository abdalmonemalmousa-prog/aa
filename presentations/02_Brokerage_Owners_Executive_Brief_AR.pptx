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عرض" id="{c5cf428a-bdb7-6311-a24b-69b30c848a0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solidFill>
            <a:srgbClr val="0B0B0B"/>
          </a:solidFill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8C39A"/>
                </a:solidFill>
              </a:rPr>
              <a:t>راشد الكيتوب للمحاماة والاستشارات القانونية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94192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راشد الكيتوب للمحاماة والاستشارات القانونية</a:t>
            </a:r>
            <a:endParaRPr lang="en-US" sz="9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600" b="1" dirty="0">
                <a:solidFill>
                  <a:srgbClr val="0B0B0B"/>
                </a:solidFill>
              </a:defRPr>
            </a:lvl1pPr>
          </a:lstStyle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52360" y="868680"/>
            <a:ext cx="822960" cy="822960"/>
          </a:xfrm>
          <a:prstGeom prst="rect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52360" y="868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8686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accent2"/>
                </a:solidFill>
              </a:rPr>
              <a:t>راشد الكيتوب للمحاماة والاستشارات القانونية</a:t>
            </a:r>
            <a:endParaRPr lang="ar-AE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شراكة الحماية القانونية للمستثمرين</a:t>
            </a:r>
            <a:endParaRPr lang="ar-AE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chemeClr val="accent2"/>
                </a:solidFill>
              </a:rPr>
              <a:t>عرض موجز لأصحاب شركات الوساطة العقارية</a:t>
            </a:r>
            <a:endParaRPr lang="ar-AE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راشد الكيتوب للمحاماة والاستشارات القانونية · دبي</a:t>
            </a:r>
            <a:endParaRPr lang="ar-AE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لماذا نجتمع اليوم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الافتتاح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5394960" y="1188720"/>
            <a:ext cx="329184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pic>
        <p:nvPicPr>
          <p:cNvPr id="5" name="icon FaShieldHalve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1500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لسنا هنا لبيع خدمة قانونية تقليدية</a:t>
            </a:r>
            <a:endParaRPr lang="ar-AE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301752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نبني معكم خدمة حماية متكاملة للمستثمر العقاري، تصبح جزءاً من قيمة ما تقدمونه لعملائكم.</a:t>
            </a:r>
            <a:endParaRPr lang="ar-AE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77800" indent="-177800"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المشكلة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أغلب المستثمرين الأجانب يشترون عقارات بملايين الدراهم بدون أي وصية أو هيكلة قانونية.</a:t>
            </a:r>
            <a:endParaRPr lang="ar-AE" sz="1300" dirty="0"/>
          </a:p>
          <a:p>
            <a:pPr algn="r" marL="177800" indent="-177800">
              <a:spcBef>
                <a:spcPts val="600"/>
              </a:spcBef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ما قد يحدث عند أي طارئ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تجميد الحسابات، تعطيل نقل الملكية، نزاعات عائلية، ومشاكل تتعلق بالأطفال والورثة.</a:t>
            </a:r>
            <a:endParaRPr lang="ar-AE" sz="1300" dirty="0"/>
          </a:p>
          <a:p>
            <a:pPr algn="r" marL="177800" indent="-177800">
              <a:spcBef>
                <a:spcPts val="600"/>
              </a:spcBef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الحل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شريك قانوني متخصص يتولى الجانب القانوني كاملاً، بينما تحتفظون أنتم بالعلاقة مع العميل.</a:t>
            </a:r>
            <a:endParaRPr lang="ar-AE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المكتب في أرقام</a:t>
            </a:r>
            <a:endParaRPr lang="ar-AE" sz="2600" dirty="0"/>
          </a:p>
        </p:txBody>
      </p:sp>
      <p:sp>
        <p:nvSpPr>
          <p:cNvPr id="3" name="Shape 1"/>
          <p:cNvSpPr/>
          <p:nvPr/>
        </p:nvSpPr>
        <p:spPr>
          <a:xfrm>
            <a:off x="680085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9837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9837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سنة التأسيس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مكتب محاماة مرخّص في دبي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691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8691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مجال قانوني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تقاضٍ واستشارات وصياغة عقود</a:t>
            </a:r>
            <a:endParaRPr lang="ar-AE" sz="1300" dirty="0"/>
          </a:p>
        </p:txBody>
      </p:sp>
      <p:sp>
        <p:nvSpPr>
          <p:cNvPr id="9" name="Shape 7"/>
          <p:cNvSpPr/>
          <p:nvPr/>
        </p:nvSpPr>
        <p:spPr>
          <a:xfrm>
            <a:off x="257175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546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27546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لغات عمل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العربية · الإنجليزية · الصينية · الروسية</a:t>
            </a:r>
            <a:endParaRPr lang="ar-AE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الخليج وآسيا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حضور إقليمي ودولي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مكتب صيني متخصص للمستثمرين</a:t>
            </a:r>
            <a:endParaRPr lang="ar-AE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ما الذي يحصل عليه عميلكم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الخدمة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80085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020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وصية صحيحة ومسجلة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متوافقة مع محاكم دبي أو أبوظبي أو DIFC أو ADGM بحسب حالته.</a:t>
            </a:r>
            <a:endParaRPr lang="ar-AE" sz="1400" dirty="0"/>
          </a:p>
        </p:txBody>
      </p:sp>
      <p:sp>
        <p:nvSpPr>
          <p:cNvPr id="7" name="Shape 4"/>
          <p:cNvSpPr/>
          <p:nvPr/>
        </p:nvSpPr>
        <p:spPr>
          <a:xfrm>
            <a:off x="468630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Hou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18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874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حماية العقارات والحسابات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ترتيب مسبق يمنع التجميد ويحدد مسار انتقال الملكية.</a:t>
            </a:r>
            <a:endParaRPr lang="ar-AE" sz="1400" dirty="0"/>
          </a:p>
        </p:txBody>
      </p:sp>
      <p:sp>
        <p:nvSpPr>
          <p:cNvPr id="10" name="Shape 6"/>
          <p:cNvSpPr/>
          <p:nvPr/>
        </p:nvSpPr>
        <p:spPr>
          <a:xfrm>
            <a:off x="257175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63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7729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حماية العائلة والأطفال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تعيين الأوصياء وتحديد الورثة داخل الدولة وخارجها.</a:t>
            </a:r>
            <a:endParaRPr lang="ar-AE" sz="1400" dirty="0"/>
          </a:p>
        </p:txBody>
      </p:sp>
      <p:sp>
        <p:nvSpPr>
          <p:cNvPr id="13" name="Shape 8"/>
          <p:cNvSpPr/>
          <p:nvPr/>
        </p:nvSpPr>
        <p:spPr>
          <a:xfrm>
            <a:off x="45720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Sitemap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1086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هيكلة للشركات والأصول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Holding أو SPV أو مؤسسة بحسب حجم الاستثمار.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ما الذي تكسبه شركتكم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القيمة للشريك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80085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0201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ar-AE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00201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ثقة العميل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يشعر العميل أن وسيطه يهتم بحمايته وليس بالبيع فقط.</a:t>
            </a:r>
            <a:endParaRPr lang="ar-AE" sz="1400" dirty="0"/>
          </a:p>
        </p:txBody>
      </p:sp>
      <p:sp>
        <p:nvSpPr>
          <p:cNvPr id="7" name="Shape 5"/>
          <p:cNvSpPr/>
          <p:nvPr/>
        </p:nvSpPr>
        <p:spPr>
          <a:xfrm>
            <a:off x="468630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8746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ar-AE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88746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زيادة نسبة الإغلاق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المستثمر الأجنبي يرتاح أكثر عندما يعرف أن هناك حماية قانونية وحلولاً للإرث.</a:t>
            </a:r>
            <a:endParaRPr lang="ar-AE" sz="1400" dirty="0"/>
          </a:p>
        </p:txBody>
      </p:sp>
      <p:sp>
        <p:nvSpPr>
          <p:cNvPr id="10" name="Shape 8"/>
          <p:cNvSpPr/>
          <p:nvPr/>
        </p:nvSpPr>
        <p:spPr>
          <a:xfrm>
            <a:off x="257175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7291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ar-AE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77291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خدمة VIP إضافية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تقدّمون أنفسكم كمستشار استثمار متكامل (Full Investment Advisor).</a:t>
            </a:r>
            <a:endParaRPr lang="ar-AE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ar-AE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دخل إضافي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هيكل إحالة واضح ومنظم يحوّل الخدمة إلى مصدر دخل منتظم.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العملية بسيطة جداً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Easy Process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8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381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752844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أنتم تعرّفون العميل بالخدمة</a:t>
            </a:r>
            <a:endParaRPr lang="ar-AE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752844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جملة واحدة في التوقيت الصحيح، ورسالة تعريف موحّدة.</a:t>
            </a:r>
            <a:endParaRPr lang="ar-AE" sz="1050" dirty="0"/>
          </a:p>
        </p:txBody>
      </p:sp>
      <p:sp>
        <p:nvSpPr>
          <p:cNvPr id="9" name="Shape 7"/>
          <p:cNvSpPr/>
          <p:nvPr/>
        </p:nvSpPr>
        <p:spPr>
          <a:xfrm>
            <a:off x="6039612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961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54296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نحن نتولى كل الجانب القانوني</a:t>
            </a:r>
            <a:endParaRPr lang="ar-AE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54296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الاستشارة، تقييم المخاطر، الصياغة، الترجمة، التوثيق، التسجيل.</a:t>
            </a:r>
            <a:endParaRPr lang="ar-AE" sz="1050" dirty="0"/>
          </a:p>
        </p:txBody>
      </p:sp>
      <p:sp>
        <p:nvSpPr>
          <p:cNvPr id="13" name="Shape 11"/>
          <p:cNvSpPr/>
          <p:nvPr/>
        </p:nvSpPr>
        <p:spPr>
          <a:xfrm>
            <a:off x="3941064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4106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555748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فريقنا يتابع العميل بالكامل</a:t>
            </a:r>
            <a:endParaRPr lang="ar-AE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555748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تواصل أولي خلال يوم عمل، وتحديثات منتظمة لكم وله.</a:t>
            </a:r>
            <a:endParaRPr lang="ar-AE" sz="1050" dirty="0"/>
          </a:p>
        </p:txBody>
      </p:sp>
      <p:sp>
        <p:nvSpPr>
          <p:cNvPr id="17" name="Shape 15"/>
          <p:cNvSpPr/>
          <p:nvPr/>
        </p:nvSpPr>
        <p:spPr>
          <a:xfrm>
            <a:off x="1842516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4251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أنتم تبقون بالصورة بدون أي مسؤولية قانونية</a:t>
            </a:r>
            <a:endParaRPr lang="ar-AE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تقرير شهري، وتسوية العمولة وفق الاتفاقية.</a:t>
            </a:r>
            <a:endParaRPr lang="ar-AE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دوركم ودورنا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توزيع الأدوار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شركة الوساطة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تعرّف العميل بالخدمة وتحوّله إلينا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تقدّمها كقيمة مضافة ضمن عرضها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لا تقدّم أي استشارة قانونية ولا تضمن نتائج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تحصل على رسوم الإحالة</a:t>
            </a:r>
            <a:endParaRPr lang="ar-AE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مكتب راشد الكيتوب</a:t>
            </a:r>
            <a:endParaRPr lang="ar-AE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الاستشارة القانونية وإعداد الوصية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التسجيل والمتابعة مع الجهات الرسمية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حماية الوسيط من أي مسؤولية قانونية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خدمة بمستوى Concierge بأربع لغات</a:t>
            </a:r>
            <a:endParaRPr lang="ar-AE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نجهّزكم للانطلاق فوراً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ما نقدّمه لفريقكم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Chalkboard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ندوة مجانية لفريق المبيعات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بعنوان «كيف تحمي المستثمر الأجنبي في الإمارات».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201168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Comment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استشارة أولية مجانية لعملائكم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لشرح الخيارات المناسبة لكل عميل.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83464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FolderOp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مواد تسويقية جاهزة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كتيّب، نص واتساب، أسئلة شائعة، وعرض تقديمي.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65760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Crow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خدمة Concierge لعملائكم المميزين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اجتماع في مكتب العميل أو منزله، تعامل VIP، تسجيل سريع.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التوقيت الأفضل</a:t>
            </a:r>
            <a:endParaRPr lang="ar-AE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بعد الحجز، أثناء توقيع عقد البيع (SPA)، بعد التملك، أو أثناء الحديث عن الاستثمار طويل الأجل.</a:t>
            </a:r>
            <a:endParaRPr lang="ar-AE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الاتفاقية باختصار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الهيكل القانوني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ArrowRightArrowLef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آلية تحويل العملاء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رسالة تعريف موحّدة وتواصل منا خلال يوم عمل.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Percen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نسبة العمولة وآلية الدفع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نسبة ثابتة أو مبلغ لكل عميل، تُسوّى شهرياً.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السرية وحماية البيانات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اتفاقية عدم إفشاء وحماية كاملة لبيانات عملائكم.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5720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لا مسؤولية قانونية عليكم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أنتم لا تقدمون استشارات قانونية؛ نحن نتحمل المسؤولية المهنية كاملة.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Ba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720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عدم التجاوز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حماية علاقتكم بعملائكم طوال مدة الشراكة.</a:t>
            </a:r>
            <a:endParaRPr lang="ar-AE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40664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لا نبيع «وصية». نساعدكم على حماية عملائكم، ورفع قيمة خدماتكم، وزيادة ثقة المستثمر بكم.</a:t>
            </a:r>
            <a:endParaRPr lang="ar-AE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accent2"/>
                </a:solidFill>
              </a:rPr>
              <a:t>راشد الكيتوب للمحاماة والاستشارات القانونية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الخطوة التالية</a:t>
            </a:r>
            <a:endParaRPr lang="ar-AE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chemeClr val="accent2"/>
                </a:solidFill>
              </a:rPr>
              <a:t>اجتماع قصير لتوقيع اتفاقية التعاون وتحديد موعد ندوة فريق المبيعات</a:t>
            </a:r>
            <a:endParaRPr lang="ar-AE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شارع الشيخ زايد، برج سعيد 2، مكتب 501، دبي، الإمارات العربية المتحدة</a:t>
            </a:r>
            <a:endParaRPr lang="ar-AE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+971 4 359 5552  |  جوال وواتساب: +971 52 107 4972</a:t>
            </a:r>
            <a:endParaRPr lang="ar-AE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ar-AE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686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الاثنين – الجمعة، 8:30 – 17:30  |  العربية · English · 中文 · Русский</a:t>
            </a:r>
            <a:endParaRPr lang="ar-AE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868680" y="42062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1"/>
                </a:solidFill>
              </a:rPr>
              <a:t>راشد الكيتوب للمحاماة والاستشارات القانونية</a:t>
            </a:r>
            <a:endParaRPr lang="ar-AE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K Advocates">
  <a:themeElements>
    <a:clrScheme name="RK Advocates">
      <a:dk1>
        <a:srgbClr val="0B0B0B"/>
      </a:dk1>
      <a:lt1>
        <a:srgbClr val="FFFFFF"/>
      </a:lt1>
      <a:dk2>
        <a:srgbClr val="2A2D33"/>
      </a:dk2>
      <a:lt2>
        <a:srgbClr val="F4F1EA"/>
      </a:lt2>
      <a:accent1>
        <a:srgbClr val="B08D57"/>
      </a:accent1>
      <a:accent2>
        <a:srgbClr val="D8C39A"/>
      </a:accent2>
      <a:accent3>
        <a:srgbClr val="6B6F76"/>
      </a:accent3>
      <a:accent4>
        <a:srgbClr val="8A6D3B"/>
      </a:accent4>
      <a:accent5>
        <a:srgbClr val="E9E4DA"/>
      </a:accent5>
      <a:accent6>
        <a:srgbClr val="15171B"/>
      </a:accent6>
      <a:hlink>
        <a:srgbClr val="B08D57"/>
      </a:hlink>
      <a:folHlink>
        <a:srgbClr val="8A6D3B"/>
      </a:folHlink>
    </a:clrScheme>
    <a:fontScheme name="RK Advocat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شراكة الحماية القانونية للمستثمرين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2026-10-26T11:14:59Z</dcterms:created>
  <dcterms:modified xsi:type="dcterms:W3CDTF">2026-10-26T11:14:59Z</dcterms:modified>
</cp:coreProperties>
</file>