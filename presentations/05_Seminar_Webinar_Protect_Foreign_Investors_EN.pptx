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a50e7aa-6b6b-421d-6e4c-12ffc2b895e6}">
          <p14:sldIdLst>
            <p14:sldId id="256"/>
            <p14:sldId id="257"/>
          </p14:sldIdLst>
        </p14:section>
        <p14:section name="The reality" id="{84803e94-f798-2cd4-ebbf-aec93eccf828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Legal framework" id="{48e3fb55-e0f2-994f-70c3-5cab1a37348d}">
          <p14:sldIdLst>
            <p14:sldId id="267"/>
            <p14:sldId id="268"/>
            <p14:sldId id="269"/>
          </p14:sldIdLst>
        </p14:section>
        <p14:section name="The tools" id="{cc052be6-8880-58ab-d9fc-8957b4a10198}">
          <p14:sldIdLst>
            <p14:sldId id="270"/>
            <p14:sldId id="271"/>
            <p14:sldId id="272"/>
          </p14:sldIdLst>
        </p14:section>
        <p14:section name="Scenarios" id="{2c959fc6-ff91-a120-994e-8b2e26bdf45e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Number of wills registered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Wills registered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H1 2023*</c:v>
                  </c:pt>
                  <c:pt idx="1">
                    <c:v>H1 2024</c:v>
                  </c:pt>
                  <c:pt idx="2">
                    <c:v>H1 2025</c:v>
                  </c:pt>
                  <c:pt idx="3">
                    <c:v>Full year 2024*</c:v>
                  </c:pt>
                  <c:pt idx="4">
                    <c:v>Full year 2025</c:v>
                  </c:pt>
                  <c:pt idx="5">
                    <c:v>Q1 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764</c:v>
                </c:pt>
                <c:pt idx="1">
                  <c:v>810</c:v>
                </c:pt>
                <c:pt idx="2">
                  <c:v>922</c:v>
                </c:pt>
                <c:pt idx="3">
                  <c:v>1820</c:v>
                </c:pt>
                <c:pt idx="4">
                  <c:v>2220</c:v>
                </c:pt>
                <c:pt idx="5">
                  <c:v>883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Average time in days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2023: litigated, filing to judgment</c:v>
                  </c:pt>
                  <c:pt idx="1">
                    <c:v>2023–24: first 11 months, amicable</c:v>
                  </c:pt>
                  <c:pt idx="2">
                    <c:v>2024: amicable</c:v>
                  </c:pt>
                  <c:pt idx="3">
                    <c:v>2025: amicable (working days)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</c:v>
                </c:pt>
                <c:pt idx="1">
                  <c:v>40</c:v>
                </c:pt>
                <c:pt idx="2">
                  <c:v>24</c:v>
                </c:pt>
                <c:pt idx="3">
                  <c:v>13.8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Share of family businesses that survive (global data)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2nd generation</c:v>
                  </c:pt>
                  <c:pt idx="1">
                    <c:v>3rd generation</c:v>
                  </c:pt>
                  <c:pt idx="2">
                    <c:v>4th generation and beyond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12</c:v>
                </c:pt>
                <c:pt idx="2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to the audience: the right route is decided per person after a discovery session; there is no single answer for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2238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pic>
        <p:nvPicPr>
          <p:cNvPr id="3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68680"/>
            <a:ext cx="4021000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9659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Protect Foreign Investors in the UAE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3832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chemeClr val="accent2"/>
                </a:solidFill>
              </a:rPr>
              <a:t>A seminar on wills, asset protection and estate planning for investors and property owners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023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Rashid Alkaitoob Advocates &amp; Legal Consultants · Dubai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 today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chemeClr val="tx1"/>
                </a:solidFill>
              </a:rPr>
              <a:t>The reality: mistakes foreign investors make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01368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chemeClr val="tx1"/>
                </a:solidFill>
              </a:rPr>
              <a:t>What actually happens without planning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chemeClr val="tx1"/>
                </a:solidFill>
              </a:rPr>
              <a:t>The UAE legal framework: registries and options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044952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chemeClr val="tx1"/>
                </a:solidFill>
              </a:rPr>
              <a:t>Protection tools: from the will to wealth structuring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1801368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chemeClr val="tx1"/>
                </a:solidFill>
              </a:rPr>
              <a:t>Three practical scenarios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63440" y="2423160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chemeClr val="tx1"/>
                </a:solidFill>
              </a:rPr>
              <a:t>A quick self-check and Q&amp;A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63440" y="3044952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2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accent2"/>
                </a:solidFill>
              </a:rPr>
              <a:t>Foreign investors spend millions of dirhams and forget one question: what happens next?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foreign investors make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MISTAKES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TriangleExclama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Assuming your home-country law applies automatically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UAE procedures differ by nationality, religion and circumstances, and may not be what you expect.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TriangleExclama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Buying property with no will or structure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Most buyers do not know the inheritance rules in the UAE.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TriangleExclama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Assets in several countries with no unified plan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Conflicting or missing wills mean delays and disputes.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TriangleExclama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Not arranging guardianship for children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No one is formally appointed to care for minors.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TriangleExclama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Company shares left outside any plan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Business stalls and partner decisions freeze.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9436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0533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26364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this happen?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6263640" y="2194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bg2"/>
                </a:solidFill>
              </a:rPr>
              <a:t>Because nobody asked the investor the right question at the right moment. Today we ask it.</a:t>
            </a:r>
            <a:endParaRPr lang="en-US" sz="1150" dirty="0"/>
          </a:p>
        </p:txBody>
      </p:sp>
      <p:sp>
        <p:nvSpPr>
          <p:cNvPr id="2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happens without planning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CONSEQUENCES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Frozen accounts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Bank accounts may be frozen until an estate distribution order issues, cutting off the family's expenses.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57175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91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77291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Blocked ownership transfer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The property waits for procedures that can be long and complex.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PeopleArrow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6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8746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Family disputes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A lack of clarity invites conflict between heirs.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80085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Childre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018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00201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Problems for children and heirs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No appointed guardian and no clear path for shares at home or abroad.</a:t>
            </a:r>
            <a:endParaRPr lang="en-US" sz="1400" dirty="0"/>
          </a:p>
        </p:txBody>
      </p:sp>
      <p:sp>
        <p:nvSpPr>
          <p:cNvPr id="16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reality in four numbers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NUMBERS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of UAE expats have not started a will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YouGov survey, September 2026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35,000+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registered non-Muslim wills since 2015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DIFC (14,000+) plus Abu Dhabi (21,000), in a country of over 11 million people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working days: average amicable estate settlement in Dubai (2025)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versus 24 days in 2024 and 81 days for litigated cases in 2023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 trillion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of GCC family assets transferring to the next generation by 2030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and fewer than one in three family businesses has a succession plan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800" i="1" dirty="0">
                <a:solidFill>
                  <a:schemeClr val="accent3"/>
                </a:solidFill>
              </a:rPr>
              <a:t>Sources: DIFC Courts, Abu Dhabi Judicial Department, Dubai Courts, YouGov survey (Sept 2026), Khaleej Times / Gulf News. Full references in the deck 'Wills and Inheritance in the UAE: What the Numbers Say'.</a:t>
            </a:r>
            <a:endParaRPr lang="en-US" sz="8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has no will: what the surveys say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NUMBERS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have not started a will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of UAE expatriates, 2026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believe their spouse automatically inherits everything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a legally mistaken belief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of parents with minors have documented guardianship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while 73% think their families would know their wishes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of Dubai asset-holders had no UAE-registered will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DIFC Wills registry survey, 2017: 'little more than 10%' had one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800" i="1" dirty="0">
                <a:solidFill>
                  <a:schemeClr val="accent3"/>
                </a:solidFill>
              </a:rPr>
              <a:t>YouGov for Blanket, 1,014 residents, Sept 2026 (Gulf News, Oct 2026); DIFC Wills registry survey 2017 (Gulf News, Nov 2018). Reasons for no will: 28% 'not enough assets', 21% 'don't know where to start'.</a:t>
            </a:r>
            <a:endParaRPr lang="en-US" sz="8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DIFC: annual registrations are accelerating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NUMBERS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+120%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growth in Q1 2026 versus Q1 2025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615184"/>
            <a:ext cx="23317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2025: 2,220 wills (+22%). Probate applications to enforce wills: 41 in 2025 (+37%), and 27 orders in H1 2025 alone.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* Derived from announced growth rates.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800" i="1" dirty="0">
                <a:solidFill>
                  <a:schemeClr val="accent3"/>
                </a:solidFill>
              </a:rPr>
              <a:t>DIFC Courts press releases 2017–2026 and statistics portal</a:t>
            </a:r>
            <a:endParaRPr lang="en-US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Dubai has cut estate settlement time from 81 days to 13.8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NUMBERS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→ 3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days: death-procedure time after the Jabr platform (Oct 2025)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8346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Requirements cut from 10 to 4; 1,103 cases in its first three months. Probate Court rules: preparation ≤ 30 days, litigation ≤ 12 months. Cases outside Dubai, without a will, or in dispute are not covered by these figures.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800" i="1" dirty="0">
                <a:solidFill>
                  <a:schemeClr val="accent3"/>
                </a:solidFill>
              </a:rPr>
              <a:t>Dubai Courts annual reports 2022–2025 and Dubai Media Office</a:t>
            </a:r>
            <a:endParaRPr lang="en-US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Gulf family businesses in numbers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NUMBERS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of GCC GDP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contributed by family businesses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of the workforce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employed by family businesses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of the private sector in the UAE and Saudi Arabia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is family-owned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$1T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in assets transferring between generations by 2030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across the GCC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800" i="1" dirty="0">
                <a:solidFill>
                  <a:schemeClr val="accent3"/>
                </a:solidFill>
              </a:rPr>
              <a:t>Gulf News, Feb 2023 (Jersey Finance); Khaleej Times, May 2026 (Georgetown McDonough, Dubai programme).</a:t>
            </a:r>
            <a:endParaRPr lang="en-US" sz="8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 ten family businesses reach the second generation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NUMBERS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&lt;30%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only have a robust, communicated succession plan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615184"/>
            <a:ext cx="23317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And only 22% of the UAE's next generation intend to join the family business. Another estimate (Citi, 2023): 50% survive to the 2nd generation and 10% to the 3rd.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800" i="1" dirty="0">
                <a:solidFill>
                  <a:schemeClr val="accent3"/>
                </a:solidFill>
              </a:rPr>
              <a:t>Khaleej Times, May 2026 and Sept 2023; Gulf News, Feb 2023.</a:t>
            </a:r>
            <a:endParaRPr lang="en-US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UAE legal framework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accent2"/>
                </a:solidFill>
              </a:rPr>
              <a:t>The investor has real options; what matters is choosing the right 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wills are registered in the UAE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LEGAL FRAMEWORK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andma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Dubai Courts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Registration of non-Muslim wills with Dubai Courts under the non-Muslim personal status rules.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Land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Abu Dhabi Courts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Registration with the Abu Dhabi Judicial Department for clients who prefer this route.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BuildingColumn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DIFC Wills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The DIFC wills registry for non-Muslims, in English, covering assets in the UAE.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BuildingColumn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ADGM Wills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The ADGM wills registry for non-Muslims, an alternative English-language route.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ScaleBalance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Sharia or foreign law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We determine the applicable law by the client's nationality, religion and wishes.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9436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0533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26364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client is a distinct case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6263640" y="2194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bg2"/>
                </a:solidFill>
              </a:rPr>
              <a:t>Nationality, religion, family status and where the assets sit decide the right route. That is why we always start with a discovery session, not with a will type.</a:t>
            </a:r>
            <a:endParaRPr lang="en-US" sz="1150" dirty="0"/>
          </a:p>
        </p:txBody>
      </p:sp>
      <p:sp>
        <p:nvSpPr>
          <p:cNvPr id="2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main routes at a glance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A GENERAL COMPARISON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908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accent2"/>
                </a:solidFill>
              </a:rPr>
              <a:t>Local courts (Dubai / Abu Dhabi)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5908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2316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Local registration of non-Muslim wills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Arabic document with certified translation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Suits those who prefer the local route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76600" y="1188720"/>
            <a:ext cx="25908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13760" y="118872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DIFC Wills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76600" y="1737360"/>
            <a:ext cx="25908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3760" y="1874520"/>
            <a:ext cx="2316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A wills registry for non-Muslims in Dubai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An English document covering UAE assets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A common choice for Europeans, Russians and Indians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96000" y="1188720"/>
            <a:ext cx="25908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3160" y="118872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accent2"/>
                </a:solidFill>
              </a:rPr>
              <a:t>ADGM Wills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6000" y="1737360"/>
            <a:ext cx="25908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3160" y="1874520"/>
            <a:ext cx="2316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A wills registry for non-Muslims in Abu Dhabi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An English-language document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An alternative route depending on assets and preference</a:t>
            </a:r>
            <a:endParaRPr lang="en-US" sz="11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Protection tools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accent2"/>
                </a:solidFill>
              </a:rPr>
              <a:t>From a simple will to multi-generational wealth structuring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protection tools available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TOOLKIT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FileSignatu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Individual will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Your UAE assets, guardians and executors.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57175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UserGrou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91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77291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Spousal wills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Two matching wills protecting the family and children.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68630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Hous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6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8746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Property will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For UAE real estate only.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80085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Briefca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018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00201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Business will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Company shares and business continuity.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5720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Sitema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12724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5836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Holding / SPV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A holding company linked to the succession plan.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257175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0" name="icon FaLandmar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2918" y="3127248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277291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Foundation or trust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Wealth protection across generations.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468630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3" name="icon FaPeopleRoof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468" y="3127248"/>
            <a:ext cx="310896" cy="31089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88746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Family governance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Family office and partnership agreements.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680085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6" name="icon FaKey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2018" y="3127248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00201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Ownership transfer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Representing heirs and completing procedures.</a:t>
            </a:r>
            <a:endParaRPr lang="en-US" sz="1250" dirty="0"/>
          </a:p>
        </p:txBody>
      </p:sp>
      <p:sp>
        <p:nvSpPr>
          <p:cNvPr id="28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plan must cover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CHECKLIST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ist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Every asset in the UAE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Property, accounts, companies, vehicles, investments.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List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Guardians and executors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Who cares for the children, and who executes the will.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List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Heirs inside and outside the UAE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Coordinated with any will in your home country.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List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The applicable law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Sharia, foreign law, or the structure you choose.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List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Periodic review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The plan is updated whenever your assets or family change.</a:t>
            </a:r>
            <a:endParaRPr lang="en-US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practical scenarios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accent2"/>
                </a:solidFill>
              </a:rPr>
              <a:t>Fictional names, situations we see every week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cases we see every week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PRACTICAL SCENARIOS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9080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Hous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21884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The property investor with family abroad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Owns two apartments in Dubai; spouse and children live in Europe. Solution: a registered property will naming heirs and an executor, coordinated with the home-country will.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76600" y="1188720"/>
            <a:ext cx="259080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Briefca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76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7768" y="1828800"/>
            <a:ext cx="21884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The company owner with partners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Holds a stake in a Dubai company with two partners. Solution: a business will and a partners' agreement that keep decisions flowing and transfer the stake.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096000" y="1188720"/>
            <a:ext cx="259080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hildr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16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97168" y="1828800"/>
            <a:ext cx="21884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The couple with children in the UAE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Residents with two minor children and local accounts. Solution: spousal wills appointing a guardian and protecting the accounts and the home.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start: five steps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PROCESS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9B3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Discovery session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Your nationality, family, assets, companies, children, accounts.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36038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3603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36038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Risk assessment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36038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Will only? DIFC or ADGM? Structuring? Foundation?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14877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14877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14877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Written proposal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14877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Scope, fees, timeline, registration cost.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93715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93715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93715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Drafting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93715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The will, translation, witnesses, notarisation.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72554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7255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72554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Registration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72554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With the chosen authority, with direct follow-up.</a:t>
            </a:r>
            <a:endParaRPr lang="en-US" sz="1050" dirty="0"/>
          </a:p>
        </p:txBody>
      </p:sp>
      <p:sp>
        <p:nvSpPr>
          <p:cNvPr id="25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 self-check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ANSWER YES OR NO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dirty="0">
                <a:solidFill>
                  <a:schemeClr val="accent1"/>
                </a:solidFill>
              </a:rPr>
              <a:t>QUESTION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166360" y="1143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dirty="0">
                <a:solidFill>
                  <a:schemeClr val="accent1"/>
                </a:solidFill>
              </a:rPr>
              <a:t>IF THE ANSWER IS YES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7" name="icon FaCircle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6192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1463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Do you own property in the UAE?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166360" y="1463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You need at least a property will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ircleQues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9339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1920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Do you own companies or shares?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5166360" y="19202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You need a business will or structuring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377440"/>
            <a:ext cx="822960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5" name="icon FaCircleQues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5059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" y="2377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Do you have minor children?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5166360" y="23774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You need a formally appointed guardian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8346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9" name="icon FaCircleQues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90779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4400" y="2834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Are your heirs outside the UAE?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66360" y="28346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You need the registry and law chosen carefully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3291840"/>
            <a:ext cx="822960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3" name="icon FaCircleQues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364992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14400" y="3291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Do you hold assets in more than one country?</a:t>
            </a:r>
            <a:endParaRPr lang="en-US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5166360" y="32918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You need a unified plan or a holding structure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57200" y="37490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7" name="icon FaCircleQuesti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82219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14400" y="3749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Has it been over three years since your last will?</a:t>
            </a:r>
            <a:endParaRPr lang="en-US" sz="1150" dirty="0"/>
          </a:p>
        </p:txBody>
      </p:sp>
      <p:sp>
        <p:nvSpPr>
          <p:cNvPr id="29" name="Text 21"/>
          <p:cNvSpPr txBox="1"/>
          <p:nvPr/>
        </p:nvSpPr>
        <p:spPr>
          <a:xfrm>
            <a:off x="5166360" y="3749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You need a review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950" i="1" dirty="0">
                <a:solidFill>
                  <a:schemeClr val="accent3"/>
                </a:solidFill>
              </a:rPr>
              <a:t>One yes is enough to deserve a free first consultation.</a:t>
            </a:r>
            <a:endParaRPr lang="en-US" sz="950" dirty="0"/>
          </a:p>
        </p:txBody>
      </p:sp>
      <p:sp>
        <p:nvSpPr>
          <p:cNvPr id="3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firm at a glance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300" b="1" dirty="0">
                <a:solidFill>
                  <a:schemeClr val="bg1"/>
                </a:solidFill>
              </a:rPr>
              <a:t>Founded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2"/>
                </a:solidFill>
              </a:rPr>
              <a:t>Licensed law firm in Dubai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7175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5463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75463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300" b="1" dirty="0">
                <a:solidFill>
                  <a:schemeClr val="bg1"/>
                </a:solidFill>
              </a:rPr>
              <a:t>Practice areas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2"/>
                </a:solidFill>
              </a:rPr>
              <a:t>Litigation, advisory and contracts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8630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300" b="1" dirty="0">
                <a:solidFill>
                  <a:schemeClr val="bg1"/>
                </a:solidFill>
              </a:rPr>
              <a:t>Working languages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2"/>
                </a:solidFill>
              </a:rPr>
              <a:t>Arabic · English · Chinese · Russian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0085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8373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GCC &amp; Asia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98373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300" b="1" dirty="0">
                <a:solidFill>
                  <a:schemeClr val="bg1"/>
                </a:solidFill>
              </a:rPr>
              <a:t>Regional and international presence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2"/>
                </a:solidFill>
              </a:rPr>
              <a:t>Dedicated China desk for investors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EVERY FIGURE IN THIS DECK TRACES TO ONE OF THESE SOURCES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188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Federal Competitiveness and Statistics Centre: UAE population 2023–2024 (Gulf News, 8 Sept 2025).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44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544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Dubai Statistics Centre: crossing 4 million (Sept 2025); 4.58 million at end-2025 (Dubai Eye, July 2026).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99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99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National Bureau of Statistics: 88.5% expatriates of 8.26 million (Khaleej Times, 2011).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255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255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DIFC Courts: release of 1 Nov 2017 (over 3,000 wills); Al Bayan and Emarat Al Youm 2019 (4,100 and 5,000).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111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6111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DIFC Courts: 15 July 2024 (810 wills, +6%, over 11,000); 23 July 2025 (922, +14%, over 13,400).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966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966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DIFC Courts: 11 Feb 2026 (2,220 wills in 2025, +22%; 41 probate applications, +37%); 22 Apr 2026 (883 in Q1, +120%).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22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322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DIFC Courts statistics portal: 14,373 wills since inception (H1 2026).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77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677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Abu Dhabi Judicial Department: 1,668 wills, 64 nationalities (Gulf News, 14 Dec 2019).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33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033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Abu Dhabi Civil Family Court: 11,000 wills in 2025, 21,000 cumulative (Gulf News, 19 Jan 2026); 8,886 transactions in Q1 2026 (WAM).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1188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1188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Dubai Courts 2022: AED 3.797 billion; 1,555 / 500 / 24 estates (Emarat Al Youm, 8 July 2023).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1544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1544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Dubai Courts 2023: 580 cases, AED 4.116 billion, 81 / 52 / 28 days, 92.6% (The Law Reporters, 13 July 2024).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1899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1899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Dubai Probate Court, first 11 months: 1,814 files, 40 days, AED 32.8 billion (Maktoum bin Mohammed, 28 Oct 2024).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2255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2255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Dubai Probate Court 2024: 84%, 24 days, 1,407 certificates, AED 10 and 35 billion (Dubai Media Office, 29 Jan 2025).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26111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26111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Dubai Courts 2025: 13.8 days, 92.5%, AED 5.26 billion, 284 licences (Al Bayan, 9 July 2026); AED 3.5 billion to heirs and the Jabr platform (Gulf News, 25 Apr 2026).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2966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0" y="2966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YouGov for Blanket, 1,014 residents, Sept 2026: 49%, 56%, 24%, 73%, 28%, 21% (Gulf News, 20 Oct 2026).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3322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3322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DIFC Wills registry survey 2017 and account freezing (Gulf News, 12 Nov 2018); time estimates: Caunsel (15 Oct 2026), Dubai Wills Center (13 Jan 2026).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663440" y="3677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0" y="3677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Family businesses: Gulf News, 9 Feb 2023 (Jersey Finance); Khaleej Times, 20 May 2026 and 6 Sept 2023 (Citi).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663440" y="4033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0" y="4033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Legal framework: Dubai Law 15/2017; Abu Dhabi Law 14/2021; Federal Decree-Law 41/2022; Dubai Decree 25/2023.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900" i="1" dirty="0">
                <a:solidFill>
                  <a:schemeClr val="accent3"/>
                </a:solidFill>
              </a:rPr>
              <a:t>Figures marked with an asterisk (*) are derived from officially announced growth rates and are not published as such.</a:t>
            </a:r>
            <a:endParaRPr lang="en-US" sz="900" dirty="0"/>
          </a:p>
        </p:txBody>
      </p:sp>
      <p:sp>
        <p:nvSpPr>
          <p:cNvPr id="4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02336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think “will”. Think “asset protection”: a will is linked to death, protection is linked to investment and security.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accent2"/>
                </a:solidFill>
              </a:rPr>
              <a:t>The takeaway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7772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and answers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54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chemeClr val="accent2"/>
                </a:solidFill>
              </a:rPr>
              <a:t>A free first consultation for every attendee, in your language, wherever suits you</a:t>
            </a:r>
            <a:endParaRPr lang="en-US" sz="1300" dirty="0"/>
          </a:p>
        </p:txBody>
      </p:sp>
      <p:pic>
        <p:nvPicPr>
          <p:cNvPr id="5" name="icon FaLocationD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240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Sheikh Zayed Road, Saeed Tower 2, Office 501, Dubai, UAE</a:t>
            </a:r>
            <a:endParaRPr lang="en-US" sz="1200" dirty="0"/>
          </a:p>
        </p:txBody>
      </p:sp>
      <p:pic>
        <p:nvPicPr>
          <p:cNvPr id="7" name="icon Fa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889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+971 4 359 5552  |  Mobile &amp; WhatsApp: +971 52 107 4972</a:t>
            </a:r>
            <a:endParaRPr lang="en-US" sz="1200" dirty="0"/>
          </a:p>
        </p:txBody>
      </p:sp>
      <p:pic>
        <p:nvPicPr>
          <p:cNvPr id="9" name="icon FaEnvelop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918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3246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ward.shueibi@rk-advocates.com  |  rk-advocates.com</a:t>
            </a:r>
            <a:endParaRPr lang="en-US" sz="1200" dirty="0"/>
          </a:p>
        </p:txBody>
      </p:sp>
      <p:pic>
        <p:nvPicPr>
          <p:cNvPr id="11" name="icon Fa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3749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Monday – Friday, 8:30 – 17:30  |  Arabic · English · Chinese · Russian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Copper">
  <a:themeElements>
    <a:clrScheme name="Midnight Copper">
      <a:dk1>
        <a:srgbClr val="0E2238"/>
      </a:dk1>
      <a:lt1>
        <a:srgbClr val="FFFFFF"/>
      </a:lt1>
      <a:dk2>
        <a:srgbClr val="1F3A52"/>
      </a:dk2>
      <a:lt2>
        <a:srgbClr val="F4F1EB"/>
      </a:lt2>
      <a:accent1>
        <a:srgbClr val="B5723B"/>
      </a:accent1>
      <a:accent2>
        <a:srgbClr val="D9B38C"/>
      </a:accent2>
      <a:accent3>
        <a:srgbClr val="6E7B88"/>
      </a:accent3>
      <a:accent4>
        <a:srgbClr val="8C5527"/>
      </a:accent4>
      <a:accent5>
        <a:srgbClr val="E6E1D8"/>
      </a:accent5>
      <a:accent6>
        <a:srgbClr val="5B7A8C"/>
      </a:accent6>
      <a:hlink>
        <a:srgbClr val="B5723B"/>
      </a:hlink>
      <a:folHlink>
        <a:srgbClr val="8C5527"/>
      </a:folHlink>
    </a:clrScheme>
    <a:fontScheme name="Midnight Cop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Rashid Alkaitoob Advocates &amp; Legal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Protect Foreign Investors in the UAE</dc:title>
  <dc:subject>PptxGenJS Presentation</dc:subject>
  <dc:creator>Rashid Alkaitoob Advocates &amp; Legal Consultants</dc:creator>
  <cp:lastModifiedBy>Rashid Alkaitoob Advocates &amp; Legal Consultants</cp:lastModifiedBy>
  <cp:revision>1</cp:revision>
  <dcterms:created xsi:type="dcterms:W3CDTF">2026-10-27T14:33:27Z</dcterms:created>
  <dcterms:modified xsi:type="dcterms:W3CDTF">2026-10-27T14:33:27Z</dcterms:modified>
</cp:coreProperties>
</file>