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</p:sldIdLst>
  <p:notesMasterIdLst>
    <p:notesMasterId r:id="rId20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Introduction" id="{b022cd0d-7990-b5a3-d8bd-4c3888a739de}">
          <p14:sldIdLst>
            <p14:sldId id="256"/>
            <p14:sldId id="257"/>
          </p14:sldIdLst>
        </p14:section>
        <p14:section name="The reality" id="{f0069033-1fb3-d6a3-6247-f0e11bccd7a7}">
          <p14:sldIdLst>
            <p14:sldId id="258"/>
            <p14:sldId id="259"/>
            <p14:sldId id="260"/>
          </p14:sldIdLst>
        </p14:section>
        <p14:section name="Legal framework" id="{b3a3d870-5a07-c8c5-6200-d90e73b48a66}">
          <p14:sldIdLst>
            <p14:sldId id="261"/>
            <p14:sldId id="262"/>
            <p14:sldId id="263"/>
          </p14:sldIdLst>
        </p14:section>
        <p14:section name="The tools" id="{a2e195c0-c0f2-63b7-e201-6d5917c69fd7}">
          <p14:sldIdLst>
            <p14:sldId id="264"/>
            <p14:sldId id="265"/>
            <p14:sldId id="266"/>
          </p14:sldIdLst>
        </p14:section>
        <p14:section name="Scenarios" id="{95b86519-c2c4-ceec-771c-58ea61e29ac3}">
          <p14:sldIdLst>
            <p14:sldId id="267"/>
            <p14:sldId id="268"/>
            <p14:sldId id="269"/>
            <p14:sldId id="270"/>
            <p14:sldId id="271"/>
            <p14:sldId id="272"/>
            <p14:sldId id="273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notesMaster" Target="notesMasters/notesMaster1.xml"/><Relationship Id="rId21" Type="http://schemas.openxmlformats.org/officeDocument/2006/relationships/presProps" Target="presProps.xml"/><Relationship Id="rId22" Type="http://schemas.openxmlformats.org/officeDocument/2006/relationships/viewProps" Target="viewProps.xml"/><Relationship Id="rId23" Type="http://schemas.openxmlformats.org/officeDocument/2006/relationships/theme" Target="theme/theme1.xml"/><Relationship Id="rId2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Stress to the audience: the right route is decided per person after a discovery session; there is no single answer for everyone.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">
    <p:bg>
      <p:bgPr>
        <a:solidFill>
          <a:srgbClr val="0B0B0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4626864"/>
            <a:ext cx="384048" cy="384048"/>
          </a:xfrm>
          <a:prstGeom prst="rect">
            <a:avLst/>
          </a:prstGeom>
          <a:solidFill>
            <a:srgbClr val="0B0B0B"/>
          </a:solidFill>
          <a:ln w="9525">
            <a:solidFill>
              <a:srgbClr val="B08D57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462686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B08D5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RK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822960" y="4626864"/>
            <a:ext cx="5120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D8C39A"/>
                </a:solidFill>
              </a:rPr>
              <a:t>Rashid Alkaitoob Advocates &amp; Legal Consultants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626864"/>
            <a:ext cx="548640" cy="38404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900">
                <a:solidFill>
                  <a:srgbClr val="D8C39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LIGH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4626864"/>
            <a:ext cx="384048" cy="384048"/>
          </a:xfrm>
          <a:prstGeom prst="rect">
            <a:avLst/>
          </a:prstGeom>
          <a:solidFill>
            <a:srgbClr val="FFFFFF"/>
          </a:solidFill>
          <a:ln w="9525">
            <a:solidFill>
              <a:srgbClr val="B08D57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462686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B08D5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RK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822960" y="4626864"/>
            <a:ext cx="5120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F76"/>
                </a:solidFill>
              </a:rPr>
              <a:t>Rashid Alkaitoob Advocates &amp; Legal Consultants</a:t>
            </a:r>
            <a:endParaRPr lang="en-US" sz="900" dirty="0"/>
          </a:p>
        </p:txBody>
      </p:sp>
      <p:sp>
        <p:nvSpPr>
          <p:cNvPr id="5" name="Text 3"/>
          <p:cNvSpPr/>
          <p:nvPr>
            <p:ph idx="103" type="title" hasCustomPrompt="1"/>
          </p:nvPr>
        </p:nvSpPr>
        <p:spPr>
          <a:xfrm>
            <a:off x="457200" y="347472"/>
            <a:ext cx="8229600" cy="685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600" b="1" dirty="0">
                <a:solidFill>
                  <a:srgbClr val="0B0B0B"/>
                </a:solidFill>
              </a:defRPr>
            </a:lvl1pPr>
          </a:lstStyle>
          <a:p>
            <a:pPr algn="l" indent="0" marL="0">
              <a:buNone/>
            </a:pPr>
            <a:endParaRPr lang="en-US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626864"/>
            <a:ext cx="548640" cy="38404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900">
                <a:solidFill>
                  <a:srgbClr val="6B6F7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LAIN_DARK">
    <p:bg>
      <p:bgPr>
        <a:solidFill>
          <a:srgbClr val="0B0B0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626864"/>
            <a:ext cx="548640" cy="38404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900">
                <a:solidFill>
                  <a:srgbClr val="D8C39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image" Target="../media/image-4-5.png"/><Relationship Id="rId6" Type="http://schemas.openxmlformats.org/officeDocument/2006/relationships/slideLayout" Target="../slideLayouts/slideLayout3.xml"/><Relationship Id="rId7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image" Target="../media/image-7-5.png"/><Relationship Id="rId6" Type="http://schemas.openxmlformats.org/officeDocument/2006/relationships/slideLayout" Target="../slideLayouts/slideLayout3.xml"/><Relationship Id="rId7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image" Target="../media/image-10-5.png"/><Relationship Id="rId6" Type="http://schemas.openxmlformats.org/officeDocument/2006/relationships/image" Target="../media/image-10-6.png"/><Relationship Id="rId7" Type="http://schemas.openxmlformats.org/officeDocument/2006/relationships/image" Target="../media/image-10-7.png"/><Relationship Id="rId8" Type="http://schemas.openxmlformats.org/officeDocument/2006/relationships/image" Target="../media/image-10-8.png"/><Relationship Id="rId9" Type="http://schemas.openxmlformats.org/officeDocument/2006/relationships/slideLayout" Target="../slideLayouts/slideLayout3.xml"/><Relationship Id="rId10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image" Target="../media/image-11-5.png"/><Relationship Id="rId6" Type="http://schemas.openxmlformats.org/officeDocument/2006/relationships/slideLayout" Target="../slideLayouts/slideLayout3.xml"/><Relationship Id="rId7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image" Target="../media/image-13-3.png"/><Relationship Id="rId4" Type="http://schemas.openxmlformats.org/officeDocument/2006/relationships/slideLayout" Target="../slideLayouts/slideLayout3.xml"/><Relationship Id="rId5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png"/><Relationship Id="rId3" Type="http://schemas.openxmlformats.org/officeDocument/2006/relationships/image" Target="../media/image-15-3.png"/><Relationship Id="rId4" Type="http://schemas.openxmlformats.org/officeDocument/2006/relationships/image" Target="../media/image-15-4.png"/><Relationship Id="rId5" Type="http://schemas.openxmlformats.org/officeDocument/2006/relationships/image" Target="../media/image-15-5.png"/><Relationship Id="rId6" Type="http://schemas.openxmlformats.org/officeDocument/2006/relationships/image" Target="../media/image-15-6.png"/><Relationship Id="rId7" Type="http://schemas.openxmlformats.org/officeDocument/2006/relationships/slideLayout" Target="../slideLayouts/slideLayout3.xml"/><Relationship Id="rId8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image" Target="../media/image-18-2.png"/><Relationship Id="rId3" Type="http://schemas.openxmlformats.org/officeDocument/2006/relationships/image" Target="../media/image-18-3.png"/><Relationship Id="rId4" Type="http://schemas.openxmlformats.org/officeDocument/2006/relationships/image" Target="../media/image-18-4.pn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8229600" cy="4229100"/>
          </a:xfrm>
          <a:prstGeom prst="rect">
            <a:avLst/>
          </a:prstGeom>
          <a:ln w="9525">
            <a:solidFill>
              <a:srgbClr val="B08D57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68680" y="868680"/>
            <a:ext cx="822960" cy="822960"/>
          </a:xfrm>
          <a:prstGeom prst="rect">
            <a:avLst/>
          </a:prstGeom>
          <a:solidFill>
            <a:srgbClr val="0B0B0B"/>
          </a:solidFill>
          <a:ln w="12700">
            <a:solidFill>
              <a:srgbClr val="B08D57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868680" y="86868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RK</a:t>
            </a:r>
            <a:endParaRPr lang="en-US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1874520" y="868680"/>
            <a:ext cx="5943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altLang="en-US" sz="1200" dirty="0">
                <a:solidFill>
                  <a:schemeClr val="accent2"/>
                </a:solidFill>
              </a:rPr>
              <a:t>Rashid Alkaitoob Advocates &amp; Legal Consultants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868680" y="1965960"/>
            <a:ext cx="74066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altLang="en-US" sz="34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How to Protect Foreign Investors in the UAE</a:t>
            </a:r>
            <a:endParaRPr lang="en-US" sz="3400" dirty="0"/>
          </a:p>
        </p:txBody>
      </p:sp>
      <p:sp>
        <p:nvSpPr>
          <p:cNvPr id="7" name="Text 5"/>
          <p:cNvSpPr txBox="1"/>
          <p:nvPr/>
        </p:nvSpPr>
        <p:spPr>
          <a:xfrm>
            <a:off x="868680" y="3383280"/>
            <a:ext cx="7406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altLang="en-US" sz="1500" dirty="0">
                <a:solidFill>
                  <a:schemeClr val="accent2"/>
                </a:solidFill>
              </a:rPr>
              <a:t>A seminar on wills, asset protection and estate planning for investors and property owners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868680" y="4023360"/>
            <a:ext cx="7406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altLang="en-US" sz="1000" dirty="0">
                <a:solidFill>
                  <a:schemeClr val="accent3"/>
                </a:solidFill>
              </a:rPr>
              <a:t>Rashid Alkaitoob Advocates &amp; Legal Consultants · Dubai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626864"/>
            <a:ext cx="548640" cy="38404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900">
                <a:solidFill>
                  <a:srgbClr val="D8C39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</a:t>
            </a:fld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3"/>
          <p:cNvSpPr/>
          <p:nvPr>
            <p:ph idx="103" type="title" hasCustomPrompt="1"/>
          </p:nvPr>
        </p:nvSpPr>
        <p:spPr>
          <a:xfrm>
            <a:off x="457200" y="347472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0B0B0B"/>
                </a:solidFill>
              </a:rPr>
              <a:t>What we will cover today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234440"/>
            <a:ext cx="4572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01</a:t>
            </a:r>
            <a:endParaRPr lang="en-US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1005840" y="1234440"/>
            <a:ext cx="34747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altLang="en-US" sz="1350" dirty="0">
                <a:solidFill>
                  <a:schemeClr val="tx1"/>
                </a:solidFill>
              </a:rPr>
              <a:t>The reality: mistakes foreign investors make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457200" y="1801368"/>
            <a:ext cx="4023360" cy="0"/>
          </a:xfrm>
          <a:prstGeom prst="line">
            <a:avLst/>
          </a:prstGeom>
          <a:noFill/>
          <a:ln w="6350">
            <a:solidFill>
              <a:srgbClr val="E9E4DA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457200" y="1856232"/>
            <a:ext cx="4572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02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1005840" y="1856232"/>
            <a:ext cx="34747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altLang="en-US" sz="1350" dirty="0">
                <a:solidFill>
                  <a:schemeClr val="tx1"/>
                </a:solidFill>
              </a:rPr>
              <a:t>What actually happens without planning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457200" y="2423160"/>
            <a:ext cx="4023360" cy="0"/>
          </a:xfrm>
          <a:prstGeom prst="line">
            <a:avLst/>
          </a:prstGeom>
          <a:noFill/>
          <a:ln w="6350">
            <a:solidFill>
              <a:srgbClr val="E9E4DA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457200" y="2478024"/>
            <a:ext cx="4572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03</a:t>
            </a:r>
            <a:endParaRPr lang="en-US" sz="1800" dirty="0"/>
          </a:p>
        </p:txBody>
      </p:sp>
      <p:sp>
        <p:nvSpPr>
          <p:cNvPr id="10" name="Text 8"/>
          <p:cNvSpPr txBox="1"/>
          <p:nvPr/>
        </p:nvSpPr>
        <p:spPr>
          <a:xfrm>
            <a:off x="1005840" y="2478024"/>
            <a:ext cx="34747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altLang="en-US" sz="1350" dirty="0">
                <a:solidFill>
                  <a:schemeClr val="tx1"/>
                </a:solidFill>
              </a:rPr>
              <a:t>The UAE legal framework: registries and options</a:t>
            </a:r>
            <a:endParaRPr lang="en-US" sz="1350" dirty="0"/>
          </a:p>
        </p:txBody>
      </p:sp>
      <p:sp>
        <p:nvSpPr>
          <p:cNvPr id="11" name="Shape 9"/>
          <p:cNvSpPr/>
          <p:nvPr/>
        </p:nvSpPr>
        <p:spPr>
          <a:xfrm>
            <a:off x="457200" y="3044952"/>
            <a:ext cx="4023360" cy="0"/>
          </a:xfrm>
          <a:prstGeom prst="line">
            <a:avLst/>
          </a:prstGeom>
          <a:noFill/>
          <a:ln w="6350">
            <a:solidFill>
              <a:srgbClr val="E9E4DA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4663440" y="1234440"/>
            <a:ext cx="4572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04</a:t>
            </a:r>
            <a:endParaRPr lang="en-US" sz="1800" dirty="0"/>
          </a:p>
        </p:txBody>
      </p:sp>
      <p:sp>
        <p:nvSpPr>
          <p:cNvPr id="13" name="Text 11"/>
          <p:cNvSpPr txBox="1"/>
          <p:nvPr/>
        </p:nvSpPr>
        <p:spPr>
          <a:xfrm>
            <a:off x="5212080" y="1234440"/>
            <a:ext cx="34747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altLang="en-US" sz="1350" dirty="0">
                <a:solidFill>
                  <a:schemeClr val="tx1"/>
                </a:solidFill>
              </a:rPr>
              <a:t>Protection tools: from the will to wealth structuring</a:t>
            </a:r>
            <a:endParaRPr lang="en-US" sz="1350" dirty="0"/>
          </a:p>
        </p:txBody>
      </p:sp>
      <p:sp>
        <p:nvSpPr>
          <p:cNvPr id="14" name="Shape 12"/>
          <p:cNvSpPr/>
          <p:nvPr/>
        </p:nvSpPr>
        <p:spPr>
          <a:xfrm>
            <a:off x="4663440" y="1801368"/>
            <a:ext cx="4023360" cy="0"/>
          </a:xfrm>
          <a:prstGeom prst="line">
            <a:avLst/>
          </a:prstGeom>
          <a:noFill/>
          <a:ln w="6350">
            <a:solidFill>
              <a:srgbClr val="E9E4DA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4663440" y="1856232"/>
            <a:ext cx="4572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05</a:t>
            </a:r>
            <a:endParaRPr lang="en-US" sz="1800" dirty="0"/>
          </a:p>
        </p:txBody>
      </p:sp>
      <p:sp>
        <p:nvSpPr>
          <p:cNvPr id="16" name="Text 14"/>
          <p:cNvSpPr txBox="1"/>
          <p:nvPr/>
        </p:nvSpPr>
        <p:spPr>
          <a:xfrm>
            <a:off x="5212080" y="1856232"/>
            <a:ext cx="34747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altLang="en-US" sz="1350" dirty="0">
                <a:solidFill>
                  <a:schemeClr val="tx1"/>
                </a:solidFill>
              </a:rPr>
              <a:t>Three practical scenarios</a:t>
            </a:r>
            <a:endParaRPr lang="en-US" sz="1350" dirty="0"/>
          </a:p>
        </p:txBody>
      </p:sp>
      <p:sp>
        <p:nvSpPr>
          <p:cNvPr id="17" name="Shape 15"/>
          <p:cNvSpPr/>
          <p:nvPr/>
        </p:nvSpPr>
        <p:spPr>
          <a:xfrm>
            <a:off x="4663440" y="2423160"/>
            <a:ext cx="4023360" cy="0"/>
          </a:xfrm>
          <a:prstGeom prst="line">
            <a:avLst/>
          </a:prstGeom>
          <a:noFill/>
          <a:ln w="6350">
            <a:solidFill>
              <a:srgbClr val="E9E4DA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4663440" y="2478024"/>
            <a:ext cx="4572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06</a:t>
            </a:r>
            <a:endParaRPr lang="en-US" sz="1800" dirty="0"/>
          </a:p>
        </p:txBody>
      </p:sp>
      <p:sp>
        <p:nvSpPr>
          <p:cNvPr id="19" name="Text 17"/>
          <p:cNvSpPr txBox="1"/>
          <p:nvPr/>
        </p:nvSpPr>
        <p:spPr>
          <a:xfrm>
            <a:off x="5212080" y="2478024"/>
            <a:ext cx="34747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altLang="en-US" sz="1350" dirty="0">
                <a:solidFill>
                  <a:schemeClr val="tx1"/>
                </a:solidFill>
              </a:rPr>
              <a:t>A quick self-check and Q&amp;A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4663440" y="3044952"/>
            <a:ext cx="4023360" cy="0"/>
          </a:xfrm>
          <a:prstGeom prst="line">
            <a:avLst/>
          </a:prstGeom>
          <a:noFill/>
          <a:ln w="6350">
            <a:solidFill>
              <a:srgbClr val="E9E4DA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626864"/>
            <a:ext cx="548640" cy="38404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900">
                <a:solidFill>
                  <a:srgbClr val="6B6F7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1463040"/>
            <a:ext cx="18288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200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01</a:t>
            </a:r>
            <a:endParaRPr lang="en-US" sz="72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2834640"/>
            <a:ext cx="7772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altLang="en-US" sz="30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reality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3566160"/>
            <a:ext cx="7772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altLang="en-US" sz="1400" dirty="0">
                <a:solidFill>
                  <a:schemeClr val="accent2"/>
                </a:solidFill>
              </a:rPr>
              <a:t>Foreign investors spend millions of dirhams and forget one question: what happens next?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626864"/>
            <a:ext cx="548640" cy="38404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900">
                <a:solidFill>
                  <a:srgbClr val="D8C39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3"/>
          <p:cNvSpPr/>
          <p:nvPr>
            <p:ph idx="103" type="title" hasCustomPrompt="1"/>
          </p:nvPr>
        </p:nvSpPr>
        <p:spPr>
          <a:xfrm>
            <a:off x="457200" y="347472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0B0B0B"/>
                </a:solidFill>
              </a:rPr>
              <a:t>Common mistakes foreign investors make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46304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altLang="en-US" sz="1000" b="1" spc="300" kern="0" dirty="0">
                <a:solidFill>
                  <a:schemeClr val="accent1"/>
                </a:solidFill>
              </a:rPr>
              <a:t>THE MISTAKES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457200" y="1188720"/>
            <a:ext cx="457200" cy="457200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pic>
        <p:nvPicPr>
          <p:cNvPr id="5" name="icon FaTriangleExclamati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280160"/>
            <a:ext cx="274320" cy="27432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097280" y="1170432"/>
            <a:ext cx="44805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altLang="en-US" sz="1300" b="1" dirty="0">
                <a:solidFill>
                  <a:schemeClr val="tx1"/>
                </a:solidFill>
              </a:rPr>
              <a:t>Assuming your home-country law applies automatically</a:t>
            </a:r>
            <a:endParaRPr lang="en-US" sz="1300" dirty="0"/>
          </a:p>
          <a:p>
            <a:pPr algn="l" indent="0" marL="0">
              <a:spcAft>
                <a:spcPts val="200"/>
              </a:spcAft>
              <a:buNone/>
            </a:pPr>
            <a:r>
              <a:rPr lang="en-US" altLang="en-US" sz="1100" dirty="0">
                <a:solidFill>
                  <a:schemeClr val="accent3"/>
                </a:solidFill>
              </a:rPr>
              <a:t>UAE procedures differ by nationality, religion and circumstances, and may not be what you expect.</a:t>
            </a:r>
            <a:endParaRPr lang="en-US" sz="1300" dirty="0"/>
          </a:p>
        </p:txBody>
      </p:sp>
      <p:sp>
        <p:nvSpPr>
          <p:cNvPr id="7" name="Shape 4"/>
          <p:cNvSpPr/>
          <p:nvPr/>
        </p:nvSpPr>
        <p:spPr>
          <a:xfrm>
            <a:off x="457200" y="1847088"/>
            <a:ext cx="457200" cy="457200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pic>
        <p:nvPicPr>
          <p:cNvPr id="8" name="icon FaTriangleExclamation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938528"/>
            <a:ext cx="274320" cy="274320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1097280" y="1828800"/>
            <a:ext cx="44805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altLang="en-US" sz="1300" b="1" dirty="0">
                <a:solidFill>
                  <a:schemeClr val="tx1"/>
                </a:solidFill>
              </a:rPr>
              <a:t>Buying property with no will or structure</a:t>
            </a:r>
            <a:endParaRPr lang="en-US" sz="1300" dirty="0"/>
          </a:p>
          <a:p>
            <a:pPr algn="l" indent="0" marL="0">
              <a:spcAft>
                <a:spcPts val="200"/>
              </a:spcAft>
              <a:buNone/>
            </a:pPr>
            <a:r>
              <a:rPr lang="en-US" altLang="en-US" sz="1100" dirty="0">
                <a:solidFill>
                  <a:schemeClr val="accent3"/>
                </a:solidFill>
              </a:rPr>
              <a:t>Most buyers do not know the inheritance rules in the UAE.</a:t>
            </a:r>
            <a:endParaRPr lang="en-US" sz="1300" dirty="0"/>
          </a:p>
        </p:txBody>
      </p:sp>
      <p:sp>
        <p:nvSpPr>
          <p:cNvPr id="10" name="Shape 6"/>
          <p:cNvSpPr/>
          <p:nvPr/>
        </p:nvSpPr>
        <p:spPr>
          <a:xfrm>
            <a:off x="457200" y="2505456"/>
            <a:ext cx="457200" cy="457200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pic>
        <p:nvPicPr>
          <p:cNvPr id="11" name="icon FaTriangleExclamation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2596896"/>
            <a:ext cx="274320" cy="274320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1097280" y="2487168"/>
            <a:ext cx="44805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altLang="en-US" sz="1300" b="1" dirty="0">
                <a:solidFill>
                  <a:schemeClr val="tx1"/>
                </a:solidFill>
              </a:rPr>
              <a:t>Assets in several countries with no unified plan</a:t>
            </a:r>
            <a:endParaRPr lang="en-US" sz="1300" dirty="0"/>
          </a:p>
          <a:p>
            <a:pPr algn="l" indent="0" marL="0">
              <a:spcAft>
                <a:spcPts val="200"/>
              </a:spcAft>
              <a:buNone/>
            </a:pPr>
            <a:r>
              <a:rPr lang="en-US" altLang="en-US" sz="1100" dirty="0">
                <a:solidFill>
                  <a:schemeClr val="accent3"/>
                </a:solidFill>
              </a:rPr>
              <a:t>Conflicting or missing wills mean delays and disputes.</a:t>
            </a:r>
            <a:endParaRPr lang="en-US" sz="1300" dirty="0"/>
          </a:p>
        </p:txBody>
      </p:sp>
      <p:sp>
        <p:nvSpPr>
          <p:cNvPr id="13" name="Shape 8"/>
          <p:cNvSpPr/>
          <p:nvPr/>
        </p:nvSpPr>
        <p:spPr>
          <a:xfrm>
            <a:off x="457200" y="3163824"/>
            <a:ext cx="457200" cy="457200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pic>
        <p:nvPicPr>
          <p:cNvPr id="14" name="icon FaTriangleExclamation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8640" y="3255264"/>
            <a:ext cx="274320" cy="274320"/>
          </a:xfrm>
          <a:prstGeom prst="rect">
            <a:avLst/>
          </a:prstGeom>
        </p:spPr>
      </p:pic>
      <p:sp>
        <p:nvSpPr>
          <p:cNvPr id="15" name="Text 9"/>
          <p:cNvSpPr txBox="1"/>
          <p:nvPr/>
        </p:nvSpPr>
        <p:spPr>
          <a:xfrm>
            <a:off x="1097280" y="3145536"/>
            <a:ext cx="44805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altLang="en-US" sz="1300" b="1" dirty="0">
                <a:solidFill>
                  <a:schemeClr val="tx1"/>
                </a:solidFill>
              </a:rPr>
              <a:t>Not arranging guardianship for children</a:t>
            </a:r>
            <a:endParaRPr lang="en-US" sz="1300" dirty="0"/>
          </a:p>
          <a:p>
            <a:pPr algn="l" indent="0" marL="0">
              <a:spcAft>
                <a:spcPts val="200"/>
              </a:spcAft>
              <a:buNone/>
            </a:pPr>
            <a:r>
              <a:rPr lang="en-US" altLang="en-US" sz="1100" dirty="0">
                <a:solidFill>
                  <a:schemeClr val="accent3"/>
                </a:solidFill>
              </a:rPr>
              <a:t>No one is formally appointed to care for minors.</a:t>
            </a:r>
            <a:endParaRPr lang="en-US" sz="1300" dirty="0"/>
          </a:p>
        </p:txBody>
      </p:sp>
      <p:sp>
        <p:nvSpPr>
          <p:cNvPr id="16" name="Shape 10"/>
          <p:cNvSpPr/>
          <p:nvPr/>
        </p:nvSpPr>
        <p:spPr>
          <a:xfrm>
            <a:off x="457200" y="3822192"/>
            <a:ext cx="457200" cy="457200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pic>
        <p:nvPicPr>
          <p:cNvPr id="17" name="icon FaTriangleExclamation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48640" y="3913632"/>
            <a:ext cx="274320" cy="274320"/>
          </a:xfrm>
          <a:prstGeom prst="rect">
            <a:avLst/>
          </a:prstGeom>
        </p:spPr>
      </p:pic>
      <p:sp>
        <p:nvSpPr>
          <p:cNvPr id="18" name="Text 11"/>
          <p:cNvSpPr txBox="1"/>
          <p:nvPr/>
        </p:nvSpPr>
        <p:spPr>
          <a:xfrm>
            <a:off x="1097280" y="3803904"/>
            <a:ext cx="44805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altLang="en-US" sz="1300" b="1" dirty="0">
                <a:solidFill>
                  <a:schemeClr val="tx1"/>
                </a:solidFill>
              </a:rPr>
              <a:t>Company shares left outside any plan</a:t>
            </a:r>
            <a:endParaRPr lang="en-US" sz="1300" dirty="0"/>
          </a:p>
          <a:p>
            <a:pPr algn="l" indent="0" marL="0">
              <a:spcAft>
                <a:spcPts val="200"/>
              </a:spcAft>
              <a:buNone/>
            </a:pPr>
            <a:r>
              <a:rPr lang="en-US" altLang="en-US" sz="1100" dirty="0">
                <a:solidFill>
                  <a:schemeClr val="accent3"/>
                </a:solidFill>
              </a:rPr>
              <a:t>Business stalls and partner decisions freeze.</a:t>
            </a:r>
            <a:endParaRPr lang="en-US" sz="1300" dirty="0"/>
          </a:p>
        </p:txBody>
      </p:sp>
      <p:sp>
        <p:nvSpPr>
          <p:cNvPr id="19" name="Shape 12"/>
          <p:cNvSpPr/>
          <p:nvPr/>
        </p:nvSpPr>
        <p:spPr>
          <a:xfrm>
            <a:off x="5943600" y="1188720"/>
            <a:ext cx="2743200" cy="3246120"/>
          </a:xfrm>
          <a:prstGeom prst="rect">
            <a:avLst/>
          </a:prstGeom>
          <a:solidFill>
            <a:srgbClr val="0B0B0B"/>
          </a:solidFill>
          <a:ln w="12700">
            <a:solidFill>
              <a:srgbClr val="0B0B0B"/>
            </a:solidFill>
            <a:prstDash val="solid"/>
          </a:ln>
        </p:spPr>
      </p:sp>
      <p:sp>
        <p:nvSpPr>
          <p:cNvPr id="20" name="Shape 13"/>
          <p:cNvSpPr/>
          <p:nvPr/>
        </p:nvSpPr>
        <p:spPr>
          <a:xfrm>
            <a:off x="6053328" y="1298448"/>
            <a:ext cx="2523744" cy="3026664"/>
          </a:xfrm>
          <a:prstGeom prst="rect">
            <a:avLst/>
          </a:prstGeom>
          <a:ln w="9525">
            <a:solidFill>
              <a:srgbClr val="B08D57"/>
            </a:solidFill>
            <a:prstDash val="solid"/>
          </a:ln>
        </p:spPr>
      </p:sp>
      <p:sp>
        <p:nvSpPr>
          <p:cNvPr id="21" name="Text 14"/>
          <p:cNvSpPr txBox="1"/>
          <p:nvPr/>
        </p:nvSpPr>
        <p:spPr>
          <a:xfrm>
            <a:off x="6263640" y="1508760"/>
            <a:ext cx="2103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altLang="en-US" sz="1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Why does this happen?</a:t>
            </a:r>
            <a:endParaRPr lang="en-US" sz="1600" dirty="0"/>
          </a:p>
        </p:txBody>
      </p:sp>
      <p:sp>
        <p:nvSpPr>
          <p:cNvPr id="22" name="Text 15"/>
          <p:cNvSpPr txBox="1"/>
          <p:nvPr/>
        </p:nvSpPr>
        <p:spPr>
          <a:xfrm>
            <a:off x="6263640" y="2286000"/>
            <a:ext cx="210312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altLang="en-US" sz="1150" dirty="0">
                <a:solidFill>
                  <a:schemeClr val="bg2"/>
                </a:solidFill>
              </a:rPr>
              <a:t>Because nobody asked the investor the right question at the right moment. Today we ask it.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626864"/>
            <a:ext cx="548640" cy="38404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900">
                <a:solidFill>
                  <a:srgbClr val="6B6F7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3"/>
          <p:cNvSpPr/>
          <p:nvPr>
            <p:ph idx="103" type="title" hasCustomPrompt="1"/>
          </p:nvPr>
        </p:nvSpPr>
        <p:spPr>
          <a:xfrm>
            <a:off x="457200" y="347472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0B0B0B"/>
                </a:solidFill>
              </a:rPr>
              <a:t>What actually happens without planning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46304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altLang="en-US" sz="1000" b="1" spc="300" kern="0" dirty="0">
                <a:solidFill>
                  <a:schemeClr val="accent1"/>
                </a:solidFill>
              </a:rPr>
              <a:t>THE CONSEQUENCES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457200" y="1188720"/>
            <a:ext cx="1885950" cy="3246120"/>
          </a:xfrm>
          <a:prstGeom prst="rect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pic>
        <p:nvPicPr>
          <p:cNvPr id="5" name="icon FaLock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8368" y="1389888"/>
            <a:ext cx="310896" cy="310896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658368" y="1828800"/>
            <a:ext cx="1483614" cy="2450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300"/>
              </a:spcAft>
              <a:buNone/>
            </a:pPr>
            <a:r>
              <a:rPr lang="en-US" altLang="en-US" sz="1400" b="1" dirty="0">
                <a:solidFill>
                  <a:schemeClr val="tx1"/>
                </a:solidFill>
              </a:rPr>
              <a:t>Frozen accounts</a:t>
            </a:r>
            <a:endParaRPr lang="en-US" sz="1400" dirty="0"/>
          </a:p>
          <a:p>
            <a:pPr algn="l" indent="0" marL="0">
              <a:spcAft>
                <a:spcPts val="300"/>
              </a:spcAft>
              <a:buNone/>
            </a:pPr>
            <a:r>
              <a:rPr lang="en-US" altLang="en-US" sz="1150" dirty="0">
                <a:solidFill>
                  <a:schemeClr val="accent3"/>
                </a:solidFill>
              </a:rPr>
              <a:t>Bank accounts may be frozen until an estate distribution order issues, cutting off the family's expenses.</a:t>
            </a:r>
            <a:endParaRPr lang="en-US" sz="1400" dirty="0"/>
          </a:p>
        </p:txBody>
      </p:sp>
      <p:sp>
        <p:nvSpPr>
          <p:cNvPr id="7" name="Shape 4"/>
          <p:cNvSpPr/>
          <p:nvPr/>
        </p:nvSpPr>
        <p:spPr>
          <a:xfrm>
            <a:off x="2571750" y="1188720"/>
            <a:ext cx="1885950" cy="3246120"/>
          </a:xfrm>
          <a:prstGeom prst="rect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pic>
        <p:nvPicPr>
          <p:cNvPr id="8" name="icon FaHouseLock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72918" y="1389888"/>
            <a:ext cx="310896" cy="310896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2772918" y="1828800"/>
            <a:ext cx="1483614" cy="2450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300"/>
              </a:spcAft>
              <a:buNone/>
            </a:pPr>
            <a:r>
              <a:rPr lang="en-US" altLang="en-US" sz="1400" b="1" dirty="0">
                <a:solidFill>
                  <a:schemeClr val="tx1"/>
                </a:solidFill>
              </a:rPr>
              <a:t>Blocked ownership transfer</a:t>
            </a:r>
            <a:endParaRPr lang="en-US" sz="1400" dirty="0"/>
          </a:p>
          <a:p>
            <a:pPr algn="l" indent="0" marL="0">
              <a:spcAft>
                <a:spcPts val="300"/>
              </a:spcAft>
              <a:buNone/>
            </a:pPr>
            <a:r>
              <a:rPr lang="en-US" altLang="en-US" sz="1150" dirty="0">
                <a:solidFill>
                  <a:schemeClr val="accent3"/>
                </a:solidFill>
              </a:rPr>
              <a:t>The property waits for procedures that can be long and complex.</a:t>
            </a:r>
            <a:endParaRPr lang="en-US" sz="1400" dirty="0"/>
          </a:p>
        </p:txBody>
      </p:sp>
      <p:sp>
        <p:nvSpPr>
          <p:cNvPr id="10" name="Shape 6"/>
          <p:cNvSpPr/>
          <p:nvPr/>
        </p:nvSpPr>
        <p:spPr>
          <a:xfrm>
            <a:off x="4686300" y="1188720"/>
            <a:ext cx="1885950" cy="3246120"/>
          </a:xfrm>
          <a:prstGeom prst="rect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pic>
        <p:nvPicPr>
          <p:cNvPr id="11" name="icon FaPeopleArrows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87468" y="1389888"/>
            <a:ext cx="310896" cy="310896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4887468" y="1828800"/>
            <a:ext cx="1483614" cy="2450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300"/>
              </a:spcAft>
              <a:buNone/>
            </a:pPr>
            <a:r>
              <a:rPr lang="en-US" altLang="en-US" sz="1400" b="1" dirty="0">
                <a:solidFill>
                  <a:schemeClr val="tx1"/>
                </a:solidFill>
              </a:rPr>
              <a:t>Family disputes</a:t>
            </a:r>
            <a:endParaRPr lang="en-US" sz="1400" dirty="0"/>
          </a:p>
          <a:p>
            <a:pPr algn="l" indent="0" marL="0">
              <a:spcAft>
                <a:spcPts val="300"/>
              </a:spcAft>
              <a:buNone/>
            </a:pPr>
            <a:r>
              <a:rPr lang="en-US" altLang="en-US" sz="1150" dirty="0">
                <a:solidFill>
                  <a:schemeClr val="accent3"/>
                </a:solidFill>
              </a:rPr>
              <a:t>A lack of clarity invites conflict between heirs.</a:t>
            </a:r>
            <a:endParaRPr lang="en-US" sz="1400" dirty="0"/>
          </a:p>
        </p:txBody>
      </p:sp>
      <p:sp>
        <p:nvSpPr>
          <p:cNvPr id="13" name="Shape 8"/>
          <p:cNvSpPr/>
          <p:nvPr/>
        </p:nvSpPr>
        <p:spPr>
          <a:xfrm>
            <a:off x="6800850" y="1188720"/>
            <a:ext cx="1885950" cy="3246120"/>
          </a:xfrm>
          <a:prstGeom prst="rect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pic>
        <p:nvPicPr>
          <p:cNvPr id="14" name="icon FaChildren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02018" y="1389888"/>
            <a:ext cx="310896" cy="310896"/>
          </a:xfrm>
          <a:prstGeom prst="rect">
            <a:avLst/>
          </a:prstGeom>
        </p:spPr>
      </p:pic>
      <p:sp>
        <p:nvSpPr>
          <p:cNvPr id="15" name="Text 9"/>
          <p:cNvSpPr txBox="1"/>
          <p:nvPr/>
        </p:nvSpPr>
        <p:spPr>
          <a:xfrm>
            <a:off x="7002018" y="1828800"/>
            <a:ext cx="1483614" cy="2450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300"/>
              </a:spcAft>
              <a:buNone/>
            </a:pPr>
            <a:r>
              <a:rPr lang="en-US" altLang="en-US" sz="1400" b="1" dirty="0">
                <a:solidFill>
                  <a:schemeClr val="tx1"/>
                </a:solidFill>
              </a:rPr>
              <a:t>Problems for children and heirs</a:t>
            </a:r>
            <a:endParaRPr lang="en-US" sz="1400" dirty="0"/>
          </a:p>
          <a:p>
            <a:pPr algn="l" indent="0" marL="0">
              <a:spcAft>
                <a:spcPts val="300"/>
              </a:spcAft>
              <a:buNone/>
            </a:pPr>
            <a:r>
              <a:rPr lang="en-US" altLang="en-US" sz="1150" dirty="0">
                <a:solidFill>
                  <a:schemeClr val="accent3"/>
                </a:solidFill>
              </a:rPr>
              <a:t>No appointed guardian and no clear path for shares at home or abroad.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626864"/>
            <a:ext cx="548640" cy="38404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900">
                <a:solidFill>
                  <a:srgbClr val="6B6F7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1463040"/>
            <a:ext cx="18288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200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02</a:t>
            </a:r>
            <a:endParaRPr lang="en-US" sz="72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2834640"/>
            <a:ext cx="7772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altLang="en-US" sz="30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UAE legal framework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3566160"/>
            <a:ext cx="7772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altLang="en-US" sz="1400" dirty="0">
                <a:solidFill>
                  <a:schemeClr val="accent2"/>
                </a:solidFill>
              </a:rPr>
              <a:t>The investor has real options; what matters is choosing the right one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626864"/>
            <a:ext cx="548640" cy="38404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900">
                <a:solidFill>
                  <a:srgbClr val="D8C39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3"/>
          <p:cNvSpPr/>
          <p:nvPr>
            <p:ph idx="103" type="title" hasCustomPrompt="1"/>
          </p:nvPr>
        </p:nvSpPr>
        <p:spPr>
          <a:xfrm>
            <a:off x="457200" y="347472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0B0B0B"/>
                </a:solidFill>
              </a:rPr>
              <a:t>Where wills are registered in the UAE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46304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altLang="en-US" sz="1000" b="1" spc="300" kern="0" dirty="0">
                <a:solidFill>
                  <a:schemeClr val="accent1"/>
                </a:solidFill>
              </a:rPr>
              <a:t>LEGAL FRAMEWORK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457200" y="1188720"/>
            <a:ext cx="457200" cy="457200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pic>
        <p:nvPicPr>
          <p:cNvPr id="5" name="icon FaLandmark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280160"/>
            <a:ext cx="274320" cy="27432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097280" y="1170432"/>
            <a:ext cx="44805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altLang="en-US" sz="1300" b="1" dirty="0">
                <a:solidFill>
                  <a:schemeClr val="tx1"/>
                </a:solidFill>
              </a:rPr>
              <a:t>Dubai Courts</a:t>
            </a:r>
            <a:endParaRPr lang="en-US" sz="1300" dirty="0"/>
          </a:p>
          <a:p>
            <a:pPr algn="l" indent="0" marL="0">
              <a:spcAft>
                <a:spcPts val="200"/>
              </a:spcAft>
              <a:buNone/>
            </a:pPr>
            <a:r>
              <a:rPr lang="en-US" altLang="en-US" sz="1100" dirty="0">
                <a:solidFill>
                  <a:schemeClr val="accent3"/>
                </a:solidFill>
              </a:rPr>
              <a:t>Registration of non-Muslim wills with Dubai Courts under the non-Muslim personal status rules.</a:t>
            </a:r>
            <a:endParaRPr lang="en-US" sz="1300" dirty="0"/>
          </a:p>
        </p:txBody>
      </p:sp>
      <p:sp>
        <p:nvSpPr>
          <p:cNvPr id="7" name="Shape 4"/>
          <p:cNvSpPr/>
          <p:nvPr/>
        </p:nvSpPr>
        <p:spPr>
          <a:xfrm>
            <a:off x="457200" y="1847088"/>
            <a:ext cx="457200" cy="457200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pic>
        <p:nvPicPr>
          <p:cNvPr id="8" name="icon FaLandmark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938528"/>
            <a:ext cx="274320" cy="274320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1097280" y="1828800"/>
            <a:ext cx="44805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altLang="en-US" sz="1300" b="1" dirty="0">
                <a:solidFill>
                  <a:schemeClr val="tx1"/>
                </a:solidFill>
              </a:rPr>
              <a:t>Abu Dhabi Courts</a:t>
            </a:r>
            <a:endParaRPr lang="en-US" sz="1300" dirty="0"/>
          </a:p>
          <a:p>
            <a:pPr algn="l" indent="0" marL="0">
              <a:spcAft>
                <a:spcPts val="200"/>
              </a:spcAft>
              <a:buNone/>
            </a:pPr>
            <a:r>
              <a:rPr lang="en-US" altLang="en-US" sz="1100" dirty="0">
                <a:solidFill>
                  <a:schemeClr val="accent3"/>
                </a:solidFill>
              </a:rPr>
              <a:t>Registration with the Abu Dhabi Judicial Department for clients who prefer this route.</a:t>
            </a:r>
            <a:endParaRPr lang="en-US" sz="1300" dirty="0"/>
          </a:p>
        </p:txBody>
      </p:sp>
      <p:sp>
        <p:nvSpPr>
          <p:cNvPr id="10" name="Shape 6"/>
          <p:cNvSpPr/>
          <p:nvPr/>
        </p:nvSpPr>
        <p:spPr>
          <a:xfrm>
            <a:off x="457200" y="2505456"/>
            <a:ext cx="457200" cy="457200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pic>
        <p:nvPicPr>
          <p:cNvPr id="11" name="icon FaBuildingColumns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2596896"/>
            <a:ext cx="274320" cy="274320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1097280" y="2487168"/>
            <a:ext cx="44805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altLang="en-US" sz="1300" b="1" dirty="0">
                <a:solidFill>
                  <a:schemeClr val="tx1"/>
                </a:solidFill>
              </a:rPr>
              <a:t>DIFC Wills</a:t>
            </a:r>
            <a:endParaRPr lang="en-US" sz="1300" dirty="0"/>
          </a:p>
          <a:p>
            <a:pPr algn="l" indent="0" marL="0">
              <a:spcAft>
                <a:spcPts val="200"/>
              </a:spcAft>
              <a:buNone/>
            </a:pPr>
            <a:r>
              <a:rPr lang="en-US" altLang="en-US" sz="1100" dirty="0">
                <a:solidFill>
                  <a:schemeClr val="accent3"/>
                </a:solidFill>
              </a:rPr>
              <a:t>The DIFC wills registry for non-Muslims, in English, covering assets in the UAE.</a:t>
            </a:r>
            <a:endParaRPr lang="en-US" sz="1300" dirty="0"/>
          </a:p>
        </p:txBody>
      </p:sp>
      <p:sp>
        <p:nvSpPr>
          <p:cNvPr id="13" name="Shape 8"/>
          <p:cNvSpPr/>
          <p:nvPr/>
        </p:nvSpPr>
        <p:spPr>
          <a:xfrm>
            <a:off x="457200" y="3163824"/>
            <a:ext cx="457200" cy="457200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pic>
        <p:nvPicPr>
          <p:cNvPr id="14" name="icon FaBuildingColumns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8640" y="3255264"/>
            <a:ext cx="274320" cy="274320"/>
          </a:xfrm>
          <a:prstGeom prst="rect">
            <a:avLst/>
          </a:prstGeom>
        </p:spPr>
      </p:pic>
      <p:sp>
        <p:nvSpPr>
          <p:cNvPr id="15" name="Text 9"/>
          <p:cNvSpPr txBox="1"/>
          <p:nvPr/>
        </p:nvSpPr>
        <p:spPr>
          <a:xfrm>
            <a:off x="1097280" y="3145536"/>
            <a:ext cx="44805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altLang="en-US" sz="1300" b="1" dirty="0">
                <a:solidFill>
                  <a:schemeClr val="tx1"/>
                </a:solidFill>
              </a:rPr>
              <a:t>ADGM Wills</a:t>
            </a:r>
            <a:endParaRPr lang="en-US" sz="1300" dirty="0"/>
          </a:p>
          <a:p>
            <a:pPr algn="l" indent="0" marL="0">
              <a:spcAft>
                <a:spcPts val="200"/>
              </a:spcAft>
              <a:buNone/>
            </a:pPr>
            <a:r>
              <a:rPr lang="en-US" altLang="en-US" sz="1100" dirty="0">
                <a:solidFill>
                  <a:schemeClr val="accent3"/>
                </a:solidFill>
              </a:rPr>
              <a:t>The ADGM wills registry for non-Muslims, an alternative English-language route.</a:t>
            </a:r>
            <a:endParaRPr lang="en-US" sz="1300" dirty="0"/>
          </a:p>
        </p:txBody>
      </p:sp>
      <p:sp>
        <p:nvSpPr>
          <p:cNvPr id="16" name="Shape 10"/>
          <p:cNvSpPr/>
          <p:nvPr/>
        </p:nvSpPr>
        <p:spPr>
          <a:xfrm>
            <a:off x="457200" y="3822192"/>
            <a:ext cx="457200" cy="457200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pic>
        <p:nvPicPr>
          <p:cNvPr id="17" name="icon FaScaleBalanced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48640" y="3913632"/>
            <a:ext cx="274320" cy="274320"/>
          </a:xfrm>
          <a:prstGeom prst="rect">
            <a:avLst/>
          </a:prstGeom>
        </p:spPr>
      </p:pic>
      <p:sp>
        <p:nvSpPr>
          <p:cNvPr id="18" name="Text 11"/>
          <p:cNvSpPr txBox="1"/>
          <p:nvPr/>
        </p:nvSpPr>
        <p:spPr>
          <a:xfrm>
            <a:off x="1097280" y="3803904"/>
            <a:ext cx="44805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altLang="en-US" sz="1300" b="1" dirty="0">
                <a:solidFill>
                  <a:schemeClr val="tx1"/>
                </a:solidFill>
              </a:rPr>
              <a:t>Sharia or foreign law</a:t>
            </a:r>
            <a:endParaRPr lang="en-US" sz="1300" dirty="0"/>
          </a:p>
          <a:p>
            <a:pPr algn="l" indent="0" marL="0">
              <a:spcAft>
                <a:spcPts val="200"/>
              </a:spcAft>
              <a:buNone/>
            </a:pPr>
            <a:r>
              <a:rPr lang="en-US" altLang="en-US" sz="1100" dirty="0">
                <a:solidFill>
                  <a:schemeClr val="accent3"/>
                </a:solidFill>
              </a:rPr>
              <a:t>We determine the applicable law by the client's nationality, religion and wishes.</a:t>
            </a:r>
            <a:endParaRPr lang="en-US" sz="1300" dirty="0"/>
          </a:p>
        </p:txBody>
      </p:sp>
      <p:sp>
        <p:nvSpPr>
          <p:cNvPr id="19" name="Shape 12"/>
          <p:cNvSpPr/>
          <p:nvPr/>
        </p:nvSpPr>
        <p:spPr>
          <a:xfrm>
            <a:off x="5943600" y="1188720"/>
            <a:ext cx="2743200" cy="3246120"/>
          </a:xfrm>
          <a:prstGeom prst="rect">
            <a:avLst/>
          </a:prstGeom>
          <a:solidFill>
            <a:srgbClr val="0B0B0B"/>
          </a:solidFill>
          <a:ln w="12700">
            <a:solidFill>
              <a:srgbClr val="0B0B0B"/>
            </a:solidFill>
            <a:prstDash val="solid"/>
          </a:ln>
        </p:spPr>
      </p:sp>
      <p:sp>
        <p:nvSpPr>
          <p:cNvPr id="20" name="Shape 13"/>
          <p:cNvSpPr/>
          <p:nvPr/>
        </p:nvSpPr>
        <p:spPr>
          <a:xfrm>
            <a:off x="6053328" y="1298448"/>
            <a:ext cx="2523744" cy="3026664"/>
          </a:xfrm>
          <a:prstGeom prst="rect">
            <a:avLst/>
          </a:prstGeom>
          <a:ln w="9525">
            <a:solidFill>
              <a:srgbClr val="B08D57"/>
            </a:solidFill>
            <a:prstDash val="solid"/>
          </a:ln>
        </p:spPr>
      </p:sp>
      <p:sp>
        <p:nvSpPr>
          <p:cNvPr id="21" name="Text 14"/>
          <p:cNvSpPr txBox="1"/>
          <p:nvPr/>
        </p:nvSpPr>
        <p:spPr>
          <a:xfrm>
            <a:off x="6263640" y="1508760"/>
            <a:ext cx="2103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altLang="en-US" sz="1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Every client is a distinct case</a:t>
            </a:r>
            <a:endParaRPr lang="en-US" sz="1600" dirty="0"/>
          </a:p>
        </p:txBody>
      </p:sp>
      <p:sp>
        <p:nvSpPr>
          <p:cNvPr id="22" name="Text 15"/>
          <p:cNvSpPr txBox="1"/>
          <p:nvPr/>
        </p:nvSpPr>
        <p:spPr>
          <a:xfrm>
            <a:off x="6263640" y="2286000"/>
            <a:ext cx="210312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altLang="en-US" sz="1150" dirty="0">
                <a:solidFill>
                  <a:schemeClr val="bg2"/>
                </a:solidFill>
              </a:rPr>
              <a:t>Nationality, religion, family status and where the assets sit decide the right route. That is why we always start with a discovery session, not with a will type.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626864"/>
            <a:ext cx="548640" cy="38404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900">
                <a:solidFill>
                  <a:srgbClr val="6B6F7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3"/>
          <p:cNvSpPr/>
          <p:nvPr>
            <p:ph idx="103" type="title" hasCustomPrompt="1"/>
          </p:nvPr>
        </p:nvSpPr>
        <p:spPr>
          <a:xfrm>
            <a:off x="457200" y="347472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0B0B0B"/>
                </a:solidFill>
              </a:rPr>
              <a:t>The main routes at a glance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46304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altLang="en-US" sz="1000" b="1" spc="300" kern="0" dirty="0">
                <a:solidFill>
                  <a:schemeClr val="accent1"/>
                </a:solidFill>
              </a:rPr>
              <a:t>A GENERAL COMPARISON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457200" y="1188720"/>
            <a:ext cx="2590800" cy="548640"/>
          </a:xfrm>
          <a:prstGeom prst="rect">
            <a:avLst/>
          </a:prstGeom>
          <a:solidFill>
            <a:srgbClr val="0B0B0B"/>
          </a:solidFill>
          <a:ln w="12700">
            <a:solidFill>
              <a:srgbClr val="0B0B0B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94360" y="1188720"/>
            <a:ext cx="2316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altLang="en-US" sz="1300" b="1" dirty="0">
                <a:solidFill>
                  <a:schemeClr val="accent2"/>
                </a:solidFill>
              </a:rPr>
              <a:t>Local courts (Dubai / Abu Dhabi)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457200" y="1737360"/>
            <a:ext cx="2590800" cy="2697480"/>
          </a:xfrm>
          <a:prstGeom prst="rect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94360" y="1874520"/>
            <a:ext cx="231648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52400" indent="-152400">
              <a:spcAft>
                <a:spcPts val="500"/>
              </a:spcAft>
              <a:buSzPct val="100000"/>
              <a:buChar char="•"/>
            </a:pPr>
            <a:r>
              <a:rPr lang="en-US" altLang="en-US" sz="1100" dirty="0">
                <a:solidFill>
                  <a:schemeClr val="tx2"/>
                </a:solidFill>
              </a:rPr>
              <a:t>Local registration of non-Muslim wills</a:t>
            </a:r>
            <a:endParaRPr lang="en-US" sz="1100" dirty="0"/>
          </a:p>
          <a:p>
            <a:pPr algn="l" marL="152400" indent="-152400">
              <a:spcAft>
                <a:spcPts val="500"/>
              </a:spcAft>
              <a:buSzPct val="100000"/>
              <a:buChar char="•"/>
            </a:pPr>
            <a:r>
              <a:rPr lang="en-US" altLang="en-US" sz="1100" dirty="0">
                <a:solidFill>
                  <a:schemeClr val="tx2"/>
                </a:solidFill>
              </a:rPr>
              <a:t>Arabic document with certified translation</a:t>
            </a:r>
            <a:endParaRPr lang="en-US" sz="1100" dirty="0"/>
          </a:p>
          <a:p>
            <a:pPr algn="l" marL="152400" indent="-152400">
              <a:spcAft>
                <a:spcPts val="500"/>
              </a:spcAft>
              <a:buSzPct val="100000"/>
              <a:buChar char="•"/>
            </a:pPr>
            <a:r>
              <a:rPr lang="en-US" altLang="en-US" sz="1100" dirty="0">
                <a:solidFill>
                  <a:schemeClr val="tx2"/>
                </a:solidFill>
              </a:rPr>
              <a:t>Suits those who prefer the local route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276600" y="1188720"/>
            <a:ext cx="2590800" cy="548640"/>
          </a:xfrm>
          <a:prstGeom prst="rect">
            <a:avLst/>
          </a:prstGeom>
          <a:solidFill>
            <a:srgbClr val="B08D57"/>
          </a:solidFill>
          <a:ln w="12700">
            <a:solidFill>
              <a:srgbClr val="B08D57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413760" y="1188720"/>
            <a:ext cx="2316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altLang="en-US" sz="1300" b="1" dirty="0">
                <a:solidFill>
                  <a:schemeClr val="tx1"/>
                </a:solidFill>
              </a:rPr>
              <a:t>DIFC Wills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3276600" y="1737360"/>
            <a:ext cx="2590800" cy="2697480"/>
          </a:xfrm>
          <a:prstGeom prst="rect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3413760" y="1874520"/>
            <a:ext cx="231648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52400" indent="-152400">
              <a:spcAft>
                <a:spcPts val="500"/>
              </a:spcAft>
              <a:buSzPct val="100000"/>
              <a:buChar char="•"/>
            </a:pPr>
            <a:r>
              <a:rPr lang="en-US" altLang="en-US" sz="1100" dirty="0">
                <a:solidFill>
                  <a:schemeClr val="tx2"/>
                </a:solidFill>
              </a:rPr>
              <a:t>A wills registry for non-Muslims in Dubai</a:t>
            </a:r>
            <a:endParaRPr lang="en-US" sz="1100" dirty="0"/>
          </a:p>
          <a:p>
            <a:pPr algn="l" marL="152400" indent="-152400">
              <a:spcAft>
                <a:spcPts val="500"/>
              </a:spcAft>
              <a:buSzPct val="100000"/>
              <a:buChar char="•"/>
            </a:pPr>
            <a:r>
              <a:rPr lang="en-US" altLang="en-US" sz="1100" dirty="0">
                <a:solidFill>
                  <a:schemeClr val="tx2"/>
                </a:solidFill>
              </a:rPr>
              <a:t>An English document covering UAE assets</a:t>
            </a:r>
            <a:endParaRPr lang="en-US" sz="1100" dirty="0"/>
          </a:p>
          <a:p>
            <a:pPr algn="l" marL="152400" indent="-152400">
              <a:spcAft>
                <a:spcPts val="500"/>
              </a:spcAft>
              <a:buSzPct val="100000"/>
              <a:buChar char="•"/>
            </a:pPr>
            <a:r>
              <a:rPr lang="en-US" altLang="en-US" sz="1100" dirty="0">
                <a:solidFill>
                  <a:schemeClr val="tx2"/>
                </a:solidFill>
              </a:rPr>
              <a:t>A common choice for Europeans, Russians and Indians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6096000" y="1188720"/>
            <a:ext cx="2590800" cy="548640"/>
          </a:xfrm>
          <a:prstGeom prst="rect">
            <a:avLst/>
          </a:prstGeom>
          <a:solidFill>
            <a:srgbClr val="0B0B0B"/>
          </a:solidFill>
          <a:ln w="12700">
            <a:solidFill>
              <a:srgbClr val="0B0B0B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233160" y="1188720"/>
            <a:ext cx="2316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altLang="en-US" sz="1300" b="1" dirty="0">
                <a:solidFill>
                  <a:schemeClr val="accent2"/>
                </a:solidFill>
              </a:rPr>
              <a:t>ADGM Wills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6096000" y="1737360"/>
            <a:ext cx="2590800" cy="2697480"/>
          </a:xfrm>
          <a:prstGeom prst="rect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233160" y="1874520"/>
            <a:ext cx="231648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52400" indent="-152400">
              <a:spcAft>
                <a:spcPts val="500"/>
              </a:spcAft>
              <a:buSzPct val="100000"/>
              <a:buChar char="•"/>
            </a:pPr>
            <a:r>
              <a:rPr lang="en-US" altLang="en-US" sz="1100" dirty="0">
                <a:solidFill>
                  <a:schemeClr val="tx2"/>
                </a:solidFill>
              </a:rPr>
              <a:t>A wills registry for non-Muslims in Abu Dhabi</a:t>
            </a:r>
            <a:endParaRPr lang="en-US" sz="1100" dirty="0"/>
          </a:p>
          <a:p>
            <a:pPr algn="l" marL="152400" indent="-152400">
              <a:spcAft>
                <a:spcPts val="500"/>
              </a:spcAft>
              <a:buSzPct val="100000"/>
              <a:buChar char="•"/>
            </a:pPr>
            <a:r>
              <a:rPr lang="en-US" altLang="en-US" sz="1100" dirty="0">
                <a:solidFill>
                  <a:schemeClr val="tx2"/>
                </a:solidFill>
              </a:rPr>
              <a:t>An English-language document</a:t>
            </a:r>
            <a:endParaRPr lang="en-US" sz="1100" dirty="0"/>
          </a:p>
          <a:p>
            <a:pPr algn="l" marL="152400" indent="-152400">
              <a:spcAft>
                <a:spcPts val="500"/>
              </a:spcAft>
              <a:buSzPct val="100000"/>
              <a:buChar char="•"/>
            </a:pPr>
            <a:r>
              <a:rPr lang="en-US" altLang="en-US" sz="1100" dirty="0">
                <a:solidFill>
                  <a:schemeClr val="tx2"/>
                </a:solidFill>
              </a:rPr>
              <a:t>An alternative route depending on assets and preference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626864"/>
            <a:ext cx="548640" cy="38404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900">
                <a:solidFill>
                  <a:srgbClr val="6B6F7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1463040"/>
            <a:ext cx="18288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200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03</a:t>
            </a:r>
            <a:endParaRPr lang="en-US" sz="72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2834640"/>
            <a:ext cx="7772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altLang="en-US" sz="30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Protection tools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3566160"/>
            <a:ext cx="7772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altLang="en-US" sz="1400" dirty="0">
                <a:solidFill>
                  <a:schemeClr val="accent2"/>
                </a:solidFill>
              </a:rPr>
              <a:t>From a simple will to multi-generational wealth structuring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626864"/>
            <a:ext cx="548640" cy="38404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900">
                <a:solidFill>
                  <a:srgbClr val="D8C39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3"/>
          <p:cNvSpPr/>
          <p:nvPr>
            <p:ph idx="103" type="title" hasCustomPrompt="1"/>
          </p:nvPr>
        </p:nvSpPr>
        <p:spPr>
          <a:xfrm>
            <a:off x="457200" y="347472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0B0B0B"/>
                </a:solidFill>
              </a:rPr>
              <a:t>The protection tools available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46304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altLang="en-US" sz="1000" b="1" spc="300" kern="0" dirty="0">
                <a:solidFill>
                  <a:schemeClr val="accent1"/>
                </a:solidFill>
              </a:rPr>
              <a:t>THE TOOLKIT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457200" y="1188720"/>
            <a:ext cx="1885950" cy="1508760"/>
          </a:xfrm>
          <a:prstGeom prst="rect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pic>
        <p:nvPicPr>
          <p:cNvPr id="5" name="icon FaFileSignature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8368" y="1389888"/>
            <a:ext cx="310896" cy="310896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658368" y="1828800"/>
            <a:ext cx="148361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300"/>
              </a:spcAft>
              <a:buNone/>
            </a:pPr>
            <a:r>
              <a:rPr lang="en-US" altLang="en-US" sz="1250" b="1" dirty="0">
                <a:solidFill>
                  <a:schemeClr val="tx1"/>
                </a:solidFill>
              </a:rPr>
              <a:t>Individual will</a:t>
            </a:r>
            <a:endParaRPr lang="en-US" sz="1250" dirty="0"/>
          </a:p>
          <a:p>
            <a:pPr algn="l" indent="0" marL="0">
              <a:spcAft>
                <a:spcPts val="300"/>
              </a:spcAft>
              <a:buNone/>
            </a:pPr>
            <a:r>
              <a:rPr lang="en-US" altLang="en-US" sz="1050" dirty="0">
                <a:solidFill>
                  <a:schemeClr val="accent3"/>
                </a:solidFill>
              </a:rPr>
              <a:t>Your UAE assets, guardians and executors.</a:t>
            </a:r>
            <a:endParaRPr lang="en-US" sz="1250" dirty="0"/>
          </a:p>
        </p:txBody>
      </p:sp>
      <p:sp>
        <p:nvSpPr>
          <p:cNvPr id="7" name="Shape 4"/>
          <p:cNvSpPr/>
          <p:nvPr/>
        </p:nvSpPr>
        <p:spPr>
          <a:xfrm>
            <a:off x="2571750" y="1188720"/>
            <a:ext cx="1885950" cy="1508760"/>
          </a:xfrm>
          <a:prstGeom prst="rect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pic>
        <p:nvPicPr>
          <p:cNvPr id="8" name="icon FaUserGroup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72918" y="1389888"/>
            <a:ext cx="310896" cy="310896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2772918" y="1828800"/>
            <a:ext cx="148361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300"/>
              </a:spcAft>
              <a:buNone/>
            </a:pPr>
            <a:r>
              <a:rPr lang="en-US" altLang="en-US" sz="1250" b="1" dirty="0">
                <a:solidFill>
                  <a:schemeClr val="tx1"/>
                </a:solidFill>
              </a:rPr>
              <a:t>Spousal wills</a:t>
            </a:r>
            <a:endParaRPr lang="en-US" sz="1250" dirty="0"/>
          </a:p>
          <a:p>
            <a:pPr algn="l" indent="0" marL="0">
              <a:spcAft>
                <a:spcPts val="300"/>
              </a:spcAft>
              <a:buNone/>
            </a:pPr>
            <a:r>
              <a:rPr lang="en-US" altLang="en-US" sz="1050" dirty="0">
                <a:solidFill>
                  <a:schemeClr val="accent3"/>
                </a:solidFill>
              </a:rPr>
              <a:t>Two matching wills protecting the family and children.</a:t>
            </a:r>
            <a:endParaRPr lang="en-US" sz="1250" dirty="0"/>
          </a:p>
        </p:txBody>
      </p:sp>
      <p:sp>
        <p:nvSpPr>
          <p:cNvPr id="10" name="Shape 6"/>
          <p:cNvSpPr/>
          <p:nvPr/>
        </p:nvSpPr>
        <p:spPr>
          <a:xfrm>
            <a:off x="4686300" y="1188720"/>
            <a:ext cx="1885950" cy="1508760"/>
          </a:xfrm>
          <a:prstGeom prst="rect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pic>
        <p:nvPicPr>
          <p:cNvPr id="11" name="icon FaHouse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87468" y="1389888"/>
            <a:ext cx="310896" cy="310896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4887468" y="1828800"/>
            <a:ext cx="148361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300"/>
              </a:spcAft>
              <a:buNone/>
            </a:pPr>
            <a:r>
              <a:rPr lang="en-US" altLang="en-US" sz="1250" b="1" dirty="0">
                <a:solidFill>
                  <a:schemeClr val="tx1"/>
                </a:solidFill>
              </a:rPr>
              <a:t>Property will</a:t>
            </a:r>
            <a:endParaRPr lang="en-US" sz="1250" dirty="0"/>
          </a:p>
          <a:p>
            <a:pPr algn="l" indent="0" marL="0">
              <a:spcAft>
                <a:spcPts val="300"/>
              </a:spcAft>
              <a:buNone/>
            </a:pPr>
            <a:r>
              <a:rPr lang="en-US" altLang="en-US" sz="1050" dirty="0">
                <a:solidFill>
                  <a:schemeClr val="accent3"/>
                </a:solidFill>
              </a:rPr>
              <a:t>For UAE real estate only.</a:t>
            </a:r>
            <a:endParaRPr lang="en-US" sz="1250" dirty="0"/>
          </a:p>
        </p:txBody>
      </p:sp>
      <p:sp>
        <p:nvSpPr>
          <p:cNvPr id="13" name="Shape 8"/>
          <p:cNvSpPr/>
          <p:nvPr/>
        </p:nvSpPr>
        <p:spPr>
          <a:xfrm>
            <a:off x="6800850" y="1188720"/>
            <a:ext cx="1885950" cy="1508760"/>
          </a:xfrm>
          <a:prstGeom prst="rect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pic>
        <p:nvPicPr>
          <p:cNvPr id="14" name="icon FaBriefcase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02018" y="1389888"/>
            <a:ext cx="310896" cy="310896"/>
          </a:xfrm>
          <a:prstGeom prst="rect">
            <a:avLst/>
          </a:prstGeom>
        </p:spPr>
      </p:pic>
      <p:sp>
        <p:nvSpPr>
          <p:cNvPr id="15" name="Text 9"/>
          <p:cNvSpPr txBox="1"/>
          <p:nvPr/>
        </p:nvSpPr>
        <p:spPr>
          <a:xfrm>
            <a:off x="7002018" y="1828800"/>
            <a:ext cx="148361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300"/>
              </a:spcAft>
              <a:buNone/>
            </a:pPr>
            <a:r>
              <a:rPr lang="en-US" altLang="en-US" sz="1250" b="1" dirty="0">
                <a:solidFill>
                  <a:schemeClr val="tx1"/>
                </a:solidFill>
              </a:rPr>
              <a:t>Business will</a:t>
            </a:r>
            <a:endParaRPr lang="en-US" sz="1250" dirty="0"/>
          </a:p>
          <a:p>
            <a:pPr algn="l" indent="0" marL="0">
              <a:spcAft>
                <a:spcPts val="300"/>
              </a:spcAft>
              <a:buNone/>
            </a:pPr>
            <a:r>
              <a:rPr lang="en-US" altLang="en-US" sz="1050" dirty="0">
                <a:solidFill>
                  <a:schemeClr val="accent3"/>
                </a:solidFill>
              </a:rPr>
              <a:t>Company shares and business continuity.</a:t>
            </a:r>
            <a:endParaRPr lang="en-US" sz="1250" dirty="0"/>
          </a:p>
        </p:txBody>
      </p:sp>
      <p:sp>
        <p:nvSpPr>
          <p:cNvPr id="16" name="Shape 10"/>
          <p:cNvSpPr/>
          <p:nvPr/>
        </p:nvSpPr>
        <p:spPr>
          <a:xfrm>
            <a:off x="457200" y="2926080"/>
            <a:ext cx="1885950" cy="1508760"/>
          </a:xfrm>
          <a:prstGeom prst="rect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pic>
        <p:nvPicPr>
          <p:cNvPr id="17" name="icon FaSitemap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8368" y="3127248"/>
            <a:ext cx="310896" cy="310896"/>
          </a:xfrm>
          <a:prstGeom prst="rect">
            <a:avLst/>
          </a:prstGeom>
        </p:spPr>
      </p:pic>
      <p:sp>
        <p:nvSpPr>
          <p:cNvPr id="18" name="Text 11"/>
          <p:cNvSpPr txBox="1"/>
          <p:nvPr/>
        </p:nvSpPr>
        <p:spPr>
          <a:xfrm>
            <a:off x="658368" y="3566160"/>
            <a:ext cx="148361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300"/>
              </a:spcAft>
              <a:buNone/>
            </a:pPr>
            <a:r>
              <a:rPr lang="en-US" altLang="en-US" sz="1250" b="1" dirty="0">
                <a:solidFill>
                  <a:schemeClr val="tx1"/>
                </a:solidFill>
              </a:rPr>
              <a:t>Holding / SPV</a:t>
            </a:r>
            <a:endParaRPr lang="en-US" sz="1250" dirty="0"/>
          </a:p>
          <a:p>
            <a:pPr algn="l" indent="0" marL="0">
              <a:spcAft>
                <a:spcPts val="300"/>
              </a:spcAft>
              <a:buNone/>
            </a:pPr>
            <a:r>
              <a:rPr lang="en-US" altLang="en-US" sz="1050" dirty="0">
                <a:solidFill>
                  <a:schemeClr val="accent3"/>
                </a:solidFill>
              </a:rPr>
              <a:t>A holding company linked to the succession plan.</a:t>
            </a:r>
            <a:endParaRPr lang="en-US" sz="1250" dirty="0"/>
          </a:p>
        </p:txBody>
      </p:sp>
      <p:sp>
        <p:nvSpPr>
          <p:cNvPr id="19" name="Shape 12"/>
          <p:cNvSpPr/>
          <p:nvPr/>
        </p:nvSpPr>
        <p:spPr>
          <a:xfrm>
            <a:off x="2571750" y="2926080"/>
            <a:ext cx="1885950" cy="1508760"/>
          </a:xfrm>
          <a:prstGeom prst="rect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pic>
        <p:nvPicPr>
          <p:cNvPr id="20" name="icon FaLandmark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772918" y="3127248"/>
            <a:ext cx="310896" cy="310896"/>
          </a:xfrm>
          <a:prstGeom prst="rect">
            <a:avLst/>
          </a:prstGeom>
        </p:spPr>
      </p:pic>
      <p:sp>
        <p:nvSpPr>
          <p:cNvPr id="21" name="Text 13"/>
          <p:cNvSpPr txBox="1"/>
          <p:nvPr/>
        </p:nvSpPr>
        <p:spPr>
          <a:xfrm>
            <a:off x="2772918" y="3566160"/>
            <a:ext cx="148361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300"/>
              </a:spcAft>
              <a:buNone/>
            </a:pPr>
            <a:r>
              <a:rPr lang="en-US" altLang="en-US" sz="1250" b="1" dirty="0">
                <a:solidFill>
                  <a:schemeClr val="tx1"/>
                </a:solidFill>
              </a:rPr>
              <a:t>Foundation or trust</a:t>
            </a:r>
            <a:endParaRPr lang="en-US" sz="1250" dirty="0"/>
          </a:p>
          <a:p>
            <a:pPr algn="l" indent="0" marL="0">
              <a:spcAft>
                <a:spcPts val="300"/>
              </a:spcAft>
              <a:buNone/>
            </a:pPr>
            <a:r>
              <a:rPr lang="en-US" altLang="en-US" sz="1050" dirty="0">
                <a:solidFill>
                  <a:schemeClr val="accent3"/>
                </a:solidFill>
              </a:rPr>
              <a:t>Wealth protection across generations.</a:t>
            </a:r>
            <a:endParaRPr lang="en-US" sz="1250" dirty="0"/>
          </a:p>
        </p:txBody>
      </p:sp>
      <p:sp>
        <p:nvSpPr>
          <p:cNvPr id="22" name="Shape 14"/>
          <p:cNvSpPr/>
          <p:nvPr/>
        </p:nvSpPr>
        <p:spPr>
          <a:xfrm>
            <a:off x="4686300" y="2926080"/>
            <a:ext cx="1885950" cy="1508760"/>
          </a:xfrm>
          <a:prstGeom prst="rect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pic>
        <p:nvPicPr>
          <p:cNvPr id="23" name="icon FaPeopleRoof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887468" y="3127248"/>
            <a:ext cx="310896" cy="310896"/>
          </a:xfrm>
          <a:prstGeom prst="rect">
            <a:avLst/>
          </a:prstGeom>
        </p:spPr>
      </p:pic>
      <p:sp>
        <p:nvSpPr>
          <p:cNvPr id="24" name="Text 15"/>
          <p:cNvSpPr txBox="1"/>
          <p:nvPr/>
        </p:nvSpPr>
        <p:spPr>
          <a:xfrm>
            <a:off x="4887468" y="3566160"/>
            <a:ext cx="148361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300"/>
              </a:spcAft>
              <a:buNone/>
            </a:pPr>
            <a:r>
              <a:rPr lang="en-US" altLang="en-US" sz="1250" b="1" dirty="0">
                <a:solidFill>
                  <a:schemeClr val="tx1"/>
                </a:solidFill>
              </a:rPr>
              <a:t>Family governance</a:t>
            </a:r>
            <a:endParaRPr lang="en-US" sz="1250" dirty="0"/>
          </a:p>
          <a:p>
            <a:pPr algn="l" indent="0" marL="0">
              <a:spcAft>
                <a:spcPts val="300"/>
              </a:spcAft>
              <a:buNone/>
            </a:pPr>
            <a:r>
              <a:rPr lang="en-US" altLang="en-US" sz="1050" dirty="0">
                <a:solidFill>
                  <a:schemeClr val="accent3"/>
                </a:solidFill>
              </a:rPr>
              <a:t>Family office and partnership agreements.</a:t>
            </a:r>
            <a:endParaRPr lang="en-US" sz="1250" dirty="0"/>
          </a:p>
        </p:txBody>
      </p:sp>
      <p:sp>
        <p:nvSpPr>
          <p:cNvPr id="25" name="Shape 16"/>
          <p:cNvSpPr/>
          <p:nvPr/>
        </p:nvSpPr>
        <p:spPr>
          <a:xfrm>
            <a:off x="6800850" y="2926080"/>
            <a:ext cx="1885950" cy="1508760"/>
          </a:xfrm>
          <a:prstGeom prst="rect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pic>
        <p:nvPicPr>
          <p:cNvPr id="26" name="icon FaKey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002018" y="3127248"/>
            <a:ext cx="310896" cy="310896"/>
          </a:xfrm>
          <a:prstGeom prst="rect">
            <a:avLst/>
          </a:prstGeom>
        </p:spPr>
      </p:pic>
      <p:sp>
        <p:nvSpPr>
          <p:cNvPr id="27" name="Text 17"/>
          <p:cNvSpPr txBox="1"/>
          <p:nvPr/>
        </p:nvSpPr>
        <p:spPr>
          <a:xfrm>
            <a:off x="7002018" y="3566160"/>
            <a:ext cx="148361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300"/>
              </a:spcAft>
              <a:buNone/>
            </a:pPr>
            <a:r>
              <a:rPr lang="en-US" altLang="en-US" sz="1250" b="1" dirty="0">
                <a:solidFill>
                  <a:schemeClr val="tx1"/>
                </a:solidFill>
              </a:rPr>
              <a:t>Ownership transfer</a:t>
            </a:r>
            <a:endParaRPr lang="en-US" sz="1250" dirty="0"/>
          </a:p>
          <a:p>
            <a:pPr algn="l" indent="0" marL="0">
              <a:spcAft>
                <a:spcPts val="300"/>
              </a:spcAft>
              <a:buNone/>
            </a:pPr>
            <a:r>
              <a:rPr lang="en-US" altLang="en-US" sz="1050" dirty="0">
                <a:solidFill>
                  <a:schemeClr val="accent3"/>
                </a:solidFill>
              </a:rPr>
              <a:t>Representing heirs and completing procedures.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626864"/>
            <a:ext cx="548640" cy="38404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900">
                <a:solidFill>
                  <a:srgbClr val="6B6F7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3"/>
          <p:cNvSpPr/>
          <p:nvPr>
            <p:ph idx="103" type="title" hasCustomPrompt="1"/>
          </p:nvPr>
        </p:nvSpPr>
        <p:spPr>
          <a:xfrm>
            <a:off x="457200" y="347472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0B0B0B"/>
                </a:solidFill>
              </a:rPr>
              <a:t>What a good plan must cover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46304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altLang="en-US" sz="1000" b="1" spc="300" kern="0" dirty="0">
                <a:solidFill>
                  <a:schemeClr val="accent1"/>
                </a:solidFill>
              </a:rPr>
              <a:t>THE CHECKLIST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457200" y="1188720"/>
            <a:ext cx="457200" cy="457200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pic>
        <p:nvPicPr>
          <p:cNvPr id="5" name="icon FaListCheck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280160"/>
            <a:ext cx="274320" cy="27432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097280" y="1170432"/>
            <a:ext cx="758952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altLang="en-US" sz="1300" b="1" dirty="0">
                <a:solidFill>
                  <a:schemeClr val="tx1"/>
                </a:solidFill>
              </a:rPr>
              <a:t>Every asset in the UAE</a:t>
            </a:r>
            <a:endParaRPr lang="en-US" sz="1300" dirty="0"/>
          </a:p>
          <a:p>
            <a:pPr algn="l" indent="0" marL="0">
              <a:spcAft>
                <a:spcPts val="200"/>
              </a:spcAft>
              <a:buNone/>
            </a:pPr>
            <a:r>
              <a:rPr lang="en-US" altLang="en-US" sz="1100" dirty="0">
                <a:solidFill>
                  <a:schemeClr val="accent3"/>
                </a:solidFill>
              </a:rPr>
              <a:t>Property, accounts, companies, vehicles, investments.</a:t>
            </a:r>
            <a:endParaRPr lang="en-US" sz="1300" dirty="0"/>
          </a:p>
        </p:txBody>
      </p:sp>
      <p:sp>
        <p:nvSpPr>
          <p:cNvPr id="7" name="Shape 4"/>
          <p:cNvSpPr/>
          <p:nvPr/>
        </p:nvSpPr>
        <p:spPr>
          <a:xfrm>
            <a:off x="457200" y="1847088"/>
            <a:ext cx="457200" cy="457200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pic>
        <p:nvPicPr>
          <p:cNvPr id="8" name="icon FaListCheck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938528"/>
            <a:ext cx="274320" cy="274320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1097280" y="1828800"/>
            <a:ext cx="758952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altLang="en-US" sz="1300" b="1" dirty="0">
                <a:solidFill>
                  <a:schemeClr val="tx1"/>
                </a:solidFill>
              </a:rPr>
              <a:t>Guardians and executors</a:t>
            </a:r>
            <a:endParaRPr lang="en-US" sz="1300" dirty="0"/>
          </a:p>
          <a:p>
            <a:pPr algn="l" indent="0" marL="0">
              <a:spcAft>
                <a:spcPts val="200"/>
              </a:spcAft>
              <a:buNone/>
            </a:pPr>
            <a:r>
              <a:rPr lang="en-US" altLang="en-US" sz="1100" dirty="0">
                <a:solidFill>
                  <a:schemeClr val="accent3"/>
                </a:solidFill>
              </a:rPr>
              <a:t>Who cares for the children, and who executes the will.</a:t>
            </a:r>
            <a:endParaRPr lang="en-US" sz="1300" dirty="0"/>
          </a:p>
        </p:txBody>
      </p:sp>
      <p:sp>
        <p:nvSpPr>
          <p:cNvPr id="10" name="Shape 6"/>
          <p:cNvSpPr/>
          <p:nvPr/>
        </p:nvSpPr>
        <p:spPr>
          <a:xfrm>
            <a:off x="457200" y="2505456"/>
            <a:ext cx="457200" cy="457200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pic>
        <p:nvPicPr>
          <p:cNvPr id="11" name="icon FaListCheck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2596896"/>
            <a:ext cx="274320" cy="274320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1097280" y="2487168"/>
            <a:ext cx="758952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altLang="en-US" sz="1300" b="1" dirty="0">
                <a:solidFill>
                  <a:schemeClr val="tx1"/>
                </a:solidFill>
              </a:rPr>
              <a:t>Heirs inside and outside the UAE</a:t>
            </a:r>
            <a:endParaRPr lang="en-US" sz="1300" dirty="0"/>
          </a:p>
          <a:p>
            <a:pPr algn="l" indent="0" marL="0">
              <a:spcAft>
                <a:spcPts val="200"/>
              </a:spcAft>
              <a:buNone/>
            </a:pPr>
            <a:r>
              <a:rPr lang="en-US" altLang="en-US" sz="1100" dirty="0">
                <a:solidFill>
                  <a:schemeClr val="accent3"/>
                </a:solidFill>
              </a:rPr>
              <a:t>Coordinated with any will in your home country.</a:t>
            </a:r>
            <a:endParaRPr lang="en-US" sz="1300" dirty="0"/>
          </a:p>
        </p:txBody>
      </p:sp>
      <p:sp>
        <p:nvSpPr>
          <p:cNvPr id="13" name="Shape 8"/>
          <p:cNvSpPr/>
          <p:nvPr/>
        </p:nvSpPr>
        <p:spPr>
          <a:xfrm>
            <a:off x="457200" y="3163824"/>
            <a:ext cx="457200" cy="457200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pic>
        <p:nvPicPr>
          <p:cNvPr id="14" name="icon FaListCheck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8640" y="3255264"/>
            <a:ext cx="274320" cy="274320"/>
          </a:xfrm>
          <a:prstGeom prst="rect">
            <a:avLst/>
          </a:prstGeom>
        </p:spPr>
      </p:pic>
      <p:sp>
        <p:nvSpPr>
          <p:cNvPr id="15" name="Text 9"/>
          <p:cNvSpPr txBox="1"/>
          <p:nvPr/>
        </p:nvSpPr>
        <p:spPr>
          <a:xfrm>
            <a:off x="1097280" y="3145536"/>
            <a:ext cx="758952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altLang="en-US" sz="1300" b="1" dirty="0">
                <a:solidFill>
                  <a:schemeClr val="tx1"/>
                </a:solidFill>
              </a:rPr>
              <a:t>The applicable law</a:t>
            </a:r>
            <a:endParaRPr lang="en-US" sz="1300" dirty="0"/>
          </a:p>
          <a:p>
            <a:pPr algn="l" indent="0" marL="0">
              <a:spcAft>
                <a:spcPts val="200"/>
              </a:spcAft>
              <a:buNone/>
            </a:pPr>
            <a:r>
              <a:rPr lang="en-US" altLang="en-US" sz="1100" dirty="0">
                <a:solidFill>
                  <a:schemeClr val="accent3"/>
                </a:solidFill>
              </a:rPr>
              <a:t>Sharia, foreign law, or the structure you choose.</a:t>
            </a:r>
            <a:endParaRPr lang="en-US" sz="1300" dirty="0"/>
          </a:p>
        </p:txBody>
      </p:sp>
      <p:sp>
        <p:nvSpPr>
          <p:cNvPr id="16" name="Shape 10"/>
          <p:cNvSpPr/>
          <p:nvPr/>
        </p:nvSpPr>
        <p:spPr>
          <a:xfrm>
            <a:off x="457200" y="3822192"/>
            <a:ext cx="457200" cy="457200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pic>
        <p:nvPicPr>
          <p:cNvPr id="17" name="icon FaListCheck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48640" y="3913632"/>
            <a:ext cx="274320" cy="274320"/>
          </a:xfrm>
          <a:prstGeom prst="rect">
            <a:avLst/>
          </a:prstGeom>
        </p:spPr>
      </p:pic>
      <p:sp>
        <p:nvSpPr>
          <p:cNvPr id="18" name="Text 11"/>
          <p:cNvSpPr txBox="1"/>
          <p:nvPr/>
        </p:nvSpPr>
        <p:spPr>
          <a:xfrm>
            <a:off x="1097280" y="3803904"/>
            <a:ext cx="758952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altLang="en-US" sz="1300" b="1" dirty="0">
                <a:solidFill>
                  <a:schemeClr val="tx1"/>
                </a:solidFill>
              </a:rPr>
              <a:t>Periodic review</a:t>
            </a:r>
            <a:endParaRPr lang="en-US" sz="1300" dirty="0"/>
          </a:p>
          <a:p>
            <a:pPr algn="l" indent="0" marL="0">
              <a:spcAft>
                <a:spcPts val="200"/>
              </a:spcAft>
              <a:buNone/>
            </a:pPr>
            <a:r>
              <a:rPr lang="en-US" altLang="en-US" sz="1100" dirty="0">
                <a:solidFill>
                  <a:schemeClr val="accent3"/>
                </a:solidFill>
              </a:rPr>
              <a:t>The plan is updated whenever your assets or family change.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626864"/>
            <a:ext cx="548640" cy="38404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900">
                <a:solidFill>
                  <a:srgbClr val="6B6F7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1463040"/>
            <a:ext cx="18288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200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04</a:t>
            </a:r>
            <a:endParaRPr lang="en-US" sz="72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2834640"/>
            <a:ext cx="7772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altLang="en-US" sz="30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Three practical scenarios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3566160"/>
            <a:ext cx="7772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altLang="en-US" sz="1400" dirty="0">
                <a:solidFill>
                  <a:schemeClr val="accent2"/>
                </a:solidFill>
              </a:rPr>
              <a:t>Fictional names, situations we see every week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626864"/>
            <a:ext cx="548640" cy="38404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900">
                <a:solidFill>
                  <a:srgbClr val="D8C39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3"/>
          <p:cNvSpPr/>
          <p:nvPr>
            <p:ph idx="103" type="title" hasCustomPrompt="1"/>
          </p:nvPr>
        </p:nvSpPr>
        <p:spPr>
          <a:xfrm>
            <a:off x="457200" y="347472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0B0B0B"/>
                </a:solidFill>
              </a:rPr>
              <a:t>Three cases we see every week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46304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altLang="en-US" sz="1000" b="1" spc="300" kern="0" dirty="0">
                <a:solidFill>
                  <a:schemeClr val="accent1"/>
                </a:solidFill>
              </a:rPr>
              <a:t>PRACTICAL SCENARIOS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457200" y="1188720"/>
            <a:ext cx="2590800" cy="3246120"/>
          </a:xfrm>
          <a:prstGeom prst="rect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pic>
        <p:nvPicPr>
          <p:cNvPr id="5" name="icon FaHouse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8368" y="1389888"/>
            <a:ext cx="310896" cy="310896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658368" y="1828800"/>
            <a:ext cx="2188464" cy="2450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300"/>
              </a:spcAft>
              <a:buNone/>
            </a:pPr>
            <a:r>
              <a:rPr lang="en-US" altLang="en-US" sz="1400" b="1" dirty="0">
                <a:solidFill>
                  <a:schemeClr val="tx1"/>
                </a:solidFill>
              </a:rPr>
              <a:t>The property investor with family abroad</a:t>
            </a:r>
            <a:endParaRPr lang="en-US" sz="1400" dirty="0"/>
          </a:p>
          <a:p>
            <a:pPr algn="l" indent="0" marL="0">
              <a:spcAft>
                <a:spcPts val="300"/>
              </a:spcAft>
              <a:buNone/>
            </a:pPr>
            <a:r>
              <a:rPr lang="en-US" altLang="en-US" sz="1150" dirty="0">
                <a:solidFill>
                  <a:schemeClr val="accent3"/>
                </a:solidFill>
              </a:rPr>
              <a:t>Owns two apartments in Dubai; spouse and children live in Europe. Solution: a registered property will naming heirs and an executor, coordinated with the home-country will.</a:t>
            </a:r>
            <a:endParaRPr lang="en-US" sz="1400" dirty="0"/>
          </a:p>
        </p:txBody>
      </p:sp>
      <p:sp>
        <p:nvSpPr>
          <p:cNvPr id="7" name="Shape 4"/>
          <p:cNvSpPr/>
          <p:nvPr/>
        </p:nvSpPr>
        <p:spPr>
          <a:xfrm>
            <a:off x="3276600" y="1188720"/>
            <a:ext cx="2590800" cy="3246120"/>
          </a:xfrm>
          <a:prstGeom prst="rect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pic>
        <p:nvPicPr>
          <p:cNvPr id="8" name="icon FaBriefcase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77768" y="1389888"/>
            <a:ext cx="310896" cy="310896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3477768" y="1828800"/>
            <a:ext cx="2188464" cy="2450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300"/>
              </a:spcAft>
              <a:buNone/>
            </a:pPr>
            <a:r>
              <a:rPr lang="en-US" altLang="en-US" sz="1400" b="1" dirty="0">
                <a:solidFill>
                  <a:schemeClr val="tx1"/>
                </a:solidFill>
              </a:rPr>
              <a:t>The company owner with partners</a:t>
            </a:r>
            <a:endParaRPr lang="en-US" sz="1400" dirty="0"/>
          </a:p>
          <a:p>
            <a:pPr algn="l" indent="0" marL="0">
              <a:spcAft>
                <a:spcPts val="300"/>
              </a:spcAft>
              <a:buNone/>
            </a:pPr>
            <a:r>
              <a:rPr lang="en-US" altLang="en-US" sz="1150" dirty="0">
                <a:solidFill>
                  <a:schemeClr val="accent3"/>
                </a:solidFill>
              </a:rPr>
              <a:t>Holds a stake in a Dubai company with two partners. Solution: a business will and a partners' agreement that keep decisions flowing and transfer the stake.</a:t>
            </a:r>
            <a:endParaRPr lang="en-US" sz="1400" dirty="0"/>
          </a:p>
        </p:txBody>
      </p:sp>
      <p:sp>
        <p:nvSpPr>
          <p:cNvPr id="10" name="Shape 6"/>
          <p:cNvSpPr/>
          <p:nvPr/>
        </p:nvSpPr>
        <p:spPr>
          <a:xfrm>
            <a:off x="6096000" y="1188720"/>
            <a:ext cx="2590800" cy="3246120"/>
          </a:xfrm>
          <a:prstGeom prst="rect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pic>
        <p:nvPicPr>
          <p:cNvPr id="11" name="icon FaChildren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97168" y="1389888"/>
            <a:ext cx="310896" cy="310896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6297168" y="1828800"/>
            <a:ext cx="2188464" cy="2450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300"/>
              </a:spcAft>
              <a:buNone/>
            </a:pPr>
            <a:r>
              <a:rPr lang="en-US" altLang="en-US" sz="1400" b="1" dirty="0">
                <a:solidFill>
                  <a:schemeClr val="tx1"/>
                </a:solidFill>
              </a:rPr>
              <a:t>The couple with children in the UAE</a:t>
            </a:r>
            <a:endParaRPr lang="en-US" sz="1400" dirty="0"/>
          </a:p>
          <a:p>
            <a:pPr algn="l" indent="0" marL="0">
              <a:spcAft>
                <a:spcPts val="300"/>
              </a:spcAft>
              <a:buNone/>
            </a:pPr>
            <a:r>
              <a:rPr lang="en-US" altLang="en-US" sz="1150" dirty="0">
                <a:solidFill>
                  <a:schemeClr val="accent3"/>
                </a:solidFill>
              </a:rPr>
              <a:t>Residents with two minor children and local accounts. Solution: spousal wills appointing a guardian and protecting the accounts and the home.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626864"/>
            <a:ext cx="548640" cy="38404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900">
                <a:solidFill>
                  <a:srgbClr val="6B6F7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3"/>
          <p:cNvSpPr/>
          <p:nvPr>
            <p:ph idx="103" type="title" hasCustomPrompt="1"/>
          </p:nvPr>
        </p:nvSpPr>
        <p:spPr>
          <a:xfrm>
            <a:off x="457200" y="347472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0B0B0B"/>
                </a:solidFill>
              </a:rPr>
              <a:t>How to start: five steps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46304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altLang="en-US" sz="1000" b="1" spc="300" kern="0" dirty="0">
                <a:solidFill>
                  <a:schemeClr val="accent1"/>
                </a:solidFill>
              </a:rPr>
              <a:t>THE PROCESS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731520" y="1600200"/>
            <a:ext cx="7680960" cy="0"/>
          </a:xfrm>
          <a:prstGeom prst="line">
            <a:avLst/>
          </a:prstGeom>
          <a:noFill/>
          <a:ln w="9525">
            <a:solidFill>
              <a:srgbClr val="D8C39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57200" y="1325880"/>
            <a:ext cx="548640" cy="548640"/>
          </a:xfrm>
          <a:prstGeom prst="ellipse">
            <a:avLst/>
          </a:prstGeom>
          <a:solidFill>
            <a:srgbClr val="0B0B0B"/>
          </a:solidFill>
          <a:ln w="12700">
            <a:solidFill>
              <a:srgbClr val="B08D57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457200" y="13258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2057400"/>
            <a:ext cx="151424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altLang="en-US" sz="1300" b="1" dirty="0">
                <a:solidFill>
                  <a:schemeClr val="tx1"/>
                </a:solidFill>
              </a:rPr>
              <a:t>Discovery session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457200" y="2606040"/>
            <a:ext cx="1514246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altLang="en-US" sz="1050" dirty="0">
                <a:solidFill>
                  <a:schemeClr val="accent3"/>
                </a:solidFill>
              </a:rPr>
              <a:t>Your nationality, family, assets, companies, children, accounts.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2136038" y="1325880"/>
            <a:ext cx="548640" cy="548640"/>
          </a:xfrm>
          <a:prstGeom prst="ellipse">
            <a:avLst/>
          </a:prstGeom>
          <a:solidFill>
            <a:srgbClr val="0B0B0B"/>
          </a:solidFill>
          <a:ln w="12700">
            <a:solidFill>
              <a:srgbClr val="B08D57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2136038" y="13258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2136038" y="2057400"/>
            <a:ext cx="151424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altLang="en-US" sz="1300" b="1" dirty="0">
                <a:solidFill>
                  <a:schemeClr val="tx1"/>
                </a:solidFill>
              </a:rPr>
              <a:t>Risk assessment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2136038" y="2606040"/>
            <a:ext cx="1514246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altLang="en-US" sz="1050" dirty="0">
                <a:solidFill>
                  <a:schemeClr val="accent3"/>
                </a:solidFill>
              </a:rPr>
              <a:t>Will only? DIFC or ADGM? Structuring? Foundation?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3814877" y="1325880"/>
            <a:ext cx="548640" cy="548640"/>
          </a:xfrm>
          <a:prstGeom prst="ellipse">
            <a:avLst/>
          </a:prstGeom>
          <a:solidFill>
            <a:srgbClr val="0B0B0B"/>
          </a:solidFill>
          <a:ln w="12700">
            <a:solidFill>
              <a:srgbClr val="B08D57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3814877" y="13258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3814877" y="2057400"/>
            <a:ext cx="151424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altLang="en-US" sz="1300" b="1" dirty="0">
                <a:solidFill>
                  <a:schemeClr val="tx1"/>
                </a:solidFill>
              </a:rPr>
              <a:t>Written proposal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3814877" y="2606040"/>
            <a:ext cx="1514246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altLang="en-US" sz="1050" dirty="0">
                <a:solidFill>
                  <a:schemeClr val="accent3"/>
                </a:solidFill>
              </a:rPr>
              <a:t>Scope, fees, timeline, registration cost.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5493715" y="1325880"/>
            <a:ext cx="548640" cy="548640"/>
          </a:xfrm>
          <a:prstGeom prst="ellipse">
            <a:avLst/>
          </a:prstGeom>
          <a:solidFill>
            <a:srgbClr val="0B0B0B"/>
          </a:solidFill>
          <a:ln w="12700">
            <a:solidFill>
              <a:srgbClr val="B08D57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5493715" y="13258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600" dirty="0"/>
          </a:p>
        </p:txBody>
      </p:sp>
      <p:sp>
        <p:nvSpPr>
          <p:cNvPr id="19" name="Text 17"/>
          <p:cNvSpPr txBox="1"/>
          <p:nvPr/>
        </p:nvSpPr>
        <p:spPr>
          <a:xfrm>
            <a:off x="5493715" y="2057400"/>
            <a:ext cx="151424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altLang="en-US" sz="1300" b="1" dirty="0">
                <a:solidFill>
                  <a:schemeClr val="tx1"/>
                </a:solidFill>
              </a:rPr>
              <a:t>Drafting</a:t>
            </a:r>
            <a:endParaRPr lang="en-US" sz="1300" dirty="0"/>
          </a:p>
        </p:txBody>
      </p:sp>
      <p:sp>
        <p:nvSpPr>
          <p:cNvPr id="20" name="Text 18"/>
          <p:cNvSpPr txBox="1"/>
          <p:nvPr/>
        </p:nvSpPr>
        <p:spPr>
          <a:xfrm>
            <a:off x="5493715" y="2606040"/>
            <a:ext cx="1514246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altLang="en-US" sz="1050" dirty="0">
                <a:solidFill>
                  <a:schemeClr val="accent3"/>
                </a:solidFill>
              </a:rPr>
              <a:t>The will, translation, witnesses, notarisation.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7172554" y="1325880"/>
            <a:ext cx="548640" cy="548640"/>
          </a:xfrm>
          <a:prstGeom prst="ellipse">
            <a:avLst/>
          </a:prstGeom>
          <a:solidFill>
            <a:srgbClr val="0B0B0B"/>
          </a:solidFill>
          <a:ln w="12700">
            <a:solidFill>
              <a:srgbClr val="B08D57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7172554" y="13258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1600" dirty="0"/>
          </a:p>
        </p:txBody>
      </p:sp>
      <p:sp>
        <p:nvSpPr>
          <p:cNvPr id="23" name="Text 21"/>
          <p:cNvSpPr txBox="1"/>
          <p:nvPr/>
        </p:nvSpPr>
        <p:spPr>
          <a:xfrm>
            <a:off x="7172554" y="2057400"/>
            <a:ext cx="151424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altLang="en-US" sz="1300" b="1" dirty="0">
                <a:solidFill>
                  <a:schemeClr val="tx1"/>
                </a:solidFill>
              </a:rPr>
              <a:t>Registration</a:t>
            </a:r>
            <a:endParaRPr lang="en-US" sz="1300" dirty="0"/>
          </a:p>
        </p:txBody>
      </p:sp>
      <p:sp>
        <p:nvSpPr>
          <p:cNvPr id="24" name="Text 22"/>
          <p:cNvSpPr txBox="1"/>
          <p:nvPr/>
        </p:nvSpPr>
        <p:spPr>
          <a:xfrm>
            <a:off x="7172554" y="2606040"/>
            <a:ext cx="1514246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altLang="en-US" sz="1050" dirty="0">
                <a:solidFill>
                  <a:schemeClr val="accent3"/>
                </a:solidFill>
              </a:rPr>
              <a:t>With the chosen authority, with direct follow-up.</a:t>
            </a:r>
            <a:endParaRPr 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626864"/>
            <a:ext cx="548640" cy="38404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900">
                <a:solidFill>
                  <a:srgbClr val="6B6F7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3"/>
          <p:cNvSpPr/>
          <p:nvPr>
            <p:ph idx="103" type="title" hasCustomPrompt="1"/>
          </p:nvPr>
        </p:nvSpPr>
        <p:spPr>
          <a:xfrm>
            <a:off x="457200" y="347472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0B0B0B"/>
                </a:solidFill>
              </a:rPr>
              <a:t>A quick self-check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46304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altLang="en-US" sz="1000" b="1" spc="300" kern="0" dirty="0">
                <a:solidFill>
                  <a:schemeClr val="accent1"/>
                </a:solidFill>
              </a:rPr>
              <a:t>ANSWER YES OR NO</a:t>
            </a:r>
            <a:endParaRPr lang="en-US" sz="10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143000"/>
            <a:ext cx="4480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altLang="en-US" sz="1000" b="1" dirty="0">
                <a:solidFill>
                  <a:schemeClr val="accent1"/>
                </a:solidFill>
              </a:rPr>
              <a:t>QUESTION</a:t>
            </a:r>
            <a:endParaRPr lang="en-US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5166360" y="1143000"/>
            <a:ext cx="3520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altLang="en-US" sz="1000" b="1" dirty="0">
                <a:solidFill>
                  <a:schemeClr val="accent1"/>
                </a:solidFill>
              </a:rPr>
              <a:t>IF THE ANSWER IS YES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457200" y="1463040"/>
            <a:ext cx="8229600" cy="384048"/>
          </a:xfrm>
          <a:prstGeom prst="rect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pic>
        <p:nvPicPr>
          <p:cNvPr id="7" name="icon FaCircleQuesti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536192"/>
            <a:ext cx="237744" cy="237744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914400" y="1463040"/>
            <a:ext cx="4023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altLang="en-US" sz="1150" dirty="0">
                <a:solidFill>
                  <a:schemeClr val="tx1"/>
                </a:solidFill>
              </a:rPr>
              <a:t>Do you own property in the UAE?</a:t>
            </a:r>
            <a:endParaRPr lang="en-US" sz="1150" dirty="0"/>
          </a:p>
        </p:txBody>
      </p:sp>
      <p:sp>
        <p:nvSpPr>
          <p:cNvPr id="9" name="Text 6"/>
          <p:cNvSpPr txBox="1"/>
          <p:nvPr/>
        </p:nvSpPr>
        <p:spPr>
          <a:xfrm>
            <a:off x="5166360" y="1463040"/>
            <a:ext cx="3520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altLang="en-US" sz="1100" b="1" dirty="0">
                <a:solidFill>
                  <a:schemeClr val="accent4"/>
                </a:solidFill>
              </a:rPr>
              <a:t>You need at least a property will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457200" y="1920240"/>
            <a:ext cx="8229600" cy="384048"/>
          </a:xfrm>
          <a:prstGeom prst="rect">
            <a:avLst/>
          </a:prstGeom>
          <a:solidFill>
            <a:srgbClr val="FFFFFF"/>
          </a:solidFill>
          <a:ln w="12700">
            <a:solidFill>
              <a:srgbClr val="F4F1EA"/>
            </a:solidFill>
            <a:prstDash val="solid"/>
          </a:ln>
        </p:spPr>
      </p:sp>
      <p:pic>
        <p:nvPicPr>
          <p:cNvPr id="11" name="icon FaCircleQuestion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1993392"/>
            <a:ext cx="237744" cy="237744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914400" y="1920240"/>
            <a:ext cx="4023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altLang="en-US" sz="1150" dirty="0">
                <a:solidFill>
                  <a:schemeClr val="tx1"/>
                </a:solidFill>
              </a:rPr>
              <a:t>Do you own companies or shares?</a:t>
            </a:r>
            <a:endParaRPr lang="en-US" sz="1150" dirty="0"/>
          </a:p>
        </p:txBody>
      </p:sp>
      <p:sp>
        <p:nvSpPr>
          <p:cNvPr id="13" name="Text 9"/>
          <p:cNvSpPr txBox="1"/>
          <p:nvPr/>
        </p:nvSpPr>
        <p:spPr>
          <a:xfrm>
            <a:off x="5166360" y="1920240"/>
            <a:ext cx="3520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altLang="en-US" sz="1100" b="1" dirty="0">
                <a:solidFill>
                  <a:schemeClr val="accent4"/>
                </a:solidFill>
              </a:rPr>
              <a:t>You need a business will or structuring</a:t>
            </a:r>
            <a:endParaRPr lang="en-US" sz="1100" dirty="0"/>
          </a:p>
        </p:txBody>
      </p:sp>
      <p:sp>
        <p:nvSpPr>
          <p:cNvPr id="14" name="Shape 10"/>
          <p:cNvSpPr/>
          <p:nvPr/>
        </p:nvSpPr>
        <p:spPr>
          <a:xfrm>
            <a:off x="457200" y="2377440"/>
            <a:ext cx="8229600" cy="384048"/>
          </a:xfrm>
          <a:prstGeom prst="rect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pic>
        <p:nvPicPr>
          <p:cNvPr id="15" name="icon FaCircleQuestion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928" y="2450592"/>
            <a:ext cx="237744" cy="237744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914400" y="2377440"/>
            <a:ext cx="4023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altLang="en-US" sz="1150" dirty="0">
                <a:solidFill>
                  <a:schemeClr val="tx1"/>
                </a:solidFill>
              </a:rPr>
              <a:t>Do you have minor children?</a:t>
            </a:r>
            <a:endParaRPr lang="en-US" sz="1150" dirty="0"/>
          </a:p>
        </p:txBody>
      </p:sp>
      <p:sp>
        <p:nvSpPr>
          <p:cNvPr id="17" name="Text 12"/>
          <p:cNvSpPr txBox="1"/>
          <p:nvPr/>
        </p:nvSpPr>
        <p:spPr>
          <a:xfrm>
            <a:off x="5166360" y="2377440"/>
            <a:ext cx="3520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altLang="en-US" sz="1100" b="1" dirty="0">
                <a:solidFill>
                  <a:schemeClr val="accent4"/>
                </a:solidFill>
              </a:rPr>
              <a:t>You need a formally appointed guardian</a:t>
            </a:r>
            <a:endParaRPr lang="en-US" sz="1100" dirty="0"/>
          </a:p>
        </p:txBody>
      </p:sp>
      <p:sp>
        <p:nvSpPr>
          <p:cNvPr id="18" name="Shape 13"/>
          <p:cNvSpPr/>
          <p:nvPr/>
        </p:nvSpPr>
        <p:spPr>
          <a:xfrm>
            <a:off x="457200" y="2834640"/>
            <a:ext cx="8229600" cy="384048"/>
          </a:xfrm>
          <a:prstGeom prst="rect">
            <a:avLst/>
          </a:prstGeom>
          <a:solidFill>
            <a:srgbClr val="FFFFFF"/>
          </a:solidFill>
          <a:ln w="12700">
            <a:solidFill>
              <a:srgbClr val="F4F1EA"/>
            </a:solidFill>
            <a:prstDash val="solid"/>
          </a:ln>
        </p:spPr>
      </p:sp>
      <p:pic>
        <p:nvPicPr>
          <p:cNvPr id="19" name="icon FaCircleQuestion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6928" y="2907792"/>
            <a:ext cx="237744" cy="237744"/>
          </a:xfrm>
          <a:prstGeom prst="rect">
            <a:avLst/>
          </a:prstGeom>
        </p:spPr>
      </p:pic>
      <p:sp>
        <p:nvSpPr>
          <p:cNvPr id="20" name="Text 14"/>
          <p:cNvSpPr txBox="1"/>
          <p:nvPr/>
        </p:nvSpPr>
        <p:spPr>
          <a:xfrm>
            <a:off x="914400" y="2834640"/>
            <a:ext cx="4023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altLang="en-US" sz="1150" dirty="0">
                <a:solidFill>
                  <a:schemeClr val="tx1"/>
                </a:solidFill>
              </a:rPr>
              <a:t>Are your heirs outside the UAE?</a:t>
            </a:r>
            <a:endParaRPr lang="en-US" sz="1150" dirty="0"/>
          </a:p>
        </p:txBody>
      </p:sp>
      <p:sp>
        <p:nvSpPr>
          <p:cNvPr id="21" name="Text 15"/>
          <p:cNvSpPr txBox="1"/>
          <p:nvPr/>
        </p:nvSpPr>
        <p:spPr>
          <a:xfrm>
            <a:off x="5166360" y="2834640"/>
            <a:ext cx="3520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altLang="en-US" sz="1100" b="1" dirty="0">
                <a:solidFill>
                  <a:schemeClr val="accent4"/>
                </a:solidFill>
              </a:rPr>
              <a:t>You need the registry and law chosen carefully</a:t>
            </a:r>
            <a:endParaRPr lang="en-US" sz="1100" dirty="0"/>
          </a:p>
        </p:txBody>
      </p:sp>
      <p:sp>
        <p:nvSpPr>
          <p:cNvPr id="22" name="Shape 16"/>
          <p:cNvSpPr/>
          <p:nvPr/>
        </p:nvSpPr>
        <p:spPr>
          <a:xfrm>
            <a:off x="457200" y="3291840"/>
            <a:ext cx="8229600" cy="384048"/>
          </a:xfrm>
          <a:prstGeom prst="rect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pic>
        <p:nvPicPr>
          <p:cNvPr id="23" name="icon FaCircleQuestion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66928" y="3364992"/>
            <a:ext cx="237744" cy="237744"/>
          </a:xfrm>
          <a:prstGeom prst="rect">
            <a:avLst/>
          </a:prstGeom>
        </p:spPr>
      </p:pic>
      <p:sp>
        <p:nvSpPr>
          <p:cNvPr id="24" name="Text 17"/>
          <p:cNvSpPr txBox="1"/>
          <p:nvPr/>
        </p:nvSpPr>
        <p:spPr>
          <a:xfrm>
            <a:off x="914400" y="3291840"/>
            <a:ext cx="4023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altLang="en-US" sz="1150" dirty="0">
                <a:solidFill>
                  <a:schemeClr val="tx1"/>
                </a:solidFill>
              </a:rPr>
              <a:t>Do you hold assets in more than one country?</a:t>
            </a:r>
            <a:endParaRPr lang="en-US" sz="1150" dirty="0"/>
          </a:p>
        </p:txBody>
      </p:sp>
      <p:sp>
        <p:nvSpPr>
          <p:cNvPr id="25" name="Text 18"/>
          <p:cNvSpPr txBox="1"/>
          <p:nvPr/>
        </p:nvSpPr>
        <p:spPr>
          <a:xfrm>
            <a:off x="5166360" y="3291840"/>
            <a:ext cx="3520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altLang="en-US" sz="1100" b="1" dirty="0">
                <a:solidFill>
                  <a:schemeClr val="accent4"/>
                </a:solidFill>
              </a:rPr>
              <a:t>You need a unified plan or a holding structure</a:t>
            </a:r>
            <a:endParaRPr lang="en-US" sz="1100" dirty="0"/>
          </a:p>
        </p:txBody>
      </p:sp>
      <p:sp>
        <p:nvSpPr>
          <p:cNvPr id="26" name="Shape 19"/>
          <p:cNvSpPr/>
          <p:nvPr/>
        </p:nvSpPr>
        <p:spPr>
          <a:xfrm>
            <a:off x="457200" y="3749040"/>
            <a:ext cx="8229600" cy="384048"/>
          </a:xfrm>
          <a:prstGeom prst="rect">
            <a:avLst/>
          </a:prstGeom>
          <a:solidFill>
            <a:srgbClr val="FFFFFF"/>
          </a:solidFill>
          <a:ln w="12700">
            <a:solidFill>
              <a:srgbClr val="F4F1EA"/>
            </a:solidFill>
            <a:prstDash val="solid"/>
          </a:ln>
        </p:spPr>
      </p:sp>
      <p:pic>
        <p:nvPicPr>
          <p:cNvPr id="27" name="icon FaCircleQuestion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66928" y="3822192"/>
            <a:ext cx="237744" cy="237744"/>
          </a:xfrm>
          <a:prstGeom prst="rect">
            <a:avLst/>
          </a:prstGeom>
        </p:spPr>
      </p:pic>
      <p:sp>
        <p:nvSpPr>
          <p:cNvPr id="28" name="Text 20"/>
          <p:cNvSpPr txBox="1"/>
          <p:nvPr/>
        </p:nvSpPr>
        <p:spPr>
          <a:xfrm>
            <a:off x="914400" y="3749040"/>
            <a:ext cx="4023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altLang="en-US" sz="1150" dirty="0">
                <a:solidFill>
                  <a:schemeClr val="tx1"/>
                </a:solidFill>
              </a:rPr>
              <a:t>Has it been over three years since your last will?</a:t>
            </a:r>
            <a:endParaRPr lang="en-US" sz="1150" dirty="0"/>
          </a:p>
        </p:txBody>
      </p:sp>
      <p:sp>
        <p:nvSpPr>
          <p:cNvPr id="29" name="Text 21"/>
          <p:cNvSpPr txBox="1"/>
          <p:nvPr/>
        </p:nvSpPr>
        <p:spPr>
          <a:xfrm>
            <a:off x="5166360" y="3749040"/>
            <a:ext cx="3520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altLang="en-US" sz="1100" b="1" dirty="0">
                <a:solidFill>
                  <a:schemeClr val="accent4"/>
                </a:solidFill>
              </a:rPr>
              <a:t>You need a review</a:t>
            </a:r>
            <a:endParaRPr lang="en-US" sz="1100" dirty="0"/>
          </a:p>
        </p:txBody>
      </p:sp>
      <p:sp>
        <p:nvSpPr>
          <p:cNvPr id="30" name="Text 22"/>
          <p:cNvSpPr txBox="1"/>
          <p:nvPr/>
        </p:nvSpPr>
        <p:spPr>
          <a:xfrm>
            <a:off x="457200" y="431596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altLang="en-US" sz="950" i="1" dirty="0">
                <a:solidFill>
                  <a:schemeClr val="accent3"/>
                </a:solidFill>
              </a:rPr>
              <a:t>One yes is enough to deserve a free first consultation.</a:t>
            </a:r>
            <a:endParaRPr lang="en-US" sz="9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626864"/>
            <a:ext cx="548640" cy="38404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900">
                <a:solidFill>
                  <a:srgbClr val="6B6F7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41148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altLang="en-US" sz="26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firm at a glance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457200" y="1371600"/>
            <a:ext cx="1885950" cy="2926080"/>
          </a:xfrm>
          <a:prstGeom prst="rect">
            <a:avLst/>
          </a:prstGeom>
          <a:ln w="9525">
            <a:solidFill>
              <a:srgbClr val="B08D57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640080" y="1600200"/>
            <a:ext cx="152019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4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2014</a:t>
            </a:r>
            <a:endParaRPr lang="en-US" sz="44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2743200"/>
            <a:ext cx="152019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300"/>
              </a:spcAft>
              <a:buNone/>
            </a:pPr>
            <a:r>
              <a:rPr lang="en-US" altLang="en-US" sz="1300" b="1" dirty="0">
                <a:solidFill>
                  <a:schemeClr val="bg1"/>
                </a:solidFill>
              </a:rPr>
              <a:t>Founded</a:t>
            </a:r>
            <a:endParaRPr lang="en-US" sz="1300" dirty="0"/>
          </a:p>
          <a:p>
            <a:pPr algn="l" indent="0" marL="0">
              <a:spcAft>
                <a:spcPts val="300"/>
              </a:spcAft>
              <a:buNone/>
            </a:pPr>
            <a:r>
              <a:rPr lang="en-US" altLang="en-US" sz="1050" dirty="0">
                <a:solidFill>
                  <a:schemeClr val="accent2"/>
                </a:solidFill>
              </a:rPr>
              <a:t>Licensed law firm in Dubai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2571750" y="1371600"/>
            <a:ext cx="1885950" cy="2926080"/>
          </a:xfrm>
          <a:prstGeom prst="rect">
            <a:avLst/>
          </a:prstGeom>
          <a:ln w="9525">
            <a:solidFill>
              <a:srgbClr val="B08D57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2754630" y="1600200"/>
            <a:ext cx="152019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4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10+</a:t>
            </a:r>
            <a:endParaRPr lang="en-US" sz="4400" dirty="0"/>
          </a:p>
        </p:txBody>
      </p:sp>
      <p:sp>
        <p:nvSpPr>
          <p:cNvPr id="8" name="Text 6"/>
          <p:cNvSpPr txBox="1"/>
          <p:nvPr/>
        </p:nvSpPr>
        <p:spPr>
          <a:xfrm>
            <a:off x="2754630" y="2743200"/>
            <a:ext cx="152019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300"/>
              </a:spcAft>
              <a:buNone/>
            </a:pPr>
            <a:r>
              <a:rPr lang="en-US" altLang="en-US" sz="1300" b="1" dirty="0">
                <a:solidFill>
                  <a:schemeClr val="bg1"/>
                </a:solidFill>
              </a:rPr>
              <a:t>Practice areas</a:t>
            </a:r>
            <a:endParaRPr lang="en-US" sz="1300" dirty="0"/>
          </a:p>
          <a:p>
            <a:pPr algn="l" indent="0" marL="0">
              <a:spcAft>
                <a:spcPts val="300"/>
              </a:spcAft>
              <a:buNone/>
            </a:pPr>
            <a:r>
              <a:rPr lang="en-US" altLang="en-US" sz="1050" dirty="0">
                <a:solidFill>
                  <a:schemeClr val="accent2"/>
                </a:solidFill>
              </a:rPr>
              <a:t>Litigation, advisory and contracts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4686300" y="1371600"/>
            <a:ext cx="1885950" cy="2926080"/>
          </a:xfrm>
          <a:prstGeom prst="rect">
            <a:avLst/>
          </a:prstGeom>
          <a:ln w="9525">
            <a:solidFill>
              <a:srgbClr val="B08D57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869180" y="1600200"/>
            <a:ext cx="152019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4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4400" dirty="0"/>
          </a:p>
        </p:txBody>
      </p:sp>
      <p:sp>
        <p:nvSpPr>
          <p:cNvPr id="11" name="Text 9"/>
          <p:cNvSpPr txBox="1"/>
          <p:nvPr/>
        </p:nvSpPr>
        <p:spPr>
          <a:xfrm>
            <a:off x="4869180" y="2743200"/>
            <a:ext cx="152019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300"/>
              </a:spcAft>
              <a:buNone/>
            </a:pPr>
            <a:r>
              <a:rPr lang="en-US" altLang="en-US" sz="1300" b="1" dirty="0">
                <a:solidFill>
                  <a:schemeClr val="bg1"/>
                </a:solidFill>
              </a:rPr>
              <a:t>Working languages</a:t>
            </a:r>
            <a:endParaRPr lang="en-US" sz="1300" dirty="0"/>
          </a:p>
          <a:p>
            <a:pPr algn="l" indent="0" marL="0">
              <a:spcAft>
                <a:spcPts val="300"/>
              </a:spcAft>
              <a:buNone/>
            </a:pPr>
            <a:r>
              <a:rPr lang="en-US" altLang="en-US" sz="1050" dirty="0">
                <a:solidFill>
                  <a:schemeClr val="accent2"/>
                </a:solidFill>
              </a:rPr>
              <a:t>Arabic · English · Chinese · Russian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6800850" y="1371600"/>
            <a:ext cx="1885950" cy="2926080"/>
          </a:xfrm>
          <a:prstGeom prst="rect">
            <a:avLst/>
          </a:prstGeom>
          <a:ln w="9525">
            <a:solidFill>
              <a:srgbClr val="B08D57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983730" y="1600200"/>
            <a:ext cx="152019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GCC &amp; Asia</a:t>
            </a:r>
            <a:endParaRPr lang="en-US" sz="3000" dirty="0"/>
          </a:p>
        </p:txBody>
      </p:sp>
      <p:sp>
        <p:nvSpPr>
          <p:cNvPr id="14" name="Text 12"/>
          <p:cNvSpPr txBox="1"/>
          <p:nvPr/>
        </p:nvSpPr>
        <p:spPr>
          <a:xfrm>
            <a:off x="6983730" y="2743200"/>
            <a:ext cx="152019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300"/>
              </a:spcAft>
              <a:buNone/>
            </a:pPr>
            <a:r>
              <a:rPr lang="en-US" altLang="en-US" sz="1300" b="1" dirty="0">
                <a:solidFill>
                  <a:schemeClr val="bg1"/>
                </a:solidFill>
              </a:rPr>
              <a:t>Regional and international presence</a:t>
            </a:r>
            <a:endParaRPr lang="en-US" sz="1300" dirty="0"/>
          </a:p>
          <a:p>
            <a:pPr algn="l" indent="0" marL="0">
              <a:spcAft>
                <a:spcPts val="300"/>
              </a:spcAft>
              <a:buNone/>
            </a:pPr>
            <a:r>
              <a:rPr lang="en-US" altLang="en-US" sz="1050" dirty="0">
                <a:solidFill>
                  <a:schemeClr val="accent2"/>
                </a:solidFill>
              </a:rPr>
              <a:t>Dedicated China desk for investors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626864"/>
            <a:ext cx="548640" cy="38404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900">
                <a:solidFill>
                  <a:srgbClr val="D8C39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8229600" cy="4023360"/>
          </a:xfrm>
          <a:prstGeom prst="rect">
            <a:avLst/>
          </a:prstGeom>
          <a:ln w="9525">
            <a:solidFill>
              <a:srgbClr val="B08D5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822960" y="640080"/>
            <a:ext cx="9144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200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“</a:t>
            </a:r>
            <a:endParaRPr lang="en-US" sz="7200" dirty="0"/>
          </a:p>
        </p:txBody>
      </p:sp>
      <p:sp>
        <p:nvSpPr>
          <p:cNvPr id="4" name="Text 2"/>
          <p:cNvSpPr txBox="1"/>
          <p:nvPr/>
        </p:nvSpPr>
        <p:spPr>
          <a:xfrm>
            <a:off x="914400" y="1463040"/>
            <a:ext cx="7315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altLang="en-US" sz="2200" i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Do not think “will”. Think “asset protection”: a will is linked to death, protection is linked to investment and security.</a:t>
            </a:r>
            <a:endParaRPr lang="en-US" sz="2200" dirty="0"/>
          </a:p>
        </p:txBody>
      </p:sp>
      <p:sp>
        <p:nvSpPr>
          <p:cNvPr id="5" name="Text 3"/>
          <p:cNvSpPr txBox="1"/>
          <p:nvPr/>
        </p:nvSpPr>
        <p:spPr>
          <a:xfrm>
            <a:off x="914400" y="356616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altLang="en-US" sz="1200" dirty="0">
                <a:solidFill>
                  <a:schemeClr val="accent2"/>
                </a:solidFill>
              </a:rPr>
              <a:t>The takeaway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626864"/>
            <a:ext cx="548640" cy="38404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900">
                <a:solidFill>
                  <a:srgbClr val="D8C39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8229600" cy="4229100"/>
          </a:xfrm>
          <a:prstGeom prst="rect">
            <a:avLst/>
          </a:prstGeom>
          <a:ln w="9525">
            <a:solidFill>
              <a:srgbClr val="B08D5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868680" y="777240"/>
            <a:ext cx="7406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altLang="en-US" sz="28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Questions and answers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868680" y="1554480"/>
            <a:ext cx="7406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altLang="en-US" sz="1300" dirty="0">
                <a:solidFill>
                  <a:schemeClr val="accent2"/>
                </a:solidFill>
              </a:rPr>
              <a:t>A free first consultation for every attendee, in your language, wherever suits you</a:t>
            </a:r>
            <a:endParaRPr lang="en-US" sz="1300" dirty="0"/>
          </a:p>
        </p:txBody>
      </p:sp>
      <p:pic>
        <p:nvPicPr>
          <p:cNvPr id="5" name="icon FaLocationDot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68680" y="2286000"/>
            <a:ext cx="274320" cy="27432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325880" y="2240280"/>
            <a:ext cx="6949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altLang="en-US" sz="1200" dirty="0">
                <a:solidFill>
                  <a:schemeClr val="bg2"/>
                </a:solidFill>
              </a:rPr>
              <a:t>Sheikh Zayed Road, Saeed Tower 2, Office 501, Dubai, UAE</a:t>
            </a:r>
            <a:endParaRPr lang="en-US" sz="1200" dirty="0"/>
          </a:p>
        </p:txBody>
      </p:sp>
      <p:pic>
        <p:nvPicPr>
          <p:cNvPr id="7" name="icon FaPhone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8680" y="2788920"/>
            <a:ext cx="274320" cy="27432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1325880" y="2743200"/>
            <a:ext cx="6949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altLang="en-US" sz="1200" dirty="0">
                <a:solidFill>
                  <a:schemeClr val="bg2"/>
                </a:solidFill>
              </a:rPr>
              <a:t>+971 4 359 5552  |  Mobile &amp; WhatsApp: +971 52 107 4972</a:t>
            </a:r>
            <a:endParaRPr lang="en-US" sz="1200" dirty="0"/>
          </a:p>
        </p:txBody>
      </p:sp>
      <p:pic>
        <p:nvPicPr>
          <p:cNvPr id="9" name="icon FaEnvelope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8680" y="3291840"/>
            <a:ext cx="274320" cy="274320"/>
          </a:xfrm>
          <a:prstGeom prst="rect">
            <a:avLst/>
          </a:prstGeom>
        </p:spPr>
      </p:pic>
      <p:sp>
        <p:nvSpPr>
          <p:cNvPr id="10" name="Text 5"/>
          <p:cNvSpPr txBox="1"/>
          <p:nvPr/>
        </p:nvSpPr>
        <p:spPr>
          <a:xfrm>
            <a:off x="1325880" y="3246120"/>
            <a:ext cx="6949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altLang="en-US" sz="1200" dirty="0">
                <a:solidFill>
                  <a:schemeClr val="bg2"/>
                </a:solidFill>
              </a:rPr>
              <a:t>ward.shueibi@rk-advocates.com  |  rk-advocates.com</a:t>
            </a:r>
            <a:endParaRPr lang="en-US" sz="1200" dirty="0"/>
          </a:p>
        </p:txBody>
      </p:sp>
      <p:pic>
        <p:nvPicPr>
          <p:cNvPr id="11" name="icon FaClock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8680" y="3794760"/>
            <a:ext cx="274320" cy="274320"/>
          </a:xfrm>
          <a:prstGeom prst="rect">
            <a:avLst/>
          </a:prstGeom>
        </p:spPr>
      </p:pic>
      <p:sp>
        <p:nvSpPr>
          <p:cNvPr id="12" name="Text 6"/>
          <p:cNvSpPr txBox="1"/>
          <p:nvPr/>
        </p:nvSpPr>
        <p:spPr>
          <a:xfrm>
            <a:off x="1325880" y="3749040"/>
            <a:ext cx="6949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altLang="en-US" sz="1200" dirty="0">
                <a:solidFill>
                  <a:schemeClr val="bg2"/>
                </a:solidFill>
              </a:rPr>
              <a:t>Monday – Friday, 8:30 – 17:30  |  Arabic · English · Chinese · Russian</a:t>
            </a:r>
            <a:endParaRPr lang="en-US" sz="1200" dirty="0"/>
          </a:p>
        </p:txBody>
      </p:sp>
      <p:sp>
        <p:nvSpPr>
          <p:cNvPr id="13" name="Text 7"/>
          <p:cNvSpPr txBox="1"/>
          <p:nvPr/>
        </p:nvSpPr>
        <p:spPr>
          <a:xfrm>
            <a:off x="868680" y="4206240"/>
            <a:ext cx="7406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altLang="en-US" sz="1000" dirty="0">
                <a:solidFill>
                  <a:schemeClr val="accent1"/>
                </a:solidFill>
              </a:rPr>
              <a:t>Rashid Alkaitoob Advocates &amp; Legal Consultants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626864"/>
            <a:ext cx="548640" cy="38404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900">
                <a:solidFill>
                  <a:srgbClr val="D8C39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RK Advocates">
  <a:themeElements>
    <a:clrScheme name="RK Advocates">
      <a:dk1>
        <a:srgbClr val="0B0B0B"/>
      </a:dk1>
      <a:lt1>
        <a:srgbClr val="FFFFFF"/>
      </a:lt1>
      <a:dk2>
        <a:srgbClr val="2A2D33"/>
      </a:dk2>
      <a:lt2>
        <a:srgbClr val="F4F1EA"/>
      </a:lt2>
      <a:accent1>
        <a:srgbClr val="B08D57"/>
      </a:accent1>
      <a:accent2>
        <a:srgbClr val="D8C39A"/>
      </a:accent2>
      <a:accent3>
        <a:srgbClr val="6B6F76"/>
      </a:accent3>
      <a:accent4>
        <a:srgbClr val="8A6D3B"/>
      </a:accent4>
      <a:accent5>
        <a:srgbClr val="E9E4DA"/>
      </a:accent5>
      <a:accent6>
        <a:srgbClr val="15171B"/>
      </a:accent6>
      <a:hlink>
        <a:srgbClr val="B08D57"/>
      </a:hlink>
      <a:folHlink>
        <a:srgbClr val="8A6D3B"/>
      </a:folHlink>
    </a:clrScheme>
    <a:fontScheme name="RK Advocates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18</Slides>
  <Notes>18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</vt:vector>
  </TitlesOfParts>
  <Company>Rashid Alkaitoob Advocates &amp; Legal Consultants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How to Protect Foreign Investors in the UAE</dc:title>
  <dc:subject>PptxGenJS Presentation</dc:subject>
  <dc:creator>Rashid Alkaitoob Advocates &amp; Legal Consultants</dc:creator>
  <cp:lastModifiedBy>Rashid Alkaitoob Advocates &amp; Legal Consultants</cp:lastModifiedBy>
  <cp:revision>1</cp:revision>
  <dcterms:created xsi:type="dcterms:W3CDTF">2026-10-26T11:14:59Z</dcterms:created>
  <dcterms:modified xsi:type="dcterms:W3CDTF">2026-10-26T11:14:59Z</dcterms:modified>
</cp:coreProperties>
</file>