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3bcbc316-c462-2bed-d9a8-db453935499e}">
          <p14:sldIdLst>
            <p14:sldId id="256"/>
            <p14:sldId id="257"/>
          </p14:sldIdLst>
        </p14:section>
        <p14:section name="The reality" id="{1487cb47-1dad-4f60-c15e-ad2a60c6f825}">
          <p14:sldIdLst>
            <p14:sldId id="258"/>
            <p14:sldId id="259"/>
            <p14:sldId id="260"/>
          </p14:sldIdLst>
        </p14:section>
        <p14:section name="Legal framework" id="{4d00e733-468c-b242-bab1-dc2bc2dcc345}">
          <p14:sldIdLst>
            <p14:sldId id="261"/>
            <p14:sldId id="262"/>
            <p14:sldId id="263"/>
          </p14:sldIdLst>
        </p14:section>
        <p14:section name="The tools" id="{62e0f80b-7026-a98a-fd65-c68aeeb9dbce}">
          <p14:sldIdLst>
            <p14:sldId id="264"/>
            <p14:sldId id="265"/>
            <p14:sldId id="266"/>
          </p14:sldIdLst>
        </p14:section>
        <p14:section name="Scenarios" id="{432e7b97-9b37-47bb-78df-57f5e6f9cb74}">
          <p14:sldIdLst>
            <p14:sldId id="267"/>
            <p14:sldId id="268"/>
            <p14:sldId id="269"/>
            <p14:sldId id="270"/>
            <p14:sldId id="271"/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Stress to the audience: the right route is decided per person after a discovery session; there is no single answer for everyone.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E2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aa/b81485da-2e22-5d10-878f-01904e6d5dc6/scratchpad/r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4681728"/>
            <a:ext cx="1675417" cy="274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aa/b81485da-2e22-5d10-878f-01904e6d5dc6/scratchpad/rk/logo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4681728"/>
            <a:ext cx="1675417" cy="27432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rgbClr val="0E2238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LAIN_DARK">
    <p:bg>
      <p:bgPr>
        <a:solidFill>
          <a:srgbClr val="0E2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00" cy="4229100"/>
          </a:xfrm>
          <a:prstGeom prst="rect">
            <a:avLst/>
          </a:prstGeom>
          <a:ln w="9525">
            <a:solidFill>
              <a:srgbClr val="B5723B"/>
            </a:solidFill>
            <a:prstDash val="solid"/>
          </a:ln>
        </p:spPr>
      </p:sp>
      <p:pic>
        <p:nvPicPr>
          <p:cNvPr id="3" name="Image 0" descr="/tmp/claude-0/-home-user-aa/b81485da-2e22-5d10-878f-01904e6d5dc6/scratchpad/r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868680"/>
            <a:ext cx="4021000" cy="65836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68680" y="1965960"/>
            <a:ext cx="7406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3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to Protect Foreign Investors in the UAE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868680" y="3383280"/>
            <a:ext cx="7406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500" dirty="0">
                <a:solidFill>
                  <a:schemeClr val="accent2"/>
                </a:solidFill>
              </a:rPr>
              <a:t>A seminar on wills, asset protection and estate planning for investors and property owners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68680" y="4023360"/>
            <a:ext cx="7406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dirty="0">
                <a:solidFill>
                  <a:schemeClr val="accent3"/>
                </a:solidFill>
              </a:rPr>
              <a:t>Rashid Alkaitoob Advocates &amp; Legal Consultants · Dubai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will cover today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005840" y="1234440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350" dirty="0">
                <a:solidFill>
                  <a:schemeClr val="tx1"/>
                </a:solidFill>
              </a:rPr>
              <a:t>The reality: mistakes foreign investors make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57200" y="1801368"/>
            <a:ext cx="4023360" cy="0"/>
          </a:xfrm>
          <a:prstGeom prst="line">
            <a:avLst/>
          </a:prstGeom>
          <a:noFill/>
          <a:ln w="6350">
            <a:solidFill>
              <a:srgbClr val="E6E1D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856232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1856232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350" dirty="0">
                <a:solidFill>
                  <a:schemeClr val="tx1"/>
                </a:solidFill>
              </a:rPr>
              <a:t>What actually happens without planning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57200" y="2423160"/>
            <a:ext cx="4023360" cy="0"/>
          </a:xfrm>
          <a:prstGeom prst="line">
            <a:avLst/>
          </a:prstGeom>
          <a:noFill/>
          <a:ln w="6350">
            <a:solidFill>
              <a:srgbClr val="E6E1D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478024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2478024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350" dirty="0">
                <a:solidFill>
                  <a:schemeClr val="tx1"/>
                </a:solidFill>
              </a:rPr>
              <a:t>The UAE legal framework: registries and options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57200" y="3044952"/>
            <a:ext cx="4023360" cy="0"/>
          </a:xfrm>
          <a:prstGeom prst="line">
            <a:avLst/>
          </a:prstGeom>
          <a:noFill/>
          <a:ln w="6350">
            <a:solidFill>
              <a:srgbClr val="E6E1D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1234440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5212080" y="1234440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350" dirty="0">
                <a:solidFill>
                  <a:schemeClr val="tx1"/>
                </a:solidFill>
              </a:rPr>
              <a:t>Protection tools: from the will to wealth structuring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4663440" y="1801368"/>
            <a:ext cx="4023360" cy="0"/>
          </a:xfrm>
          <a:prstGeom prst="line">
            <a:avLst/>
          </a:prstGeom>
          <a:noFill/>
          <a:ln w="6350">
            <a:solidFill>
              <a:srgbClr val="E6E1D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663440" y="1856232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5212080" y="1856232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350" dirty="0">
                <a:solidFill>
                  <a:schemeClr val="tx1"/>
                </a:solidFill>
              </a:rPr>
              <a:t>Three practical scenarios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663440" y="2423160"/>
            <a:ext cx="4023360" cy="0"/>
          </a:xfrm>
          <a:prstGeom prst="line">
            <a:avLst/>
          </a:prstGeom>
          <a:noFill/>
          <a:ln w="6350">
            <a:solidFill>
              <a:srgbClr val="E6E1D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663440" y="2478024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5212080" y="2478024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350" dirty="0">
                <a:solidFill>
                  <a:schemeClr val="tx1"/>
                </a:solidFill>
              </a:rPr>
              <a:t>A quick self-check and Q&amp;A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4663440" y="3044952"/>
            <a:ext cx="4023360" cy="0"/>
          </a:xfrm>
          <a:prstGeom prst="line">
            <a:avLst/>
          </a:prstGeom>
          <a:noFill/>
          <a:ln w="6350">
            <a:solidFill>
              <a:srgbClr val="E6E1D8"/>
            </a:solidFill>
            <a:prstDash val="solid"/>
          </a:ln>
        </p:spPr>
      </p:sp>
      <p:sp>
        <p:nvSpPr>
          <p:cNvPr id="21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46304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74320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alt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reality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67588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chemeClr val="accent2"/>
                </a:solidFill>
              </a:rPr>
              <a:t>Foreign investors spend millions of dirhams and forget one question: what happens next?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Common mistakes foreign investors make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THE MISTAKES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5" name="icon FaTriangleExclamati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97280" y="1170432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Assuming your home-country law applies automatically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UAE procedures differ by nationality, religion and circumstances, and may not be what you expect.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1847088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8" name="icon FaTriangleExclamati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38528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97280" y="1828800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Buying property with no will or structure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Most buyers do not know the inheritance rules in the UAE.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457200" y="2505456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1" name="icon FaTriangleExclamati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596896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0" y="2487168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Assets in several countries with no unified plan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Conflicting or missing wills mean delays and disputes.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457200" y="3163824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4" name="icon FaTriangleExclamati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255264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97280" y="3145536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Not arranging guardianship for children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No one is formally appointed to care for minors.</a:t>
            </a:r>
            <a:endParaRPr lang="en-US" sz="1300" dirty="0"/>
          </a:p>
        </p:txBody>
      </p:sp>
      <p:sp>
        <p:nvSpPr>
          <p:cNvPr id="16" name="Shape 10"/>
          <p:cNvSpPr/>
          <p:nvPr/>
        </p:nvSpPr>
        <p:spPr>
          <a:xfrm>
            <a:off x="457200" y="3822192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7" name="icon FaTriangleExclamati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913632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097280" y="3803904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Company shares left outside any plan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Business stalls and partner decisions freeze.</a:t>
            </a:r>
            <a:endParaRPr lang="en-US" sz="1300" dirty="0"/>
          </a:p>
        </p:txBody>
      </p:sp>
      <p:sp>
        <p:nvSpPr>
          <p:cNvPr id="19" name="Shape 12"/>
          <p:cNvSpPr/>
          <p:nvPr/>
        </p:nvSpPr>
        <p:spPr>
          <a:xfrm>
            <a:off x="5943600" y="1188720"/>
            <a:ext cx="2743200" cy="3246120"/>
          </a:xfrm>
          <a:prstGeom prst="rect">
            <a:avLst/>
          </a:prstGeom>
          <a:solidFill>
            <a:srgbClr val="0E2238"/>
          </a:solidFill>
          <a:ln w="12700">
            <a:solidFill>
              <a:srgbClr val="0E2238"/>
            </a:solidFill>
            <a:prstDash val="solid"/>
          </a:ln>
        </p:spPr>
      </p:sp>
      <p:sp>
        <p:nvSpPr>
          <p:cNvPr id="20" name="Shape 13"/>
          <p:cNvSpPr/>
          <p:nvPr/>
        </p:nvSpPr>
        <p:spPr>
          <a:xfrm>
            <a:off x="6053328" y="1298448"/>
            <a:ext cx="2523744" cy="3026664"/>
          </a:xfrm>
          <a:prstGeom prst="rect">
            <a:avLst/>
          </a:prstGeom>
          <a:ln w="9525">
            <a:solidFill>
              <a:srgbClr val="B5723B"/>
            </a:solidFill>
            <a:prstDash val="solid"/>
          </a:ln>
        </p:spPr>
      </p:sp>
      <p:sp>
        <p:nvSpPr>
          <p:cNvPr id="21" name="Text 14"/>
          <p:cNvSpPr txBox="1"/>
          <p:nvPr/>
        </p:nvSpPr>
        <p:spPr>
          <a:xfrm>
            <a:off x="6263640" y="15087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does this happen?</a:t>
            </a:r>
            <a:endParaRPr lang="en-US" sz="1600" dirty="0"/>
          </a:p>
        </p:txBody>
      </p:sp>
      <p:sp>
        <p:nvSpPr>
          <p:cNvPr id="22" name="Text 15"/>
          <p:cNvSpPr txBox="1"/>
          <p:nvPr/>
        </p:nvSpPr>
        <p:spPr>
          <a:xfrm>
            <a:off x="6263640" y="2286000"/>
            <a:ext cx="2103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150" dirty="0">
                <a:solidFill>
                  <a:schemeClr val="bg2"/>
                </a:solidFill>
              </a:rPr>
              <a:t>Because nobody asked the investor the right question at the right moment. Today we ask it.</a:t>
            </a:r>
            <a:endParaRPr lang="en-US" sz="1150" dirty="0"/>
          </a:p>
        </p:txBody>
      </p:sp>
      <p:sp>
        <p:nvSpPr>
          <p:cNvPr id="23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actually happens without planning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THE CONSEQUENCES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1885950" cy="32461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5" name="icon FaLock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389888"/>
            <a:ext cx="310896" cy="31089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1828800"/>
            <a:ext cx="148361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400" b="1" dirty="0">
                <a:solidFill>
                  <a:schemeClr val="tx1"/>
                </a:solidFill>
              </a:rPr>
              <a:t>Frozen accounts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150" dirty="0">
                <a:solidFill>
                  <a:schemeClr val="accent3"/>
                </a:solidFill>
              </a:rPr>
              <a:t>Bank accounts may be frozen until an estate distribution order issues, cutting off the family's expenses.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2571750" y="1188720"/>
            <a:ext cx="1885950" cy="32461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8" name="icon FaHouseLock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2918" y="1389888"/>
            <a:ext cx="310896" cy="31089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772918" y="1828800"/>
            <a:ext cx="148361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400" b="1" dirty="0">
                <a:solidFill>
                  <a:schemeClr val="tx1"/>
                </a:solidFill>
              </a:rPr>
              <a:t>Blocked ownership transfer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150" dirty="0">
                <a:solidFill>
                  <a:schemeClr val="accent3"/>
                </a:solidFill>
              </a:rPr>
              <a:t>The property waits for procedures that can be long and complex.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4686300" y="1188720"/>
            <a:ext cx="1885950" cy="32461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1" name="icon FaPeopleArrows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7468" y="1389888"/>
            <a:ext cx="310896" cy="31089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887468" y="1828800"/>
            <a:ext cx="148361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400" b="1" dirty="0">
                <a:solidFill>
                  <a:schemeClr val="tx1"/>
                </a:solidFill>
              </a:rPr>
              <a:t>Family disputes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150" dirty="0">
                <a:solidFill>
                  <a:schemeClr val="accent3"/>
                </a:solidFill>
              </a:rPr>
              <a:t>A lack of clarity invites conflict between heirs.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6800850" y="1188720"/>
            <a:ext cx="1885950" cy="32461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4" name="icon FaChildre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02018" y="1389888"/>
            <a:ext cx="310896" cy="31089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7002018" y="1828800"/>
            <a:ext cx="148361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400" b="1" dirty="0">
                <a:solidFill>
                  <a:schemeClr val="tx1"/>
                </a:solidFill>
              </a:rPr>
              <a:t>Problems for children and heirs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150" dirty="0">
                <a:solidFill>
                  <a:schemeClr val="accent3"/>
                </a:solidFill>
              </a:rPr>
              <a:t>No appointed guardian and no clear path for shares at home or abroad.</a:t>
            </a:r>
            <a:endParaRPr lang="en-US" sz="1400" dirty="0"/>
          </a:p>
        </p:txBody>
      </p:sp>
      <p:sp>
        <p:nvSpPr>
          <p:cNvPr id="16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46304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74320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alt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UAE legal framework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67588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chemeClr val="accent2"/>
                </a:solidFill>
              </a:rPr>
              <a:t>The investor has real options; what matters is choosing the right one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wills are registered in the UAE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LEGAL FRAMEWORK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5" name="icon FaLandmark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97280" y="1170432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Dubai Courts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Registration of non-Muslim wills with Dubai Courts under the non-Muslim personal status rules.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1847088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8" name="icon FaLandmark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38528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97280" y="1828800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Abu Dhabi Courts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Registration with the Abu Dhabi Judicial Department for clients who prefer this route.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457200" y="2505456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1" name="icon FaBuildingColumns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596896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0" y="2487168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DIFC Wills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The DIFC wills registry for non-Muslims, in English, covering assets in the UAE.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457200" y="3163824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4" name="icon FaBuildingColumns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255264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97280" y="3145536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ADGM Wills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The ADGM wills registry for non-Muslims, an alternative English-language route.</a:t>
            </a:r>
            <a:endParaRPr lang="en-US" sz="1300" dirty="0"/>
          </a:p>
        </p:txBody>
      </p:sp>
      <p:sp>
        <p:nvSpPr>
          <p:cNvPr id="16" name="Shape 10"/>
          <p:cNvSpPr/>
          <p:nvPr/>
        </p:nvSpPr>
        <p:spPr>
          <a:xfrm>
            <a:off x="457200" y="3822192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7" name="icon FaScaleBalanced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913632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097280" y="3803904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Sharia or foreign law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We determine the applicable law by the client's nationality, religion and wishes.</a:t>
            </a:r>
            <a:endParaRPr lang="en-US" sz="1300" dirty="0"/>
          </a:p>
        </p:txBody>
      </p:sp>
      <p:sp>
        <p:nvSpPr>
          <p:cNvPr id="19" name="Shape 12"/>
          <p:cNvSpPr/>
          <p:nvPr/>
        </p:nvSpPr>
        <p:spPr>
          <a:xfrm>
            <a:off x="5943600" y="1188720"/>
            <a:ext cx="2743200" cy="3246120"/>
          </a:xfrm>
          <a:prstGeom prst="rect">
            <a:avLst/>
          </a:prstGeom>
          <a:solidFill>
            <a:srgbClr val="0E2238"/>
          </a:solidFill>
          <a:ln w="12700">
            <a:solidFill>
              <a:srgbClr val="0E2238"/>
            </a:solidFill>
            <a:prstDash val="solid"/>
          </a:ln>
        </p:spPr>
      </p:sp>
      <p:sp>
        <p:nvSpPr>
          <p:cNvPr id="20" name="Shape 13"/>
          <p:cNvSpPr/>
          <p:nvPr/>
        </p:nvSpPr>
        <p:spPr>
          <a:xfrm>
            <a:off x="6053328" y="1298448"/>
            <a:ext cx="2523744" cy="3026664"/>
          </a:xfrm>
          <a:prstGeom prst="rect">
            <a:avLst/>
          </a:prstGeom>
          <a:ln w="9525">
            <a:solidFill>
              <a:srgbClr val="B5723B"/>
            </a:solidFill>
            <a:prstDash val="solid"/>
          </a:ln>
        </p:spPr>
      </p:sp>
      <p:sp>
        <p:nvSpPr>
          <p:cNvPr id="21" name="Text 14"/>
          <p:cNvSpPr txBox="1"/>
          <p:nvPr/>
        </p:nvSpPr>
        <p:spPr>
          <a:xfrm>
            <a:off x="6263640" y="15087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client is a distinct case</a:t>
            </a:r>
            <a:endParaRPr lang="en-US" sz="1600" dirty="0"/>
          </a:p>
        </p:txBody>
      </p:sp>
      <p:sp>
        <p:nvSpPr>
          <p:cNvPr id="22" name="Text 15"/>
          <p:cNvSpPr txBox="1"/>
          <p:nvPr/>
        </p:nvSpPr>
        <p:spPr>
          <a:xfrm>
            <a:off x="6263640" y="2286000"/>
            <a:ext cx="2103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150" dirty="0">
                <a:solidFill>
                  <a:schemeClr val="bg2"/>
                </a:solidFill>
              </a:rPr>
              <a:t>Nationality, religion, family status and where the assets sit decide the right route. That is why we always start with a discovery session, not with a will type.</a:t>
            </a:r>
            <a:endParaRPr lang="en-US" sz="1150" dirty="0"/>
          </a:p>
        </p:txBody>
      </p:sp>
      <p:sp>
        <p:nvSpPr>
          <p:cNvPr id="23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main routes at a glance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A GENERAL COMPARISON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2590800" cy="548640"/>
          </a:xfrm>
          <a:prstGeom prst="rect">
            <a:avLst/>
          </a:prstGeom>
          <a:solidFill>
            <a:srgbClr val="0E2238"/>
          </a:solidFill>
          <a:ln w="12700">
            <a:solidFill>
              <a:srgbClr val="0E22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188720"/>
            <a:ext cx="231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chemeClr val="accent2"/>
                </a:solidFill>
              </a:rPr>
              <a:t>Local courts (Dubai / Abu Dhabi)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737360"/>
            <a:ext cx="2590800" cy="26974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874520"/>
            <a:ext cx="23164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Local registration of non-Muslim wills</a:t>
            </a:r>
            <a:endParaRPr lang="en-US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Arabic document with certified translation</a:t>
            </a:r>
            <a:endParaRPr lang="en-US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Suits those who prefer the local route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76600" y="1188720"/>
            <a:ext cx="2590800" cy="548640"/>
          </a:xfrm>
          <a:prstGeom prst="rect">
            <a:avLst/>
          </a:prstGeom>
          <a:solidFill>
            <a:srgbClr val="B5723B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13760" y="1188720"/>
            <a:ext cx="231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DIFC Wills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76600" y="1737360"/>
            <a:ext cx="2590800" cy="26974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13760" y="1874520"/>
            <a:ext cx="23164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A wills registry for non-Muslims in Dubai</a:t>
            </a:r>
            <a:endParaRPr lang="en-US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An English document covering UAE assets</a:t>
            </a:r>
            <a:endParaRPr lang="en-US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A common choice for Europeans, Russians and Indians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096000" y="1188720"/>
            <a:ext cx="2590800" cy="548640"/>
          </a:xfrm>
          <a:prstGeom prst="rect">
            <a:avLst/>
          </a:prstGeom>
          <a:solidFill>
            <a:srgbClr val="0E2238"/>
          </a:solidFill>
          <a:ln w="12700">
            <a:solidFill>
              <a:srgbClr val="0E223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33160" y="1188720"/>
            <a:ext cx="231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chemeClr val="accent2"/>
                </a:solidFill>
              </a:rPr>
              <a:t>ADGM Wills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096000" y="1737360"/>
            <a:ext cx="2590800" cy="26974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33160" y="1874520"/>
            <a:ext cx="23164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A wills registry for non-Muslims in Abu Dhabi</a:t>
            </a:r>
            <a:endParaRPr lang="en-US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An English-language document</a:t>
            </a:r>
            <a:endParaRPr lang="en-US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An alternative route depending on assets and preference</a:t>
            </a:r>
            <a:endParaRPr lang="en-US" sz="1100" dirty="0"/>
          </a:p>
        </p:txBody>
      </p:sp>
      <p:sp>
        <p:nvSpPr>
          <p:cNvPr id="17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46304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74320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alt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Protection tools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67588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chemeClr val="accent2"/>
                </a:solidFill>
              </a:rPr>
              <a:t>From a simple will to multi-generational wealth structuring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protection tools available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THE TOOLKIT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188595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5" name="icon FaFileSignatur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389888"/>
            <a:ext cx="310896" cy="31089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1828800"/>
            <a:ext cx="148361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Individual will</a:t>
            </a:r>
            <a:endParaRPr lang="en-US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Your UAE assets, guardians and executors.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2571750" y="1188720"/>
            <a:ext cx="188595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8" name="icon FaUserGroup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2918" y="1389888"/>
            <a:ext cx="310896" cy="31089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772918" y="1828800"/>
            <a:ext cx="148361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Spousal wills</a:t>
            </a:r>
            <a:endParaRPr lang="en-US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Two matching wills protecting the family and children.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4686300" y="1188720"/>
            <a:ext cx="188595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1" name="icon FaHous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7468" y="1389888"/>
            <a:ext cx="310896" cy="31089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887468" y="1828800"/>
            <a:ext cx="148361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Property will</a:t>
            </a:r>
            <a:endParaRPr lang="en-US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For UAE real estate only.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6800850" y="1188720"/>
            <a:ext cx="188595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4" name="icon FaBriefcas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02018" y="1389888"/>
            <a:ext cx="310896" cy="31089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7002018" y="1828800"/>
            <a:ext cx="148361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Business will</a:t>
            </a:r>
            <a:endParaRPr lang="en-US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Company shares and business continuity.</a:t>
            </a:r>
            <a:endParaRPr lang="en-US" sz="1250" dirty="0"/>
          </a:p>
        </p:txBody>
      </p:sp>
      <p:sp>
        <p:nvSpPr>
          <p:cNvPr id="16" name="Shape 10"/>
          <p:cNvSpPr/>
          <p:nvPr/>
        </p:nvSpPr>
        <p:spPr>
          <a:xfrm>
            <a:off x="457200" y="2926080"/>
            <a:ext cx="188595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7" name="icon FaSitemap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3127248"/>
            <a:ext cx="310896" cy="310896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658368" y="3566160"/>
            <a:ext cx="148361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Holding / SPV</a:t>
            </a:r>
            <a:endParaRPr lang="en-US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A holding company linked to the succession plan.</a:t>
            </a:r>
            <a:endParaRPr lang="en-US" sz="1250" dirty="0"/>
          </a:p>
        </p:txBody>
      </p:sp>
      <p:sp>
        <p:nvSpPr>
          <p:cNvPr id="19" name="Shape 12"/>
          <p:cNvSpPr/>
          <p:nvPr/>
        </p:nvSpPr>
        <p:spPr>
          <a:xfrm>
            <a:off x="2571750" y="2926080"/>
            <a:ext cx="188595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20" name="icon FaLandmark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72918" y="3127248"/>
            <a:ext cx="310896" cy="310896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2772918" y="3566160"/>
            <a:ext cx="148361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Foundation or trust</a:t>
            </a:r>
            <a:endParaRPr lang="en-US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Wealth protection across generations.</a:t>
            </a:r>
            <a:endParaRPr lang="en-US" sz="1250" dirty="0"/>
          </a:p>
        </p:txBody>
      </p:sp>
      <p:sp>
        <p:nvSpPr>
          <p:cNvPr id="22" name="Shape 14"/>
          <p:cNvSpPr/>
          <p:nvPr/>
        </p:nvSpPr>
        <p:spPr>
          <a:xfrm>
            <a:off x="4686300" y="2926080"/>
            <a:ext cx="188595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23" name="icon FaPeopleRoof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87468" y="3127248"/>
            <a:ext cx="310896" cy="310896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4887468" y="3566160"/>
            <a:ext cx="148361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Family governance</a:t>
            </a:r>
            <a:endParaRPr lang="en-US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Family office and partnership agreements.</a:t>
            </a:r>
            <a:endParaRPr lang="en-US" sz="1250" dirty="0"/>
          </a:p>
        </p:txBody>
      </p:sp>
      <p:sp>
        <p:nvSpPr>
          <p:cNvPr id="25" name="Shape 16"/>
          <p:cNvSpPr/>
          <p:nvPr/>
        </p:nvSpPr>
        <p:spPr>
          <a:xfrm>
            <a:off x="6800850" y="2926080"/>
            <a:ext cx="188595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26" name="icon FaKey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02018" y="3127248"/>
            <a:ext cx="310896" cy="310896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7002018" y="3566160"/>
            <a:ext cx="148361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Ownership transfer</a:t>
            </a:r>
            <a:endParaRPr lang="en-US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Representing heirs and completing procedures.</a:t>
            </a:r>
            <a:endParaRPr lang="en-US" sz="1250" dirty="0"/>
          </a:p>
        </p:txBody>
      </p:sp>
      <p:sp>
        <p:nvSpPr>
          <p:cNvPr id="28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good plan must cover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THE CHECKLIST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5" name="icon FaListCheck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97280" y="1170432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Every asset in the UAE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Property, accounts, companies, vehicles, investments.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1847088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8" name="icon FaListCheck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38528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97280" y="1828800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Guardians and executors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Who cares for the children, and who executes the will.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457200" y="2505456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1" name="icon FaListCheck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596896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0" y="2487168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Heirs inside and outside the UAE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Coordinated with any will in your home country.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457200" y="3163824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4" name="icon FaListCheck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255264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97280" y="3145536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The applicable law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Sharia, foreign law, or the structure you choose.</a:t>
            </a:r>
            <a:endParaRPr lang="en-US" sz="1300" dirty="0"/>
          </a:p>
        </p:txBody>
      </p:sp>
      <p:sp>
        <p:nvSpPr>
          <p:cNvPr id="16" name="Shape 10"/>
          <p:cNvSpPr/>
          <p:nvPr/>
        </p:nvSpPr>
        <p:spPr>
          <a:xfrm>
            <a:off x="457200" y="3822192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7" name="icon FaListCheck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913632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097280" y="3803904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Periodic review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The plan is updated whenever your assets or family change.</a:t>
            </a:r>
            <a:endParaRPr lang="en-US" sz="1300" dirty="0"/>
          </a:p>
        </p:txBody>
      </p:sp>
      <p:sp>
        <p:nvSpPr>
          <p:cNvPr id="19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46304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74320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alt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practical scenarios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67588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chemeClr val="accent2"/>
                </a:solidFill>
              </a:rPr>
              <a:t>Fictional names, situations we see every week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cases we see every week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PRACTICAL SCENARIOS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2590800" cy="32461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5" name="icon FaHous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389888"/>
            <a:ext cx="310896" cy="31089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1828800"/>
            <a:ext cx="218846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400" b="1" dirty="0">
                <a:solidFill>
                  <a:schemeClr val="tx1"/>
                </a:solidFill>
              </a:rPr>
              <a:t>The property investor with family abroad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150" dirty="0">
                <a:solidFill>
                  <a:schemeClr val="accent3"/>
                </a:solidFill>
              </a:rPr>
              <a:t>Owns two apartments in Dubai; spouse and children live in Europe. Solution: a registered property will naming heirs and an executor, coordinated with the home-country will.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3276600" y="1188720"/>
            <a:ext cx="2590800" cy="32461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8" name="icon FaBriefcas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7768" y="1389888"/>
            <a:ext cx="310896" cy="31089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477768" y="1828800"/>
            <a:ext cx="218846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400" b="1" dirty="0">
                <a:solidFill>
                  <a:schemeClr val="tx1"/>
                </a:solidFill>
              </a:rPr>
              <a:t>The company owner with partners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150" dirty="0">
                <a:solidFill>
                  <a:schemeClr val="accent3"/>
                </a:solidFill>
              </a:rPr>
              <a:t>Holds a stake in a Dubai company with two partners. Solution: a business will and a partners' agreement that keep decisions flowing and transfer the stake.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6096000" y="1188720"/>
            <a:ext cx="2590800" cy="32461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1" name="icon FaChildre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7168" y="1389888"/>
            <a:ext cx="310896" cy="31089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297168" y="1828800"/>
            <a:ext cx="218846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400" b="1" dirty="0">
                <a:solidFill>
                  <a:schemeClr val="tx1"/>
                </a:solidFill>
              </a:rPr>
              <a:t>The couple with children in the UAE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150" dirty="0">
                <a:solidFill>
                  <a:schemeClr val="accent3"/>
                </a:solidFill>
              </a:rPr>
              <a:t>Residents with two minor children and local accounts. Solution: spousal wills appointing a guardian and protecting the accounts and the home.</a:t>
            </a:r>
            <a:endParaRPr lang="en-US" sz="1400" dirty="0"/>
          </a:p>
        </p:txBody>
      </p:sp>
      <p:sp>
        <p:nvSpPr>
          <p:cNvPr id="13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to start: five steps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THE PROCESS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731520" y="1600200"/>
            <a:ext cx="7680960" cy="0"/>
          </a:xfrm>
          <a:prstGeom prst="line">
            <a:avLst/>
          </a:prstGeom>
          <a:noFill/>
          <a:ln w="9525">
            <a:solidFill>
              <a:srgbClr val="D9B38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057400"/>
            <a:ext cx="15142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Discovery session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606040"/>
            <a:ext cx="151424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Your nationality, family, assets, companies, children, accounts.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136038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136038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136038" y="2057400"/>
            <a:ext cx="15142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Risk assessment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2136038" y="2606040"/>
            <a:ext cx="151424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Will only? DIFC or ADGM? Structuring? Foundation?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814877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814877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3814877" y="2057400"/>
            <a:ext cx="15142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Written proposal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3814877" y="2606040"/>
            <a:ext cx="151424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Scope, fees, timeline, registration cost.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493715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93715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493715" y="2057400"/>
            <a:ext cx="15142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Drafting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493715" y="2606040"/>
            <a:ext cx="151424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The will, translation, witnesses, notarisation.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172554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172554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7172554" y="2057400"/>
            <a:ext cx="15142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Registration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172554" y="2606040"/>
            <a:ext cx="151424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With the chosen authority, with direct follow-up.</a:t>
            </a:r>
            <a:endParaRPr lang="en-US" sz="1050" dirty="0"/>
          </a:p>
        </p:txBody>
      </p:sp>
      <p:sp>
        <p:nvSpPr>
          <p:cNvPr id="25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quick self-check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ANSWER YES OR NO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14300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dirty="0">
                <a:solidFill>
                  <a:schemeClr val="accent1"/>
                </a:solidFill>
              </a:rPr>
              <a:t>QUESTION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166360" y="114300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dirty="0">
                <a:solidFill>
                  <a:schemeClr val="accent1"/>
                </a:solidFill>
              </a:rPr>
              <a:t>IF THE ANSWER IS YES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463040"/>
            <a:ext cx="8229600" cy="384048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7" name="icon FaCircleQuesti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36192"/>
            <a:ext cx="237744" cy="23774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14400" y="146304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150" dirty="0">
                <a:solidFill>
                  <a:schemeClr val="tx1"/>
                </a:solidFill>
              </a:rPr>
              <a:t>Do you own property in the UAE?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5166360" y="1463040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100" b="1" dirty="0">
                <a:solidFill>
                  <a:schemeClr val="accent4"/>
                </a:solidFill>
              </a:rPr>
              <a:t>You need at least a property will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57200" y="1920240"/>
            <a:ext cx="82296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1" name="icon FaCircleQuesti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993392"/>
            <a:ext cx="237744" cy="23774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914400" y="192024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150" dirty="0">
                <a:solidFill>
                  <a:schemeClr val="tx1"/>
                </a:solidFill>
              </a:rPr>
              <a:t>Do you own companies or shares?</a:t>
            </a:r>
            <a:endParaRPr lang="en-US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5166360" y="1920240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100" b="1" dirty="0">
                <a:solidFill>
                  <a:schemeClr val="accent4"/>
                </a:solidFill>
              </a:rPr>
              <a:t>You need a business will or structuring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457200" y="2377440"/>
            <a:ext cx="8229600" cy="384048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5" name="icon FaCircleQuesti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450592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14400" y="237744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150" dirty="0">
                <a:solidFill>
                  <a:schemeClr val="tx1"/>
                </a:solidFill>
              </a:rPr>
              <a:t>Do you have minor children?</a:t>
            </a:r>
            <a:endParaRPr lang="en-US" sz="1150" dirty="0"/>
          </a:p>
        </p:txBody>
      </p:sp>
      <p:sp>
        <p:nvSpPr>
          <p:cNvPr id="17" name="Text 12"/>
          <p:cNvSpPr txBox="1"/>
          <p:nvPr/>
        </p:nvSpPr>
        <p:spPr>
          <a:xfrm>
            <a:off x="5166360" y="2377440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100" b="1" dirty="0">
                <a:solidFill>
                  <a:schemeClr val="accent4"/>
                </a:solidFill>
              </a:rPr>
              <a:t>You need a formally appointed guardian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457200" y="2834640"/>
            <a:ext cx="82296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9" name="icon FaCircleQuesti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2907792"/>
            <a:ext cx="237744" cy="237744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914400" y="283464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150" dirty="0">
                <a:solidFill>
                  <a:schemeClr val="tx1"/>
                </a:solidFill>
              </a:rPr>
              <a:t>Are your heirs outside the UAE?</a:t>
            </a:r>
            <a:endParaRPr lang="en-US" sz="1150" dirty="0"/>
          </a:p>
        </p:txBody>
      </p:sp>
      <p:sp>
        <p:nvSpPr>
          <p:cNvPr id="21" name="Text 15"/>
          <p:cNvSpPr txBox="1"/>
          <p:nvPr/>
        </p:nvSpPr>
        <p:spPr>
          <a:xfrm>
            <a:off x="5166360" y="2834640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100" b="1" dirty="0">
                <a:solidFill>
                  <a:schemeClr val="accent4"/>
                </a:solidFill>
              </a:rPr>
              <a:t>You need the registry and law chosen carefully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457200" y="3291840"/>
            <a:ext cx="8229600" cy="384048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23" name="icon FaCircleQuesti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8" y="3364992"/>
            <a:ext cx="237744" cy="237744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914400" y="329184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150" dirty="0">
                <a:solidFill>
                  <a:schemeClr val="tx1"/>
                </a:solidFill>
              </a:rPr>
              <a:t>Do you hold assets in more than one country?</a:t>
            </a:r>
            <a:endParaRPr lang="en-US" sz="1150" dirty="0"/>
          </a:p>
        </p:txBody>
      </p:sp>
      <p:sp>
        <p:nvSpPr>
          <p:cNvPr id="25" name="Text 18"/>
          <p:cNvSpPr txBox="1"/>
          <p:nvPr/>
        </p:nvSpPr>
        <p:spPr>
          <a:xfrm>
            <a:off x="5166360" y="3291840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100" b="1" dirty="0">
                <a:solidFill>
                  <a:schemeClr val="accent4"/>
                </a:solidFill>
              </a:rPr>
              <a:t>You need a unified plan or a holding structure</a:t>
            </a:r>
            <a:endParaRPr lang="en-US" sz="1100" dirty="0"/>
          </a:p>
        </p:txBody>
      </p:sp>
      <p:sp>
        <p:nvSpPr>
          <p:cNvPr id="26" name="Shape 19"/>
          <p:cNvSpPr/>
          <p:nvPr/>
        </p:nvSpPr>
        <p:spPr>
          <a:xfrm>
            <a:off x="457200" y="3749040"/>
            <a:ext cx="82296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27" name="icon FaCircleQuesti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6928" y="3822192"/>
            <a:ext cx="237744" cy="237744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914400" y="374904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150" dirty="0">
                <a:solidFill>
                  <a:schemeClr val="tx1"/>
                </a:solidFill>
              </a:rPr>
              <a:t>Has it been over three years since your last will?</a:t>
            </a:r>
            <a:endParaRPr lang="en-US" sz="1150" dirty="0"/>
          </a:p>
        </p:txBody>
      </p:sp>
      <p:sp>
        <p:nvSpPr>
          <p:cNvPr id="29" name="Text 21"/>
          <p:cNvSpPr txBox="1"/>
          <p:nvPr/>
        </p:nvSpPr>
        <p:spPr>
          <a:xfrm>
            <a:off x="5166360" y="3749040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100" b="1" dirty="0">
                <a:solidFill>
                  <a:schemeClr val="accent4"/>
                </a:solidFill>
              </a:rPr>
              <a:t>You need a review</a:t>
            </a:r>
            <a:endParaRPr lang="en-US" sz="1100" dirty="0"/>
          </a:p>
        </p:txBody>
      </p:sp>
      <p:sp>
        <p:nvSpPr>
          <p:cNvPr id="30" name="Text 22"/>
          <p:cNvSpPr txBox="1"/>
          <p:nvPr/>
        </p:nvSpPr>
        <p:spPr>
          <a:xfrm>
            <a:off x="457200" y="43159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950" i="1" dirty="0">
                <a:solidFill>
                  <a:schemeClr val="accent3"/>
                </a:solidFill>
              </a:rPr>
              <a:t>One yes is enough to deserve a free first consultation.</a:t>
            </a:r>
            <a:endParaRPr lang="en-US" sz="950" dirty="0"/>
          </a:p>
        </p:txBody>
      </p:sp>
      <p:sp>
        <p:nvSpPr>
          <p:cNvPr id="31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11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firm at a glance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1885950" cy="2926080"/>
          </a:xfrm>
          <a:prstGeom prst="rect">
            <a:avLst/>
          </a:prstGeom>
          <a:ln w="9525">
            <a:solidFill>
              <a:srgbClr val="B5723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600200"/>
            <a:ext cx="152019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2014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743200"/>
            <a:ext cx="152019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300" b="1" dirty="0">
                <a:solidFill>
                  <a:schemeClr val="bg1"/>
                </a:solidFill>
              </a:rPr>
              <a:t>Founded</a:t>
            </a:r>
            <a:endParaRPr lang="en-US" sz="13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50" dirty="0">
                <a:solidFill>
                  <a:schemeClr val="accent2"/>
                </a:solidFill>
              </a:rPr>
              <a:t>Licensed law firm in Dubai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571750" y="1371600"/>
            <a:ext cx="1885950" cy="2926080"/>
          </a:xfrm>
          <a:prstGeom prst="rect">
            <a:avLst/>
          </a:prstGeom>
          <a:ln w="9525">
            <a:solidFill>
              <a:srgbClr val="B5723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754630" y="1600200"/>
            <a:ext cx="152019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10+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2754630" y="2743200"/>
            <a:ext cx="152019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300" b="1" dirty="0">
                <a:solidFill>
                  <a:schemeClr val="bg1"/>
                </a:solidFill>
              </a:rPr>
              <a:t>Practice areas</a:t>
            </a:r>
            <a:endParaRPr lang="en-US" sz="13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50" dirty="0">
                <a:solidFill>
                  <a:schemeClr val="accent2"/>
                </a:solidFill>
              </a:rPr>
              <a:t>Litigation, advisory and contracts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686300" y="1371600"/>
            <a:ext cx="1885950" cy="2926080"/>
          </a:xfrm>
          <a:prstGeom prst="rect">
            <a:avLst/>
          </a:prstGeom>
          <a:ln w="9525">
            <a:solidFill>
              <a:srgbClr val="B5723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69180" y="1600200"/>
            <a:ext cx="152019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4869180" y="2743200"/>
            <a:ext cx="152019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300" b="1" dirty="0">
                <a:solidFill>
                  <a:schemeClr val="bg1"/>
                </a:solidFill>
              </a:rPr>
              <a:t>Working languages</a:t>
            </a:r>
            <a:endParaRPr lang="en-US" sz="13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50" dirty="0">
                <a:solidFill>
                  <a:schemeClr val="accent2"/>
                </a:solidFill>
              </a:rPr>
              <a:t>Arabic · English · Chinese · Russian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800850" y="1371600"/>
            <a:ext cx="1885950" cy="2926080"/>
          </a:xfrm>
          <a:prstGeom prst="rect">
            <a:avLst/>
          </a:prstGeom>
          <a:ln w="9525">
            <a:solidFill>
              <a:srgbClr val="B5723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983730" y="1600200"/>
            <a:ext cx="152019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GCC &amp; Asia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6983730" y="2743200"/>
            <a:ext cx="152019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300" b="1" dirty="0">
                <a:solidFill>
                  <a:schemeClr val="bg1"/>
                </a:solidFill>
              </a:rPr>
              <a:t>Regional and international presence</a:t>
            </a:r>
            <a:endParaRPr lang="en-US" sz="13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50" dirty="0">
                <a:solidFill>
                  <a:schemeClr val="accent2"/>
                </a:solidFill>
              </a:rPr>
              <a:t>Dedicated China desk for investors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00" cy="4023360"/>
          </a:xfrm>
          <a:prstGeom prst="rect">
            <a:avLst/>
          </a:prstGeom>
          <a:ln w="9525">
            <a:solidFill>
              <a:srgbClr val="B572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640080"/>
            <a:ext cx="914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endParaRPr lang="en-US" sz="72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1463040"/>
            <a:ext cx="7315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2200" i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not think “will”. Think “asset protection”: a will is linked to death, protection is linked to investment and security.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35661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200" dirty="0">
                <a:solidFill>
                  <a:schemeClr val="accent2"/>
                </a:solidFill>
              </a:rPr>
              <a:t>The takeaway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00" cy="4229100"/>
          </a:xfrm>
          <a:prstGeom prst="rect">
            <a:avLst/>
          </a:prstGeom>
          <a:ln w="9525">
            <a:solidFill>
              <a:srgbClr val="B572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68680" y="777240"/>
            <a:ext cx="7406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2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Questions and answers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868680" y="155448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300" dirty="0">
                <a:solidFill>
                  <a:schemeClr val="accent2"/>
                </a:solidFill>
              </a:rPr>
              <a:t>A free first consultation for every attendee, in your language, wherever suits you</a:t>
            </a:r>
            <a:endParaRPr lang="en-US" sz="1300" dirty="0"/>
          </a:p>
        </p:txBody>
      </p:sp>
      <p:pic>
        <p:nvPicPr>
          <p:cNvPr id="5" name="icon FaLocationDot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28600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25880" y="22402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200" dirty="0">
                <a:solidFill>
                  <a:schemeClr val="bg2"/>
                </a:solidFill>
              </a:rPr>
              <a:t>Sheikh Zayed Road, Saeed Tower 2, Office 501, Dubai, UAE</a:t>
            </a:r>
            <a:endParaRPr lang="en-US" sz="1200" dirty="0"/>
          </a:p>
        </p:txBody>
      </p:sp>
      <p:pic>
        <p:nvPicPr>
          <p:cNvPr id="7" name="icon FaPh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788920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274320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200" dirty="0">
                <a:solidFill>
                  <a:schemeClr val="bg2"/>
                </a:solidFill>
              </a:rPr>
              <a:t>+971 4 359 5552  |  Mobile &amp; WhatsApp: +971 52 107 4972</a:t>
            </a:r>
            <a:endParaRPr lang="en-US" sz="1200" dirty="0"/>
          </a:p>
        </p:txBody>
      </p:sp>
      <p:pic>
        <p:nvPicPr>
          <p:cNvPr id="9" name="icon FaEnvelop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291840"/>
            <a:ext cx="274320" cy="27432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325880" y="324612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200" dirty="0">
                <a:solidFill>
                  <a:schemeClr val="bg2"/>
                </a:solidFill>
              </a:rPr>
              <a:t>ward.shueibi@rk-advocates.com  |  rk-advocates.com</a:t>
            </a:r>
            <a:endParaRPr lang="en-US" sz="1200" dirty="0"/>
          </a:p>
        </p:txBody>
      </p:sp>
      <p:pic>
        <p:nvPicPr>
          <p:cNvPr id="11" name="icon FaClock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794760"/>
            <a:ext cx="274320" cy="27432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1325880" y="37490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200" dirty="0">
                <a:solidFill>
                  <a:schemeClr val="bg2"/>
                </a:solidFill>
              </a:rPr>
              <a:t>Monday – Friday, 8:30 – 17:30  |  Arabic · English · Chinese · Russian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dnight Copper">
  <a:themeElements>
    <a:clrScheme name="Midnight Copper">
      <a:dk1>
        <a:srgbClr val="0E2238"/>
      </a:dk1>
      <a:lt1>
        <a:srgbClr val="FFFFFF"/>
      </a:lt1>
      <a:dk2>
        <a:srgbClr val="1F3A52"/>
      </a:dk2>
      <a:lt2>
        <a:srgbClr val="F4F1EB"/>
      </a:lt2>
      <a:accent1>
        <a:srgbClr val="B5723B"/>
      </a:accent1>
      <a:accent2>
        <a:srgbClr val="D9B38C"/>
      </a:accent2>
      <a:accent3>
        <a:srgbClr val="6E7B88"/>
      </a:accent3>
      <a:accent4>
        <a:srgbClr val="8C5527"/>
      </a:accent4>
      <a:accent5>
        <a:srgbClr val="E6E1D8"/>
      </a:accent5>
      <a:accent6>
        <a:srgbClr val="5B7A8C"/>
      </a:accent6>
      <a:hlink>
        <a:srgbClr val="B5723B"/>
      </a:hlink>
      <a:folHlink>
        <a:srgbClr val="8C5527"/>
      </a:folHlink>
    </a:clrScheme>
    <a:fontScheme name="Midnight Copper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Rashid Alkaitoob Advocates &amp; Legal Consultants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to Protect Foreign Investors in the UAE</dc:title>
  <dc:subject>PptxGenJS Presentation</dc:subject>
  <dc:creator>Rashid Alkaitoob Advocates &amp; Legal Consultants</dc:creator>
  <cp:lastModifiedBy>Rashid Alkaitoob Advocates &amp; Legal Consultants</cp:lastModifiedBy>
  <cp:revision>1</cp:revision>
  <dcterms:created xsi:type="dcterms:W3CDTF">2026-10-27T13:23:58Z</dcterms:created>
  <dcterms:modified xsi:type="dcterms:W3CDTF">2026-10-27T13:23:58Z</dcterms:modified>
</cp:coreProperties>
</file>