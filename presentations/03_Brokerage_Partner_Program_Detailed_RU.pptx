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4a0c6bd0-e48d-35da-c10b-b8d29d1d4df3}">
          <p14:sldIdLst>
            <p14:sldId id="256"/>
            <p14:sldId id="257"/>
          </p14:sldIdLst>
        </p14:section>
        <p14:section name="Кто мы" id="{a9fd51da-fc91-40ce-e037-0841f4424517}">
          <p14:sldIdLst>
            <p14:sldId id="258"/>
            <p14:sldId id="259"/>
            <p14:sldId id="260"/>
          </p14:sldIdLst>
        </p14:section>
        <p14:section name="Услуга" id="{851eba11-75ae-b03a-d2e1-57dad2638984}">
          <p14:sldIdLst>
            <p14:sldId id="261"/>
            <p14:sldId id="262"/>
            <p14:sldId id="263"/>
            <p14:sldId id="264"/>
            <p14:sldId id="265"/>
          </p14:sldIdLst>
        </p14:section>
        <p14:section name="Партнёрство" id="{621724f3-91bf-f019-cc8d-35f184d568c3}">
          <p14:sldIdLst>
            <p14:sldId id="266"/>
            <p14:sldId id="267"/>
            <p14:sldId id="268"/>
            <p14:sldId id="269"/>
          </p14:sldIdLst>
        </p14:section>
        <p14:section name="Представление" id="{b3c68df3-4c9f-8518-4e79-5ed9c56ee9df}">
          <p14:sldIdLst>
            <p14:sldId id="270"/>
            <p14:sldId id="271"/>
            <p14:sldId id="272"/>
            <p14:sldId id="273"/>
            <p14:sldId id="274"/>
          </p14:sldIdLst>
        </p14:section>
        <p14:section name="Рабочий процесс" id="{80cee176-f209-f106-85f4-2c2cf68326f6}">
          <p14:sldIdLst>
            <p14:sldId id="275"/>
            <p14:sldId id="276"/>
            <p14:sldId id="277"/>
            <p14:sldId id="278"/>
          </p14:sldIdLst>
        </p14:section>
        <p14:section name="Маркетинг" id="{c983d0c4-f746-21c3-cf74-a35284c11c54}">
          <p14:sldIdLst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Программа правовой защиты инвесторов</a:t>
            </a:r>
            <a:endParaRPr lang="ru-RU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2"/>
                </a:solidFill>
              </a:rPr>
              <a:t>Подробное руководство для агентств-партнёров: услуга, модель сотрудничества и как представлять её клиентам</a:t>
            </a:r>
            <a:endParaRPr lang="ru-RU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Rashid Alkaitoob Advocates &amp; Legal Consultants · Дубай</a:t>
            </a: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Кто мы и почему это важно для ваших клиентов</a:t>
            </a:r>
            <a:endParaRPr lang="ru-RU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Услуга в деталях: виды и реестры</a:t>
            </a:r>
            <a:endParaRPr lang="ru-RU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Модель партнёрства, соглашение и коммерческие условия</a:t>
            </a:r>
            <a:endParaRPr lang="ru-RU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9981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09981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Как представлять услугу: момент и скрипт</a:t>
            </a:r>
            <a:endParaRPr lang="ru-RU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3666744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Что говорить, чего никогда не говорить, и FAQ</a:t>
            </a:r>
            <a:endParaRPr lang="ru-RU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Процесс направления, уровни сервиса и комплаенс</a:t>
            </a:r>
            <a:endParaRPr lang="ru-RU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Совместный маркетинг и план подключения</a:t>
            </a:r>
            <a:endParaRPr lang="ru-RU" sz="1350" dirty="0"/>
          </a:p>
        </p:txBody>
      </p:sp>
      <p:sp>
        <p:nvSpPr>
          <p:cNvPr id="23" name="Shape 21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4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мы и почему эта услуга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Юридический партнёр, который защищает ваших клиентов и повышает ценность того, что вы продаёте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мы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RASHID ALKAITOOB ADVOCATES &amp; LEGAL CONSULTANTS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uildingColumn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Лицензия с 2014 года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Лицензированная в ОАЭ юридическая фирма на Шейх Зайед Роуд, Дубай, представляющая частных лиц и компании в судах всех инстанций.</a:t>
            </a:r>
            <a:endParaRPr lang="ru-RU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caleBalance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Более 10 направлений практики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Недвижимость, корпоративное право, арбитраж, семейное и наследственное право, комплаенс ПОД/ФТ, интеллектуальная собственность и другое.</a:t>
            </a:r>
            <a:endParaRPr lang="ru-RU" sz="125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Glob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Региональный и международный охват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Устойчивое присутствие в странах Залива и Азии, отдельный китайский отдел для инвесторов.</a:t>
            </a:r>
            <a:endParaRPr lang="ru-RU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angu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Четыре рабочих языка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Арабский, английский, китайский и русский: каждый клиент общается со своим юристом напрямую.</a:t>
            </a:r>
            <a:endParaRPr lang="ru-RU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Handshak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7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Сначала мирное урегулирование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Где это возможно, мы ведём переговоры и медиацию до суда, чтобы получить лучший результат с наименьшими затратами.</a:t>
            </a:r>
            <a:endParaRPr lang="ru-RU" sz="1250" dirty="0"/>
          </a:p>
        </p:txBody>
      </p:sp>
      <p:sp>
        <p:nvSpPr>
          <p:cNvPr id="19" name="Shape 12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UserShiel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16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Ориентация на клиента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Понятная коммуникация, регулярные обновления и практичные решения под каждое дело.</a:t>
            </a:r>
            <a:endParaRPr lang="ru-RU" sz="125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происходит с вашим клиентом без правового планирования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БОЛЕВЫЕ ТОЧКИ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Замороженные банковские счета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Счета могут быть заморожены до выдачи приказа о распределении наследства, лишая семью средств на расходы.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Заблокированная передача недвижимости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Процедуры занимают больше времени и различаются в зависимости от гражданства, религии и семейного положения.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PeopleArrow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Семейные споры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Отсутствие чёткого документа провоцирует споры между наследниками на родине и за рубежом.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Проблемы для детей и наследников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Нет назначенного опекуна для несовершеннолетних и ясного порядка для их долей.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Реальность</a:t>
            </a:r>
            <a:endParaRPr lang="ru-RU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Большинство иностранных покупателей не знают правил наследования в ОАЭ и покупают недвижимость на миллионы дирхамов без завещания и правовой структуры.</a:t>
            </a:r>
            <a:endParaRPr lang="ru-RU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Услуга в деталях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Не «написание завещания», а комплексная защита активов, семьи и инвестиций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Наши услуги по защите активов и наследству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КАТАЛОГ УСЛУГ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Составление завещания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Юридически выверенное завещание с учётом гражданства, семьи и активов клиента.</a:t>
            </a:r>
            <a:endParaRPr lang="ru-RU" sz="125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tam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Регистрация завещания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Регистрация в подходящем органе: суды Дубая, Абу-Даби, DIFC или ADGM.</a:t>
            </a:r>
            <a:endParaRPr lang="ru-RU" sz="125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Sitema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Структурирование наследства и активов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Заблаговременная организация наследования, чтобы исключить заморозку и споры.</a:t>
            </a:r>
            <a:endParaRPr lang="ru-RU" sz="125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Защита иностранного инвестора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Решения по шариату или иностранному праву в зависимости от ситуации клиента.</a:t>
            </a:r>
            <a:endParaRPr lang="ru-RU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Ke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Переход прав после смерти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Представление наследников и оформление перехода недвижимости и счетов.</a:t>
            </a:r>
            <a:endParaRPr lang="ru-RU" sz="1250" dirty="0"/>
          </a:p>
        </p:txBody>
      </p:sp>
      <p:sp>
        <p:nvSpPr>
          <p:cNvPr id="19" name="Shape 12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Buildin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1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Создание Holding / SPV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Холдинговые структуры, связанные с планом наследования, для защиты инвестиций.</a:t>
            </a:r>
            <a:endParaRPr lang="ru-RU" sz="1250" dirty="0"/>
          </a:p>
        </p:txBody>
      </p:sp>
      <p:sp>
        <p:nvSpPr>
          <p:cNvPr id="22" name="Shape 14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Hous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468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Завещания на недвижимость и бизнес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Завещания только на недвижимость или охватывающие доли в компаниях и бизнес.</a:t>
            </a:r>
            <a:endParaRPr lang="ru-RU" sz="1250" dirty="0"/>
          </a:p>
        </p:txBody>
      </p:sp>
      <p:sp>
        <p:nvSpPr>
          <p:cNvPr id="25" name="Shape 16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6" name="icon FaPeopleRoof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2018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Семейное управление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Семейный офис, фонды и трасты, партнёрские соглашения.</a:t>
            </a:r>
            <a:endParaRPr lang="ru-RU" sz="1250" dirty="0"/>
          </a:p>
        </p:txBody>
      </p:sp>
      <p:sp>
        <p:nvSpPr>
          <p:cNvPr id="28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Пути регистрации в ОАЭ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ПРАВОВАЯ БАЗА</a:t>
            </a:r>
            <a:endParaRPr lang="ru-RU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Орган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Кому подходит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Практические замечания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Суды Дубая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Немусульмане с активами в ОАЭ, предпочитающие местный путь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Регистрация в судах Дубая с переводом и нотариальным заверением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Суды Абу-Даби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Клиенты с активами или резидентством в Абу-Даби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Регистрация в Судебном департаменте Абу-Даби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DIFC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Немусульмане, особенно европейцы, россияне и индийцы, предпочитающие документ на английском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Реестр завещаний DIFC, охватывает активы в ОАЭ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ADGM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Немусульмане, предпочитающие англоязычный путь в Абу-Даби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Реестр завещаний ADGM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Нотариус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Сопутствующие документы: доверенности, заявления, заверения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Используется вместе с указанными выше путями при необходимости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50" i="1" dirty="0">
                <a:solidFill>
                  <a:schemeClr val="accent3"/>
                </a:solidFill>
              </a:rPr>
              <a:t>Реестр и применимое право (шариат или иностранное право) определяются для каждого клиента после ознакомительной встречи.</a:t>
            </a:r>
            <a:endParaRPr lang="ru-RU" sz="95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Виды услуг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ЧТО ВЫБИРАЕТ КЛИЕНТ ПОСЛЕ ОЦЕНКИ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Индивидуальное завещание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Для одного человека, охватывает активы в ОАЭ, назначает опекунов и исполнителей.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UserGrou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719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Супружеские (зеркальные) завещания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Два согласованных завещания для супругов, защищающие семью и детей.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7744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26771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Завещание на недвижимость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Ограничено недвижимостью в ОАЭ; подходит инвестору в недвижимость.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riefc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281635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Завещание на бизнес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Охватывает доли в компаниях и обеспечивает непрерывность бизнеса.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47472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36499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Корпоративное структурирование / холдинг / SPV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Для крупных портфелей и активов в нескольких странах.</a:t>
            </a:r>
            <a:endParaRPr lang="ru-RU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39319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Landmar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023360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97280" y="391363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Фонд или траст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Для семейного управления и защиты капитала на протяжении поколений.</a:t>
            </a:r>
            <a:endParaRPr lang="ru-RU" sz="130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Юридический сервис уровня консьерж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ПРЕМИАЛЬНЫЙ ОПЫТ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Мы приезжаем к вам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В офис или домой к клиенту.</a:t>
            </a:r>
            <a:endParaRPr lang="ru-RU" sz="1400" dirty="0"/>
          </a:p>
        </p:txBody>
      </p:sp>
      <p:sp>
        <p:nvSpPr>
          <p:cNvPr id="7" name="Shape 4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VIP-сервис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Персональный юрист для каждого клиента.</a:t>
            </a:r>
            <a:endParaRPr lang="ru-RU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Четыре языка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Арабский, английский, китайский, русский.</a:t>
            </a:r>
            <a:endParaRPr lang="ru-RU" sz="1400" dirty="0"/>
          </a:p>
        </p:txBody>
      </p:sp>
      <p:sp>
        <p:nvSpPr>
          <p:cNvPr id="13" name="Shape 8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Полная координация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Перевод, свидетели, нотариальное заверение, регистрация.</a:t>
            </a:r>
            <a:endParaRPr lang="ru-RU" sz="1400" dirty="0"/>
          </a:p>
        </p:txBody>
      </p:sp>
      <p:sp>
        <p:nvSpPr>
          <p:cNvPr id="16" name="Shape 10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Ускоренная регистрация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Прямое взаимодействие с органами.</a:t>
            </a:r>
            <a:endParaRPr lang="ru-RU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партнёрства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Вы открываете дверь; мы берём на себя всю правовую сторону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 ролей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МОДЕЛЬ, КОТОРАЯ РАБОТАЕТ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Агентство-партнёр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Представляет услугу в нужный момент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Отправляет стандартное представление и направляет клиента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Представляет услугу как дополнительную ценность своего предложения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Не даёт юридических консультаций и не гарантирует результатов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Получает реферальную комиссию по соглашению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Rashid Alkaitoob Advocates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Связывается с клиентом в течение одного рабочего дня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Консультация, оценка рисков и предложение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Составление, перевод, свидетели, нотариальное заверение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Регистрация и взаимодействие с органами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Защищает партнёра от любой юридической ответственности</a:t>
            </a:r>
            <a:endParaRPr lang="ru-RU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Реферальное соглашение о сотрудничестве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ЧТО В НЁМ СОДЕРЖИТСЯ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Механизм направления клиентов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Шаблон представления, канал связи и время ответа.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Размер комиссии и порядок выплаты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Фиксированный процент или сумма за клиента с соблюдением профессиональных правил и местного законодательства.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Конфиденциальность и защита данных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NDA, данные клиентов защищены в соответствии с законом.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Отсутствие юридической ответственности партнёра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Партнёр не даёт юридических консультаций; профессиональная ответственность лежит на нас.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Запрет обхода (non-circumvention)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Клиентские отношения каждой стороны защищены на срок действия соглашения.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Коммерческая модель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КАК ВЫИГРЫВАЮТ ВСЕ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u-RU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Фиксированный гонорар за клиента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Индивидуальное, супружеское, завещание на недвижимость или бизнес. Клиент видит полную стоимость в одном предложении, включающем гонорар и регистрацию.</a:t>
            </a:r>
            <a:endParaRPr lang="ru-RU" sz="1400" dirty="0"/>
          </a:p>
        </p:txBody>
      </p:sp>
      <p:sp>
        <p:nvSpPr>
          <p:cNvPr id="7" name="Shape 5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77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u-RU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77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Реферальная комиссия партнёру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Фиксированный процент или сумма за направленного клиента, выплачивается ежемесячно с подробным отчётом.</a:t>
            </a:r>
            <a:endParaRPr lang="ru-RU" sz="1400" dirty="0"/>
          </a:p>
        </p:txBody>
      </p:sp>
      <p:sp>
        <p:nvSpPr>
          <p:cNvPr id="10" name="Shape 8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71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u-RU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971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Отношения на всю жизнь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После завещания: регистрация компаний, передача собственности, налоговое структурирование, семейный офис, договоры, споры. Партнёр остаётся первоначальным реферером.</a:t>
            </a:r>
            <a:endParaRPr lang="ru-RU" sz="14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представить услугу клиенту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Правильный момент и одна простая фраза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Лучшие моменты, чтобы заговорить об этом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МОМЕНТ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После бронирования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Клиент решил инвестировать и теперь думает о защите покупки.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255574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57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При подписании SPA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Естественный момент обсудить собственность и её будущее.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После передачи объекта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Собственность стала реальной, и правовая защита — естественный следующий шаг.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675284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5284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При обсуждении долгосрочных инвестиций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Защита — часть инвестиционного планирования, а не размышлений о смерти.</a:t>
            </a:r>
            <a:endParaRPr lang="ru-RU" sz="1050" dirty="0"/>
          </a:p>
        </p:txBody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Скрипт брокера для разговора с клиентом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ПРОЩЕ — ЛУЧШЕ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Commen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Вступительная фраза</a:t>
            </a:r>
            <a:endParaRPr lang="ru-RU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62072"/>
            <a:ext cx="26517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00" dirty="0">
                <a:solidFill>
                  <a:schemeClr val="bg2"/>
                </a:solidFill>
              </a:rPr>
              <a:t>«Поскольку вы владеете недвижимостью в ОАЭ, очень важно юридически защитить ваши активы и семью. Мы сотрудничаем с профильной юридической фирмой, которая поможет вам подготовить завещание в соответствии с законодательством ОАЭ».</a:t>
            </a:r>
            <a:endParaRPr lang="ru-RU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Брокер лишь открывает дверь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Нужный момент, одна фраза, затем направление. Без юридических подробностей.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Предложите бесплатную консультацию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«Если хотите, я могу организовать бесплатную первую консультацию с ними, чтобы вам объяснили подходящие варианты».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Если спросят: зачем мне завещание?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«Без завещания могут применяться различные юридические процедуры в зависимости от вашей ситуации и гражданства, что может вызвать задержки или осложнения для недвижимости, счетов или наследников. Поэтому многие инвесторы предпочитают урегулировать всё заранее».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Если говорят: позже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«Конечно. Большинство клиентов предпочитают оформить это сразу после покупки, пока процедуры проще всего и документы под рукой».</a:t>
            </a:r>
            <a:endParaRPr lang="ru-RU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говорить и чего никогда не говорить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БРОКЕР НЕ ЗАНИМАЕТСЯ ЮРИДИЧЕСКОЙ ПРАКТИКОЙ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Говорите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«Важно юридически защитить ваши активы и семью»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«Мы сотрудничаем с профильной юридической фирмой»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«Я могу организовать бесплатную первую консультацию»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«Многие инвесторы предпочитают урегулировать всё заранее»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«Фирма объяснит варианты для вашей ситуации»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Никогда не говорите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«Закон гласит…»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«Это обязательно произойдёт…»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«Мы вам гарантируем…»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«Какой тип завещания вы хотите?»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Любое мнение о шариате, иностранном праве или гонорарах</a:t>
            </a:r>
            <a:endParaRPr lang="ru-RU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Вопросы, которые вы услышите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FAQ ДЛЯ БРОКЕРА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Что происходит с недвижимостью после смерти?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Применяются юридические процедуры, различающиеся по ситуации; зарегистрированное завещание закрепляет порядок заранее. Направьте вопрос нам.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Замораживаются ли счета?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Они могут быть заморожены до выдачи приказа о распределении. Планирование заранее снижает этот риск.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Как защитить детей?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Назначив опекуна и определив их доли в завещании.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В чём разница между DIFC, ADGM и местными судами?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Разные пути регистрации для разных ситуаций; фирма определяет лучший после ознакомительной встречи.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Сколько это стоит и сколько занимает времени?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После бесплатной консультации клиент получает одно предложение с гонораром, стоимостью регистрации и сроками.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Процесс направления и уровни сервиса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Что происходит после того, как вы направили клиента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Процесс направления шаг за шагом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ОТ БРОКЕРА ДО РЕГИСТРАЦИИ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Вводное сообщение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Брокер отправляет стандартное представление (email или WhatsApp) с нами в копии.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185623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623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Наш первый контакт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56232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В течение одного рабочего дня: благодарность, представление команды и время консультации.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32552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552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55264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Вводная встреча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55264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Ознакомительные вопросы о недвижимости, компаниях, детях, наследниках и счетах.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54296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Предложение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54296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В течение 48 часов: объём, гонорар, сроки и стоимость регистрации.</a:t>
            </a:r>
            <a:endParaRPr lang="ru-RU" sz="1050" dirty="0"/>
          </a:p>
        </p:txBody>
      </p:sp>
      <p:sp>
        <p:nvSpPr>
          <p:cNvPr id="21" name="Shape 19"/>
          <p:cNvSpPr/>
          <p:nvPr/>
        </p:nvSpPr>
        <p:spPr>
          <a:xfrm>
            <a:off x="605332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332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Составление и регистрация</a:t>
            </a:r>
            <a:endParaRPr lang="ru-RU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53328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Завещание, перевод, свидетели, нотариальное заверение, затем регистрация в выбранном органе.</a:t>
            </a:r>
            <a:endParaRPr lang="ru-RU" sz="1050" dirty="0"/>
          </a:p>
        </p:txBody>
      </p:sp>
      <p:sp>
        <p:nvSpPr>
          <p:cNvPr id="25" name="Shape 23"/>
          <p:cNvSpPr/>
          <p:nvPr/>
        </p:nvSpPr>
        <p:spPr>
          <a:xfrm>
            <a:off x="74523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52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Отчёт партнёру</a:t>
            </a:r>
            <a:endParaRPr lang="ru-RU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5236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Обновление на каждом этапе и ежемесячный отчёт с расчётом комиссии.</a:t>
            </a:r>
            <a:endParaRPr lang="ru-RU" sz="1050" dirty="0"/>
          </a:p>
        </p:txBody>
      </p:sp>
      <p:sp>
        <p:nvSpPr>
          <p:cNvPr id="2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Уровень сервиса, который мы гарантируем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SLA</a:t>
            </a:r>
            <a:endParaRPr lang="ru-RU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0292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Пункт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Наше обязательство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Ответ на направление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В течение одного рабочего дня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Первая консультация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Бесплатно, в нашем офисе, у клиента или удалённо, на языке клиента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Предложение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В течение 48 часов после ознакомительной встречи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Обновления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Клиенту и партнёру на каждом этапе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Ежемесячный отчёт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Рефералы, статус, зарегистрированные завещания, причитающиеся комиссии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Расчёт комиссии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Ежемесячно, по соглашению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Конфиденциальность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Данные клиентов никогда не используются для иных целей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Комплаенс и защита обеих сторон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КРАСНЫЕ ЛИНИИ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Gave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Брокер не занимается юридической практикой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Никаких советов, юридических заключений и обещанных результатов.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Конфиденциальность и защита данных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Данные клиентов передаются по согласованному каналу и используются только для услуги.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IdCard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KYC и противодействие отмыванию денег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Осуществляется фирмой в соответствии с федеральным законодательством.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a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Запрет обхода (non-circumvention)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Ни одна из сторон не обходит другую с её клиентами.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ontrac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Прозрачность гонораров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Одно письменное предложение клиенту; комиссия закреплена в соглашении в соответствии с профессиональными правилами.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Совместный маркетинг и подключение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Мы помогаем вам уверенно представлять услугу вашим клиентам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делаем вместе с вами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СОВМЕСТНЫЙ МАРКЕТИНГ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halkboard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Бесплатный семинар для вашего отдела продаж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«Как защитить иностранных инвесторов в ОАЭ», один час в вашем офисе.</a:t>
            </a:r>
            <a:endParaRPr lang="ru-RU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Vide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Вебинары для ваших клиентов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На английском, русском или китайском, под вашим именем и нашим.</a:t>
            </a:r>
            <a:endParaRPr lang="ru-RU" sz="125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User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Мероприятия для инвесторов и презентации проектов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Юрист фирмы на месте, чтобы ответить на вопросы.</a:t>
            </a:r>
            <a:endParaRPr lang="ru-RU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FolderOp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Готовые материалы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Брошюра, текст для WhatsApp, FAQ и двуязычная презентация.</a:t>
            </a:r>
            <a:endParaRPr lang="ru-RU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Hashta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7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Контент в социальных сетях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Что будет с вашей недвижимостью без завещания? Замораживаются ли счета? DIFC или ADGM?</a:t>
            </a:r>
            <a:endParaRPr lang="ru-RU" sz="1250" dirty="0"/>
          </a:p>
        </p:txBody>
      </p:sp>
      <p:sp>
        <p:nvSpPr>
          <p:cNvPr id="19" name="Shape 12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Comment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16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Бесплатная первая консультация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Для каждого направленного вами клиента, на его языке, там, где ему удобно.</a:t>
            </a:r>
            <a:endParaRPr lang="ru-RU" sz="125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Запуск за три недели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ПЛАН ПОДКЛЮЧЕНИЯ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</a:rPr>
              <a:t>Неделя 1</a:t>
            </a:r>
            <a:endParaRPr lang="ru-RU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Соглашение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Встреча с руководством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Подписание реферального соглашения о сотрудничестве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Согласование канала связи и контактного лица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326136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852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</a:rPr>
              <a:t>Неделя 2</a:t>
            </a:r>
            <a:endParaRPr lang="ru-RU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52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Обучение</a:t>
            </a:r>
            <a:endParaRPr lang="ru-RU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9852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Семинар для отдела продаж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Передача материалов: PDF, презентация, FAQ, скрипт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Тест первого ознакомительного сообщения</a:t>
            </a:r>
            <a:endParaRPr lang="ru-RU" sz="1050" dirty="0"/>
          </a:p>
        </p:txBody>
      </p:sp>
      <p:sp>
        <p:nvSpPr>
          <p:cNvPr id="14" name="Shape 12"/>
          <p:cNvSpPr/>
          <p:nvPr/>
        </p:nvSpPr>
        <p:spPr>
          <a:xfrm>
            <a:off x="6065520" y="1188720"/>
            <a:ext cx="2621280" cy="5029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0268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</a:rPr>
              <a:t>Неделя 3</a:t>
            </a:r>
            <a:endParaRPr lang="ru-RU" sz="1200" dirty="0"/>
          </a:p>
        </p:txBody>
      </p:sp>
      <p:sp>
        <p:nvSpPr>
          <p:cNvPr id="16" name="Shape 14"/>
          <p:cNvSpPr/>
          <p:nvPr/>
        </p:nvSpPr>
        <p:spPr>
          <a:xfrm>
            <a:off x="6065520" y="1691640"/>
            <a:ext cx="2621280" cy="274320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0268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Запуск</a:t>
            </a:r>
            <a:endParaRPr lang="ru-RU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0268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Первые рефералы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Первые бесплатные консультации</a:t>
            </a:r>
            <a:endParaRPr lang="ru-RU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ru-RU" altLang="en-US" sz="1050" dirty="0">
                <a:solidFill>
                  <a:schemeClr val="accent3"/>
                </a:solidFill>
              </a:rPr>
              <a:t>Еженедельный обзор в течение первого месяца</a:t>
            </a:r>
            <a:endParaRPr lang="ru-RU" sz="105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Лучшее маркетинговое слово — не «завещание», а «защита активов». Завещание ассоциируется со смертью; защита активов — с инвестициями и безопасностью.</a:t>
            </a:r>
            <a:endParaRPr lang="ru-RU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2"/>
                </a:solidFill>
              </a:rPr>
              <a:t>Ключевой маркетинговый тезис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Контакт для партнёров</a:t>
            </a:r>
            <a:endParaRPr lang="ru-RU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Д-р Вард Шуэйби — Менеджер по развитию бизнеса и международным связям</a:t>
            </a:r>
            <a:endParaRPr lang="ru-RU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Шейх Зайед Роуд, Saeed Tower 2, офис 501, Дубай, ОАЭ</a:t>
            </a:r>
            <a:endParaRPr lang="ru-RU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+971 4 359 5552  |  Моб. и WhatsApp: +971 52 107 4972</a:t>
            </a:r>
            <a:endParaRPr lang="ru-RU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ru-RU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Пн – Пт, 8:30 – 17:30  |  Арабский · Английский · Китайский · Русский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Программа правовой защиты инвесторов — Руководство партнёра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2026-10-27T13:23:57Z</dcterms:created>
  <dcterms:modified xsi:type="dcterms:W3CDTF">2026-10-27T13:23:57Z</dcterms:modified>
</cp:coreProperties>
</file>