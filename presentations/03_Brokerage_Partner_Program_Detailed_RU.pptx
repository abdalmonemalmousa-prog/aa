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8b0a97e-b45f-b663-0497-d18f660997d6}">
          <p14:sldIdLst>
            <p14:sldId id="256"/>
            <p14:sldId id="257"/>
          </p14:sldIdLst>
        </p14:section>
        <p14:section name="Кто мы" id="{38fa4250-40a0-2840-338d-d2f80a62473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Услуга" id="{2cd00366-30fa-f1b4-42a1-5e7722d1eb03}">
          <p14:sldIdLst>
            <p14:sldId id="266"/>
            <p14:sldId id="267"/>
            <p14:sldId id="268"/>
            <p14:sldId id="269"/>
            <p14:sldId id="270"/>
          </p14:sldIdLst>
        </p14:section>
        <p14:section name="Партнёрство" id="{b17e777f-b5cf-0f74-f30d-2cf1bebfa66d}">
          <p14:sldIdLst>
            <p14:sldId id="271"/>
            <p14:sldId id="272"/>
            <p14:sldId id="273"/>
            <p14:sldId id="274"/>
          </p14:sldIdLst>
        </p14:section>
        <p14:section name="Представление" id="{32c50281-ae51-eac3-44f8-67fdddab1293}">
          <p14:sldIdLst>
            <p14:sldId id="275"/>
            <p14:sldId id="276"/>
            <p14:sldId id="277"/>
            <p14:sldId id="278"/>
            <p14:sldId id="279"/>
          </p14:sldIdLst>
        </p14:section>
        <p14:section name="Рабочий процесс" id="{d10542d4-520d-7953-2f9f-28a056315cc4}">
          <p14:sldIdLst>
            <p14:sldId id="280"/>
            <p14:sldId id="281"/>
            <p14:sldId id="282"/>
            <p14:sldId id="283"/>
          </p14:sldIdLst>
        </p14:section>
        <p14:section name="Маркетинг" id="{bf7beffd-3e65-2b8f-f4d0-4441e9594ef3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Число зарегистрированных завещаний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Зарегистрировано завещаний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пол. 2023*</c:v>
                  </c:pt>
                  <c:pt idx="1">
                    <c:v>1 пол. 2024</c:v>
                  </c:pt>
                  <c:pt idx="2">
                    <c:v>1 пол. 2025</c:v>
                  </c:pt>
                  <c:pt idx="3">
                    <c:v>2024 год*</c:v>
                  </c:pt>
                  <c:pt idx="4">
                    <c:v>2025 год</c:v>
                  </c:pt>
                  <c:pt idx="5">
                    <c:v>1 кв.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Средний срок в днях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Дней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суд, от подачи до решения</c:v>
                  </c:pt>
                  <c:pt idx="1">
                    <c:v>2023–24: первые 11 мес., мировое</c:v>
                  </c:pt>
                  <c:pt idx="2">
                    <c:v>2024: мировое</c:v>
                  </c:pt>
                  <c:pt idx="3">
                    <c:v>2025: мировое (раб. дни)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Источники: Caunsel (окт. 2026), Dubai Wills Center (янв. 2026), Gulf News (ноя. 2018). Это оценки поставщиков услуг, а не официальная статистика.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Программа правовой защиты инвесторов</a:t>
            </a:r>
            <a:endParaRPr lang="ru-RU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500" dirty="0">
                <a:solidFill>
                  <a:schemeClr val="accent2"/>
                </a:solidFill>
              </a:rPr>
              <a:t>Подробное руководство для агентств-партнёров: услуга, модель сотрудничества и как представлять её клиентам</a:t>
            </a:r>
            <a:endParaRPr lang="ru-RU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Rashid Alkaitoob Advocates &amp; Legal Consultants · Дубай</a:t>
            </a:r>
            <a:endParaRPr lang="ru-RU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Кто мы и почему это важно для ваших клиентов</a:t>
            </a:r>
            <a:endParaRPr lang="ru-RU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Услуга в деталях: виды и реестры</a:t>
            </a:r>
            <a:endParaRPr lang="ru-RU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Модель партнёрства, соглашение и коммерческие условия</a:t>
            </a:r>
            <a:endParaRPr lang="ru-RU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99816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0998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Как представлять услугу: момент и скрипт</a:t>
            </a:r>
            <a:endParaRPr lang="ru-RU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Что говорить, чего никогда не говорить, и FAQ</a:t>
            </a:r>
            <a:endParaRPr lang="ru-RU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Процесс направления, уровни сервиса и комплаенс</a:t>
            </a:r>
            <a:endParaRPr lang="ru-RU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50" dirty="0">
                <a:solidFill>
                  <a:schemeClr val="tx1"/>
                </a:solidFill>
              </a:rPr>
              <a:t>Совместный маркетинг и план подключения</a:t>
            </a:r>
            <a:endParaRPr lang="ru-RU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4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мы и почему эта услуга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Юридический партнёр, который защищает ваших клиентов и повышает ценность того, что вы продаёте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мы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RASHID ALKAITOOB ADVOCATES &amp; LEGAL CONSULTANTS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uildingColumn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Лицензия с 2014 года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Лицензированная в ОАЭ юридическая фирма на Шейх Зайед Роуд, Дубай, представляющая частных лиц и компании в судах всех инстанций.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caleBalance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Более 10 направлений практики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Недвижимость, корпоративное право, арбитраж, семейное и наследственное право, комплаенс ПОД/ФТ, интеллектуальная собственность и другое.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Glob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Региональный и международный охват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Устойчивое присутствие в странах Залива и Азии, отдельный китайский отдел для инвесторов.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angu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Четыре рабочих языка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Арабский, английский, китайский и русский: каждый клиент общается со своим юристом напрямую.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Handshak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Сначала мирное урегулирование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Где это возможно, мы ведём переговоры и медиацию до суда, чтобы получить лучший результат с наименьшими затратами.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UserShield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Ориентация на клиента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Понятная коммуникация, регулярные обновления и практичные решения под каждое дело.</a:t>
            </a:r>
            <a:endParaRPr lang="ru-RU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с вашим клиентом без правового планирования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БОЛЕВЫЕ ТОЧКИ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Замороженные банковские счета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Счета могут быть заморожены до выдачи приказа о распределении наследства, лишая семью средств на расходы.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Заблокированная передача недвижимости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Процедуры занимают больше времени и различаются в зависимости от гражданства, религии и семейного положения.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PeopleArrow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Семейные споры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Отсутствие чёткого документа провоцирует споры между наследниками на родине и за рубежом.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hildr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Проблемы для детей и наследников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Нет назначенного опекуна для несовершеннолетних и ясного порядка для их долей.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Реальность</a:t>
            </a:r>
            <a:endParaRPr lang="ru-RU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194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50" dirty="0">
                <a:solidFill>
                  <a:schemeClr val="bg2"/>
                </a:solidFill>
              </a:rPr>
              <a:t>Большинство иностранных покупателей не знают правил наследования в ОАЭ и покупают недвижимость на миллионы дирхамов без завещания и правовой структуры.</a:t>
            </a:r>
            <a:endParaRPr lang="ru-RU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кого нет завещания: данные опросов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не начали составлять завещание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экспатов ОАЭ, 2026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считают, что супруг автоматически наследует всё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юридически ошибочное мнение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родителей несовершеннолетних оформили опеку документально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 этом 73% полагают, что семья знает их пожелания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ru-RU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владельцев активов в Дубае не имели зарегистрированного в ОАЭ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Опрос реестра DIFC, 2017: завещание было у «чуть более 10%»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YouGov для Blanket, 1 014 респондентов, сент. 2026 (Gulf News, окт. 2026); опрос реестра DIFC 2017 (Gulf News, ноя. 2018). Причины: 28% «недостаточно активов», 21% «не знаю, с чего начать».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ежегодные регистрации ускоряются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рост в 1 кв. 2026 к 1 кв. 2025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2025: 2 220 завещаний (+22%). Заявления об исполнении завещаний: 41 в 2025 г. (+37%), 27 приказов только за 1 пол. 2025.</a:t>
            </a:r>
            <a:endParaRPr lang="ru-RU" sz="1000" dirty="0"/>
          </a:p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* Рассчитано по объявленным темпам роста.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Пресс-релизы DIFC Courts 2017–2026 и статистический портал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Дубай сократил срок урегулирования наследства с 81 дня до 13,8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ru-RU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дней: срок процедур после запуска платформы «Джабр» (окт. 2025)</a:t>
            </a:r>
            <a:endParaRPr lang="ru-RU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Требования сокращены с 10 до 4; 1 103 дела за первые три месяца. Правила Суда по наследству: подготовка ≤ 30 дней, процесс ≤ 12 месяцев. Дела вне Дубая, без завещания или спорные этими цифрами не охвачены.</a:t>
            </a:r>
            <a:endParaRPr lang="ru-RU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Суды Дубая: годовые отчёты 2022–2025 и Медиа-офис правительства Дубая</a:t>
            </a:r>
            <a:endParaRPr lang="ru-RU" sz="800" dirty="0"/>
          </a:p>
        </p:txBody>
      </p:sp>
      <p:sp>
        <p:nvSpPr>
          <p:cNvPr id="1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зарегистрированным завещанием и без него: оценки практиков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 зарегистрированным завещанием (DIFC / Абу-Даби / суды Дубая)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Исполнение и распределение за 4–8 недель (оценка 2026)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Другая оценка: 2–4 месяца при ясном завещании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Наследники, опекуны и исполнители определены заранее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 нужно легализовать иностранные документы и доказывать иностранное право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Без завещания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От 3 до 12 месяцев через суды по личному статусу и легализацию документов (оценка 2026)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Другая оценка: от 4 до 9+ месяцев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Спорные дела: год и более; апелляции до 5 лет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Распределение по закону по умолчанию, а не по воле умершего</a:t>
            </a:r>
            <a:endParaRPr lang="ru-RU" sz="11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Семейный бизнес Залива в цифрах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ЦИФРЫ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ru-RU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ВВП стран Залива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создаётся семейными компаниями</a:t>
            </a:r>
            <a:endParaRPr lang="ru-RU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ru-RU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рабочей силы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занято в семейных компаниях</a:t>
            </a:r>
            <a:endParaRPr lang="ru-RU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ru-RU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частного сектора ОАЭ и Саудовской Аравии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принадлежит семьям</a:t>
            </a:r>
            <a:endParaRPr lang="ru-RU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ru-RU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активов перейдёт между поколениями к 2030 г.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00" dirty="0">
                <a:solidFill>
                  <a:schemeClr val="accent3"/>
                </a:solidFill>
              </a:rPr>
              <a:t>по странам Залива</a:t>
            </a:r>
            <a:endParaRPr lang="ru-RU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800" i="1" dirty="0">
                <a:solidFill>
                  <a:schemeClr val="accent3"/>
                </a:solidFill>
              </a:rPr>
              <a:t>Gulf News, фев. 2023 (Jersey Finance); Khaleej Times, май 2026 (Georgetown McDonough, программа в Дубае).</a:t>
            </a:r>
            <a:endParaRPr lang="ru-RU" sz="800" dirty="0"/>
          </a:p>
        </p:txBody>
      </p:sp>
      <p:sp>
        <p:nvSpPr>
          <p:cNvPr id="17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Услуга в деталях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Не «написание завещания», а комплексная защита активов, семьи и инвестиций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Наши услуги по защите активов и наследству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КАТАЛОГ УСЛУГ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Составление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Юридически выверенное завещание с учётом гражданства, семьи и активов клиента.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Stam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Регистрация завещания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Регистрация в подходящем органе: суды Дубая, Абу-Даби, DIFC или ADGM.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Структурирование наследства и активов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Заблаговременная организация наследования, чтобы исключить заморозку и споры.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Защита иностранного инвестора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Решения по шариату или иностранному праву в зависимости от ситуации клиента.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Ke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83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Переход прав после смерти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Представление наследников и оформление перехода недвижимости и счетов.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25717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Build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291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7729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Создание Holding / SPV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Холдинговые структуры, связанные с планом наследования, для защиты инвестиций.</a:t>
            </a:r>
            <a:endParaRPr lang="ru-RU" sz="1250" dirty="0"/>
          </a:p>
        </p:txBody>
      </p:sp>
      <p:sp>
        <p:nvSpPr>
          <p:cNvPr id="22" name="Shape 14"/>
          <p:cNvSpPr/>
          <p:nvPr/>
        </p:nvSpPr>
        <p:spPr>
          <a:xfrm>
            <a:off x="468630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3" name="icon FaHous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468" y="3127248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88746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Завещания на недвижимость и бизнес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Завещания только на недвижимость или охватывающие доли в компаниях и бизнес.</a:t>
            </a:r>
            <a:endParaRPr lang="ru-RU" sz="1250" dirty="0"/>
          </a:p>
        </p:txBody>
      </p:sp>
      <p:sp>
        <p:nvSpPr>
          <p:cNvPr id="25" name="Shape 16"/>
          <p:cNvSpPr/>
          <p:nvPr/>
        </p:nvSpPr>
        <p:spPr>
          <a:xfrm>
            <a:off x="6800850" y="2926080"/>
            <a:ext cx="188595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6" name="icon FaPeopleRoof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2018" y="3127248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002018" y="3566160"/>
            <a:ext cx="148361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Семейное управление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Семейный офис, фонды и трасты, партнёрские соглашения.</a:t>
            </a:r>
            <a:endParaRPr lang="ru-RU" sz="1250" dirty="0"/>
          </a:p>
        </p:txBody>
      </p:sp>
      <p:sp>
        <p:nvSpPr>
          <p:cNvPr id="28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Пути регистрации в ОАЭ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ПРАВОВАЯ БАЗА</a:t>
            </a:r>
            <a:endParaRPr lang="ru-RU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Орган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Кому подходит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Практические замечания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Суды Дубая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Немусульмане с активами в ОАЭ, предпочитающие местный путь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Регистрация в судах Дубая с переводом и нотариальным заверением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Суды Абу-Даби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Клиенты с активами или резидентством в Абу-Даби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Регистрация в Судебном департаменте Абу-Даби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DIFC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Немусульмане, особенно европейцы, россияне и индийцы, предпочитающие документ на английском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Реестр завещаний DIFC, охватывает активы в ОАЭ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ADGM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Немусульмане, предпочитающие англоязычный путь в Абу-Даби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Реестр завещаний ADGM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Нотариус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Сопутствующие документы: доверенности, заявления, заверения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Используется вместе с указанными выше путями при необходимости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50" i="1" dirty="0">
                <a:solidFill>
                  <a:schemeClr val="accent3"/>
                </a:solidFill>
              </a:rPr>
              <a:t>Реестр и применимое право (шариат или иностранное право) определяются для каждого клиента после ознакомительной встречи.</a:t>
            </a:r>
            <a:endParaRPr lang="ru-RU" sz="95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Виды услуг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ЧТО ВЫБИРАЕТ КЛИЕНТ ПОСЛЕ ОЦЕНКИ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Индивидуальное завещание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Для одного человека, охватывает активы в ОАЭ, назначает опекунов и исполнителей.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UserGrou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719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Супружеские (зеркальные) завещания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Два согласованных завещания для супругов, защищающие семью и детей.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2677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Завещание на недвижимость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Ограничено недвижимостью в ОАЭ; подходит инвестору в недвижимость.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riefcas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81635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Завещание на бизнес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Охватывает доли в компаниях и обеспечивает непрерывность бизнеса.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747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36499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Корпоративное структурирование / холдинг / SPV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Для крупных портфелей и активов в нескольких странах.</a:t>
            </a:r>
            <a:endParaRPr lang="ru-RU" sz="1300" dirty="0"/>
          </a:p>
        </p:txBody>
      </p:sp>
      <p:sp>
        <p:nvSpPr>
          <p:cNvPr id="19" name="Shape 12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Landmar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23360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91363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Фонд или траст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Для семейного управления и защиты капитала на протяжении поколений.</a:t>
            </a:r>
            <a:endParaRPr lang="ru-RU" sz="13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Юридический сервис уровня консьерж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ПРЕМИАЛЬНЫЙ ОПЫТ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House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Мы приезжаем к вам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В офис или домой к клиенту.</a:t>
            </a:r>
            <a:endParaRPr lang="ru-RU" sz="1400" dirty="0"/>
          </a:p>
        </p:txBody>
      </p:sp>
      <p:sp>
        <p:nvSpPr>
          <p:cNvPr id="7" name="Shape 4"/>
          <p:cNvSpPr/>
          <p:nvPr/>
        </p:nvSpPr>
        <p:spPr>
          <a:xfrm>
            <a:off x="214884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5000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VIP-сервис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Персональный юрист для каждого клиента.</a:t>
            </a:r>
            <a:endParaRPr lang="ru-RU" sz="1400" dirty="0"/>
          </a:p>
        </p:txBody>
      </p:sp>
      <p:sp>
        <p:nvSpPr>
          <p:cNvPr id="10" name="Shape 6"/>
          <p:cNvSpPr/>
          <p:nvPr/>
        </p:nvSpPr>
        <p:spPr>
          <a:xfrm>
            <a:off x="384048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angu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4164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Четыре языка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Арабский, английский, китайский, русский.</a:t>
            </a:r>
            <a:endParaRPr lang="ru-RU" sz="1400" dirty="0"/>
          </a:p>
        </p:txBody>
      </p:sp>
      <p:sp>
        <p:nvSpPr>
          <p:cNvPr id="13" name="Shape 8"/>
          <p:cNvSpPr/>
          <p:nvPr/>
        </p:nvSpPr>
        <p:spPr>
          <a:xfrm>
            <a:off x="553212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List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73328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Полная координация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Перевод, свидетели, нотариальное заверение, регистрация.</a:t>
            </a:r>
            <a:endParaRPr lang="ru-RU" sz="1400" dirty="0"/>
          </a:p>
        </p:txBody>
      </p:sp>
      <p:sp>
        <p:nvSpPr>
          <p:cNvPr id="16" name="Shape 10"/>
          <p:cNvSpPr/>
          <p:nvPr/>
        </p:nvSpPr>
        <p:spPr>
          <a:xfrm>
            <a:off x="7223760" y="1188720"/>
            <a:ext cx="146304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ol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8988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424928" y="1828800"/>
            <a:ext cx="10607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Ускоренная регистрация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Прямое взаимодействие с органами.</a:t>
            </a:r>
            <a:endParaRPr lang="ru-RU" sz="14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партнёрства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Вы открываете дверь; мы берём на себя всю правовую сторону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Распределение ролей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МОДЕЛЬ, КОТОРАЯ РАБОТАЕТ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Агентство-партнёр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Представляет услугу в нужный момент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Отправляет стандартное представление и направляет клиента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Представляет услугу как дополнительную ценность своего предложения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Не даёт юридических консультаций и не гарантирует результатов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Получает реферальную комиссию по соглашению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Rashid Alkaitoob Advocates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Связывается с клиентом в течение одного рабочего дня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Консультация, оценка рисков и предложение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Составление, перевод, свидетели, нотариальное заверение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Регистрация и взаимодействие с органами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Защищает партнёра от любой юридической ответственности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Реферальное соглашение о сотрудничестве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ЧТО В НЁМ СОДЕРЖИТСЯ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Механизм направления клиентов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Шаблон представления, канал связи и время ответа.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Размер комиссии и порядок выплаты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Фиксированный процент или сумма за клиента с соблюдением профессиональных правил и местного законодательства.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Конфиденциальность и защита данных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NDA, данные клиентов защищены в соответствии с законом.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Отсутствие юридической ответственности партнёра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Партнёр не даёт юридических консультаций; профессиональная ответственность лежит на нас.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Запрет обхода (non-circumvention)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Клиентские отношения каждой стороны защищены на срок действия соглашения.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Коммерческая модель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КАК ВЫИГРЫВАЮТ ВСЕ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u-RU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Фиксированный гонорар за клиента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Индивидуальное, супружеское, завещание на недвижимость или бизнес. Клиент видит полную стоимость в одном предложении, включающем гонорар и регистрацию.</a:t>
            </a:r>
            <a:endParaRPr lang="ru-RU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77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u-RU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77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Реферальная комиссия партнёру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Фиксированный процент или сумма за направленного клиента, выплачивается ежемесячно с подробным отчётом.</a:t>
            </a:r>
            <a:endParaRPr lang="ru-RU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188720"/>
            <a:ext cx="259080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97168" y="1344168"/>
            <a:ext cx="2188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u-RU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97168" y="1847088"/>
            <a:ext cx="21884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400" b="1" dirty="0">
                <a:solidFill>
                  <a:schemeClr val="tx1"/>
                </a:solidFill>
              </a:rPr>
              <a:t>Отношения на всю жизнь</a:t>
            </a:r>
            <a:endParaRPr lang="ru-RU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150" dirty="0">
                <a:solidFill>
                  <a:schemeClr val="accent3"/>
                </a:solidFill>
              </a:rPr>
              <a:t>После завещания: регистрация компаний, передача собственности, налоговое структурирование, семейный офис, договоры, споры. Партнёр остаётся первоначальным реферером.</a:t>
            </a:r>
            <a:endParaRPr lang="ru-RU" sz="1400" dirty="0"/>
          </a:p>
        </p:txBody>
      </p:sp>
      <p:sp>
        <p:nvSpPr>
          <p:cNvPr id="1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представить услугу клиенту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Правильный момент и одна простая фраза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Лучшие моменты, чтобы заговорить об этом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МОМЕНТ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После бронирования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Клиент решил инвестировать и теперь думает о защите покупки.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255574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57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При подписании SPA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Естественный момент обсудить собственность и её будущее.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После передачи объекта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Собственность стала реальной, и правовая защита — естественный следующий шаг.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675284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28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При обсуждении долгосрочных инвестиций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Защита — часть инвестиционного планирования, а не размышлений о смерти.</a:t>
            </a:r>
            <a:endParaRPr lang="ru-RU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Скрипт брокера для разговора с клиентом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ПРОЩЕ — ЛУЧШЕ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Comme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Вступительная фраза</a:t>
            </a:r>
            <a:endParaRPr lang="ru-RU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62072"/>
            <a:ext cx="26517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100" dirty="0">
                <a:solidFill>
                  <a:schemeClr val="bg2"/>
                </a:solidFill>
              </a:rPr>
              <a:t>«Поскольку вы владеете недвижимостью в ОАЭ, очень важно юридически защитить ваши активы и семью. Мы сотрудничаем с профильной юридической фирмой, которая поможет вам подготовить завещание в соответствии с законодательством ОАЭ».</a:t>
            </a:r>
            <a:endParaRPr lang="ru-RU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Брокер лишь открывает дверь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Нужный момент, одна фраза, затем направление. Без юридических подробностей.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Предложите бесплатную консультацию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«Если хотите, я могу организовать бесплатную первую консультацию с ними, чтобы вам объяснили подходящие варианты».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Если спросят: зачем мне завещание?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«Без завещания могут применяться различные юридические процедуры в зависимости от вашей ситуации и гражданства, что может вызвать задержки или осложнения для недвижимости, счетов или наследников. Поэтому многие инвесторы предпочитают урегулировать всё заранее».</a:t>
            </a:r>
            <a:endParaRPr lang="ru-RU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ru-RU" altLang="en-US" sz="1300" b="1" dirty="0">
                <a:solidFill>
                  <a:schemeClr val="tx1"/>
                </a:solidFill>
              </a:rPr>
              <a:t>Если говорят: позже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«Конечно. Большинство клиентов предпочитают оформить это сразу после покупки, пока процедуры проще всего и документы под рукой».</a:t>
            </a:r>
            <a:endParaRPr lang="ru-RU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говорить и чего никогда не говорить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БРОКЕР НЕ ЗАНИМАЕТСЯ ЮРИДИЧЕСКОЙ ПРАКТИКОЙ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Говорите</a:t>
            </a:r>
            <a:endParaRPr lang="ru-RU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«Важно юридически защитить ваши активы и семью»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«Мы сотрудничаем с профильной юридической фирмой»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«Я могу организовать бесплатную первую консультацию»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«Многие инвесторы предпочитают урегулировать всё заранее»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«Фирма объяснит варианты для вашей ситуации»</a:t>
            </a:r>
            <a:endParaRPr lang="ru-RU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accent2"/>
                </a:solidFill>
              </a:rPr>
              <a:t>Никогда не говорите</a:t>
            </a:r>
            <a:endParaRPr lang="ru-RU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«Закон гласит…»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«Это обязательно произойдёт…»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«Мы вам гарантируем…»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«Какой тип завещания вы хотите?»</a:t>
            </a:r>
            <a:endParaRPr lang="ru-RU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ru-RU" altLang="en-US" sz="1100" dirty="0">
                <a:solidFill>
                  <a:schemeClr val="tx2"/>
                </a:solidFill>
              </a:rPr>
              <a:t>Любое мнение о шариате, иностранном праве или гонорарах</a:t>
            </a:r>
            <a:endParaRPr lang="ru-RU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Вопросы, которые вы услышите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FAQ ДЛЯ БРОКЕРА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ircle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Что происходит с недвижимостью после смерти?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Применяются юридические процедуры, различающиеся по ситуации; зарегистрированное завещание закрепляет порядок заранее. Направьте вопрос нам.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ircleQues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Замораживаются ли счета?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Они могут быть заморожены до выдачи приказа о распределении. Планирование заранее снижает этот риск.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ircleQuest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Как защитить детей?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Назначив опекуна и определив их доли в завещании.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ircleQues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В чём разница между DIFC, ADGM и местными судами?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Разные пути регистрации для разных ситуаций; фирма определяет лучший после ознакомительной встречи.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CircleQues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Сколько это стоит и сколько занимает времени?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После бесплатной консультации клиент получает одно предложение с гонораром, стоимостью регистрации и сроками.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направления и уровни сервиса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Что происходит после того, как вы направили клиента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Процесс направления шаг за шагом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ОТ БРОКЕРА ДО РЕГИСТРАЦИИ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Вводное сообщение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Брокер отправляет стандартное представление (email или WhatsApp) с нами в копии.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185623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Наш первый контакт</a:t>
            </a:r>
            <a:endParaRPr lang="ru-RU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56232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 течение одного рабочего дня: благодарность, представление команды и время консультации.</a:t>
            </a:r>
            <a:endParaRPr lang="ru-RU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552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Вводная встреча</a:t>
            </a:r>
            <a:endParaRPr lang="ru-RU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55264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Ознакомительные вопросы о недвижимости, компаниях, детях, наследниках и счетах.</a:t>
            </a:r>
            <a:endParaRPr lang="ru-RU" sz="1050" dirty="0"/>
          </a:p>
        </p:txBody>
      </p:sp>
      <p:sp>
        <p:nvSpPr>
          <p:cNvPr id="17" name="Shape 15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Предложение</a:t>
            </a:r>
            <a:endParaRPr lang="ru-RU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В течение 48 часов: объём, гонорар, сроки и стоимость регистрации.</a:t>
            </a:r>
            <a:endParaRPr lang="ru-RU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Составление и регистрация</a:t>
            </a:r>
            <a:endParaRPr lang="ru-RU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Завещание, перевод, свидетели, нотариальное заверение, затем регистрация в выбранном органе.</a:t>
            </a:r>
            <a:endParaRPr lang="ru-RU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Отчёт партнёру</a:t>
            </a:r>
            <a:endParaRPr lang="ru-RU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Обновление на каждом этапе и ежемесячный отчёт с расчётом комиссии.</a:t>
            </a:r>
            <a:endParaRPr lang="ru-RU" sz="1050" dirty="0"/>
          </a:p>
        </p:txBody>
      </p:sp>
      <p:sp>
        <p:nvSpPr>
          <p:cNvPr id="2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Уровень сервиса, который мы гарантируем</a:t>
            </a:r>
            <a:endParaRPr lang="ru-RU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SLA</a:t>
            </a:r>
            <a:endParaRPr lang="ru-RU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Пункт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Наше обязательство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Ответ на направление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 течение одного рабочего дня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Первая консультация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Бесплатно, в нашем офисе, у клиента или удалённо, на языке клиента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Предложение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В течение 48 часов после ознакомительной встречи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Обновления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Клиенту и партнёру на каждом этапе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Ежемесячный отчёт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Рефералы, статус, зарегистрированные завещания, причитающиеся комиссии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Расчёт комиссии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Ежемесячно, по соглашению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Конфиденциальность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Данные клиентов никогда не используются для иных целей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Комплаенс и защита обеих сторон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КРАСНЫЕ ЛИНИИ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Gav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Брокер не занимается юридической практикой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Никаких советов, юридических заключений и обещанных результатов.</a:t>
            </a:r>
            <a:endParaRPr lang="ru-RU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Конфиденциальность и защита данных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Данные клиентов передаются по согласованному каналу и используются только для услуги.</a:t>
            </a:r>
            <a:endParaRPr lang="ru-RU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IdCar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KYC и противодействие отмыванию денег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Осуществляется фирмой в соответствии с федеральным законодательством.</a:t>
            </a:r>
            <a:endParaRPr lang="ru-RU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Ba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Запрет обхода (non-circumvention)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Ни одна из сторон не обходит другую с её клиентами.</a:t>
            </a:r>
            <a:endParaRPr lang="ru-RU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FileContract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Прозрачность гонораров</a:t>
            </a:r>
            <a:endParaRPr lang="ru-RU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ru-RU" altLang="en-US" sz="1100" dirty="0">
                <a:solidFill>
                  <a:schemeClr val="accent3"/>
                </a:solidFill>
              </a:rPr>
              <a:t>Одно письменное предложение клиенту; комиссия закреплена в соглашении в соответствии с профессиональными правилами.</a:t>
            </a:r>
            <a:endParaRPr lang="ru-RU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ru-RU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Совместный маркетинг и подключение</a:t>
            </a:r>
            <a:endParaRPr lang="ru-RU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400" dirty="0">
                <a:solidFill>
                  <a:schemeClr val="accent2"/>
                </a:solidFill>
              </a:rPr>
              <a:t>Мы помогаем вам уверенно представлять услугу вашим клиентам</a:t>
            </a:r>
            <a:endParaRPr lang="ru-RU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делаем вместе с вами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СОВМЕСТНЫЙ МАРКЕТИНГ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halkboard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Бесплатный семинар для вашего отдела продаж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«Как защитить иностранных инвесторов в ОАЭ», один час в вашем офисе.</a:t>
            </a:r>
            <a:endParaRPr lang="ru-RU" sz="1250" dirty="0"/>
          </a:p>
        </p:txBody>
      </p:sp>
      <p:sp>
        <p:nvSpPr>
          <p:cNvPr id="7" name="Shape 4"/>
          <p:cNvSpPr/>
          <p:nvPr/>
        </p:nvSpPr>
        <p:spPr>
          <a:xfrm>
            <a:off x="32766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Vide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76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77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Вебинары для ваших клиентов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На английском, русском или китайском, под вашим именем и нашим.</a:t>
            </a:r>
            <a:endParaRPr lang="ru-RU" sz="1250" dirty="0"/>
          </a:p>
        </p:txBody>
      </p:sp>
      <p:sp>
        <p:nvSpPr>
          <p:cNvPr id="10" name="Shape 6"/>
          <p:cNvSpPr/>
          <p:nvPr/>
        </p:nvSpPr>
        <p:spPr>
          <a:xfrm>
            <a:off x="6096000" y="118872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Us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97168" y="182880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Мероприятия для инвесторов и презентации проектов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Юрист фирмы на месте, чтобы ответить на вопросы.</a:t>
            </a:r>
            <a:endParaRPr lang="ru-RU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FolderOpe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12724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583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Готовые материалы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Брошюра, текст для WhatsApp, FAQ и двуязычная презентация.</a:t>
            </a:r>
            <a:endParaRPr lang="ru-RU" sz="1250" dirty="0"/>
          </a:p>
        </p:txBody>
      </p:sp>
      <p:sp>
        <p:nvSpPr>
          <p:cNvPr id="16" name="Shape 10"/>
          <p:cNvSpPr/>
          <p:nvPr/>
        </p:nvSpPr>
        <p:spPr>
          <a:xfrm>
            <a:off x="32766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Hashta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768" y="3127248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4777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Контент в социальных сетях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Что будет с вашей недвижимостью без завещания? Замораживаются ли счета? DIFC или ADGM?</a:t>
            </a:r>
            <a:endParaRPr lang="ru-RU" sz="1250" dirty="0"/>
          </a:p>
        </p:txBody>
      </p:sp>
      <p:sp>
        <p:nvSpPr>
          <p:cNvPr id="19" name="Shape 12"/>
          <p:cNvSpPr/>
          <p:nvPr/>
        </p:nvSpPr>
        <p:spPr>
          <a:xfrm>
            <a:off x="6096000" y="2926080"/>
            <a:ext cx="2590800" cy="150876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20" name="icon FaComment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168" y="312724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297168" y="3566160"/>
            <a:ext cx="2188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ru-RU" altLang="en-US" sz="1250" b="1" dirty="0">
                <a:solidFill>
                  <a:schemeClr val="tx1"/>
                </a:solidFill>
              </a:rPr>
              <a:t>Бесплатная первая консультация</a:t>
            </a:r>
            <a:endParaRPr lang="ru-RU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ru-RU" altLang="en-US" sz="1050" dirty="0">
                <a:solidFill>
                  <a:schemeClr val="accent3"/>
                </a:solidFill>
              </a:rPr>
              <a:t>Для каждого направленного вами клиента, на его языке, там, где ему удобно.</a:t>
            </a:r>
            <a:endParaRPr lang="ru-RU" sz="125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за три недели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ПЛАН ПОДКЛЮЧЕНИЯ</a:t>
            </a:r>
            <a:endParaRPr lang="ru-RU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Неделя 1</a:t>
            </a:r>
            <a:endParaRPr lang="ru-RU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Соглашение</a:t>
            </a:r>
            <a:endParaRPr lang="ru-RU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Встреча с руководством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Подписание реферального соглашения о сотрудничестве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Согласование канала связи и контактного лица</a:t>
            </a:r>
            <a:endParaRPr lang="ru-RU" sz="1050" dirty="0"/>
          </a:p>
        </p:txBody>
      </p:sp>
      <p:sp>
        <p:nvSpPr>
          <p:cNvPr id="9" name="Shape 7"/>
          <p:cNvSpPr/>
          <p:nvPr/>
        </p:nvSpPr>
        <p:spPr>
          <a:xfrm>
            <a:off x="326136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Неделя 2</a:t>
            </a:r>
            <a:endParaRPr lang="ru-RU" sz="1200" dirty="0"/>
          </a:p>
        </p:txBody>
      </p:sp>
      <p:sp>
        <p:nvSpPr>
          <p:cNvPr id="11" name="Shape 9"/>
          <p:cNvSpPr/>
          <p:nvPr/>
        </p:nvSpPr>
        <p:spPr>
          <a:xfrm>
            <a:off x="326136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852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Обучение</a:t>
            </a:r>
            <a:endParaRPr lang="ru-RU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39852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Семинар для отдела продаж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Передача материалов: PDF, презентация, FAQ, скрипт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Тест первого ознакомительного сообщения</a:t>
            </a:r>
            <a:endParaRPr lang="ru-RU" sz="1050" dirty="0"/>
          </a:p>
        </p:txBody>
      </p:sp>
      <p:sp>
        <p:nvSpPr>
          <p:cNvPr id="14" name="Shape 12"/>
          <p:cNvSpPr/>
          <p:nvPr/>
        </p:nvSpPr>
        <p:spPr>
          <a:xfrm>
            <a:off x="6065520" y="1188720"/>
            <a:ext cx="2621280" cy="5029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02680" y="1188720"/>
            <a:ext cx="234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b="1" dirty="0">
                <a:solidFill>
                  <a:schemeClr val="accent1"/>
                </a:solidFill>
              </a:rPr>
              <a:t>Неделя 3</a:t>
            </a:r>
            <a:endParaRPr lang="ru-RU" sz="1200" dirty="0"/>
          </a:p>
        </p:txBody>
      </p:sp>
      <p:sp>
        <p:nvSpPr>
          <p:cNvPr id="16" name="Shape 14"/>
          <p:cNvSpPr/>
          <p:nvPr/>
        </p:nvSpPr>
        <p:spPr>
          <a:xfrm>
            <a:off x="6065520" y="1691640"/>
            <a:ext cx="2621280" cy="274320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2680" y="1828800"/>
            <a:ext cx="234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1300" b="1" dirty="0">
                <a:solidFill>
                  <a:schemeClr val="tx1"/>
                </a:solidFill>
              </a:rPr>
              <a:t>Запуск</a:t>
            </a:r>
            <a:endParaRPr lang="ru-RU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02680" y="2286000"/>
            <a:ext cx="2346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Первые рефералы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Первые бесплатные консультации</a:t>
            </a:r>
            <a:endParaRPr lang="ru-RU" sz="10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ru-RU" altLang="en-US" sz="1050" dirty="0">
                <a:solidFill>
                  <a:schemeClr val="accent3"/>
                </a:solidFill>
              </a:rPr>
              <a:t>Еженедельный обзор в течение первого месяца</a:t>
            </a:r>
            <a:endParaRPr lang="ru-RU" sz="105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Источники</a:t>
            </a:r>
            <a:endParaRPr lang="ru-RU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000" b="1" spc="300" kern="0" dirty="0">
                <a:solidFill>
                  <a:schemeClr val="accent1"/>
                </a:solidFill>
              </a:rPr>
              <a:t>КАЖДАЯ ЦИФРА В ПРЕЗЕНТАЦИИ ВОСХОДИТ К ОДНОМУ ИЗ ЭТИХ ИСТОЧНИКОВ</a:t>
            </a:r>
            <a:endParaRPr lang="ru-RU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ФЦКС: население ОАЭ 2023–2024 (Gulf News, 8 сент. 2025).</a:t>
            </a:r>
            <a:endParaRPr lang="ru-RU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Статцентр Дубая: более 4 млн (сент. 2025); 4,58 млн на конец 2025 (Dubai Eye, июль 2026).</a:t>
            </a:r>
            <a:endParaRPr lang="ru-RU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Национальное бюро статистики: 88,5% экспатов из 8,26 млн (Khaleej Times, 2011).</a:t>
            </a:r>
            <a:endParaRPr lang="ru-RU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релиз 1 ноя. 2017 (более 3 000); Al Bayan и Emarat Al Youm 2019 (4 100 и 5 000).</a:t>
            </a:r>
            <a:endParaRPr lang="ru-RU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15 июля 2024 (810, +6%, более 11 000); 23 июля 2025 (922, +14%, более 13 400).</a:t>
            </a:r>
            <a:endParaRPr lang="ru-RU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DIFC Courts: 11 фев. 2026 (2 220 в 2025, +22%; 41 заявление, +37%); 22 апр. 2026 (883 в 1 кв., +120%).</a:t>
            </a:r>
            <a:endParaRPr lang="ru-RU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Статпортал DIFC Courts: 14 373 завещания с момента запуска (1 пол. 2026).</a:t>
            </a:r>
            <a:endParaRPr lang="ru-RU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Судебный департамент Абу-Даби: 1 668 завещаний, 64 национальности (Gulf News, 14 дек. 2019).</a:t>
            </a:r>
            <a:endParaRPr lang="ru-RU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Гражданский семейный суд Абу-Даби: 11 000 в 2025, 21 000 всего (Gulf News, 19 янв. 2026); 8 886 операций в 1 кв. 2026 (WAM).</a:t>
            </a:r>
            <a:endParaRPr lang="ru-RU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2022: 3,797 млрд дирхамов; 1 555 / 500 / 24 дела (Emarat Al Youm, 8 июля 2023).</a:t>
            </a:r>
            <a:endParaRPr lang="ru-RU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2023: 580 дел, 4,116 млрд, 81 / 52 / 28 дней, 92,6% (The Law Reporters, 13 июля 2024).</a:t>
            </a:r>
            <a:endParaRPr lang="ru-RU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Дубая, первые 11 месяцев: 1 814 дел, 40 дней, 32,8 млрд (Мактум бин Мохаммед, 28 окт. 2024).</a:t>
            </a:r>
            <a:endParaRPr lang="ru-RU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 по наследству 2024: 84%, 24 дня, 1 407 свидетельств, 10 и 35 млрд (Медиа-офис Дубая, 29 янв. 2025).</a:t>
            </a:r>
            <a:endParaRPr lang="ru-RU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Суды Дубая 2025: 13,8 дня, 92,5%, 5,26 млрд, 284 лицензии (Al Bayan, 9 июля 2026); 3,5 млрд наследникам и платформа «Джабр» (Gulf News, 25 апр. 2026).</a:t>
            </a:r>
            <a:endParaRPr lang="ru-RU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YouGov для Blanket, 1 014 респондентов, сент. 2026: 49%, 56%, 24%, 73%, 28%, 21% (Gulf News, 20 окт. 2026).</a:t>
            </a:r>
            <a:endParaRPr lang="ru-RU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Опрос реестра DIFC 2017 и заморозка счетов (Gulf News, 12 ноя. 2018); оценки сроков: Caunsel (15 окт. 2026), Dubai Wills Center (13 янв. 2026).</a:t>
            </a:r>
            <a:endParaRPr lang="ru-RU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Семейный бизнес: Gulf News, 9 фев. 2023 (Jersey Finance); Khaleej Times, 20 мая 2026 и 6 сент. 2023 (Citi).</a:t>
            </a:r>
            <a:endParaRPr lang="ru-RU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ru-RU" altLang="en-US" sz="850" dirty="0">
                <a:solidFill>
                  <a:schemeClr val="tx2"/>
                </a:solidFill>
              </a:rPr>
              <a:t>Правовая база: закон Дубая 15/2017; закон Абу-Даби 14/2021; федеральный декрет-закон 41/2022; декрет Дубая 25/2023.</a:t>
            </a:r>
            <a:endParaRPr lang="ru-RU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900" i="1" dirty="0">
                <a:solidFill>
                  <a:schemeClr val="accent3"/>
                </a:solidFill>
              </a:rPr>
              <a:t>Цифры со звёздочкой (*) рассчитаны по официально объявленным темпам роста и отдельно не публиковались.</a:t>
            </a:r>
            <a:endParaRPr lang="ru-RU" sz="900" dirty="0"/>
          </a:p>
        </p:txBody>
      </p:sp>
      <p:sp>
        <p:nvSpPr>
          <p:cNvPr id="4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Лучшее маркетинговое слово — не «завещание», а «защита активов». Завещание ассоциируется со смертью; защита активов — с инвестициями и безопасностью.</a:t>
            </a:r>
            <a:endParaRPr lang="ru-RU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accent2"/>
                </a:solidFill>
              </a:rPr>
              <a:t>Ключевой маркетинговый тезис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Контакт для партнёров</a:t>
            </a:r>
            <a:endParaRPr lang="ru-RU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300" dirty="0">
                <a:solidFill>
                  <a:schemeClr val="accent2"/>
                </a:solidFill>
              </a:rPr>
              <a:t>Д-р Вард Шуэйби — Менеджер по развитию бизнеса и международным связям</a:t>
            </a:r>
            <a:endParaRPr lang="ru-RU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Шейх Зайед Роуд, Saeed Tower 2, офис 501, Дубай, ОАЭ</a:t>
            </a:r>
            <a:endParaRPr lang="ru-RU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+971 4 359 5552  |  Моб. и WhatsApp: +971 52 107 4972</a:t>
            </a:r>
            <a:endParaRPr lang="ru-RU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ru-RU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altLang="en-US" sz="1200" dirty="0">
                <a:solidFill>
                  <a:schemeClr val="bg2"/>
                </a:solidFill>
              </a:rPr>
              <a:t>Пн – Пт, 8:30 – 17:30  |  Арабский · Английский · Китайский · Русский</a:t>
            </a:r>
            <a:endParaRPr lang="ru-RU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правовой защиты инвесторов — Руководство партнёра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2026-10-27T14:33:26Z</dcterms:created>
  <dcterms:modified xsi:type="dcterms:W3CDTF">2026-10-27T14:33:26Z</dcterms:modified>
</cp:coreProperties>
</file>