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offer" id="{fabb51c5-1c79-e08c-d2b2-cc203a70482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aa/b81485da-2e22-5d10-878f-01904e6d5dc6/scratchpad/rk/logo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681728"/>
            <a:ext cx="1675417" cy="2743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2238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DARK">
    <p:bg>
      <p:bgPr>
        <a:solidFill>
          <a:srgbClr val="0E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pic>
        <p:nvPicPr>
          <p:cNvPr id="3" name="Image 0" descr="/tmp/claude-0/-home-user-aa/b81485da-2e22-5d10-878f-01904e6d5dc6/scratchpad/rk/logo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4021000" cy="658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" y="196596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Protection Partnership for Investors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68680" y="33832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chemeClr val="accent2"/>
                </a:solidFill>
              </a:rPr>
              <a:t>An executive brief for owners of real estate brokerages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dirty="0">
                <a:solidFill>
                  <a:schemeClr val="accent3"/>
                </a:solidFill>
              </a:rPr>
              <a:t>Rashid Alkaitoob Advocates &amp; Legal Consultants · Dubai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are meeting today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OPENING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29184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pic>
        <p:nvPicPr>
          <p:cNvPr id="5" name="icon FaShieldHalve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103120"/>
            <a:ext cx="2651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not here to sell a traditional legal service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3026664"/>
            <a:ext cx="2651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00" dirty="0">
                <a:solidFill>
                  <a:schemeClr val="bg2"/>
                </a:solidFill>
              </a:rPr>
              <a:t>We are building with you an integrated protection service for the property investor, one that becomes part of the value you deliver.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023360" y="1188720"/>
            <a:ext cx="46634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buSzPct val="100000"/>
              <a:buChar char="•"/>
            </a:pPr>
            <a:r>
              <a:rPr lang="en-US" altLang="en-US" sz="1300" b="1" dirty="0">
                <a:solidFill>
                  <a:schemeClr val="tx1"/>
                </a:solidFill>
              </a:rPr>
              <a:t>The problem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Most foreign investors buy property worth millions of dirhams with no will and no legal structure.</a:t>
            </a:r>
            <a:endParaRPr lang="en-US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en-US" altLang="en-US" sz="1300" b="1" dirty="0">
                <a:solidFill>
                  <a:schemeClr val="tx1"/>
                </a:solidFill>
              </a:rPr>
              <a:t>What can happen in an emergency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Frozen accounts, blocked ownership transfers, family disputes, and problems for children and heirs.</a:t>
            </a:r>
            <a:endParaRPr lang="en-US" sz="1300" dirty="0"/>
          </a:p>
          <a:p>
            <a:pPr algn="l" marL="177800" indent="-177800">
              <a:spcBef>
                <a:spcPts val="600"/>
              </a:spcBef>
              <a:buSzPct val="100000"/>
              <a:buChar char="•"/>
            </a:pPr>
            <a:r>
              <a:rPr lang="en-US" altLang="en-US" sz="1300" b="1" dirty="0">
                <a:solidFill>
                  <a:schemeClr val="tx1"/>
                </a:solidFill>
              </a:rPr>
              <a:t>The solution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A specialist legal partner handles the entire legal side while you keep the client relationship.</a:t>
            </a:r>
            <a:endParaRPr lang="en-US" sz="1300" dirty="0"/>
          </a:p>
        </p:txBody>
      </p:sp>
      <p:sp>
        <p:nvSpPr>
          <p:cNvPr id="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firm at a glance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2014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300" b="1" dirty="0">
                <a:solidFill>
                  <a:schemeClr val="bg1"/>
                </a:solidFill>
              </a:rPr>
              <a:t>Founded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2"/>
                </a:solidFill>
              </a:rPr>
              <a:t>Licensed law firm in Dubai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7175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5463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75463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300" b="1" dirty="0">
                <a:solidFill>
                  <a:schemeClr val="bg1"/>
                </a:solidFill>
              </a:rPr>
              <a:t>Practice areas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2"/>
                </a:solidFill>
              </a:rPr>
              <a:t>Litigation, advisory and contracts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86918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300" b="1" dirty="0">
                <a:solidFill>
                  <a:schemeClr val="bg1"/>
                </a:solidFill>
              </a:rPr>
              <a:t>Working languages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2"/>
                </a:solidFill>
              </a:rPr>
              <a:t>Arabic · English · Chinese · Russian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00850" y="1371600"/>
            <a:ext cx="1885950" cy="292608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83730" y="1600200"/>
            <a:ext cx="152019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GCC &amp; Asia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983730" y="2743200"/>
            <a:ext cx="152019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300" b="1" dirty="0">
                <a:solidFill>
                  <a:schemeClr val="bg1"/>
                </a:solidFill>
              </a:rPr>
              <a:t>Regional and international presence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050" dirty="0">
                <a:solidFill>
                  <a:schemeClr val="accent2"/>
                </a:solidFill>
              </a:rPr>
              <a:t>Dedicated China desk for investors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client receives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THE SERVICE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FileSignatur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898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A valid, registered will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Compatible with Dubai Courts, Abu Dhabi, DIFC or ADGM, as the case requires.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5717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Hous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918" y="1389888"/>
            <a:ext cx="310896" cy="31089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77291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Protected property and accounts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Arrangements that prevent freezes and fix the succession path.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863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Childr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468" y="1389888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88746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Protected family and children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Appointed guardians and defined heirs inside and outside the UAE.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8008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Sitemap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2018" y="1389888"/>
            <a:ext cx="310896" cy="310896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002018" y="1828800"/>
            <a:ext cx="148361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Corporate and asset structuring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Holding, SPV or foundation according to the size of the investment.</a:t>
            </a:r>
            <a:endParaRPr lang="en-US" sz="1400" dirty="0"/>
          </a:p>
        </p:txBody>
      </p:sp>
      <p:sp>
        <p:nvSpPr>
          <p:cNvPr id="1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company gains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VALUE FOR THE PARTNER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344168"/>
            <a:ext cx="1483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1847088"/>
            <a:ext cx="148361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Client trust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The client sees a broker who cares about protection, not only the sale.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717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72918" y="1344168"/>
            <a:ext cx="1483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2772918" y="1847088"/>
            <a:ext cx="148361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Higher closing rate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Foreign investors relax when they know legal protection and inheritance solutions exist.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8630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87468" y="1344168"/>
            <a:ext cx="1483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887468" y="1847088"/>
            <a:ext cx="148361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An additional VIP service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You position yourselves as a full investment advisor.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00850" y="1188720"/>
            <a:ext cx="1885950" cy="324612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02018" y="1344168"/>
            <a:ext cx="148361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7002018" y="1847088"/>
            <a:ext cx="148361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altLang="en-US" sz="1400" b="1" dirty="0">
                <a:solidFill>
                  <a:schemeClr val="tx1"/>
                </a:solidFill>
              </a:rPr>
              <a:t>Extra income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altLang="en-US" sz="1150" dirty="0">
                <a:solidFill>
                  <a:schemeClr val="accent3"/>
                </a:solidFill>
              </a:rPr>
              <a:t>A clear, organised referral structure that turns the service into recurring income.</a:t>
            </a:r>
            <a:endParaRPr lang="en-US" sz="1400" dirty="0"/>
          </a:p>
        </p:txBody>
      </p:sp>
      <p:sp>
        <p:nvSpPr>
          <p:cNvPr id="16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process is very simple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EASY PROCESS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" y="1600200"/>
            <a:ext cx="7680960" cy="0"/>
          </a:xfrm>
          <a:prstGeom prst="line">
            <a:avLst/>
          </a:prstGeom>
          <a:noFill/>
          <a:ln w="9525">
            <a:solidFill>
              <a:srgbClr val="D9B3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You introduce the service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One sentence at the right moment, plus a standard introduction message.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55748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55748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55748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We handle the whole legal side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555748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Consultation, risk assessment, drafting, translation, notarisation, registration.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54296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54296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54296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Our team manages the client end to end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54296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First contact within one business day, with regular updates to you and the client.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752844" y="1325880"/>
            <a:ext cx="548640" cy="548640"/>
          </a:xfrm>
          <a:prstGeom prst="ellipse">
            <a:avLst/>
          </a:prstGeom>
          <a:solidFill>
            <a:srgbClr val="0E2238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52844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52844" y="2057400"/>
            <a:ext cx="1933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You stay informed with zero legal liability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752844" y="2606040"/>
            <a:ext cx="19339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050" dirty="0">
                <a:solidFill>
                  <a:schemeClr val="accent3"/>
                </a:solidFill>
              </a:rPr>
              <a:t>A monthly report, and commission settled under the agreement.</a:t>
            </a:r>
            <a:endParaRPr lang="en-US" sz="1050" dirty="0"/>
          </a:p>
        </p:txBody>
      </p:sp>
      <p:sp>
        <p:nvSpPr>
          <p:cNvPr id="21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role and ours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DIVISION OF ROLES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00500" cy="54864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accent2"/>
                </a:solidFill>
              </a:rPr>
              <a:t>The brokerage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Introduces the service and refers the client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Presents it as a value-add within its offer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Gives no legal advice and guarantees no outcomes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Receives the referral fee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86300" y="1188720"/>
            <a:ext cx="4000500" cy="548640"/>
          </a:xfrm>
          <a:prstGeom prst="rect">
            <a:avLst/>
          </a:prstGeom>
          <a:solidFill>
            <a:srgbClr val="B5723B"/>
          </a:solidFill>
          <a:ln w="12700">
            <a:solidFill>
              <a:srgbClr val="B572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23460" y="1188720"/>
            <a:ext cx="37261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Rashid Alkaitoob Advocates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86300" y="1737360"/>
            <a:ext cx="4000500" cy="2697480"/>
          </a:xfrm>
          <a:prstGeom prst="rect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3460" y="1874520"/>
            <a:ext cx="37261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Legal consultation and will drafting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Registration and follow-up with the authorities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Shields the broker from any legal liability</a:t>
            </a:r>
            <a:endParaRPr lang="en-US" sz="1100" dirty="0"/>
          </a:p>
          <a:p>
            <a:pPr algn="l" marL="152400" indent="-152400">
              <a:spcAft>
                <a:spcPts val="500"/>
              </a:spcAft>
              <a:buSzPct val="100000"/>
              <a:buChar char="•"/>
            </a:pPr>
            <a:r>
              <a:rPr lang="en-US" altLang="en-US" sz="1100" dirty="0">
                <a:solidFill>
                  <a:schemeClr val="tx2"/>
                </a:solidFill>
              </a:rPr>
              <a:t>Concierge-level service in four languages</a:t>
            </a:r>
            <a:endParaRPr lang="en-US" sz="1100" dirty="0"/>
          </a:p>
        </p:txBody>
      </p:sp>
      <p:sp>
        <p:nvSpPr>
          <p:cNvPr id="12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get you started immediately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WHAT WE PROVIDE YOUR TEAM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ChalkboardUs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A free seminar for your sales team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Titled “How to Protect Foreign Investors in the UAE”.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Comment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99339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A free first consultation for your clients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To explain the options suited to each client.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FolderOpe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81635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Ready marketing materials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Brochure, WhatsApp text, FAQ and a presentation.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Crow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49040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639312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Concierge service for your top clients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Meetings at the client's office or home, VIP handling, fast-track registration.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5943600" y="1188720"/>
            <a:ext cx="2743200" cy="3246120"/>
          </a:xfrm>
          <a:prstGeom prst="rect">
            <a:avLst/>
          </a:prstGeom>
          <a:solidFill>
            <a:srgbClr val="0E2238"/>
          </a:solidFill>
          <a:ln w="12700">
            <a:solidFill>
              <a:srgbClr val="0E2238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6053328" y="1298448"/>
            <a:ext cx="2523744" cy="3026664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6263640" y="1508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timing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6263640" y="2286000"/>
            <a:ext cx="2103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150" dirty="0">
                <a:solidFill>
                  <a:schemeClr val="bg2"/>
                </a:solidFill>
              </a:rPr>
              <a:t>After booking, during the SPA signing, after handover, or when discussing long-term investment.</a:t>
            </a:r>
            <a:endParaRPr lang="en-US" sz="1150" dirty="0"/>
          </a:p>
        </p:txBody>
      </p:sp>
      <p:sp>
        <p:nvSpPr>
          <p:cNvPr id="20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233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agreement in brief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4630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000" b="1" spc="300" kern="0" dirty="0">
                <a:solidFill>
                  <a:schemeClr val="accent1"/>
                </a:solidFill>
              </a:rPr>
              <a:t>LEGAL STRUCTURE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5" name="icon FaArrowRightArrowLef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170432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Client referral mechanism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A standard introduction and contact from us within one business day.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47088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8" name="icon FaPercent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8528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828800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Commission rate and payment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A fixed percentage or amount per client, settled monthly.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57200" y="2505456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1" name="icon FaLo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9689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487168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Confidentiality and data protection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An NDA and full protection of your clients' data.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457200" y="3163824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4" name="icon FaUserShiel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55264"/>
            <a:ext cx="274320" cy="2743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145536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No legal liability on you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You give no legal advice; we carry the full professional responsibility.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3822192"/>
            <a:ext cx="457200" cy="457200"/>
          </a:xfrm>
          <a:prstGeom prst="ellipse">
            <a:avLst/>
          </a:prstGeom>
          <a:solidFill>
            <a:srgbClr val="F4F1EB"/>
          </a:solidFill>
          <a:ln w="12700">
            <a:solidFill>
              <a:srgbClr val="F4F1EB"/>
            </a:solidFill>
            <a:prstDash val="solid"/>
          </a:ln>
        </p:spPr>
      </p:sp>
      <p:pic>
        <p:nvPicPr>
          <p:cNvPr id="17" name="icon FaBa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913632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03904"/>
            <a:ext cx="7589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altLang="en-US" sz="1300" b="1" dirty="0">
                <a:solidFill>
                  <a:schemeClr val="tx1"/>
                </a:solidFill>
              </a:rPr>
              <a:t>Non-circumvention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altLang="en-US" sz="1100" dirty="0">
                <a:solidFill>
                  <a:schemeClr val="accent3"/>
                </a:solidFill>
              </a:rPr>
              <a:t>Your client relationships are protected throughout the partnership.</a:t>
            </a:r>
            <a:endParaRPr lang="en-US" sz="1300" dirty="0"/>
          </a:p>
        </p:txBody>
      </p:sp>
      <p:sp>
        <p:nvSpPr>
          <p:cNvPr id="19" name="Text 0"/>
          <p:cNvSpPr/>
          <p:nvPr>
            <p:ph idx="101" type="title" hasCustomPrompt="1"/>
          </p:nvPr>
        </p:nvSpPr>
        <p:spPr>
          <a:xfrm>
            <a:off x="457200" y="420624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6E7B8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02336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46304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200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 not sell a “will”. We help you protect your clients, raise the value of your services, and increase investor confidence in you.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accent2"/>
                </a:solidFill>
              </a:rPr>
              <a:t>Rashid Alkaitoob Advocates &amp; Legal Consultants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29100"/>
          </a:xfrm>
          <a:prstGeom prst="rect">
            <a:avLst/>
          </a:prstGeom>
          <a:ln w="9525">
            <a:solidFill>
              <a:srgbClr val="B5723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68680" y="777240"/>
            <a:ext cx="7406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15544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300" dirty="0">
                <a:solidFill>
                  <a:schemeClr val="accent2"/>
                </a:solidFill>
              </a:rPr>
              <a:t>A short meeting to sign the cooperation agreement and schedule your sales team seminar</a:t>
            </a:r>
            <a:endParaRPr lang="en-US" sz="1300" dirty="0"/>
          </a:p>
        </p:txBody>
      </p:sp>
      <p:pic>
        <p:nvPicPr>
          <p:cNvPr id="5" name="icon FaLocationDo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860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22402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Sheikh Zayed Road, Saeed Tower 2, Office 501, Dubai, UAE</a:t>
            </a:r>
            <a:endParaRPr lang="en-US" sz="1200" dirty="0"/>
          </a:p>
        </p:txBody>
      </p:sp>
      <p:pic>
        <p:nvPicPr>
          <p:cNvPr id="7" name="icon FaPh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7889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7432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+971 4 359 5552  |  Mobile &amp; WhatsApp: +971 52 107 4972</a:t>
            </a:r>
            <a:endParaRPr lang="en-US" sz="1200" dirty="0"/>
          </a:p>
        </p:txBody>
      </p:sp>
      <p:pic>
        <p:nvPicPr>
          <p:cNvPr id="9" name="icon FaEnvelop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91840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325880" y="32461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ward.shueibi@rk-advocates.com  |  rk-advocates.com</a:t>
            </a:r>
            <a:endParaRPr lang="en-US" sz="1200" dirty="0"/>
          </a:p>
        </p:txBody>
      </p:sp>
      <p:pic>
        <p:nvPicPr>
          <p:cNvPr id="11" name="icon FaClo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794760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325880" y="37490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chemeClr val="bg2"/>
                </a:solidFill>
              </a:rPr>
              <a:t>Monday – Friday, 8:30 – 17:30  |  Arabic · English · Chinese · Russian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626864"/>
            <a:ext cx="548640" cy="38404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900">
                <a:solidFill>
                  <a:srgbClr val="D9B3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dnight Copper">
  <a:themeElements>
    <a:clrScheme name="Midnight Copper">
      <a:dk1>
        <a:srgbClr val="0E2238"/>
      </a:dk1>
      <a:lt1>
        <a:srgbClr val="FFFFFF"/>
      </a:lt1>
      <a:dk2>
        <a:srgbClr val="1F3A52"/>
      </a:dk2>
      <a:lt2>
        <a:srgbClr val="F4F1EB"/>
      </a:lt2>
      <a:accent1>
        <a:srgbClr val="B5723B"/>
      </a:accent1>
      <a:accent2>
        <a:srgbClr val="D9B38C"/>
      </a:accent2>
      <a:accent3>
        <a:srgbClr val="6E7B88"/>
      </a:accent3>
      <a:accent4>
        <a:srgbClr val="8C5527"/>
      </a:accent4>
      <a:accent5>
        <a:srgbClr val="E6E1D8"/>
      </a:accent5>
      <a:accent6>
        <a:srgbClr val="5B7A8C"/>
      </a:accent6>
      <a:hlink>
        <a:srgbClr val="B5723B"/>
      </a:hlink>
      <a:folHlink>
        <a:srgbClr val="8C5527"/>
      </a:folHlink>
    </a:clrScheme>
    <a:fontScheme name="Midnight Copp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Rashid Alkaitoob Advocates &amp; Legal Consultants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Protection Partnership for Investors</dc:title>
  <dc:subject>PptxGenJS Presentation</dc:subject>
  <dc:creator>Rashid Alkaitoob Advocates &amp; Legal Consultants</dc:creator>
  <cp:lastModifiedBy>Rashid Alkaitoob Advocates &amp; Legal Consultants</cp:lastModifiedBy>
  <cp:revision>1</cp:revision>
  <dcterms:created xsi:type="dcterms:W3CDTF">2026-10-27T13:23:56Z</dcterms:created>
  <dcterms:modified xsi:type="dcterms:W3CDTF">2026-10-27T13:23:56Z</dcterms:modified>
</cp:coreProperties>
</file>