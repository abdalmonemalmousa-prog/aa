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8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he offer" id="{91ef38ce-0054-0c10-5396-d0f5e7130be7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E2238"/>
                </a:solidFill>
                <a:latin typeface="+mj-lt"/>
              </a:defRPr>
            </a:pPr>
            <a:r>
              <a:rPr sz="1200" b="0" i="0" u="none" strike="noStrike">
                <a:solidFill>
                  <a:srgbClr val="0E2238"/>
                </a:solidFill>
                <a:latin typeface="+mj-lt"/>
              </a:rPr>
              <a:t>Number of wills registered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Wills registered</c:v>
                </c:pt>
              </c:strCache>
            </c:strRef>
          </c:tx>
          <c:spPr>
            <a:solidFill>
              <a:srgbClr val="B5723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0E223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H1 2023*</c:v>
                  </c:pt>
                  <c:pt idx="1">
                    <c:v>H1 2024</c:v>
                  </c:pt>
                  <c:pt idx="2">
                    <c:v>H1 2025</c:v>
                  </c:pt>
                  <c:pt idx="3">
                    <c:v>Full year 2024*</c:v>
                  </c:pt>
                  <c:pt idx="4">
                    <c:v>Full year 2025</c:v>
                  </c:pt>
                  <c:pt idx="5">
                    <c:v>Q1 2026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764</c:v>
                </c:pt>
                <c:pt idx="1">
                  <c:v>810</c:v>
                </c:pt>
                <c:pt idx="2">
                  <c:v>922</c:v>
                </c:pt>
                <c:pt idx="3">
                  <c:v>1820</c:v>
                </c:pt>
                <c:pt idx="4">
                  <c:v>2220</c:v>
                </c:pt>
                <c:pt idx="5">
                  <c:v>883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0E223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E223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1D8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E223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E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a/b81485da-2e22-5d10-878f-01904e6d5dc6/scratchpad/r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4681728"/>
            <a:ext cx="1675417" cy="274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a/b81485da-2e22-5d10-878f-01904e6d5dc6/scratchpad/rk/logo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4681728"/>
            <a:ext cx="1675417" cy="27432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rgbClr val="0E2238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LAIN_DARK">
    <p:bg>
      <p:bgPr>
        <a:solidFill>
          <a:srgbClr val="0E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00" cy="4229100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pic>
        <p:nvPicPr>
          <p:cNvPr id="3" name="Image 0" descr="/tmp/claude-0/-home-user-aa/b81485da-2e22-5d10-878f-01904e6d5dc6/scratchpad/r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868680"/>
            <a:ext cx="4021000" cy="65836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68680" y="1965960"/>
            <a:ext cx="7406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3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Legal Protection Partnership for Investors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868680" y="3383280"/>
            <a:ext cx="7406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500" dirty="0">
                <a:solidFill>
                  <a:schemeClr val="accent2"/>
                </a:solidFill>
              </a:rPr>
              <a:t>An executive brief for owners of real estate brokerages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68680" y="4023360"/>
            <a:ext cx="7406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dirty="0">
                <a:solidFill>
                  <a:schemeClr val="accent3"/>
                </a:solidFill>
              </a:rPr>
              <a:t>Rashid Alkaitoob Advocates &amp; Legal Consultants · Dubai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we are meeting today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OPENING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3291840" cy="3246120"/>
          </a:xfrm>
          <a:prstGeom prst="rect">
            <a:avLst/>
          </a:prstGeom>
          <a:solidFill>
            <a:srgbClr val="0E2238"/>
          </a:solidFill>
          <a:ln w="12700">
            <a:solidFill>
              <a:srgbClr val="0E2238"/>
            </a:solidFill>
            <a:prstDash val="solid"/>
          </a:ln>
        </p:spPr>
      </p:sp>
      <p:pic>
        <p:nvPicPr>
          <p:cNvPr id="5" name="icon FaShieldHalved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508760"/>
            <a:ext cx="457200" cy="457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2103120"/>
            <a:ext cx="26517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5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are not here to sell a traditional legal service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3026664"/>
            <a:ext cx="26517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100" dirty="0">
                <a:solidFill>
                  <a:schemeClr val="bg2"/>
                </a:solidFill>
              </a:rPr>
              <a:t>We are building with you an integrated protection service for the property investor, one that becomes part of the value you deliver.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4023360" y="1188720"/>
            <a:ext cx="46634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buSzPct val="100000"/>
              <a:buChar char="•"/>
            </a:pPr>
            <a:r>
              <a:rPr lang="en-US" altLang="en-US" sz="1300" b="1" dirty="0">
                <a:solidFill>
                  <a:schemeClr val="tx1"/>
                </a:solidFill>
              </a:rPr>
              <a:t>The problem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Most foreign investors buy property worth millions of dirhams with no will and no legal structure.</a:t>
            </a:r>
            <a:endParaRPr lang="en-US" sz="1300" dirty="0"/>
          </a:p>
          <a:p>
            <a:pPr algn="l" marL="177800" indent="-177800">
              <a:spcBef>
                <a:spcPts val="600"/>
              </a:spcBef>
              <a:buSzPct val="100000"/>
              <a:buChar char="•"/>
            </a:pPr>
            <a:r>
              <a:rPr lang="en-US" altLang="en-US" sz="1300" b="1" dirty="0">
                <a:solidFill>
                  <a:schemeClr val="tx1"/>
                </a:solidFill>
              </a:rPr>
              <a:t>What can happen in an emergency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Frozen accounts, blocked ownership transfers, family disputes, and problems for children and heirs.</a:t>
            </a:r>
            <a:endParaRPr lang="en-US" sz="1300" dirty="0"/>
          </a:p>
          <a:p>
            <a:pPr algn="l" marL="177800" indent="-177800">
              <a:spcBef>
                <a:spcPts val="600"/>
              </a:spcBef>
              <a:buSzPct val="100000"/>
              <a:buChar char="•"/>
            </a:pPr>
            <a:r>
              <a:rPr lang="en-US" altLang="en-US" sz="1300" b="1" dirty="0">
                <a:solidFill>
                  <a:schemeClr val="tx1"/>
                </a:solidFill>
              </a:rPr>
              <a:t>The solution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A specialist legal partner handles the entire legal side while you keep the client relationship.</a:t>
            </a:r>
            <a:endParaRPr lang="en-US" sz="1300" dirty="0"/>
          </a:p>
        </p:txBody>
      </p:sp>
      <p:sp>
        <p:nvSpPr>
          <p:cNvPr id="9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11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firm at a glance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1885950" cy="2926080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600200"/>
            <a:ext cx="152019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2014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743200"/>
            <a:ext cx="152019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300" b="1" dirty="0">
                <a:solidFill>
                  <a:schemeClr val="bg1"/>
                </a:solidFill>
              </a:rPr>
              <a:t>Founded</a:t>
            </a:r>
            <a:endParaRPr lang="en-US" sz="13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50" dirty="0">
                <a:solidFill>
                  <a:schemeClr val="accent2"/>
                </a:solidFill>
              </a:rPr>
              <a:t>Licensed law firm in Dubai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571750" y="1371600"/>
            <a:ext cx="1885950" cy="2926080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754630" y="1600200"/>
            <a:ext cx="152019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10+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2754630" y="2743200"/>
            <a:ext cx="152019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300" b="1" dirty="0">
                <a:solidFill>
                  <a:schemeClr val="bg1"/>
                </a:solidFill>
              </a:rPr>
              <a:t>Practice areas</a:t>
            </a:r>
            <a:endParaRPr lang="en-US" sz="13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50" dirty="0">
                <a:solidFill>
                  <a:schemeClr val="accent2"/>
                </a:solidFill>
              </a:rPr>
              <a:t>Litigation, advisory and contracts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686300" y="1371600"/>
            <a:ext cx="1885950" cy="2926080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69180" y="1600200"/>
            <a:ext cx="152019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4869180" y="2743200"/>
            <a:ext cx="152019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300" b="1" dirty="0">
                <a:solidFill>
                  <a:schemeClr val="bg1"/>
                </a:solidFill>
              </a:rPr>
              <a:t>Working languages</a:t>
            </a:r>
            <a:endParaRPr lang="en-US" sz="13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50" dirty="0">
                <a:solidFill>
                  <a:schemeClr val="accent2"/>
                </a:solidFill>
              </a:rPr>
              <a:t>Arabic · English · Chinese · Russian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800850" y="1371600"/>
            <a:ext cx="1885950" cy="2926080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983730" y="1600200"/>
            <a:ext cx="152019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GCC &amp; Asia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6983730" y="2743200"/>
            <a:ext cx="152019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300" b="1" dirty="0">
                <a:solidFill>
                  <a:schemeClr val="bg1"/>
                </a:solidFill>
              </a:rPr>
              <a:t>Regional and international presence</a:t>
            </a:r>
            <a:endParaRPr lang="en-US" sz="13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50" dirty="0">
                <a:solidFill>
                  <a:schemeClr val="accent2"/>
                </a:solidFill>
              </a:rPr>
              <a:t>Dedicated China desk for investors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reality in four numbers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THE NUMBERS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49%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of UAE expats have not started a will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00" dirty="0">
                <a:solidFill>
                  <a:schemeClr val="accent3"/>
                </a:solidFill>
              </a:rPr>
              <a:t>YouGov survey, September 2026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2564892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47772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35,000+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2747772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registered non-Muslim wills since 2015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00" dirty="0">
                <a:solidFill>
                  <a:schemeClr val="accent3"/>
                </a:solidFill>
              </a:rPr>
              <a:t>DIFC (14,000+) plus Abu Dhabi (21,000), in a country of over 11 million people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72584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55464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13.8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4855464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working days: average amicable estate settlement in Dubai (2025)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00" dirty="0">
                <a:solidFill>
                  <a:schemeClr val="accent3"/>
                </a:solidFill>
              </a:rPr>
              <a:t>versus 24 days in 2024 and 81 days for litigated cases in 2023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780276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963156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 trillion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6963156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of GCC family assets transferring to the next generation by 2030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00" dirty="0">
                <a:solidFill>
                  <a:schemeClr val="accent3"/>
                </a:solidFill>
              </a:rPr>
              <a:t>and fewer than one in three family businesses has a succession plan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1879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800" i="1" dirty="0">
                <a:solidFill>
                  <a:schemeClr val="accent3"/>
                </a:solidFill>
              </a:rPr>
              <a:t>Sources: DIFC Courts, Abu Dhabi Judicial Department, Dubai Courts, YouGov survey (Sept 2026), Khaleej Times / Gulf News. Full references in the deck 'Wills and Inheritance in the UAE: What the Numbers Say'.</a:t>
            </a:r>
            <a:endParaRPr lang="en-US" sz="800" dirty="0"/>
          </a:p>
        </p:txBody>
      </p:sp>
      <p:sp>
        <p:nvSpPr>
          <p:cNvPr id="17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DIFC: annual registrations are accelerating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THE NUMBERS</a:t>
            </a:r>
            <a:endParaRPr lang="en-US" sz="1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188720"/>
          <a:ext cx="52120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897880" y="1188720"/>
            <a:ext cx="2788920" cy="30175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126480" y="132588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+120%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6126480" y="2057400"/>
            <a:ext cx="2331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growth in Q1 2026 versus Q1 2025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126480" y="2615184"/>
            <a:ext cx="2331720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00" dirty="0">
                <a:solidFill>
                  <a:schemeClr val="accent3"/>
                </a:solidFill>
              </a:rPr>
              <a:t>2025: 2,220 wills (+22%). Probate applications to enforce wills: 41 in 2025 (+37%), and 27 orders in H1 2025 alone.</a:t>
            </a:r>
            <a:endParaRPr lang="en-US" sz="1000" dirty="0"/>
          </a:p>
          <a:p>
            <a:pPr algn="l" indent="0" marL="0">
              <a:buNone/>
            </a:pPr>
            <a:r>
              <a:rPr lang="en-US" altLang="en-US" sz="1000" dirty="0">
                <a:solidFill>
                  <a:schemeClr val="accent3"/>
                </a:solidFill>
              </a:rPr>
              <a:t>* Derived from announced growth rates.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1879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800" i="1" dirty="0">
                <a:solidFill>
                  <a:schemeClr val="accent3"/>
                </a:solidFill>
              </a:rPr>
              <a:t>DIFC Courts press releases 2017–2026 and statistics portal</a:t>
            </a:r>
            <a:endParaRPr lang="en-US" sz="800" dirty="0"/>
          </a:p>
        </p:txBody>
      </p:sp>
      <p:sp>
        <p:nvSpPr>
          <p:cNvPr id="10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Gulf family businesses in numbers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THE NUMBERS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60%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of GCC GDP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00" dirty="0">
                <a:solidFill>
                  <a:schemeClr val="accent3"/>
                </a:solidFill>
              </a:rPr>
              <a:t>contributed by family businesses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2564892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47772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80%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2747772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of the workforce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00" dirty="0">
                <a:solidFill>
                  <a:schemeClr val="accent3"/>
                </a:solidFill>
              </a:rPr>
              <a:t>employed by family businesses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72584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55464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90%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4855464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of the private sector in the UAE and Saudi Arabia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00" dirty="0">
                <a:solidFill>
                  <a:schemeClr val="accent3"/>
                </a:solidFill>
              </a:rPr>
              <a:t>is family-owned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780276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963156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$1T</a:t>
            </a:r>
            <a:endParaRPr lang="en-US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6963156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in assets transferring between generations by 2030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00" dirty="0">
                <a:solidFill>
                  <a:schemeClr val="accent3"/>
                </a:solidFill>
              </a:rPr>
              <a:t>across the GCC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1879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800" i="1" dirty="0">
                <a:solidFill>
                  <a:schemeClr val="accent3"/>
                </a:solidFill>
              </a:rPr>
              <a:t>Gulf News, Feb 2023 (Jersey Finance); Khaleej Times, May 2026 (Georgetown McDonough, Dubai programme).</a:t>
            </a:r>
            <a:endParaRPr lang="en-US" sz="800" dirty="0"/>
          </a:p>
        </p:txBody>
      </p:sp>
      <p:sp>
        <p:nvSpPr>
          <p:cNvPr id="17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your client receives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THE SERVICE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88595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5" name="icon FaFileSignatur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389888"/>
            <a:ext cx="310896" cy="310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1828800"/>
            <a:ext cx="148361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400" b="1" dirty="0">
                <a:solidFill>
                  <a:schemeClr val="tx1"/>
                </a:solidFill>
              </a:rPr>
              <a:t>A valid, registered will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150" dirty="0">
                <a:solidFill>
                  <a:schemeClr val="accent3"/>
                </a:solidFill>
              </a:rPr>
              <a:t>Compatible with Dubai Courts, Abu Dhabi, DIFC or ADGM, as the case requires.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2571750" y="1188720"/>
            <a:ext cx="188595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8" name="icon FaHous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2918" y="1389888"/>
            <a:ext cx="310896" cy="3108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772918" y="1828800"/>
            <a:ext cx="148361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400" b="1" dirty="0">
                <a:solidFill>
                  <a:schemeClr val="tx1"/>
                </a:solidFill>
              </a:rPr>
              <a:t>Protected property and accounts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150" dirty="0">
                <a:solidFill>
                  <a:schemeClr val="accent3"/>
                </a:solidFill>
              </a:rPr>
              <a:t>Arrangements that prevent freezes and fix the succession path.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4686300" y="1188720"/>
            <a:ext cx="188595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Childre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7468" y="1389888"/>
            <a:ext cx="310896" cy="31089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887468" y="1828800"/>
            <a:ext cx="148361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400" b="1" dirty="0">
                <a:solidFill>
                  <a:schemeClr val="tx1"/>
                </a:solidFill>
              </a:rPr>
              <a:t>Protected family and children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150" dirty="0">
                <a:solidFill>
                  <a:schemeClr val="accent3"/>
                </a:solidFill>
              </a:rPr>
              <a:t>Appointed guardians and defined heirs inside and outside the UAE.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6800850" y="1188720"/>
            <a:ext cx="188595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4" name="icon FaSitemap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2018" y="1389888"/>
            <a:ext cx="310896" cy="31089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7002018" y="1828800"/>
            <a:ext cx="148361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400" b="1" dirty="0">
                <a:solidFill>
                  <a:schemeClr val="tx1"/>
                </a:solidFill>
              </a:rPr>
              <a:t>Corporate and asset structuring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150" dirty="0">
                <a:solidFill>
                  <a:schemeClr val="accent3"/>
                </a:solidFill>
              </a:rPr>
              <a:t>Holding, SPV or foundation according to the size of the investment.</a:t>
            </a:r>
            <a:endParaRPr lang="en-US" sz="1400" dirty="0"/>
          </a:p>
        </p:txBody>
      </p:sp>
      <p:sp>
        <p:nvSpPr>
          <p:cNvPr id="16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your company gains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VALUE FOR THE PARTNER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88595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344168"/>
            <a:ext cx="14836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1847088"/>
            <a:ext cx="1483614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400" b="1" dirty="0">
                <a:solidFill>
                  <a:schemeClr val="tx1"/>
                </a:solidFill>
              </a:rPr>
              <a:t>Client trust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150" dirty="0">
                <a:solidFill>
                  <a:schemeClr val="accent3"/>
                </a:solidFill>
              </a:rPr>
              <a:t>The client sees a broker who cares about protection, not only the sale.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571750" y="1188720"/>
            <a:ext cx="188595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72918" y="1344168"/>
            <a:ext cx="14836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2772918" y="1847088"/>
            <a:ext cx="1483614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400" b="1" dirty="0">
                <a:solidFill>
                  <a:schemeClr val="tx1"/>
                </a:solidFill>
              </a:rPr>
              <a:t>Higher closing rate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150" dirty="0">
                <a:solidFill>
                  <a:schemeClr val="accent3"/>
                </a:solidFill>
              </a:rPr>
              <a:t>Foreign investors relax when they know legal protection and inheritance solutions exist.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86300" y="1188720"/>
            <a:ext cx="188595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87468" y="1344168"/>
            <a:ext cx="14836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4887468" y="1847088"/>
            <a:ext cx="1483614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400" b="1" dirty="0">
                <a:solidFill>
                  <a:schemeClr val="tx1"/>
                </a:solidFill>
              </a:rPr>
              <a:t>An additional VIP service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150" dirty="0">
                <a:solidFill>
                  <a:schemeClr val="accent3"/>
                </a:solidFill>
              </a:rPr>
              <a:t>You position yourselves as a full investment advisor.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800850" y="1188720"/>
            <a:ext cx="188595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002018" y="1344168"/>
            <a:ext cx="14836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7002018" y="1847088"/>
            <a:ext cx="1483614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400" b="1" dirty="0">
                <a:solidFill>
                  <a:schemeClr val="tx1"/>
                </a:solidFill>
              </a:rPr>
              <a:t>Extra income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150" dirty="0">
                <a:solidFill>
                  <a:schemeClr val="accent3"/>
                </a:solidFill>
              </a:rPr>
              <a:t>A clear, organised referral structure that turns the service into recurring income.</a:t>
            </a:r>
            <a:endParaRPr lang="en-US" sz="1400" dirty="0"/>
          </a:p>
        </p:txBody>
      </p:sp>
      <p:sp>
        <p:nvSpPr>
          <p:cNvPr id="16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process is very simple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EASY PROCESS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731520" y="1600200"/>
            <a:ext cx="7680960" cy="0"/>
          </a:xfrm>
          <a:prstGeom prst="line">
            <a:avLst/>
          </a:prstGeom>
          <a:noFill/>
          <a:ln w="9525">
            <a:solidFill>
              <a:srgbClr val="D9B38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057400"/>
            <a:ext cx="1933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You introduce the service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606040"/>
            <a:ext cx="193395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One sentence at the right moment, plus a standard introduction message.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555748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555748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555748" y="2057400"/>
            <a:ext cx="1933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We handle the whole legal side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555748" y="2606040"/>
            <a:ext cx="193395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Consultation, risk assessment, drafting, translation, notarisation, registration.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654296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654296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654296" y="2057400"/>
            <a:ext cx="1933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Our team manages the client end to end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654296" y="2606040"/>
            <a:ext cx="193395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First contact within one business day, with regular updates to you and the client.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752844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752844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752844" y="2057400"/>
            <a:ext cx="1933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You stay informed with zero legal liability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752844" y="2606040"/>
            <a:ext cx="193395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A monthly report, and commission settled under the agreement.</a:t>
            </a:r>
            <a:endParaRPr lang="en-US" sz="1050" dirty="0"/>
          </a:p>
        </p:txBody>
      </p:sp>
      <p:sp>
        <p:nvSpPr>
          <p:cNvPr id="21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role and ours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DIVISION OF ROLES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000500" cy="548640"/>
          </a:xfrm>
          <a:prstGeom prst="rect">
            <a:avLst/>
          </a:prstGeom>
          <a:solidFill>
            <a:srgbClr val="0E2238"/>
          </a:solidFill>
          <a:ln w="12700">
            <a:solidFill>
              <a:srgbClr val="0E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188720"/>
            <a:ext cx="37261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chemeClr val="accent2"/>
                </a:solidFill>
              </a:rPr>
              <a:t>The brokerage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737360"/>
            <a:ext cx="4000500" cy="26974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874520"/>
            <a:ext cx="37261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Introduces the service and refers the client</a:t>
            </a:r>
            <a:endParaRPr lang="en-US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Presents it as a value-add within its offer</a:t>
            </a:r>
            <a:endParaRPr lang="en-US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Gives no legal advice and guarantees no outcomes</a:t>
            </a:r>
            <a:endParaRPr lang="en-US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Receives the referral fee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86300" y="1188720"/>
            <a:ext cx="4000500" cy="548640"/>
          </a:xfrm>
          <a:prstGeom prst="rect">
            <a:avLst/>
          </a:prstGeom>
          <a:solidFill>
            <a:srgbClr val="B5723B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23460" y="1188720"/>
            <a:ext cx="37261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Rashid Alkaitoob Advocates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686300" y="1737360"/>
            <a:ext cx="4000500" cy="26974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23460" y="1874520"/>
            <a:ext cx="37261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Legal consultation and will drafting</a:t>
            </a:r>
            <a:endParaRPr lang="en-US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Registration and follow-up with the authorities</a:t>
            </a:r>
            <a:endParaRPr lang="en-US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Shields the broker from any legal liability</a:t>
            </a:r>
            <a:endParaRPr lang="en-US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Concierge-level service in four languages</a:t>
            </a:r>
            <a:endParaRPr lang="en-US" sz="1100" dirty="0"/>
          </a:p>
        </p:txBody>
      </p:sp>
      <p:sp>
        <p:nvSpPr>
          <p:cNvPr id="12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get you started immediately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WHAT WE PROVIDE YOUR TEAM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5" name="icon FaChalkboardUser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7280" y="1170432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A free seminar for your sales team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Titled “How to Protect Foreign Investors in the UAE”.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201168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8" name="icon FaComments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03120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97280" y="1993392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A free first consultation for your clients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To explain the options suited to each client.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57200" y="283464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FolderOpe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926080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0" y="2816352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Ready marketing materials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Brochure, WhatsApp text, FAQ and a presentation.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457200" y="365760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4" name="icon FaCrow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749040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97280" y="3639312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Concierge service for your top clients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Meetings at the client's office or home, VIP handling, fast-track registration.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5943600" y="1188720"/>
            <a:ext cx="2743200" cy="3246120"/>
          </a:xfrm>
          <a:prstGeom prst="rect">
            <a:avLst/>
          </a:prstGeom>
          <a:solidFill>
            <a:srgbClr val="0E2238"/>
          </a:solidFill>
          <a:ln w="12700">
            <a:solidFill>
              <a:srgbClr val="0E2238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6053328" y="1298448"/>
            <a:ext cx="2523744" cy="3026664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263640" y="15087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Best timing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6263640" y="2194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150" dirty="0">
                <a:solidFill>
                  <a:schemeClr val="bg2"/>
                </a:solidFill>
              </a:rPr>
              <a:t>After booking, during the SPA signing, after handover, or when discussing long-term investment.</a:t>
            </a:r>
            <a:endParaRPr lang="en-US" sz="1150" dirty="0"/>
          </a:p>
        </p:txBody>
      </p:sp>
      <p:sp>
        <p:nvSpPr>
          <p:cNvPr id="20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agreement in brief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LEGAL STRUCTURE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5" name="icon FaArrowRightArrowLeft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7280" y="1170432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Client referral mechanism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A standard introduction and contact from us within one business day.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1847088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8" name="icon FaPercent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38528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97280" y="1828800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Commission rate and payment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A fixed percentage or amount per client, settled monthly.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57200" y="2505456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Lock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59689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0" y="2487168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Confidentiality and data protection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An NDA and full protection of your clients' data.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457200" y="3163824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4" name="icon FaUserShield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255264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97280" y="3145536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No legal liability on you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You give no legal advice; we carry the full professional responsibility.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457200" y="3822192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7" name="icon FaBa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913632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097280" y="3803904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Non-circumvention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Your client relationships are protected throughout the partnership.</a:t>
            </a:r>
            <a:endParaRPr lang="en-US" sz="1300" dirty="0"/>
          </a:p>
        </p:txBody>
      </p:sp>
      <p:sp>
        <p:nvSpPr>
          <p:cNvPr id="19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00" cy="4023360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640080"/>
            <a:ext cx="914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72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1463040"/>
            <a:ext cx="7315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2200" i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do not sell a “will”. We help you protect your clients, raise the value of your services, and increase investor confidence in you.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35661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200" dirty="0">
                <a:solidFill>
                  <a:schemeClr val="accent2"/>
                </a:solidFill>
              </a:rPr>
              <a:t>Rashid Alkaitoob Advocates &amp; Legal Consultants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00" cy="4229100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68680" y="777240"/>
            <a:ext cx="7406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2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155448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300" dirty="0">
                <a:solidFill>
                  <a:schemeClr val="accent2"/>
                </a:solidFill>
              </a:rPr>
              <a:t>A short meeting to sign the cooperation agreement and schedule your sales team seminar</a:t>
            </a:r>
            <a:endParaRPr lang="en-US" sz="1300" dirty="0"/>
          </a:p>
        </p:txBody>
      </p:sp>
      <p:pic>
        <p:nvPicPr>
          <p:cNvPr id="5" name="icon FaLocationDot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28600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22402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200" dirty="0">
                <a:solidFill>
                  <a:schemeClr val="bg2"/>
                </a:solidFill>
              </a:rPr>
              <a:t>Sheikh Zayed Road, Saeed Tower 2, Office 501, Dubai, UAE</a:t>
            </a:r>
            <a:endParaRPr lang="en-US" sz="1200" dirty="0"/>
          </a:p>
        </p:txBody>
      </p:sp>
      <p:pic>
        <p:nvPicPr>
          <p:cNvPr id="7" name="icon FaPh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788920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274320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200" dirty="0">
                <a:solidFill>
                  <a:schemeClr val="bg2"/>
                </a:solidFill>
              </a:rPr>
              <a:t>+971 4 359 5552  |  Mobile &amp; WhatsApp: +971 52 107 4972</a:t>
            </a:r>
            <a:endParaRPr lang="en-US" sz="1200" dirty="0"/>
          </a:p>
        </p:txBody>
      </p:sp>
      <p:pic>
        <p:nvPicPr>
          <p:cNvPr id="9" name="icon FaEnvelop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291840"/>
            <a:ext cx="274320" cy="27432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325880" y="324612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200" dirty="0">
                <a:solidFill>
                  <a:schemeClr val="bg2"/>
                </a:solidFill>
              </a:rPr>
              <a:t>ward.shueibi@rk-advocates.com  |  rk-advocates.com</a:t>
            </a:r>
            <a:endParaRPr lang="en-US" sz="1200" dirty="0"/>
          </a:p>
        </p:txBody>
      </p:sp>
      <p:pic>
        <p:nvPicPr>
          <p:cNvPr id="11" name="icon FaClock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794760"/>
            <a:ext cx="274320" cy="27432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1325880" y="37490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200" dirty="0">
                <a:solidFill>
                  <a:schemeClr val="bg2"/>
                </a:solidFill>
              </a:rPr>
              <a:t>Monday – Friday, 8:30 – 17:30  |  Arabic · English · Chinese · Russian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dnight Copper">
  <a:themeElements>
    <a:clrScheme name="Midnight Copper">
      <a:dk1>
        <a:srgbClr val="0E2238"/>
      </a:dk1>
      <a:lt1>
        <a:srgbClr val="FFFFFF"/>
      </a:lt1>
      <a:dk2>
        <a:srgbClr val="1F3A52"/>
      </a:dk2>
      <a:lt2>
        <a:srgbClr val="F4F1EB"/>
      </a:lt2>
      <a:accent1>
        <a:srgbClr val="B5723B"/>
      </a:accent1>
      <a:accent2>
        <a:srgbClr val="D9B38C"/>
      </a:accent2>
      <a:accent3>
        <a:srgbClr val="6E7B88"/>
      </a:accent3>
      <a:accent4>
        <a:srgbClr val="8C5527"/>
      </a:accent4>
      <a:accent5>
        <a:srgbClr val="E6E1D8"/>
      </a:accent5>
      <a:accent6>
        <a:srgbClr val="5B7A8C"/>
      </a:accent6>
      <a:hlink>
        <a:srgbClr val="B5723B"/>
      </a:hlink>
      <a:folHlink>
        <a:srgbClr val="8C5527"/>
      </a:folHlink>
    </a:clrScheme>
    <a:fontScheme name="Midnight Copper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Rashid Alkaitoob Advocates &amp; Legal Consultants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Legal Protection Partnership for Investors</dc:title>
  <dc:subject>PptxGenJS Presentation</dc:subject>
  <dc:creator>Rashid Alkaitoob Advocates &amp; Legal Consultants</dc:creator>
  <cp:lastModifiedBy>Rashid Alkaitoob Advocates &amp; Legal Consultants</cp:lastModifiedBy>
  <cp:revision>1</cp:revision>
  <dcterms:created xsi:type="dcterms:W3CDTF">2026-10-27T14:33:25Z</dcterms:created>
  <dcterms:modified xsi:type="dcterms:W3CDTF">2026-10-27T14:33:25Z</dcterms:modified>
</cp:coreProperties>
</file>