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he offer" id="{b0e53544-2359-a00b-0fcb-620f94806b0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4626864"/>
            <a:ext cx="384048" cy="384048"/>
          </a:xfrm>
          <a:prstGeom prst="rect">
            <a:avLst/>
          </a:prstGeom>
          <a:solidFill>
            <a:srgbClr val="0B0B0B"/>
          </a:solidFill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46268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8C39A"/>
                </a:solidFill>
              </a:rPr>
              <a:t>Rashid Alkaitoob Advocates &amp; Legal Consultants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4626864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46268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Rashid Alkaitoob Advocates &amp; Legal Consultants</a:t>
            </a:r>
            <a:endParaRPr lang="en-US" sz="9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B0B0B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" y="868680"/>
            <a:ext cx="822960" cy="822960"/>
          </a:xfrm>
          <a:prstGeom prst="rect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868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874520" y="86868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accent2"/>
                </a:solidFill>
              </a:rPr>
              <a:t>Rashid Alkaitoob Advocates &amp; Legal Consultants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Legal Protection Partnership for Investors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chemeClr val="accent2"/>
                </a:solidFill>
              </a:rPr>
              <a:t>An executive brief for owners of real estate brokerages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Rashid Alkaitoob Advocates &amp; Legal Consultants · Dubai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Why we are meeting today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OPENING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0" cy="32461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pic>
        <p:nvPicPr>
          <p:cNvPr id="5" name="icon FaShieldHalve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087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1031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not here to sell a traditional legal service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01752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We are building with you an integrated protection service for the property investor, one that becomes part of the value you deliver.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188720"/>
            <a:ext cx="46634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buSzPct val="100000"/>
              <a:buChar char="•"/>
            </a:pPr>
            <a:r>
              <a:rPr lang="en-US" altLang="en-US" sz="1300" b="1" dirty="0">
                <a:solidFill>
                  <a:schemeClr val="tx1"/>
                </a:solidFill>
              </a:rPr>
              <a:t>The problem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Most foreign investors buy property worth millions of dirhams with no will and no legal structure.</a:t>
            </a:r>
            <a:endParaRPr lang="en-US" sz="1300" dirty="0"/>
          </a:p>
          <a:p>
            <a:pPr algn="l" marL="177800" indent="-177800">
              <a:spcBef>
                <a:spcPts val="600"/>
              </a:spcBef>
              <a:buSzPct val="100000"/>
              <a:buChar char="•"/>
            </a:pPr>
            <a:r>
              <a:rPr lang="en-US" altLang="en-US" sz="1300" b="1" dirty="0">
                <a:solidFill>
                  <a:schemeClr val="tx1"/>
                </a:solidFill>
              </a:rPr>
              <a:t>What can happen in an emergency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Frozen accounts, blocked ownership transfers, family disputes, and problems for children and heirs.</a:t>
            </a:r>
            <a:endParaRPr lang="en-US" sz="1300" dirty="0"/>
          </a:p>
          <a:p>
            <a:pPr algn="l" marL="177800" indent="-177800">
              <a:spcBef>
                <a:spcPts val="600"/>
              </a:spcBef>
              <a:buSzPct val="100000"/>
              <a:buChar char="•"/>
            </a:pPr>
            <a:r>
              <a:rPr lang="en-US" altLang="en-US" sz="1300" b="1" dirty="0">
                <a:solidFill>
                  <a:schemeClr val="tx1"/>
                </a:solidFill>
              </a:rPr>
              <a:t>The solution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 specialist legal partner handles the entire legal side while you keep the client relationship.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firm at a glance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885950" cy="292608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2014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300" b="1" dirty="0">
                <a:solidFill>
                  <a:schemeClr val="bg1"/>
                </a:solidFill>
              </a:rPr>
              <a:t>Founded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2"/>
                </a:solidFill>
              </a:rPr>
              <a:t>Licensed law firm in Dubai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71750" y="1371600"/>
            <a:ext cx="1885950" cy="292608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5463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10+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275463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300" b="1" dirty="0">
                <a:solidFill>
                  <a:schemeClr val="bg1"/>
                </a:solidFill>
              </a:rPr>
              <a:t>Practice areas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2"/>
                </a:solidFill>
              </a:rPr>
              <a:t>Litigation, advisory and contracts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86300" y="1371600"/>
            <a:ext cx="1885950" cy="292608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6918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486918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300" b="1" dirty="0">
                <a:solidFill>
                  <a:schemeClr val="bg1"/>
                </a:solidFill>
              </a:rPr>
              <a:t>Working languages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2"/>
                </a:solidFill>
              </a:rPr>
              <a:t>Arabic · English · Chinese · Russian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00850" y="1371600"/>
            <a:ext cx="1885950" cy="292608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8373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GCC &amp; Asia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8373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300" b="1" dirty="0">
                <a:solidFill>
                  <a:schemeClr val="bg1"/>
                </a:solidFill>
              </a:rPr>
              <a:t>Regional and international presence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2"/>
                </a:solidFill>
              </a:rPr>
              <a:t>Dedicated China desk for investors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What your client receives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SERVICE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88595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FileSignatu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A valid, registered will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Compatible with Dubai Courts, Abu Dhabi, DIFC or ADGM, as the case requires.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571750" y="1188720"/>
            <a:ext cx="188595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Hou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91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77291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Protected property and accounts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Arrangements that prevent freezes and fix the succession path.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686300" y="1188720"/>
            <a:ext cx="188595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Childr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46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88746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Protected family and children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Appointed guardians and defined heirs inside and outside the UAE.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800850" y="1188720"/>
            <a:ext cx="188595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Sitemap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2018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00201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Corporate and asset structuring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Holding, SPV or foundation according to the size of the investment.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What your company gains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VALUE FOR THE PARTNER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88595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344168"/>
            <a:ext cx="14836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847088"/>
            <a:ext cx="148361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Client trust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The client sees a broker who cares about protection, not only the sale.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71750" y="1188720"/>
            <a:ext cx="188595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72918" y="1344168"/>
            <a:ext cx="14836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772918" y="1847088"/>
            <a:ext cx="148361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Higher closing rate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Foreign investors relax when they know legal protection and inheritance solutions exist.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86300" y="1188720"/>
            <a:ext cx="188595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87468" y="1344168"/>
            <a:ext cx="14836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887468" y="1847088"/>
            <a:ext cx="148361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An additional VIP service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You position yourselves as a full investment advisor.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00850" y="1188720"/>
            <a:ext cx="188595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02018" y="1344168"/>
            <a:ext cx="14836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7002018" y="1847088"/>
            <a:ext cx="148361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Extra income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A clear, organised referral structure that turns the service into recurring income.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The process is very simple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EASY PROCESS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8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You introduce the service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One sentence at the right moment, plus a standard introduction message.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55748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5574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55748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We handle the whole legal side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555748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Consultation, risk assessment, drafting, translation, notarisation, registration.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54296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5429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54296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Our team manages the client end to end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54296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First contact within one business day, with regular updates to you and the client.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752844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5284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752844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You stay informed with zero legal liability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752844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A monthly report, and commission settled under the agreement.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Your role and ours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DIVISION OF ROLES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accent2"/>
                </a:solidFill>
              </a:rPr>
              <a:t>The brokerage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Introduces the service and refers the client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Presents it as a value-add within its offer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Gives no legal advice and guarantees no outcomes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Receives the referral fee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B08D57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Rashid Alkaitoob Advocates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Legal consultation and will drafting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Registration and follow-up with the authorities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Shields the broker from any legal liability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Concierge-level service in four languages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We get you started immediately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WHAT WE PROVIDE YOUR TEAM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ChalkboardUse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 free seminar for your sales team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Titled “How to Protect Foreign Investors in the UAE”.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Comment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99339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 free first consultation for your clients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To explain the options suited to each client.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FolderOp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2608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81635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Ready marketing materials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Brochure, WhatsApp text, FAQ and a presentation.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65760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Crow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490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63931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Concierge service for your top clients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Meetings at the client's office or home, VIP handling, fast-track registration.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5943600" y="1188720"/>
            <a:ext cx="2743200" cy="32461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053328" y="1298448"/>
            <a:ext cx="2523744" cy="3026664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2636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 timing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2636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After booking, during the SPA signing, after handover, or when discussing long-term investment.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The agreement in brief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LEGAL STRUCTURE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ArrowRightArrowLef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Client referral mechanism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 standard introduction and contact from us within one business day.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Percen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Commission rate and payment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 fixed percentage or amount per client, settled monthly.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Lo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Confidentiality and data protection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An NDA and full protection of your clients' data.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UserShiel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No legal liability on you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You give no legal advice; we carry the full professional responsibility.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Ba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Non-circumvention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Your client relationships are protected throughout the partnership.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do not sell a “will”. We help you protect your clients, raise the value of your services, and increase investor confidence in you.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accent2"/>
                </a:solidFill>
              </a:rPr>
              <a:t>Rashid Alkaitoob Advocates &amp; Legal Consultants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chemeClr val="accent2"/>
                </a:solidFill>
              </a:rPr>
              <a:t>A short meeting to sign the cooperation agreement and schedule your sales team seminar</a:t>
            </a:r>
            <a:endParaRPr lang="en-US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Sheikh Zayed Road, Saeed Tower 2, Office 501, Dubai, UAE</a:t>
            </a:r>
            <a:endParaRPr lang="en-US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+971 4 359 5552  |  Mobile &amp; WhatsApp: +971 52 107 4972</a:t>
            </a:r>
            <a:endParaRPr lang="en-US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en-US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3258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Monday – Friday, 8:30 – 17:30  |  Arabic · English · Chinese · Russian</a:t>
            </a:r>
            <a:endParaRPr lang="en-US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868680" y="420624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1"/>
                </a:solidFill>
              </a:rPr>
              <a:t>Rashid Alkaitoob Advocates &amp; Legal Consultants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K Advocates">
  <a:themeElements>
    <a:clrScheme name="RK Advocates">
      <a:dk1>
        <a:srgbClr val="0B0B0B"/>
      </a:dk1>
      <a:lt1>
        <a:srgbClr val="FFFFFF"/>
      </a:lt1>
      <a:dk2>
        <a:srgbClr val="2A2D33"/>
      </a:dk2>
      <a:lt2>
        <a:srgbClr val="F4F1EA"/>
      </a:lt2>
      <a:accent1>
        <a:srgbClr val="B08D57"/>
      </a:accent1>
      <a:accent2>
        <a:srgbClr val="D8C39A"/>
      </a:accent2>
      <a:accent3>
        <a:srgbClr val="6B6F76"/>
      </a:accent3>
      <a:accent4>
        <a:srgbClr val="8A6D3B"/>
      </a:accent4>
      <a:accent5>
        <a:srgbClr val="E9E4DA"/>
      </a:accent5>
      <a:accent6>
        <a:srgbClr val="15171B"/>
      </a:accent6>
      <a:hlink>
        <a:srgbClr val="B08D57"/>
      </a:hlink>
      <a:folHlink>
        <a:srgbClr val="8A6D3B"/>
      </a:folHlink>
    </a:clrScheme>
    <a:fontScheme name="RK Advocate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Legal Protection Partnership for Investors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2026-10-26T11:14:59Z</dcterms:created>
  <dcterms:modified xsi:type="dcterms:W3CDTF">2026-10-26T11:14:59Z</dcterms:modified>
</cp:coreProperties>
</file>