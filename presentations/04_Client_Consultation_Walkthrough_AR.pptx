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الترحيب" id="{894f5c6b-41d7-e493-0d2d-73fe4c812cfb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94192" y="4626864"/>
            <a:ext cx="384048" cy="384048"/>
          </a:xfrm>
          <a:prstGeom prst="rect">
            <a:avLst/>
          </a:prstGeom>
          <a:solidFill>
            <a:srgbClr val="0B0B0B"/>
          </a:solidFill>
          <a:ln w="9525">
            <a:solidFill>
              <a:srgbClr val="B08D5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394192" y="4626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8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RK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200400" y="4626864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8C39A"/>
                </a:solidFill>
              </a:rPr>
              <a:t>راشد الكيتوب للمحاماة والاستشارات القانونية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8C39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94192" y="4626864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B08D5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394192" y="4626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8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RK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200400" y="4626864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راشد الكيتوب للمحاماة والاستشارات القانونية</a:t>
            </a:r>
            <a:endParaRPr lang="en-US" sz="900" dirty="0"/>
          </a:p>
        </p:txBody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2600" b="1" dirty="0">
                <a:solidFill>
                  <a:srgbClr val="0B0B0B"/>
                </a:solidFill>
              </a:defRPr>
            </a:lvl1pPr>
          </a:lstStyle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_DARK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8C39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229100"/>
          </a:xfrm>
          <a:prstGeom prst="rect">
            <a:avLst/>
          </a:prstGeom>
          <a:ln w="9525">
            <a:solidFill>
              <a:srgbClr val="B08D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52360" y="868680"/>
            <a:ext cx="822960" cy="822960"/>
          </a:xfrm>
          <a:prstGeom prst="rect">
            <a:avLst/>
          </a:prstGeom>
          <a:solidFill>
            <a:srgbClr val="0B0B0B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52360" y="8686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RK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86868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dirty="0">
                <a:solidFill>
                  <a:schemeClr val="accent2"/>
                </a:solidFill>
              </a:rPr>
              <a:t>راشد الكيتوب للمحاماة والاستشارات القانونية</a:t>
            </a:r>
            <a:endParaRPr lang="ar-AE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1965960"/>
            <a:ext cx="7406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حماية أصولك وعائلتك في الإمارات</a:t>
            </a:r>
            <a:endParaRPr lang="ar-AE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383280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500" dirty="0">
                <a:solidFill>
                  <a:schemeClr val="accent2"/>
                </a:solidFill>
              </a:rPr>
              <a:t>جلسة تعريفية بخيارات التخطيط القانوني للمستثمرين ومالكي العقارات</a:t>
            </a:r>
            <a:endParaRPr lang="ar-AE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02336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راشد الكيتوب للمحاماة والاستشارات القانونية · دبي</a:t>
            </a:r>
            <a:endParaRPr lang="ar-AE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8C39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أهلاً بك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شكراً لوقتك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5394960" y="1188720"/>
            <a:ext cx="3291840" cy="32461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pic>
        <p:nvPicPr>
          <p:cNvPr id="5" name="icon FaHandshak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50876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15000" y="21031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يسعدنا أن نتعرف عليك عبر شريكنا العقاري</a:t>
            </a:r>
            <a:endParaRPr lang="ar-AE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5715000" y="301752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150" dirty="0">
                <a:solidFill>
                  <a:schemeClr val="bg2"/>
                </a:solidFill>
              </a:rPr>
              <a:t>فريقنا متخصص في الوصايا والتخطيط للتركات وحماية الأصول للمستثمرين الأجانب ومالكي العقارات في الإمارات.</a:t>
            </a:r>
            <a:endParaRPr lang="ar-AE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188720"/>
            <a:ext cx="46634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77800" indent="-177800">
              <a:buSzPct val="100000"/>
              <a:buChar char="•"/>
            </a:pPr>
            <a:r>
              <a:rPr lang="ar-AE" altLang="en-US" sz="1300" b="1" dirty="0">
                <a:solidFill>
                  <a:schemeClr val="tx1"/>
                </a:solidFill>
              </a:rPr>
              <a:t>ما ستخرج به من هذه الجلسة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فهم واضح لما يحدث لأصولك في الإمارات، والخيارات المتاحة لك، والخيار الأنسب لحالتك.</a:t>
            </a:r>
            <a:endParaRPr lang="ar-AE" sz="1300" dirty="0"/>
          </a:p>
          <a:p>
            <a:pPr algn="r" marL="177800" indent="-177800">
              <a:spcBef>
                <a:spcPts val="600"/>
              </a:spcBef>
              <a:buSzPct val="100000"/>
              <a:buChar char="•"/>
            </a:pPr>
            <a:r>
              <a:rPr lang="ar-AE" altLang="en-US" sz="1300" b="1" dirty="0">
                <a:solidFill>
                  <a:schemeClr val="tx1"/>
                </a:solidFill>
              </a:rPr>
              <a:t>لا التزام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هذه الاستشارة الأولى مجانية. تستلم بعدها عرضاً مكتوباً واحداً يشمل كل التكاليف.</a:t>
            </a:r>
            <a:endParaRPr lang="ar-AE" sz="1300" dirty="0"/>
          </a:p>
          <a:p>
            <a:pPr algn="r" marL="177800" indent="-177800">
              <a:spcBef>
                <a:spcPts val="600"/>
              </a:spcBef>
              <a:buSzPct val="100000"/>
              <a:buChar char="•"/>
            </a:pPr>
            <a:r>
              <a:rPr lang="ar-AE" altLang="en-US" sz="1300" b="1" dirty="0">
                <a:solidFill>
                  <a:schemeClr val="tx1"/>
                </a:solidFill>
              </a:rPr>
              <a:t>بلغتك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العربية، الإنجليزية، الصينية، الروسية.</a:t>
            </a:r>
            <a:endParaRPr lang="ar-AE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من نحن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راشد الكيتوب للمحاماة والاستشارات القانونية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6096000" y="1188720"/>
            <a:ext cx="2590800" cy="150876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5" name="icon FaBuildingColumn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36" y="1389888"/>
            <a:ext cx="310896" cy="310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297168" y="182880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مكتب مرخّص منذ 2014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مكتب محاماة مرخّص في دولة الإمارات، مقره شارع الشيخ زايد في دبي، يمثّل الأفراد والشركات أمام محاكم الدولة بجميع درجاتها.</a:t>
            </a:r>
            <a:endParaRPr lang="ar-AE" sz="1250" dirty="0"/>
          </a:p>
        </p:txBody>
      </p:sp>
      <p:sp>
        <p:nvSpPr>
          <p:cNvPr id="7" name="Shape 4"/>
          <p:cNvSpPr/>
          <p:nvPr/>
        </p:nvSpPr>
        <p:spPr>
          <a:xfrm>
            <a:off x="3276600" y="1188720"/>
            <a:ext cx="2590800" cy="150876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8" name="icon FaScaleBalanced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5336" y="1389888"/>
            <a:ext cx="310896" cy="3108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477768" y="182880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أكثر من 10 مجالات قانونية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العقاري، التجاري والشركات، التحكيم، الأحوال الشخصية والتركات، الامتثال ومكافحة غسل الأموال، الملكية الفكرية وغيرها.</a:t>
            </a:r>
            <a:endParaRPr lang="ar-AE" sz="1250" dirty="0"/>
          </a:p>
        </p:txBody>
      </p:sp>
      <p:sp>
        <p:nvSpPr>
          <p:cNvPr id="10" name="Shape 6"/>
          <p:cNvSpPr/>
          <p:nvPr/>
        </p:nvSpPr>
        <p:spPr>
          <a:xfrm>
            <a:off x="457200" y="1188720"/>
            <a:ext cx="2590800" cy="150876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1" name="icon FaGlob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5936" y="1389888"/>
            <a:ext cx="310896" cy="31089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58368" y="182880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حضور إقليمي ودولي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حضور راسخ في دول مجلس التعاون وآسيا، مع مكتب صيني متخصص للمستثمرين.</a:t>
            </a:r>
            <a:endParaRPr lang="ar-AE" sz="1250" dirty="0"/>
          </a:p>
        </p:txBody>
      </p:sp>
      <p:sp>
        <p:nvSpPr>
          <p:cNvPr id="13" name="Shape 8"/>
          <p:cNvSpPr/>
          <p:nvPr/>
        </p:nvSpPr>
        <p:spPr>
          <a:xfrm>
            <a:off x="6096000" y="2926080"/>
            <a:ext cx="2590800" cy="150876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4" name="icon FaLanguag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4736" y="3127248"/>
            <a:ext cx="310896" cy="31089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297168" y="356616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أربع لغات عمل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العربية والإنجليزية والصينية والروسية، ليتواصل الموكل مباشرة مع مستشاره القانوني.</a:t>
            </a:r>
            <a:endParaRPr lang="ar-AE" sz="1250" dirty="0"/>
          </a:p>
        </p:txBody>
      </p:sp>
      <p:sp>
        <p:nvSpPr>
          <p:cNvPr id="16" name="Shape 10"/>
          <p:cNvSpPr/>
          <p:nvPr/>
        </p:nvSpPr>
        <p:spPr>
          <a:xfrm>
            <a:off x="3276600" y="2926080"/>
            <a:ext cx="2590800" cy="150876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7" name="icon FaHandshak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55336" y="3127248"/>
            <a:ext cx="310896" cy="31089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3477768" y="356616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أولوية التسوية الودية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نسعى للتفاوض والوساطة قبل التقاضي حيثما أمكن، لتحقيق أفضل نتيجة بأقل كلفة ووقت.</a:t>
            </a:r>
            <a:endParaRPr lang="ar-AE" sz="1250" dirty="0"/>
          </a:p>
        </p:txBody>
      </p:sp>
      <p:sp>
        <p:nvSpPr>
          <p:cNvPr id="19" name="Shape 12"/>
          <p:cNvSpPr/>
          <p:nvPr/>
        </p:nvSpPr>
        <p:spPr>
          <a:xfrm>
            <a:off x="457200" y="2926080"/>
            <a:ext cx="2590800" cy="150876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20" name="icon FaUserShield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35936" y="3127248"/>
            <a:ext cx="310896" cy="310896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58368" y="356616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نهج يركّز على الموكل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تواصل واضح، تحديثات منتظمة، وحلول عملية تُصاغ وفق طبيعة كل مسألة.</a:t>
            </a:r>
            <a:endParaRPr lang="ar-AE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لماذا هذا الموضوع مهم لك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ما يحدث بدون تخطيط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8229600" y="1188720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5" name="icon FaLoc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566160" y="117043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قد تُجمّد الحسابات البنكية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حتى صدور قرار بتوزيع التركة، مما يوقف مصاريف العائلة اليومية.</a:t>
            </a:r>
            <a:endParaRPr lang="ar-AE" sz="1300" dirty="0"/>
          </a:p>
        </p:txBody>
      </p:sp>
      <p:sp>
        <p:nvSpPr>
          <p:cNvPr id="7" name="Shape 4"/>
          <p:cNvSpPr/>
          <p:nvPr/>
        </p:nvSpPr>
        <p:spPr>
          <a:xfrm>
            <a:off x="8229600" y="2011680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8" name="icon FaHouseLoc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10312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566160" y="199339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قد يتعطّل نقل ملكية العقار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الإجراءات تختلف باختلاف الجنسية والديانة والحالة العائلية.</a:t>
            </a:r>
            <a:endParaRPr lang="ar-AE" sz="1300" dirty="0"/>
          </a:p>
        </p:txBody>
      </p:sp>
      <p:sp>
        <p:nvSpPr>
          <p:cNvPr id="10" name="Shape 6"/>
          <p:cNvSpPr/>
          <p:nvPr/>
        </p:nvSpPr>
        <p:spPr>
          <a:xfrm>
            <a:off x="8229600" y="2834640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1" name="icon FaChildre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2926080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566160" y="281635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الأطفال والورثة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بدون وثيقة، لا وصي معيّن على القاصرين ولا مسار واضح لحصص الورثة داخل الدولة وخارجها.</a:t>
            </a:r>
            <a:endParaRPr lang="ar-AE" sz="1300" dirty="0"/>
          </a:p>
        </p:txBody>
      </p:sp>
      <p:sp>
        <p:nvSpPr>
          <p:cNvPr id="13" name="Shape 8"/>
          <p:cNvSpPr/>
          <p:nvPr/>
        </p:nvSpPr>
        <p:spPr>
          <a:xfrm>
            <a:off x="8229600" y="3657600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4" name="icon FaPeopleArrows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3749040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566160" y="363931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النزاعات العائلية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غياب الوضوح يفتح الباب للخلاف في أصعب الأوقات.</a:t>
            </a:r>
            <a:endParaRPr lang="ar-AE" sz="1300" dirty="0"/>
          </a:p>
        </p:txBody>
      </p:sp>
      <p:sp>
        <p:nvSpPr>
          <p:cNvPr id="16" name="Shape 10"/>
          <p:cNvSpPr/>
          <p:nvPr/>
        </p:nvSpPr>
        <p:spPr>
          <a:xfrm>
            <a:off x="457200" y="1188720"/>
            <a:ext cx="2743200" cy="32461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566928" y="1298448"/>
            <a:ext cx="2523744" cy="3026664"/>
          </a:xfrm>
          <a:prstGeom prst="rect">
            <a:avLst/>
          </a:prstGeom>
          <a:ln w="9525">
            <a:solidFill>
              <a:srgbClr val="B08D57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777240" y="15087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لهذا يرتّب المستثمرون أمورهم مسبقاً</a:t>
            </a:r>
            <a:endParaRPr lang="ar-AE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777240" y="2286000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150" dirty="0">
                <a:solidFill>
                  <a:schemeClr val="bg2"/>
                </a:solidFill>
              </a:rPr>
              <a:t>ترتيب بسيط اليوم يحمي استثمارك وعائلتك، ويجعل الإجراءات أسهل والملفات جاهزة.</a:t>
            </a:r>
            <a:endParaRPr lang="ar-AE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مع التخطيط وبدونه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المقارنة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4686300" y="1188720"/>
            <a:ext cx="4000500" cy="54864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8234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accent2"/>
                </a:solidFill>
              </a:rPr>
              <a:t>بدون وصية أو هيكلة</a:t>
            </a:r>
            <a:endParaRPr lang="ar-AE" sz="1300" dirty="0"/>
          </a:p>
        </p:txBody>
      </p:sp>
      <p:sp>
        <p:nvSpPr>
          <p:cNvPr id="6" name="Shape 4"/>
          <p:cNvSpPr/>
          <p:nvPr/>
        </p:nvSpPr>
        <p:spPr>
          <a:xfrm>
            <a:off x="4686300" y="1737360"/>
            <a:ext cx="4000500" cy="269748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234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إجراءات قانونية تختلف حسب الحالة والجنسية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احتمال تجميد الحسابات والعقارات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وقت أطول وتكاليف أعلى للورثة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لا وصي معيّن على الأطفال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احتمال نزاع بين الورثة</a:t>
            </a:r>
            <a:endParaRPr lang="ar-AE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4000500" cy="548640"/>
          </a:xfrm>
          <a:prstGeom prst="rect">
            <a:avLst/>
          </a:prstGeom>
          <a:solidFill>
            <a:srgbClr val="B08D57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مع وصية مسجلة وهيكلة مناسبة</a:t>
            </a:r>
            <a:endParaRPr lang="ar-AE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1737360"/>
            <a:ext cx="4000500" cy="269748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مسار واضح لانتقال الملكية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حماية الحسابات والعقارات والشركات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وصي معيّن وحصص محددة للأطفال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قانونك المفضّل أو الهيكلة التي تختارها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راحة بال لك ولعائلتك</a:t>
            </a:r>
            <a:endParaRPr lang="ar-AE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ما الذي يمكننا حمايته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نطاق الحماية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6096000" y="1188720"/>
            <a:ext cx="2590800" cy="150876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5" name="icon FaHous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36" y="1389888"/>
            <a:ext cx="310896" cy="310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297168" y="182880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العقارات في الإمارات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الوحدات السكنية والتجارية وعلى الخارطة.</a:t>
            </a:r>
            <a:endParaRPr lang="ar-AE" sz="1250" dirty="0"/>
          </a:p>
        </p:txBody>
      </p:sp>
      <p:sp>
        <p:nvSpPr>
          <p:cNvPr id="7" name="Shape 4"/>
          <p:cNvSpPr/>
          <p:nvPr/>
        </p:nvSpPr>
        <p:spPr>
          <a:xfrm>
            <a:off x="3276600" y="1188720"/>
            <a:ext cx="2590800" cy="150876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8" name="icon FaBriefcas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5336" y="1389888"/>
            <a:ext cx="310896" cy="3108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477768" y="182880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الشركات والحصص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ضمان استمرارية الأعمال وانتقال الحصص.</a:t>
            </a:r>
            <a:endParaRPr lang="ar-AE" sz="1250" dirty="0"/>
          </a:p>
        </p:txBody>
      </p:sp>
      <p:sp>
        <p:nvSpPr>
          <p:cNvPr id="10" name="Shape 6"/>
          <p:cNvSpPr/>
          <p:nvPr/>
        </p:nvSpPr>
        <p:spPr>
          <a:xfrm>
            <a:off x="457200" y="1188720"/>
            <a:ext cx="2590800" cy="150876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1" name="icon FaBuildingColumns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5936" y="1389888"/>
            <a:ext cx="310896" cy="31089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58368" y="182880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الحسابات البنكية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تحديد من يتسلمها وكيف.</a:t>
            </a:r>
            <a:endParaRPr lang="ar-AE" sz="1250" dirty="0"/>
          </a:p>
        </p:txBody>
      </p:sp>
      <p:sp>
        <p:nvSpPr>
          <p:cNvPr id="13" name="Shape 8"/>
          <p:cNvSpPr/>
          <p:nvPr/>
        </p:nvSpPr>
        <p:spPr>
          <a:xfrm>
            <a:off x="6096000" y="2926080"/>
            <a:ext cx="2590800" cy="150876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4" name="icon FaChildre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4736" y="3127248"/>
            <a:ext cx="310896" cy="31089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297168" y="356616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الأطفال والوصاية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تعيين وصي تثق به على القاصرين.</a:t>
            </a:r>
            <a:endParaRPr lang="ar-AE" sz="1250" dirty="0"/>
          </a:p>
        </p:txBody>
      </p:sp>
      <p:sp>
        <p:nvSpPr>
          <p:cNvPr id="16" name="Shape 10"/>
          <p:cNvSpPr/>
          <p:nvPr/>
        </p:nvSpPr>
        <p:spPr>
          <a:xfrm>
            <a:off x="3276600" y="2926080"/>
            <a:ext cx="2590800" cy="150876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7" name="icon FaGlob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55336" y="3127248"/>
            <a:ext cx="310896" cy="31089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3477768" y="356616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الورثة داخل الدولة وخارجها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تنسيق مع وصاياك في بلدك الأم إن وُجدت.</a:t>
            </a:r>
            <a:endParaRPr lang="ar-AE" sz="1250" dirty="0"/>
          </a:p>
        </p:txBody>
      </p:sp>
      <p:sp>
        <p:nvSpPr>
          <p:cNvPr id="19" name="Shape 12"/>
          <p:cNvSpPr/>
          <p:nvPr/>
        </p:nvSpPr>
        <p:spPr>
          <a:xfrm>
            <a:off x="457200" y="2926080"/>
            <a:ext cx="2590800" cy="150876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20" name="icon FaLayerGroup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35936" y="3127248"/>
            <a:ext cx="310896" cy="310896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58368" y="356616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الأصول في أكثر من دولة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هياكل قابضة أو مؤسسات أو صناديق.</a:t>
            </a:r>
            <a:endParaRPr lang="ar-AE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جهات تسجيل الوصايا في الإمارات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الإطار القانوني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8229600" y="1188720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5" name="icon FaLandmar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566160" y="1170432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محاكم دبي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تسجيل وصايا غير المسلمين لدى محاكم دبي، وفق قانون الأحوال الشخصية لغير المسلمين.</a:t>
            </a:r>
            <a:endParaRPr lang="ar-AE" sz="1300" dirty="0"/>
          </a:p>
        </p:txBody>
      </p:sp>
      <p:sp>
        <p:nvSpPr>
          <p:cNvPr id="7" name="Shape 4"/>
          <p:cNvSpPr/>
          <p:nvPr/>
        </p:nvSpPr>
        <p:spPr>
          <a:xfrm>
            <a:off x="8229600" y="1847088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8" name="icon FaLandmar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938528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566160" y="1828800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محاكم أبوظبي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تسجيل الوصايا لدى دائرة القضاء في أبوظبي لمن يفضّل هذا المسار.</a:t>
            </a:r>
            <a:endParaRPr lang="ar-AE" sz="1300" dirty="0"/>
          </a:p>
        </p:txBody>
      </p:sp>
      <p:sp>
        <p:nvSpPr>
          <p:cNvPr id="10" name="Shape 6"/>
          <p:cNvSpPr/>
          <p:nvPr/>
        </p:nvSpPr>
        <p:spPr>
          <a:xfrm>
            <a:off x="8229600" y="2505456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1" name="icon FaBuildingColumns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259689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566160" y="2487168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DIFC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سجل وصايا مركز دبي المالي العالمي لغير المسلمين، باللغة الإنجليزية، يغطي الأصول في الدولة.</a:t>
            </a:r>
            <a:endParaRPr lang="ar-AE" sz="1300" dirty="0"/>
          </a:p>
        </p:txBody>
      </p:sp>
      <p:sp>
        <p:nvSpPr>
          <p:cNvPr id="13" name="Shape 8"/>
          <p:cNvSpPr/>
          <p:nvPr/>
        </p:nvSpPr>
        <p:spPr>
          <a:xfrm>
            <a:off x="8229600" y="3163824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4" name="icon FaBuildingColumns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325526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566160" y="3145536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ADGM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سجل وصايا سوق أبوظبي العالمي لغير المسلمين، مسار بديل بالإنجليزية.</a:t>
            </a:r>
            <a:endParaRPr lang="ar-AE" sz="1300" dirty="0"/>
          </a:p>
        </p:txBody>
      </p:sp>
      <p:sp>
        <p:nvSpPr>
          <p:cNvPr id="16" name="Shape 10"/>
          <p:cNvSpPr/>
          <p:nvPr/>
        </p:nvSpPr>
        <p:spPr>
          <a:xfrm>
            <a:off x="8229600" y="3822192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7" name="icon FaScaleBalanced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0" y="391363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3566160" y="3803904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الشريعة الإسلامية أو القانون الأجنبي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نحدد القانون الواجب التطبيق بحسب جنسية الموكل وديانته ورغبته.</a:t>
            </a:r>
            <a:endParaRPr lang="ar-AE" sz="1300" dirty="0"/>
          </a:p>
        </p:txBody>
      </p:sp>
      <p:sp>
        <p:nvSpPr>
          <p:cNvPr id="19" name="Shape 12"/>
          <p:cNvSpPr/>
          <p:nvPr/>
        </p:nvSpPr>
        <p:spPr>
          <a:xfrm>
            <a:off x="457200" y="1188720"/>
            <a:ext cx="2743200" cy="32461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3"/>
          <p:cNvSpPr/>
          <p:nvPr/>
        </p:nvSpPr>
        <p:spPr>
          <a:xfrm>
            <a:off x="566928" y="1298448"/>
            <a:ext cx="2523744" cy="3026664"/>
          </a:xfrm>
          <a:prstGeom prst="rect">
            <a:avLst/>
          </a:prstGeom>
          <a:ln w="9525">
            <a:solidFill>
              <a:srgbClr val="B08D57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777240" y="15087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كل موكل حالة مستقلة</a:t>
            </a:r>
            <a:endParaRPr lang="ar-AE" sz="1600" dirty="0"/>
          </a:p>
        </p:txBody>
      </p:sp>
      <p:sp>
        <p:nvSpPr>
          <p:cNvPr id="22" name="Text 15"/>
          <p:cNvSpPr txBox="1"/>
          <p:nvPr/>
        </p:nvSpPr>
        <p:spPr>
          <a:xfrm>
            <a:off x="777240" y="2286000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150" dirty="0">
                <a:solidFill>
                  <a:schemeClr val="bg2"/>
                </a:solidFill>
              </a:rPr>
              <a:t>الجنسية، الديانة، الحالة العائلية، وموقع الأصول تحدد المسار الأنسب. لذلك نبدأ دائماً بجلسة اكتشاف لا بنوع الوصية.</a:t>
            </a:r>
            <a:endParaRPr lang="ar-AE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أنواع الخدمة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الخيارات</a:t>
            </a:r>
            <a:endParaRPr lang="ar-AE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3291840"/>
                <a:gridCol w="2103120"/>
              </a:tblGrid>
              <a:tr h="43891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8C39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لمن يناسب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8C39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ما يغطيه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8C39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النوع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A2D33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كل مستثمر أو مقيم يملك أصولاً في الإمارات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A2D33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أصولك في الدولة، الأوصياء، والمنفذون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وصية فردية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A2D33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الأزواج، خاصة مع وجود أطفال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A2D33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وصيتان متطابقتان للزوجين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وصية زوجية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A2D33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المستثمر العقاري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A2D33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العقارات داخل الإمارات فقط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وصية عقارية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A2D33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أصحاب الشركات والشركاء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A2D33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حصص الشركات واستمرارية الأعمال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وصية أعمال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A2D33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المحافظ الكبيرة والأصول متعددة الدول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A2D33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شركة قابضة أو SPV مرتبطة بخطة الإرث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هيكلة شركات / Holding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A2D33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العائلات وأصحاب الثروات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A2D33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حوكمة العائلة وحماية الثروة عبر الأجيال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مؤسسة أو صندوق ائتماني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251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950" i="1" dirty="0">
                <a:solidFill>
                  <a:schemeClr val="accent3"/>
                </a:solidFill>
              </a:rPr>
              <a:t>نحدد النوع والجهة الأنسب لك بعد أسئلة الاكتشاف في هذه الجلسة.</a:t>
            </a:r>
            <a:endParaRPr lang="ar-AE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كيف نعمل معك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خمس خطوات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731520" y="1600200"/>
            <a:ext cx="7680960" cy="0"/>
          </a:xfrm>
          <a:prstGeom prst="line">
            <a:avLst/>
          </a:prstGeom>
          <a:noFill/>
          <a:ln w="9525">
            <a:solidFill>
              <a:srgbClr val="D8C39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38160" y="1325880"/>
            <a:ext cx="548640" cy="548640"/>
          </a:xfrm>
          <a:prstGeom prst="ellipse">
            <a:avLst/>
          </a:prstGeom>
          <a:solidFill>
            <a:srgbClr val="0B0B0B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13816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172554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جلسة الاكتشاف</a:t>
            </a:r>
            <a:endParaRPr lang="ar-AE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72554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نتعرف على جنسيتك وحالتك العائلية وأصولك وعقاراتك وشركاتك وأطفالك وحساباتك.</a:t>
            </a:r>
            <a:endParaRPr lang="ar-AE" sz="1050" dirty="0"/>
          </a:p>
        </p:txBody>
      </p:sp>
      <p:sp>
        <p:nvSpPr>
          <p:cNvPr id="9" name="Shape 7"/>
          <p:cNvSpPr/>
          <p:nvPr/>
        </p:nvSpPr>
        <p:spPr>
          <a:xfrm>
            <a:off x="6459322" y="1325880"/>
            <a:ext cx="548640" cy="548640"/>
          </a:xfrm>
          <a:prstGeom prst="ellipse">
            <a:avLst/>
          </a:prstGeom>
          <a:solidFill>
            <a:srgbClr val="0B0B0B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59322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93715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تقييم المخاطر</a:t>
            </a:r>
            <a:endParaRPr lang="ar-AE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93715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نحدد ما تحتاجه فعلاً: وصية فقط، DIFC أو ADGM، هيكلة شركات، مؤسسة، أو شركة قابضة.</a:t>
            </a:r>
            <a:endParaRPr lang="ar-AE" sz="1050" dirty="0"/>
          </a:p>
        </p:txBody>
      </p:sp>
      <p:sp>
        <p:nvSpPr>
          <p:cNvPr id="13" name="Shape 11"/>
          <p:cNvSpPr/>
          <p:nvPr/>
        </p:nvSpPr>
        <p:spPr>
          <a:xfrm>
            <a:off x="4780483" y="1325880"/>
            <a:ext cx="548640" cy="548640"/>
          </a:xfrm>
          <a:prstGeom prst="ellipse">
            <a:avLst/>
          </a:prstGeom>
          <a:solidFill>
            <a:srgbClr val="0B0B0B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80483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814877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العرض</a:t>
            </a:r>
            <a:endParaRPr lang="ar-AE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814877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عرض مكتوب واحد: نطاق العمل، الأتعاب، الجدول الزمني، ورسوم التسجيل.</a:t>
            </a:r>
            <a:endParaRPr lang="ar-AE" sz="1050" dirty="0"/>
          </a:p>
        </p:txBody>
      </p:sp>
      <p:sp>
        <p:nvSpPr>
          <p:cNvPr id="17" name="Shape 15"/>
          <p:cNvSpPr/>
          <p:nvPr/>
        </p:nvSpPr>
        <p:spPr>
          <a:xfrm>
            <a:off x="3101645" y="1325880"/>
            <a:ext cx="548640" cy="548640"/>
          </a:xfrm>
          <a:prstGeom prst="ellipse">
            <a:avLst/>
          </a:prstGeom>
          <a:solidFill>
            <a:srgbClr val="0B0B0B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101645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2136038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الصياغة</a:t>
            </a:r>
            <a:endParaRPr lang="ar-AE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2136038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إعداد الوصية، الترجمة، الشهود، والتوثيق.</a:t>
            </a:r>
            <a:endParaRPr lang="ar-AE" sz="1050" dirty="0"/>
          </a:p>
        </p:txBody>
      </p:sp>
      <p:sp>
        <p:nvSpPr>
          <p:cNvPr id="21" name="Shape 19"/>
          <p:cNvSpPr/>
          <p:nvPr/>
        </p:nvSpPr>
        <p:spPr>
          <a:xfrm>
            <a:off x="1422806" y="1325880"/>
            <a:ext cx="548640" cy="548640"/>
          </a:xfrm>
          <a:prstGeom prst="ellipse">
            <a:avLst/>
          </a:prstGeom>
          <a:solidFill>
            <a:srgbClr val="0B0B0B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422806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التسجيل</a:t>
            </a:r>
            <a:endParaRPr lang="ar-AE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لدى الجهة المختارة، مع متابعة مباشرة وتسليمك نسختك المسجلة.</a:t>
            </a:r>
            <a:endParaRPr lang="ar-AE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ما نحتاجه منك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المستندات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8229600" y="1188720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5" name="icon FaPasspor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566160" y="1170432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إثبات الهوية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جواز السفر، الهوية الإماراتية أو الإقامة إن وُجدت.</a:t>
            </a:r>
            <a:endParaRPr lang="ar-AE" sz="1300" dirty="0"/>
          </a:p>
        </p:txBody>
      </p:sp>
      <p:sp>
        <p:nvSpPr>
          <p:cNvPr id="7" name="Shape 4"/>
          <p:cNvSpPr/>
          <p:nvPr/>
        </p:nvSpPr>
        <p:spPr>
          <a:xfrm>
            <a:off x="8229600" y="1847088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8" name="icon FaHous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938528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566160" y="1828800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العقارات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سندات الملكية أو عقود البيع للوحدات داخل الدولة.</a:t>
            </a:r>
            <a:endParaRPr lang="ar-AE" sz="1300" dirty="0"/>
          </a:p>
        </p:txBody>
      </p:sp>
      <p:sp>
        <p:nvSpPr>
          <p:cNvPr id="10" name="Shape 6"/>
          <p:cNvSpPr/>
          <p:nvPr/>
        </p:nvSpPr>
        <p:spPr>
          <a:xfrm>
            <a:off x="8229600" y="2505456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1" name="icon FaBriefcas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259689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566160" y="2487168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الشركات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الرخص التجارية وعقود التأسيس وبيان الحصص.</a:t>
            </a:r>
            <a:endParaRPr lang="ar-AE" sz="1300" dirty="0"/>
          </a:p>
        </p:txBody>
      </p:sp>
      <p:sp>
        <p:nvSpPr>
          <p:cNvPr id="13" name="Shape 8"/>
          <p:cNvSpPr/>
          <p:nvPr/>
        </p:nvSpPr>
        <p:spPr>
          <a:xfrm>
            <a:off x="8229600" y="3163824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4" name="icon FaBuildingColumns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325526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566160" y="3145536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الحسابات والأصول الأخرى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قائمة الحسابات والاستثمارات دون الحاجة لأرصدة دقيقة.</a:t>
            </a:r>
            <a:endParaRPr lang="ar-AE" sz="1300" dirty="0"/>
          </a:p>
        </p:txBody>
      </p:sp>
      <p:sp>
        <p:nvSpPr>
          <p:cNvPr id="16" name="Shape 10"/>
          <p:cNvSpPr/>
          <p:nvPr/>
        </p:nvSpPr>
        <p:spPr>
          <a:xfrm>
            <a:off x="8229600" y="3822192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7" name="icon FaUsers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0" y="391363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3566160" y="3803904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العائلة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بيانات الزوج/الزوجة والأطفال والورثة والأوصياء والمنفذين المقترحين.</a:t>
            </a:r>
            <a:endParaRPr lang="ar-AE" sz="1300" dirty="0"/>
          </a:p>
        </p:txBody>
      </p:sp>
      <p:sp>
        <p:nvSpPr>
          <p:cNvPr id="19" name="Shape 12"/>
          <p:cNvSpPr/>
          <p:nvPr/>
        </p:nvSpPr>
        <p:spPr>
          <a:xfrm>
            <a:off x="457200" y="1188720"/>
            <a:ext cx="2743200" cy="32461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3"/>
          <p:cNvSpPr/>
          <p:nvPr/>
        </p:nvSpPr>
        <p:spPr>
          <a:xfrm>
            <a:off x="566928" y="1298448"/>
            <a:ext cx="2523744" cy="3026664"/>
          </a:xfrm>
          <a:prstGeom prst="rect">
            <a:avLst/>
          </a:prstGeom>
          <a:ln w="9525">
            <a:solidFill>
              <a:srgbClr val="B08D57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777240" y="15087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نحن نتولى الباقي</a:t>
            </a:r>
            <a:endParaRPr lang="ar-AE" sz="1600" dirty="0"/>
          </a:p>
        </p:txBody>
      </p:sp>
      <p:sp>
        <p:nvSpPr>
          <p:cNvPr id="22" name="Text 15"/>
          <p:cNvSpPr txBox="1"/>
          <p:nvPr/>
        </p:nvSpPr>
        <p:spPr>
          <a:xfrm>
            <a:off x="777240" y="2286000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150" dirty="0">
                <a:solidFill>
                  <a:schemeClr val="bg2"/>
                </a:solidFill>
              </a:rPr>
              <a:t>الترجمة القانونية، تنسيق الشهود، التوثيق، حجز موعد التسجيل، والحضور معك.</a:t>
            </a:r>
            <a:endParaRPr lang="ar-AE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خدمة قانونية بمستوى Concierge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التجربة المميزة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7223760" y="1188720"/>
            <a:ext cx="1463040" cy="324612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5" name="icon FaHouseUser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36" y="1389888"/>
            <a:ext cx="310896" cy="310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424928" y="1828800"/>
            <a:ext cx="10607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400" b="1" dirty="0">
                <a:solidFill>
                  <a:schemeClr val="tx1"/>
                </a:solidFill>
              </a:rPr>
              <a:t>الاجتماع عندكم</a:t>
            </a:r>
            <a:endParaRPr lang="ar-AE" sz="14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150" dirty="0">
                <a:solidFill>
                  <a:schemeClr val="accent3"/>
                </a:solidFill>
              </a:rPr>
              <a:t>في مكتب الموكل أو منزله.</a:t>
            </a:r>
            <a:endParaRPr lang="ar-AE" sz="1400" dirty="0"/>
          </a:p>
        </p:txBody>
      </p:sp>
      <p:sp>
        <p:nvSpPr>
          <p:cNvPr id="7" name="Shape 4"/>
          <p:cNvSpPr/>
          <p:nvPr/>
        </p:nvSpPr>
        <p:spPr>
          <a:xfrm>
            <a:off x="5532120" y="1188720"/>
            <a:ext cx="1463040" cy="324612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8" name="icon FaCrow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3096" y="1389888"/>
            <a:ext cx="310896" cy="3108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733288" y="1828800"/>
            <a:ext cx="10607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400" b="1" dirty="0">
                <a:solidFill>
                  <a:schemeClr val="tx1"/>
                </a:solidFill>
              </a:rPr>
              <a:t>تعامل VIP</a:t>
            </a:r>
            <a:endParaRPr lang="ar-AE" sz="14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150" dirty="0">
                <a:solidFill>
                  <a:schemeClr val="accent3"/>
                </a:solidFill>
              </a:rPr>
              <a:t>مستشار مخصص لكل موكل.</a:t>
            </a:r>
            <a:endParaRPr lang="ar-AE" sz="1400" dirty="0"/>
          </a:p>
        </p:txBody>
      </p:sp>
      <p:sp>
        <p:nvSpPr>
          <p:cNvPr id="10" name="Shape 6"/>
          <p:cNvSpPr/>
          <p:nvPr/>
        </p:nvSpPr>
        <p:spPr>
          <a:xfrm>
            <a:off x="3840480" y="1188720"/>
            <a:ext cx="1463040" cy="324612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1" name="icon FaLanguag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1456" y="1389888"/>
            <a:ext cx="310896" cy="31089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041648" y="1828800"/>
            <a:ext cx="10607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400" b="1" dirty="0">
                <a:solidFill>
                  <a:schemeClr val="tx1"/>
                </a:solidFill>
              </a:rPr>
              <a:t>أربع لغات</a:t>
            </a:r>
            <a:endParaRPr lang="ar-AE" sz="14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150" dirty="0">
                <a:solidFill>
                  <a:schemeClr val="accent3"/>
                </a:solidFill>
              </a:rPr>
              <a:t>العربية، الإنجليزية، الصينية، الروسية.</a:t>
            </a:r>
            <a:endParaRPr lang="ar-AE" sz="1400" dirty="0"/>
          </a:p>
        </p:txBody>
      </p:sp>
      <p:sp>
        <p:nvSpPr>
          <p:cNvPr id="13" name="Shape 8"/>
          <p:cNvSpPr/>
          <p:nvPr/>
        </p:nvSpPr>
        <p:spPr>
          <a:xfrm>
            <a:off x="2148840" y="1188720"/>
            <a:ext cx="1463040" cy="324612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4" name="icon FaListChe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9816" y="1389888"/>
            <a:ext cx="310896" cy="31089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2350008" y="1828800"/>
            <a:ext cx="10607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400" b="1" dirty="0">
                <a:solidFill>
                  <a:schemeClr val="tx1"/>
                </a:solidFill>
              </a:rPr>
              <a:t>تنسيق كامل</a:t>
            </a:r>
            <a:endParaRPr lang="ar-AE" sz="14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150" dirty="0">
                <a:solidFill>
                  <a:schemeClr val="accent3"/>
                </a:solidFill>
              </a:rPr>
              <a:t>الترجمة، الشهود، التوثيق، التسجيل.</a:t>
            </a:r>
            <a:endParaRPr lang="ar-AE" sz="1400" dirty="0"/>
          </a:p>
        </p:txBody>
      </p:sp>
      <p:sp>
        <p:nvSpPr>
          <p:cNvPr id="16" name="Shape 10"/>
          <p:cNvSpPr/>
          <p:nvPr/>
        </p:nvSpPr>
        <p:spPr>
          <a:xfrm>
            <a:off x="457200" y="1188720"/>
            <a:ext cx="1463040" cy="324612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7" name="icon FaBolt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08176" y="1389888"/>
            <a:ext cx="310896" cy="31089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58368" y="1828800"/>
            <a:ext cx="10607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400" b="1" dirty="0">
                <a:solidFill>
                  <a:schemeClr val="tx1"/>
                </a:solidFill>
              </a:rPr>
              <a:t>تسجيل سريع</a:t>
            </a:r>
            <a:endParaRPr lang="ar-AE" sz="14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150" dirty="0">
                <a:solidFill>
                  <a:schemeClr val="accent3"/>
                </a:solidFill>
              </a:rPr>
              <a:t>متابعة مباشرة مع الجهات الرسمية.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أي خيار يناسبك؟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أسئلة الاكتشاف</a:t>
            </a:r>
            <a:endParaRPr lang="ar-AE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206240" y="11430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السؤال</a:t>
            </a:r>
            <a:endParaRPr lang="ar-AE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4300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الاتجاه المحتمل</a:t>
            </a:r>
            <a:endParaRPr lang="ar-AE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8229600" cy="318734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7" name="icon FaCircleQuesti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1503535"/>
            <a:ext cx="237744" cy="23774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206240" y="1463040"/>
            <a:ext cx="402336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50" dirty="0">
                <a:solidFill>
                  <a:schemeClr val="tx1"/>
                </a:solidFill>
              </a:rPr>
              <a:t>هل تملك عقارات داخل الإمارات؟</a:t>
            </a:r>
            <a:endParaRPr lang="ar-AE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463040"/>
            <a:ext cx="352044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00" b="1" dirty="0">
                <a:solidFill>
                  <a:schemeClr val="accent4"/>
                </a:solidFill>
              </a:rPr>
              <a:t>وصية عقارية أو فردية</a:t>
            </a:r>
            <a:endParaRPr lang="ar-AE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1854926"/>
            <a:ext cx="8229600" cy="318734"/>
          </a:xfrm>
          <a:prstGeom prst="rect">
            <a:avLst/>
          </a:prstGeom>
          <a:solidFill>
            <a:srgbClr val="FFFFFF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1" name="icon FaCircleQuesti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9328" y="1895421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206240" y="1854926"/>
            <a:ext cx="402336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50" dirty="0">
                <a:solidFill>
                  <a:schemeClr val="tx1"/>
                </a:solidFill>
              </a:rPr>
              <a:t>هل لديك شركات أو حصص؟</a:t>
            </a:r>
            <a:endParaRPr lang="ar-AE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1854926"/>
            <a:ext cx="352044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00" b="1" dirty="0">
                <a:solidFill>
                  <a:schemeClr val="accent4"/>
                </a:solidFill>
              </a:rPr>
              <a:t>وصية أعمال أو هيكلة شركات</a:t>
            </a:r>
            <a:endParaRPr lang="ar-AE" sz="1100" dirty="0"/>
          </a:p>
        </p:txBody>
      </p:sp>
      <p:sp>
        <p:nvSpPr>
          <p:cNvPr id="14" name="Shape 10"/>
          <p:cNvSpPr/>
          <p:nvPr/>
        </p:nvSpPr>
        <p:spPr>
          <a:xfrm>
            <a:off x="457200" y="2246811"/>
            <a:ext cx="8229600" cy="318734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5" name="icon FaCircleQuesti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2287306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206240" y="2246811"/>
            <a:ext cx="402336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50" dirty="0">
                <a:solidFill>
                  <a:schemeClr val="tx1"/>
                </a:solidFill>
              </a:rPr>
              <a:t>هل لديك أطفال؟</a:t>
            </a:r>
            <a:endParaRPr lang="ar-AE" sz="1150" dirty="0"/>
          </a:p>
        </p:txBody>
      </p:sp>
      <p:sp>
        <p:nvSpPr>
          <p:cNvPr id="17" name="Text 12"/>
          <p:cNvSpPr txBox="1"/>
          <p:nvPr/>
        </p:nvSpPr>
        <p:spPr>
          <a:xfrm>
            <a:off x="457200" y="2246811"/>
            <a:ext cx="352044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00" b="1" dirty="0">
                <a:solidFill>
                  <a:schemeClr val="accent4"/>
                </a:solidFill>
              </a:rPr>
              <a:t>أحكام الوصاية ضمن الوصية، ووصايا زوجية</a:t>
            </a:r>
            <a:endParaRPr lang="ar-AE" sz="1100" dirty="0"/>
          </a:p>
        </p:txBody>
      </p:sp>
      <p:sp>
        <p:nvSpPr>
          <p:cNvPr id="18" name="Shape 13"/>
          <p:cNvSpPr/>
          <p:nvPr/>
        </p:nvSpPr>
        <p:spPr>
          <a:xfrm>
            <a:off x="457200" y="2638697"/>
            <a:ext cx="8229600" cy="318734"/>
          </a:xfrm>
          <a:prstGeom prst="rect">
            <a:avLst/>
          </a:prstGeom>
          <a:solidFill>
            <a:srgbClr val="FFFFFF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9" name="icon FaCircleQuesti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9328" y="2679192"/>
            <a:ext cx="237744" cy="237744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4206240" y="2638697"/>
            <a:ext cx="402336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50" dirty="0">
                <a:solidFill>
                  <a:schemeClr val="tx1"/>
                </a:solidFill>
              </a:rPr>
              <a:t>هل الورثة داخل الإمارات أم خارجها؟</a:t>
            </a:r>
            <a:endParaRPr lang="ar-AE" sz="1150" dirty="0"/>
          </a:p>
        </p:txBody>
      </p:sp>
      <p:sp>
        <p:nvSpPr>
          <p:cNvPr id="21" name="Text 15"/>
          <p:cNvSpPr txBox="1"/>
          <p:nvPr/>
        </p:nvSpPr>
        <p:spPr>
          <a:xfrm>
            <a:off x="457200" y="2638697"/>
            <a:ext cx="352044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00" b="1" dirty="0">
                <a:solidFill>
                  <a:schemeClr val="accent4"/>
                </a:solidFill>
              </a:rPr>
              <a:t>اختيار الجهة والقانون الواجب التطبيق</a:t>
            </a:r>
            <a:endParaRPr lang="ar-AE" sz="1100" dirty="0"/>
          </a:p>
        </p:txBody>
      </p:sp>
      <p:sp>
        <p:nvSpPr>
          <p:cNvPr id="22" name="Shape 16"/>
          <p:cNvSpPr/>
          <p:nvPr/>
        </p:nvSpPr>
        <p:spPr>
          <a:xfrm>
            <a:off x="457200" y="3030583"/>
            <a:ext cx="8229600" cy="318734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23" name="icon FaCircleQuesti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9328" y="3071078"/>
            <a:ext cx="237744" cy="237744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4206240" y="3030583"/>
            <a:ext cx="402336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50" dirty="0">
                <a:solidFill>
                  <a:schemeClr val="tx1"/>
                </a:solidFill>
              </a:rPr>
              <a:t>هل لديك حسابات بنكية محلية؟</a:t>
            </a:r>
            <a:endParaRPr lang="ar-AE" sz="1150" dirty="0"/>
          </a:p>
        </p:txBody>
      </p:sp>
      <p:sp>
        <p:nvSpPr>
          <p:cNvPr id="25" name="Text 18"/>
          <p:cNvSpPr txBox="1"/>
          <p:nvPr/>
        </p:nvSpPr>
        <p:spPr>
          <a:xfrm>
            <a:off x="457200" y="3030583"/>
            <a:ext cx="352044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00" b="1" dirty="0">
                <a:solidFill>
                  <a:schemeClr val="accent4"/>
                </a:solidFill>
              </a:rPr>
              <a:t>تغطيتها صراحة في الوصية</a:t>
            </a:r>
            <a:endParaRPr lang="ar-AE" sz="1100" dirty="0"/>
          </a:p>
        </p:txBody>
      </p:sp>
      <p:sp>
        <p:nvSpPr>
          <p:cNvPr id="26" name="Shape 19"/>
          <p:cNvSpPr/>
          <p:nvPr/>
        </p:nvSpPr>
        <p:spPr>
          <a:xfrm>
            <a:off x="457200" y="3422469"/>
            <a:ext cx="8229600" cy="318734"/>
          </a:xfrm>
          <a:prstGeom prst="rect">
            <a:avLst/>
          </a:prstGeom>
          <a:solidFill>
            <a:srgbClr val="FFFFFF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27" name="icon FaCircleQuesti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39328" y="3462963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4206240" y="3422469"/>
            <a:ext cx="402336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50" dirty="0">
                <a:solidFill>
                  <a:schemeClr val="tx1"/>
                </a:solidFill>
              </a:rPr>
              <a:t>هل تملك أصولاً في أكثر من دولة؟</a:t>
            </a:r>
            <a:endParaRPr lang="ar-AE" sz="1150" dirty="0"/>
          </a:p>
        </p:txBody>
      </p:sp>
      <p:sp>
        <p:nvSpPr>
          <p:cNvPr id="29" name="Text 21"/>
          <p:cNvSpPr txBox="1"/>
          <p:nvPr/>
        </p:nvSpPr>
        <p:spPr>
          <a:xfrm>
            <a:off x="457200" y="3422469"/>
            <a:ext cx="352044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00" b="1" dirty="0">
                <a:solidFill>
                  <a:schemeClr val="accent4"/>
                </a:solidFill>
              </a:rPr>
              <a:t>مؤسسة أو صندوق أو شركة قابضة</a:t>
            </a:r>
            <a:endParaRPr lang="ar-AE" sz="1100" dirty="0"/>
          </a:p>
        </p:txBody>
      </p:sp>
      <p:sp>
        <p:nvSpPr>
          <p:cNvPr id="30" name="Shape 22"/>
          <p:cNvSpPr/>
          <p:nvPr/>
        </p:nvSpPr>
        <p:spPr>
          <a:xfrm>
            <a:off x="457200" y="3814354"/>
            <a:ext cx="8229600" cy="318734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31" name="icon FaCircleQuesti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39328" y="3854849"/>
            <a:ext cx="237744" cy="237744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4206240" y="3814354"/>
            <a:ext cx="402336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50" dirty="0">
                <a:solidFill>
                  <a:schemeClr val="tx1"/>
                </a:solidFill>
              </a:rPr>
              <a:t>هل ترغب بتطبيق قوانين بلدك أم هيكلة مختلفة؟</a:t>
            </a:r>
            <a:endParaRPr lang="ar-AE" sz="1150" dirty="0"/>
          </a:p>
        </p:txBody>
      </p:sp>
      <p:sp>
        <p:nvSpPr>
          <p:cNvPr id="33" name="Text 24"/>
          <p:cNvSpPr txBox="1"/>
          <p:nvPr/>
        </p:nvSpPr>
        <p:spPr>
          <a:xfrm>
            <a:off x="457200" y="3814354"/>
            <a:ext cx="352044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00" b="1" dirty="0">
                <a:solidFill>
                  <a:schemeClr val="accent4"/>
                </a:solidFill>
              </a:rPr>
              <a:t>DIFC أو ADGM أو المحاكم المحلية</a:t>
            </a:r>
            <a:endParaRPr lang="ar-AE" sz="1100" dirty="0"/>
          </a:p>
        </p:txBody>
      </p:sp>
      <p:sp>
        <p:nvSpPr>
          <p:cNvPr id="34" name="Text 25"/>
          <p:cNvSpPr txBox="1"/>
          <p:nvPr/>
        </p:nvSpPr>
        <p:spPr>
          <a:xfrm>
            <a:off x="457200" y="43159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950" i="1" dirty="0">
                <a:solidFill>
                  <a:schemeClr val="accent3"/>
                </a:solidFill>
              </a:rPr>
              <a:t>في نهاية الجلسة نوصي بخيار واحد واضح ونرسل لك العرض خلال 48 ساعة.</a:t>
            </a:r>
            <a:endParaRPr lang="ar-AE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أسئلة يطرحها عملاؤنا كثيراً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FAQ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8229600" y="1188720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5" name="icon FaCircleQuesti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1170432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هل يمكنني تأجيل الموضوع؟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نعم، لكن أغلب العملاء يرتبونه مباشرة بعد الشراء لأن الإجراءات أسهل والملفات جاهزة.</a:t>
            </a:r>
            <a:endParaRPr lang="ar-AE" sz="1300" dirty="0"/>
          </a:p>
        </p:txBody>
      </p:sp>
      <p:sp>
        <p:nvSpPr>
          <p:cNvPr id="7" name="Shape 4"/>
          <p:cNvSpPr/>
          <p:nvPr/>
        </p:nvSpPr>
        <p:spPr>
          <a:xfrm>
            <a:off x="8229600" y="1847088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8" name="icon FaCircleQuesti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938528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1828800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هل تغطي الوصية أصولي خارج الإمارات؟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نصمم الوصية لأصولك في الدولة وننسقها مع أي وصية في بلدك الأم.</a:t>
            </a:r>
            <a:endParaRPr lang="ar-AE" sz="1300" dirty="0"/>
          </a:p>
        </p:txBody>
      </p:sp>
      <p:sp>
        <p:nvSpPr>
          <p:cNvPr id="10" name="Shape 6"/>
          <p:cNvSpPr/>
          <p:nvPr/>
        </p:nvSpPr>
        <p:spPr>
          <a:xfrm>
            <a:off x="8229600" y="2505456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1" name="icon FaCircleQuesti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259689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57200" y="2487168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بأي لغة تكون الوصية؟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بحسب الجهة: الإنجليزية أو العربية مع ترجمة قانونية معتمدة.</a:t>
            </a:r>
            <a:endParaRPr lang="ar-AE" sz="1300" dirty="0"/>
          </a:p>
        </p:txBody>
      </p:sp>
      <p:sp>
        <p:nvSpPr>
          <p:cNvPr id="13" name="Shape 8"/>
          <p:cNvSpPr/>
          <p:nvPr/>
        </p:nvSpPr>
        <p:spPr>
          <a:xfrm>
            <a:off x="8229600" y="3163824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4" name="icon FaCircleQuesti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325526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57200" y="3145536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هل يمكنني تعديلها لاحقاً؟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نعم، تُحدَّث عند تغيّر أصولك أو عائلتك، ونحن نتابع ذلك معك.</a:t>
            </a:r>
            <a:endParaRPr lang="ar-AE" sz="1300" dirty="0"/>
          </a:p>
        </p:txBody>
      </p:sp>
      <p:sp>
        <p:nvSpPr>
          <p:cNvPr id="16" name="Shape 10"/>
          <p:cNvSpPr/>
          <p:nvPr/>
        </p:nvSpPr>
        <p:spPr>
          <a:xfrm>
            <a:off x="8229600" y="3822192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7" name="icon FaCircleQuesti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0" y="391363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457200" y="3803904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كم تستغرق العملية؟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يحدد العرض الجدول الزمني بدقة بحسب الجهة ونوع الخدمة.</a:t>
            </a:r>
            <a:endParaRPr lang="ar-AE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ما بعد الوصية: علاقة قانونية مدى الحياة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شريكك القانوني في الإمارات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5394960" y="1188720"/>
            <a:ext cx="3291840" cy="32461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pic>
        <p:nvPicPr>
          <p:cNvPr id="5" name="icon FaInfinity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50876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15000" y="21031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مستشار واحد لكل احتياجاتك</a:t>
            </a:r>
            <a:endParaRPr lang="ar-AE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5715000" y="301752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150" dirty="0">
                <a:solidFill>
                  <a:schemeClr val="bg2"/>
                </a:solidFill>
              </a:rPr>
              <a:t>فريق واحد يعرف وضعك وأصولك، ويرافقك في كل خطوة استثمارية أو عائلية قادمة.</a:t>
            </a:r>
            <a:endParaRPr lang="ar-AE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188720"/>
            <a:ext cx="46634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77800" indent="-177800">
              <a:spcAft>
                <a:spcPts val="800"/>
              </a:spcAft>
              <a:buSzPct val="100000"/>
              <a:buChar char="•"/>
            </a:pPr>
            <a:r>
              <a:rPr lang="ar-AE" altLang="en-US" sz="1250" dirty="0">
                <a:solidFill>
                  <a:schemeClr val="tx1"/>
                </a:solidFill>
              </a:rPr>
              <a:t>نقل الملكية وتسجيل العقارات</a:t>
            </a:r>
            <a:endParaRPr lang="ar-AE" sz="1250" dirty="0"/>
          </a:p>
          <a:p>
            <a:pPr algn="r" marL="177800" indent="-177800">
              <a:spcAft>
                <a:spcPts val="800"/>
              </a:spcAft>
              <a:buSzPct val="100000"/>
              <a:buChar char="•"/>
            </a:pPr>
            <a:r>
              <a:rPr lang="ar-AE" altLang="en-US" sz="1250" dirty="0">
                <a:solidFill>
                  <a:schemeClr val="tx1"/>
                </a:solidFill>
              </a:rPr>
              <a:t>تأسيس الشركات والهيكلة الضريبية</a:t>
            </a:r>
            <a:endParaRPr lang="ar-AE" sz="1250" dirty="0"/>
          </a:p>
          <a:p>
            <a:pPr algn="r" marL="177800" indent="-177800">
              <a:spcAft>
                <a:spcPts val="800"/>
              </a:spcAft>
              <a:buSzPct val="100000"/>
              <a:buChar char="•"/>
            </a:pPr>
            <a:r>
              <a:rPr lang="ar-AE" altLang="en-US" sz="1250" dirty="0">
                <a:solidFill>
                  <a:schemeClr val="tx1"/>
                </a:solidFill>
              </a:rPr>
              <a:t>المكتب العائلي والمؤسسات والصناديق</a:t>
            </a:r>
            <a:endParaRPr lang="ar-AE" sz="1250" dirty="0"/>
          </a:p>
          <a:p>
            <a:pPr algn="r" marL="177800" indent="-177800">
              <a:spcAft>
                <a:spcPts val="800"/>
              </a:spcAft>
              <a:buSzPct val="100000"/>
              <a:buChar char="•"/>
            </a:pPr>
            <a:r>
              <a:rPr lang="ar-AE" altLang="en-US" sz="1250" dirty="0">
                <a:solidFill>
                  <a:schemeClr val="tx1"/>
                </a:solidFill>
              </a:rPr>
              <a:t>العقود والاستثمارات والشراكات</a:t>
            </a:r>
            <a:endParaRPr lang="ar-AE" sz="1250" dirty="0"/>
          </a:p>
          <a:p>
            <a:pPr algn="r" marL="177800" indent="-177800">
              <a:spcAft>
                <a:spcPts val="800"/>
              </a:spcAft>
              <a:buSzPct val="100000"/>
              <a:buChar char="•"/>
            </a:pPr>
            <a:r>
              <a:rPr lang="ar-AE" altLang="en-US" sz="1250" dirty="0">
                <a:solidFill>
                  <a:schemeClr val="tx1"/>
                </a:solidFill>
              </a:rPr>
              <a:t>تمثيلك في أي نزاع أمام المحاكم والتحكيم</a:t>
            </a:r>
            <a:endParaRPr lang="ar-AE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023360"/>
          </a:xfrm>
          <a:prstGeom prst="rect">
            <a:avLst/>
          </a:prstGeom>
          <a:ln w="9525">
            <a:solidFill>
              <a:srgbClr val="B08D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406640" y="640080"/>
            <a:ext cx="914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463040"/>
            <a:ext cx="7315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22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الوصية مرتبطة بالموت، أما حماية الأصول فمرتبطة بالاستثمار والأمان. ما نرتبه اليوم هو حماية لما بنيته ولمن تحب.</a:t>
            </a:r>
            <a:endParaRPr lang="ar-AE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566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dirty="0">
                <a:solidFill>
                  <a:schemeClr val="accent2"/>
                </a:solidFill>
              </a:rPr>
              <a:t>راشد الكيتوب للمحاماة والاستشارات القانونية</a:t>
            </a:r>
            <a:endParaRPr lang="ar-AE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8C39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229100"/>
          </a:xfrm>
          <a:prstGeom prst="rect">
            <a:avLst/>
          </a:prstGeom>
          <a:ln w="9525">
            <a:solidFill>
              <a:srgbClr val="B08D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68680" y="777240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الخطوة التالية</a:t>
            </a:r>
            <a:endParaRPr lang="ar-AE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155448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00" dirty="0">
                <a:solidFill>
                  <a:schemeClr val="accent2"/>
                </a:solidFill>
              </a:rPr>
              <a:t>نرسل لك العرض خلال 48 ساعة، ونحجز موعد الصياغة والتسجيل في الوقت الذي يناسبك</a:t>
            </a:r>
            <a:endParaRPr lang="ar-AE" sz="1300" dirty="0"/>
          </a:p>
        </p:txBody>
      </p:sp>
      <p:pic>
        <p:nvPicPr>
          <p:cNvPr id="5" name="icon FaLocationDo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228600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2402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dirty="0">
                <a:solidFill>
                  <a:schemeClr val="bg2"/>
                </a:solidFill>
              </a:rPr>
              <a:t>شارع الشيخ زايد، برج سعيد 2، مكتب 501، دبي، الإمارات العربية المتحدة</a:t>
            </a:r>
            <a:endParaRPr lang="ar-AE" sz="1200" dirty="0"/>
          </a:p>
        </p:txBody>
      </p:sp>
      <p:pic>
        <p:nvPicPr>
          <p:cNvPr id="7" name="icon FaPh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278892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68680" y="27432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dirty="0">
                <a:solidFill>
                  <a:schemeClr val="bg2"/>
                </a:solidFill>
              </a:rPr>
              <a:t>+971 4 359 5552  |  جوال وواتساب: +971 52 107 4972</a:t>
            </a:r>
            <a:endParaRPr lang="ar-AE" sz="1200" dirty="0"/>
          </a:p>
        </p:txBody>
      </p:sp>
      <p:pic>
        <p:nvPicPr>
          <p:cNvPr id="9" name="icon FaEnvelop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291840"/>
            <a:ext cx="274320" cy="2743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68680" y="32461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dirty="0">
                <a:solidFill>
                  <a:schemeClr val="bg2"/>
                </a:solidFill>
              </a:rPr>
              <a:t>ward.shueibi@rk-advocates.com  |  rk-advocates.com</a:t>
            </a:r>
            <a:endParaRPr lang="ar-AE" sz="1200" dirty="0"/>
          </a:p>
        </p:txBody>
      </p:sp>
      <p:pic>
        <p:nvPicPr>
          <p:cNvPr id="11" name="icon FaClo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3794760"/>
            <a:ext cx="274320" cy="2743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868680" y="3749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dirty="0">
                <a:solidFill>
                  <a:schemeClr val="bg2"/>
                </a:solidFill>
              </a:rPr>
              <a:t>الاثنين – الجمعة، 8:30 – 17:30  |  العربية · English · 中文 · Русский</a:t>
            </a:r>
            <a:endParaRPr lang="ar-AE" sz="1200" dirty="0"/>
          </a:p>
        </p:txBody>
      </p:sp>
      <p:sp>
        <p:nvSpPr>
          <p:cNvPr id="13" name="Text 7"/>
          <p:cNvSpPr txBox="1"/>
          <p:nvPr/>
        </p:nvSpPr>
        <p:spPr>
          <a:xfrm>
            <a:off x="868680" y="420624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dirty="0">
                <a:solidFill>
                  <a:schemeClr val="accent1"/>
                </a:solidFill>
              </a:rPr>
              <a:t>راشد الكيتوب للمحاماة والاستشارات القانونية</a:t>
            </a:r>
            <a:endParaRPr lang="ar-AE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8C39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K Advocates">
  <a:themeElements>
    <a:clrScheme name="RK Advocates">
      <a:dk1>
        <a:srgbClr val="0B0B0B"/>
      </a:dk1>
      <a:lt1>
        <a:srgbClr val="FFFFFF"/>
      </a:lt1>
      <a:dk2>
        <a:srgbClr val="2A2D33"/>
      </a:dk2>
      <a:lt2>
        <a:srgbClr val="F4F1EA"/>
      </a:lt2>
      <a:accent1>
        <a:srgbClr val="B08D57"/>
      </a:accent1>
      <a:accent2>
        <a:srgbClr val="D8C39A"/>
      </a:accent2>
      <a:accent3>
        <a:srgbClr val="6B6F76"/>
      </a:accent3>
      <a:accent4>
        <a:srgbClr val="8A6D3B"/>
      </a:accent4>
      <a:accent5>
        <a:srgbClr val="E9E4DA"/>
      </a:accent5>
      <a:accent6>
        <a:srgbClr val="15171B"/>
      </a:accent6>
      <a:hlink>
        <a:srgbClr val="B08D57"/>
      </a:hlink>
      <a:folHlink>
        <a:srgbClr val="8A6D3B"/>
      </a:folHlink>
    </a:clrScheme>
    <a:fontScheme name="RK Advocate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Rashid Alkaitoob Advocates &amp; Legal Consultants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حماية أصولك وعائلتك في الإمارات</dc:title>
  <dc:subject>PptxGenJS Presentation</dc:subject>
  <dc:creator>Rashid Alkaitoob Advocates &amp; Legal Consultants</dc:creator>
  <cp:lastModifiedBy>Rashid Alkaitoob Advocates &amp; Legal Consultants</cp:lastModifiedBy>
  <cp:revision>1</cp:revision>
  <dcterms:created xsi:type="dcterms:W3CDTF">2026-10-26T11:14:59Z</dcterms:created>
  <dcterms:modified xsi:type="dcterms:W3CDTF">2026-10-26T11:14:59Z</dcterms:modified>
</cp:coreProperties>
</file>