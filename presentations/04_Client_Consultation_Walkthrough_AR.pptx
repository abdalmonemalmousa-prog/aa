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الترحيب" id="{8289db38-6086-75f9-6449-ab231f5419aa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E2238"/>
                </a:solidFill>
                <a:latin typeface="+mj-lt"/>
              </a:defRPr>
            </a:pPr>
            <a:r>
              <a:rPr sz="1200" b="0" i="0" u="none" strike="noStrike">
                <a:solidFill>
                  <a:srgbClr val="0E2238"/>
                </a:solidFill>
                <a:latin typeface="+mj-lt"/>
              </a:rPr>
              <a:t>متوسط الزمن بالأيام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أيام</c:v>
                </c:pt>
              </c:strCache>
            </c:strRef>
          </c:tx>
          <c:spPr>
            <a:solidFill>
              <a:srgbClr val="B5723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E223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2023: تقاضٍ، من التسجيل للحكم</c:v>
                  </c:pt>
                  <c:pt idx="1">
                    <c:v>2023–24: أول 11 شهراً، تسوية ودية</c:v>
                  </c:pt>
                  <c:pt idx="2">
                    <c:v>2024: تسوية ودية</c:v>
                  </c:pt>
                  <c:pt idx="3">
                    <c:v>2025: تسوية ودية (أيام عمل)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81</c:v>
                </c:pt>
                <c:pt idx="1">
                  <c:v>40</c:v>
                </c:pt>
                <c:pt idx="2">
                  <c:v>24</c:v>
                </c:pt>
                <c:pt idx="3">
                  <c:v>13.8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1" i="0" strike="noStrike" sz="1000" u="none">
                  <a:solidFill>
                    <a:srgbClr val="0E223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E223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1D8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E223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E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aa/b81485da-2e22-5d10-878f-01904e6d5dc6/scratchpad/r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2823" y="4681728"/>
            <a:ext cx="1675417" cy="274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aa/b81485da-2e22-5d10-878f-01904e6d5dc6/scratchpad/rk/logo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2823" y="4681728"/>
            <a:ext cx="1675417" cy="2743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2600" b="1" dirty="0">
                <a:solidFill>
                  <a:srgbClr val="0E2238"/>
                </a:solidFill>
              </a:defRPr>
            </a:lvl1pPr>
          </a:lstStyle>
          <a:p>
            <a:pPr algn="r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_DARK">
    <p:bg>
      <p:bgPr>
        <a:solidFill>
          <a:srgbClr val="0E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6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4229100"/>
          </a:xfrm>
          <a:prstGeom prst="rect">
            <a:avLst/>
          </a:prstGeom>
          <a:ln w="9525">
            <a:solidFill>
              <a:srgbClr val="B5723B"/>
            </a:solidFill>
            <a:prstDash val="solid"/>
          </a:ln>
        </p:spPr>
      </p:sp>
      <p:pic>
        <p:nvPicPr>
          <p:cNvPr id="3" name="Image 0" descr="/tmp/claude-0/-home-user-aa/b81485da-2e22-5d10-878f-01904e6d5dc6/scratchpad/r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4320" y="868680"/>
            <a:ext cx="4021000" cy="65836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68680" y="1965960"/>
            <a:ext cx="7406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حماية أصولك وعائلتك في الإمارات</a:t>
            </a:r>
            <a:endParaRPr lang="ar-AE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868680" y="33832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500" dirty="0">
                <a:solidFill>
                  <a:schemeClr val="accent2"/>
                </a:solidFill>
              </a:rPr>
              <a:t>جلسة تعريفية بخيارات التخطيط القانوني للمستثمرين ومالكي العقارات</a:t>
            </a:r>
            <a:endParaRPr lang="ar-AE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402336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000" dirty="0">
                <a:solidFill>
                  <a:schemeClr val="accent3"/>
                </a:solidFill>
              </a:rPr>
              <a:t>راشد الكيتوب للمحاماة والاستشارات القانونية · دبي</a:t>
            </a:r>
            <a:endParaRPr lang="ar-AE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أهلاً بك</a:t>
            </a:r>
            <a:endParaRPr lang="ar-AE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000" b="1" dirty="0">
                <a:solidFill>
                  <a:schemeClr val="accent1"/>
                </a:solidFill>
              </a:rPr>
              <a:t>شكراً لوقتك</a:t>
            </a:r>
            <a:endParaRPr lang="ar-AE" sz="1000" dirty="0"/>
          </a:p>
        </p:txBody>
      </p:sp>
      <p:sp>
        <p:nvSpPr>
          <p:cNvPr id="4" name="Shape 2"/>
          <p:cNvSpPr/>
          <p:nvPr/>
        </p:nvSpPr>
        <p:spPr>
          <a:xfrm>
            <a:off x="5394960" y="1188720"/>
            <a:ext cx="3291840" cy="3246120"/>
          </a:xfrm>
          <a:prstGeom prst="rect">
            <a:avLst/>
          </a:prstGeom>
          <a:solidFill>
            <a:srgbClr val="0E2238"/>
          </a:solidFill>
          <a:ln w="12700">
            <a:solidFill>
              <a:srgbClr val="0E2238"/>
            </a:solidFill>
            <a:prstDash val="solid"/>
          </a:ln>
        </p:spPr>
      </p:sp>
      <p:pic>
        <p:nvPicPr>
          <p:cNvPr id="5" name="icon FaHandshak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15087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715000" y="2103120"/>
            <a:ext cx="265176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يسعدنا أن نتعرف عليك عبر شريكنا العقاري</a:t>
            </a:r>
            <a:endParaRPr lang="ar-AE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715000" y="3163824"/>
            <a:ext cx="265176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100" dirty="0">
                <a:solidFill>
                  <a:schemeClr val="bg2"/>
                </a:solidFill>
              </a:rPr>
              <a:t>فريقنا متخصص في الوصايا والتخطيط للتركات وحماية الأصول للمستثمرين الأجانب ومالكي العقارات في الإمارات.</a:t>
            </a:r>
            <a:endParaRPr lang="ar-AE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188720"/>
            <a:ext cx="46634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177800" indent="-177800">
              <a:buSzPct val="100000"/>
              <a:buChar char="•"/>
            </a:pPr>
            <a:r>
              <a:rPr lang="ar-AE" altLang="en-US" sz="1300" b="1" dirty="0">
                <a:solidFill>
                  <a:schemeClr val="tx1"/>
                </a:solidFill>
              </a:rPr>
              <a:t>ما ستخرج به من هذه الجلسة</a:t>
            </a:r>
            <a:endParaRPr lang="ar-AE" sz="1300" dirty="0"/>
          </a:p>
          <a:p>
            <a:pPr algn="r" indent="0" marL="0">
              <a:spcAft>
                <a:spcPts val="200"/>
              </a:spcAft>
              <a:buNone/>
            </a:pPr>
            <a:r>
              <a:rPr lang="ar-AE" altLang="en-US" sz="1100" dirty="0">
                <a:solidFill>
                  <a:schemeClr val="accent3"/>
                </a:solidFill>
              </a:rPr>
              <a:t>فهم واضح لما يحدث لأصولك في الإمارات، والخيارات المتاحة لك، والخيار الأنسب لحالتك.</a:t>
            </a:r>
            <a:endParaRPr lang="ar-AE" sz="1300" dirty="0"/>
          </a:p>
          <a:p>
            <a:pPr algn="r" marL="177800" indent="-177800">
              <a:spcBef>
                <a:spcPts val="600"/>
              </a:spcBef>
              <a:buSzPct val="100000"/>
              <a:buChar char="•"/>
            </a:pPr>
            <a:r>
              <a:rPr lang="ar-AE" altLang="en-US" sz="1300" b="1" dirty="0">
                <a:solidFill>
                  <a:schemeClr val="tx1"/>
                </a:solidFill>
              </a:rPr>
              <a:t>لا التزام</a:t>
            </a:r>
            <a:endParaRPr lang="ar-AE" sz="1300" dirty="0"/>
          </a:p>
          <a:p>
            <a:pPr algn="r" indent="0" marL="0">
              <a:spcAft>
                <a:spcPts val="200"/>
              </a:spcAft>
              <a:buNone/>
            </a:pPr>
            <a:r>
              <a:rPr lang="ar-AE" altLang="en-US" sz="1100" dirty="0">
                <a:solidFill>
                  <a:schemeClr val="accent3"/>
                </a:solidFill>
              </a:rPr>
              <a:t>هذه الاستشارة الأولى مجانية. تستلم بعدها عرضاً مكتوباً واحداً يشمل كل التكاليف.</a:t>
            </a:r>
            <a:endParaRPr lang="ar-AE" sz="1300" dirty="0"/>
          </a:p>
          <a:p>
            <a:pPr algn="r" marL="177800" indent="-177800">
              <a:spcBef>
                <a:spcPts val="600"/>
              </a:spcBef>
              <a:buSzPct val="100000"/>
              <a:buChar char="•"/>
            </a:pPr>
            <a:r>
              <a:rPr lang="ar-AE" altLang="en-US" sz="1300" b="1" dirty="0">
                <a:solidFill>
                  <a:schemeClr val="tx1"/>
                </a:solidFill>
              </a:rPr>
              <a:t>بلغتك</a:t>
            </a:r>
            <a:endParaRPr lang="ar-AE" sz="1300" dirty="0"/>
          </a:p>
          <a:p>
            <a:pPr algn="r" indent="0" marL="0">
              <a:spcAft>
                <a:spcPts val="200"/>
              </a:spcAft>
              <a:buNone/>
            </a:pPr>
            <a:r>
              <a:rPr lang="ar-AE" altLang="en-US" sz="1100" dirty="0">
                <a:solidFill>
                  <a:schemeClr val="accent3"/>
                </a:solidFill>
              </a:rPr>
              <a:t>العربية، الإنجليزية، الصينية، الروسية.</a:t>
            </a:r>
            <a:endParaRPr lang="ar-AE" sz="1300" dirty="0"/>
          </a:p>
        </p:txBody>
      </p:sp>
      <p:sp>
        <p:nvSpPr>
          <p:cNvPr id="9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من نحن</a:t>
            </a:r>
            <a:endParaRPr lang="ar-AE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000" b="1" dirty="0">
                <a:solidFill>
                  <a:schemeClr val="accent1"/>
                </a:solidFill>
              </a:rPr>
              <a:t>راشد الكيتوب للمحاماة والاستشارات القانونية</a:t>
            </a:r>
            <a:endParaRPr lang="ar-AE" sz="1000" dirty="0"/>
          </a:p>
        </p:txBody>
      </p:sp>
      <p:sp>
        <p:nvSpPr>
          <p:cNvPr id="4" name="Shape 2"/>
          <p:cNvSpPr/>
          <p:nvPr/>
        </p:nvSpPr>
        <p:spPr>
          <a:xfrm>
            <a:off x="6096000" y="1188720"/>
            <a:ext cx="2590800" cy="150876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5" name="icon FaBuildingColumn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4736" y="1389888"/>
            <a:ext cx="310896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297168" y="1828800"/>
            <a:ext cx="2188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300"/>
              </a:spcAft>
              <a:buNone/>
            </a:pPr>
            <a:r>
              <a:rPr lang="ar-AE" altLang="en-US" sz="1250" b="1" dirty="0">
                <a:solidFill>
                  <a:schemeClr val="tx1"/>
                </a:solidFill>
              </a:rPr>
              <a:t>مكتب مرخّص منذ 2014</a:t>
            </a:r>
            <a:endParaRPr lang="ar-AE" sz="1250" dirty="0"/>
          </a:p>
          <a:p>
            <a:pPr algn="r" indent="0" marL="0">
              <a:spcAft>
                <a:spcPts val="300"/>
              </a:spcAft>
              <a:buNone/>
            </a:pPr>
            <a:r>
              <a:rPr lang="ar-AE" altLang="en-US" sz="1050" dirty="0">
                <a:solidFill>
                  <a:schemeClr val="accent3"/>
                </a:solidFill>
              </a:rPr>
              <a:t>مكتب محاماة مرخّص في دولة الإمارات، مقره شارع الشيخ زايد في دبي، يمثّل الأفراد والشركات أمام محاكم الدولة بجميع درجاتها.</a:t>
            </a:r>
            <a:endParaRPr lang="ar-AE" sz="1250" dirty="0"/>
          </a:p>
        </p:txBody>
      </p:sp>
      <p:sp>
        <p:nvSpPr>
          <p:cNvPr id="7" name="Shape 4"/>
          <p:cNvSpPr/>
          <p:nvPr/>
        </p:nvSpPr>
        <p:spPr>
          <a:xfrm>
            <a:off x="3276600" y="1188720"/>
            <a:ext cx="2590800" cy="150876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8" name="icon FaScaleBalanced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5336" y="1389888"/>
            <a:ext cx="310896" cy="31089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477768" y="1828800"/>
            <a:ext cx="2188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300"/>
              </a:spcAft>
              <a:buNone/>
            </a:pPr>
            <a:r>
              <a:rPr lang="ar-AE" altLang="en-US" sz="1250" b="1" dirty="0">
                <a:solidFill>
                  <a:schemeClr val="tx1"/>
                </a:solidFill>
              </a:rPr>
              <a:t>أكثر من 10 مجالات قانونية</a:t>
            </a:r>
            <a:endParaRPr lang="ar-AE" sz="1250" dirty="0"/>
          </a:p>
          <a:p>
            <a:pPr algn="r" indent="0" marL="0">
              <a:spcAft>
                <a:spcPts val="300"/>
              </a:spcAft>
              <a:buNone/>
            </a:pPr>
            <a:r>
              <a:rPr lang="ar-AE" altLang="en-US" sz="1050" dirty="0">
                <a:solidFill>
                  <a:schemeClr val="accent3"/>
                </a:solidFill>
              </a:rPr>
              <a:t>العقاري، التجاري والشركات، التحكيم، الأحوال الشخصية والتركات، الامتثال ومكافحة غسل الأموال، الملكية الفكرية وغيرها.</a:t>
            </a:r>
            <a:endParaRPr lang="ar-AE" sz="1250" dirty="0"/>
          </a:p>
        </p:txBody>
      </p:sp>
      <p:sp>
        <p:nvSpPr>
          <p:cNvPr id="10" name="Shape 6"/>
          <p:cNvSpPr/>
          <p:nvPr/>
        </p:nvSpPr>
        <p:spPr>
          <a:xfrm>
            <a:off x="457200" y="1188720"/>
            <a:ext cx="2590800" cy="150876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1" name="icon FaGlob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5936" y="1389888"/>
            <a:ext cx="310896" cy="31089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58368" y="1828800"/>
            <a:ext cx="2188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300"/>
              </a:spcAft>
              <a:buNone/>
            </a:pPr>
            <a:r>
              <a:rPr lang="ar-AE" altLang="en-US" sz="1250" b="1" dirty="0">
                <a:solidFill>
                  <a:schemeClr val="tx1"/>
                </a:solidFill>
              </a:rPr>
              <a:t>حضور إقليمي ودولي</a:t>
            </a:r>
            <a:endParaRPr lang="ar-AE" sz="1250" dirty="0"/>
          </a:p>
          <a:p>
            <a:pPr algn="r" indent="0" marL="0">
              <a:spcAft>
                <a:spcPts val="300"/>
              </a:spcAft>
              <a:buNone/>
            </a:pPr>
            <a:r>
              <a:rPr lang="ar-AE" altLang="en-US" sz="1050" dirty="0">
                <a:solidFill>
                  <a:schemeClr val="accent3"/>
                </a:solidFill>
              </a:rPr>
              <a:t>حضور راسخ في دول مجلس التعاون وآسيا، مع مكتب صيني متخصص للمستثمرين.</a:t>
            </a:r>
            <a:endParaRPr lang="ar-AE" sz="1250" dirty="0"/>
          </a:p>
        </p:txBody>
      </p:sp>
      <p:sp>
        <p:nvSpPr>
          <p:cNvPr id="13" name="Shape 8"/>
          <p:cNvSpPr/>
          <p:nvPr/>
        </p:nvSpPr>
        <p:spPr>
          <a:xfrm>
            <a:off x="6096000" y="2926080"/>
            <a:ext cx="2590800" cy="150876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4" name="icon FaLanguag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3127248"/>
            <a:ext cx="310896" cy="31089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297168" y="3566160"/>
            <a:ext cx="2188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300"/>
              </a:spcAft>
              <a:buNone/>
            </a:pPr>
            <a:r>
              <a:rPr lang="ar-AE" altLang="en-US" sz="1250" b="1" dirty="0">
                <a:solidFill>
                  <a:schemeClr val="tx1"/>
                </a:solidFill>
              </a:rPr>
              <a:t>أربع لغات عمل</a:t>
            </a:r>
            <a:endParaRPr lang="ar-AE" sz="1250" dirty="0"/>
          </a:p>
          <a:p>
            <a:pPr algn="r" indent="0" marL="0">
              <a:spcAft>
                <a:spcPts val="300"/>
              </a:spcAft>
              <a:buNone/>
            </a:pPr>
            <a:r>
              <a:rPr lang="ar-AE" altLang="en-US" sz="1050" dirty="0">
                <a:solidFill>
                  <a:schemeClr val="accent3"/>
                </a:solidFill>
              </a:rPr>
              <a:t>العربية والإنجليزية والصينية والروسية، ليتواصل الموكل مباشرة مع مستشاره القانوني.</a:t>
            </a:r>
            <a:endParaRPr lang="ar-AE" sz="1250" dirty="0"/>
          </a:p>
        </p:txBody>
      </p:sp>
      <p:sp>
        <p:nvSpPr>
          <p:cNvPr id="16" name="Shape 10"/>
          <p:cNvSpPr/>
          <p:nvPr/>
        </p:nvSpPr>
        <p:spPr>
          <a:xfrm>
            <a:off x="3276600" y="2926080"/>
            <a:ext cx="2590800" cy="150876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7" name="icon FaHandshak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5336" y="3127248"/>
            <a:ext cx="310896" cy="310896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3477768" y="3566160"/>
            <a:ext cx="2188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300"/>
              </a:spcAft>
              <a:buNone/>
            </a:pPr>
            <a:r>
              <a:rPr lang="ar-AE" altLang="en-US" sz="1250" b="1" dirty="0">
                <a:solidFill>
                  <a:schemeClr val="tx1"/>
                </a:solidFill>
              </a:rPr>
              <a:t>أولوية التسوية الودية</a:t>
            </a:r>
            <a:endParaRPr lang="ar-AE" sz="1250" dirty="0"/>
          </a:p>
          <a:p>
            <a:pPr algn="r" indent="0" marL="0">
              <a:spcAft>
                <a:spcPts val="300"/>
              </a:spcAft>
              <a:buNone/>
            </a:pPr>
            <a:r>
              <a:rPr lang="ar-AE" altLang="en-US" sz="1050" dirty="0">
                <a:solidFill>
                  <a:schemeClr val="accent3"/>
                </a:solidFill>
              </a:rPr>
              <a:t>نسعى للتفاوض والوساطة قبل التقاضي حيثما أمكن، لتحقيق أفضل نتيجة بأقل كلفة ووقت.</a:t>
            </a:r>
            <a:endParaRPr lang="ar-AE" sz="1250" dirty="0"/>
          </a:p>
        </p:txBody>
      </p:sp>
      <p:sp>
        <p:nvSpPr>
          <p:cNvPr id="19" name="Shape 12"/>
          <p:cNvSpPr/>
          <p:nvPr/>
        </p:nvSpPr>
        <p:spPr>
          <a:xfrm>
            <a:off x="457200" y="2926080"/>
            <a:ext cx="2590800" cy="150876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20" name="icon FaUserShield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35936" y="3127248"/>
            <a:ext cx="310896" cy="310896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658368" y="3566160"/>
            <a:ext cx="2188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300"/>
              </a:spcAft>
              <a:buNone/>
            </a:pPr>
            <a:r>
              <a:rPr lang="ar-AE" altLang="en-US" sz="1250" b="1" dirty="0">
                <a:solidFill>
                  <a:schemeClr val="tx1"/>
                </a:solidFill>
              </a:rPr>
              <a:t>نهج يركّز على الموكل</a:t>
            </a:r>
            <a:endParaRPr lang="ar-AE" sz="1250" dirty="0"/>
          </a:p>
          <a:p>
            <a:pPr algn="r" indent="0" marL="0">
              <a:spcAft>
                <a:spcPts val="300"/>
              </a:spcAft>
              <a:buNone/>
            </a:pPr>
            <a:r>
              <a:rPr lang="ar-AE" altLang="en-US" sz="1050" dirty="0">
                <a:solidFill>
                  <a:schemeClr val="accent3"/>
                </a:solidFill>
              </a:rPr>
              <a:t>تواصل واضح، تحديثات منتظمة، وحلول عملية تُصاغ وفق طبيعة كل مسألة.</a:t>
            </a:r>
            <a:endParaRPr lang="ar-AE" sz="125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لماذا هذا الموضوع مهم لك</a:t>
            </a:r>
            <a:endParaRPr lang="ar-AE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000" b="1" dirty="0">
                <a:solidFill>
                  <a:schemeClr val="accent1"/>
                </a:solidFill>
              </a:rPr>
              <a:t>ما يحدث بدون تخطيط</a:t>
            </a:r>
            <a:endParaRPr lang="ar-AE" sz="1000" dirty="0"/>
          </a:p>
        </p:txBody>
      </p:sp>
      <p:sp>
        <p:nvSpPr>
          <p:cNvPr id="4" name="Shape 2"/>
          <p:cNvSpPr/>
          <p:nvPr/>
        </p:nvSpPr>
        <p:spPr>
          <a:xfrm>
            <a:off x="8229600" y="1188720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5" name="icon FaLock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12801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566160" y="1170432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200"/>
              </a:spcAft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قد تُجمّد الحسابات البنكية</a:t>
            </a:r>
            <a:endParaRPr lang="ar-AE" sz="1300" dirty="0"/>
          </a:p>
          <a:p>
            <a:pPr algn="r" indent="0" marL="0">
              <a:spcAft>
                <a:spcPts val="200"/>
              </a:spcAft>
              <a:buNone/>
            </a:pPr>
            <a:r>
              <a:rPr lang="ar-AE" altLang="en-US" sz="1100" dirty="0">
                <a:solidFill>
                  <a:schemeClr val="accent3"/>
                </a:solidFill>
              </a:rPr>
              <a:t>حتى صدور قرار بتوزيع التركة، مما يوقف مصاريف العائلة اليومية.</a:t>
            </a:r>
            <a:endParaRPr lang="ar-AE" sz="1300" dirty="0"/>
          </a:p>
        </p:txBody>
      </p:sp>
      <p:sp>
        <p:nvSpPr>
          <p:cNvPr id="7" name="Shape 4"/>
          <p:cNvSpPr/>
          <p:nvPr/>
        </p:nvSpPr>
        <p:spPr>
          <a:xfrm>
            <a:off x="8229600" y="2011680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8" name="icon FaHouseLoc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10312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566160" y="1993392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200"/>
              </a:spcAft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قد يتعطّل نقل ملكية العقار</a:t>
            </a:r>
            <a:endParaRPr lang="ar-AE" sz="1300" dirty="0"/>
          </a:p>
          <a:p>
            <a:pPr algn="r" indent="0" marL="0">
              <a:spcAft>
                <a:spcPts val="200"/>
              </a:spcAft>
              <a:buNone/>
            </a:pPr>
            <a:r>
              <a:rPr lang="ar-AE" altLang="en-US" sz="1100" dirty="0">
                <a:solidFill>
                  <a:schemeClr val="accent3"/>
                </a:solidFill>
              </a:rPr>
              <a:t>الإجراءات تختلف باختلاف الجنسية والديانة والحالة العائلية.</a:t>
            </a:r>
            <a:endParaRPr lang="ar-AE" sz="1300" dirty="0"/>
          </a:p>
        </p:txBody>
      </p:sp>
      <p:sp>
        <p:nvSpPr>
          <p:cNvPr id="10" name="Shape 6"/>
          <p:cNvSpPr/>
          <p:nvPr/>
        </p:nvSpPr>
        <p:spPr>
          <a:xfrm>
            <a:off x="8229600" y="2834640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1" name="icon FaChildre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926080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566160" y="2816352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200"/>
              </a:spcAft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الأطفال والورثة</a:t>
            </a:r>
            <a:endParaRPr lang="ar-AE" sz="1300" dirty="0"/>
          </a:p>
          <a:p>
            <a:pPr algn="r" indent="0" marL="0">
              <a:spcAft>
                <a:spcPts val="200"/>
              </a:spcAft>
              <a:buNone/>
            </a:pPr>
            <a:r>
              <a:rPr lang="ar-AE" altLang="en-US" sz="1100" dirty="0">
                <a:solidFill>
                  <a:schemeClr val="accent3"/>
                </a:solidFill>
              </a:rPr>
              <a:t>بدون وثيقة، لا وصي معيّن على القاصرين ولا مسار واضح لحصص الورثة داخل الدولة وخارجها.</a:t>
            </a:r>
            <a:endParaRPr lang="ar-AE" sz="1300" dirty="0"/>
          </a:p>
        </p:txBody>
      </p:sp>
      <p:sp>
        <p:nvSpPr>
          <p:cNvPr id="13" name="Shape 8"/>
          <p:cNvSpPr/>
          <p:nvPr/>
        </p:nvSpPr>
        <p:spPr>
          <a:xfrm>
            <a:off x="8229600" y="3657600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4" name="icon FaPeopleArrows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3749040"/>
            <a:ext cx="274320" cy="2743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3566160" y="3639312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200"/>
              </a:spcAft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النزاعات العائلية</a:t>
            </a:r>
            <a:endParaRPr lang="ar-AE" sz="1300" dirty="0"/>
          </a:p>
          <a:p>
            <a:pPr algn="r" indent="0" marL="0">
              <a:spcAft>
                <a:spcPts val="200"/>
              </a:spcAft>
              <a:buNone/>
            </a:pPr>
            <a:r>
              <a:rPr lang="ar-AE" altLang="en-US" sz="1100" dirty="0">
                <a:solidFill>
                  <a:schemeClr val="accent3"/>
                </a:solidFill>
              </a:rPr>
              <a:t>غياب الوضوح يفتح الباب للخلاف في أصعب الأوقات.</a:t>
            </a:r>
            <a:endParaRPr lang="ar-AE" sz="1300" dirty="0"/>
          </a:p>
        </p:txBody>
      </p:sp>
      <p:sp>
        <p:nvSpPr>
          <p:cNvPr id="16" name="Shape 10"/>
          <p:cNvSpPr/>
          <p:nvPr/>
        </p:nvSpPr>
        <p:spPr>
          <a:xfrm>
            <a:off x="457200" y="1188720"/>
            <a:ext cx="2743200" cy="3246120"/>
          </a:xfrm>
          <a:prstGeom prst="rect">
            <a:avLst/>
          </a:prstGeom>
          <a:solidFill>
            <a:srgbClr val="0E2238"/>
          </a:solidFill>
          <a:ln w="12700">
            <a:solidFill>
              <a:srgbClr val="0E2238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566928" y="1298448"/>
            <a:ext cx="2523744" cy="3026664"/>
          </a:xfrm>
          <a:prstGeom prst="rect">
            <a:avLst/>
          </a:prstGeom>
          <a:ln w="9525">
            <a:solidFill>
              <a:srgbClr val="B5723B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777240" y="15087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لهذا يرتّب المستثمرون أمورهم مسبقاً</a:t>
            </a:r>
            <a:endParaRPr lang="ar-AE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777240" y="2468880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150" dirty="0">
                <a:solidFill>
                  <a:schemeClr val="bg2"/>
                </a:solidFill>
              </a:rPr>
              <a:t>ترتيب بسيط اليوم يحمي استثمارك وعائلتك، ويجعل الإجراءات أسهل والملفات جاهزة.</a:t>
            </a:r>
            <a:endParaRPr lang="ar-AE" sz="1150" dirty="0"/>
          </a:p>
        </p:txBody>
      </p:sp>
      <p:sp>
        <p:nvSpPr>
          <p:cNvPr id="20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من لا يملك وصية: ما تقوله الاستطلاعات</a:t>
            </a:r>
            <a:endParaRPr lang="ar-AE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000" b="1" dirty="0">
                <a:solidFill>
                  <a:schemeClr val="accent1"/>
                </a:solidFill>
              </a:rPr>
              <a:t>الأرقام</a:t>
            </a:r>
            <a:endParaRPr lang="ar-AE" sz="1000" dirty="0"/>
          </a:p>
        </p:txBody>
      </p:sp>
      <p:sp>
        <p:nvSpPr>
          <p:cNvPr id="4" name="Shape 2"/>
          <p:cNvSpPr/>
          <p:nvPr/>
        </p:nvSpPr>
        <p:spPr>
          <a:xfrm>
            <a:off x="6780276" y="1188720"/>
            <a:ext cx="1906524" cy="29260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963156" y="1325880"/>
            <a:ext cx="15407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49%</a:t>
            </a:r>
            <a:endParaRPr lang="ar-AE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6963156" y="2286000"/>
            <a:ext cx="15407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300"/>
              </a:spcAft>
              <a:buNone/>
            </a:pPr>
            <a:r>
              <a:rPr lang="ar-AE" altLang="en-US" sz="1250" b="1" dirty="0">
                <a:solidFill>
                  <a:schemeClr val="tx1"/>
                </a:solidFill>
              </a:rPr>
              <a:t>لم يبدأوا وصية</a:t>
            </a:r>
            <a:endParaRPr lang="ar-AE" sz="1250" dirty="0"/>
          </a:p>
          <a:p>
            <a:pPr algn="r" indent="0" marL="0">
              <a:spcAft>
                <a:spcPts val="300"/>
              </a:spcAft>
              <a:buNone/>
            </a:pPr>
            <a:r>
              <a:rPr lang="ar-AE" altLang="en-US" sz="1000" dirty="0">
                <a:solidFill>
                  <a:schemeClr val="accent3"/>
                </a:solidFill>
              </a:rPr>
              <a:t>من المقيمين الأجانب في الإمارات، 2026</a:t>
            </a:r>
            <a:endParaRPr lang="ar-AE" sz="1250" dirty="0"/>
          </a:p>
        </p:txBody>
      </p:sp>
      <p:sp>
        <p:nvSpPr>
          <p:cNvPr id="7" name="Shape 5"/>
          <p:cNvSpPr/>
          <p:nvPr/>
        </p:nvSpPr>
        <p:spPr>
          <a:xfrm>
            <a:off x="4672584" y="1188720"/>
            <a:ext cx="1906524" cy="29260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55464" y="1325880"/>
            <a:ext cx="15407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56%</a:t>
            </a:r>
            <a:endParaRPr lang="ar-AE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4855464" y="2286000"/>
            <a:ext cx="15407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300"/>
              </a:spcAft>
              <a:buNone/>
            </a:pPr>
            <a:r>
              <a:rPr lang="ar-AE" altLang="en-US" sz="1250" b="1" dirty="0">
                <a:solidFill>
                  <a:schemeClr val="tx1"/>
                </a:solidFill>
              </a:rPr>
              <a:t>يعتقدون أن الزوج/الزوجة يرث كل شيء تلقائياً</a:t>
            </a:r>
            <a:endParaRPr lang="ar-AE" sz="1250" dirty="0"/>
          </a:p>
          <a:p>
            <a:pPr algn="r" indent="0" marL="0">
              <a:spcAft>
                <a:spcPts val="300"/>
              </a:spcAft>
              <a:buNone/>
            </a:pPr>
            <a:r>
              <a:rPr lang="ar-AE" altLang="en-US" sz="1000" dirty="0">
                <a:solidFill>
                  <a:schemeClr val="accent3"/>
                </a:solidFill>
              </a:rPr>
              <a:t>وهو اعتقاد خاطئ قانونياً</a:t>
            </a:r>
            <a:endParaRPr lang="ar-AE" sz="1250" dirty="0"/>
          </a:p>
        </p:txBody>
      </p:sp>
      <p:sp>
        <p:nvSpPr>
          <p:cNvPr id="10" name="Shape 8"/>
          <p:cNvSpPr/>
          <p:nvPr/>
        </p:nvSpPr>
        <p:spPr>
          <a:xfrm>
            <a:off x="2564892" y="1188720"/>
            <a:ext cx="1906524" cy="29260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47772" y="1325880"/>
            <a:ext cx="15407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24%</a:t>
            </a:r>
            <a:endParaRPr lang="ar-AE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2747772" y="2286000"/>
            <a:ext cx="15407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300"/>
              </a:spcAft>
              <a:buNone/>
            </a:pPr>
            <a:r>
              <a:rPr lang="ar-AE" altLang="en-US" sz="1250" b="1" dirty="0">
                <a:solidFill>
                  <a:schemeClr val="tx1"/>
                </a:solidFill>
              </a:rPr>
              <a:t>فقط من الآباء وثّقوا الوصاية على أطفالهم</a:t>
            </a:r>
            <a:endParaRPr lang="ar-AE" sz="1250" dirty="0"/>
          </a:p>
          <a:p>
            <a:pPr algn="r" indent="0" marL="0">
              <a:spcAft>
                <a:spcPts val="300"/>
              </a:spcAft>
              <a:buNone/>
            </a:pPr>
            <a:r>
              <a:rPr lang="ar-AE" altLang="en-US" sz="1000" dirty="0">
                <a:solidFill>
                  <a:schemeClr val="accent3"/>
                </a:solidFill>
              </a:rPr>
              <a:t>مقابل 73% يظنون أن عائلاتهم ستعرف رغباتهم</a:t>
            </a:r>
            <a:endParaRPr lang="ar-AE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1188720"/>
            <a:ext cx="1906524" cy="29260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1325880"/>
            <a:ext cx="15407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نحو 90%</a:t>
            </a:r>
            <a:endParaRPr lang="ar-AE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2286000"/>
            <a:ext cx="15407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300"/>
              </a:spcAft>
              <a:buNone/>
            </a:pPr>
            <a:r>
              <a:rPr lang="ar-AE" altLang="en-US" sz="1250" b="1" dirty="0">
                <a:solidFill>
                  <a:schemeClr val="tx1"/>
                </a:solidFill>
              </a:rPr>
              <a:t>من مالكي الأصول في دبي لم يكن لديهم وصية مسجلة</a:t>
            </a:r>
            <a:endParaRPr lang="ar-AE" sz="1250" dirty="0"/>
          </a:p>
          <a:p>
            <a:pPr algn="r" indent="0" marL="0">
              <a:spcAft>
                <a:spcPts val="300"/>
              </a:spcAft>
              <a:buNone/>
            </a:pPr>
            <a:r>
              <a:rPr lang="ar-AE" altLang="en-US" sz="1000" dirty="0">
                <a:solidFill>
                  <a:schemeClr val="accent3"/>
                </a:solidFill>
              </a:rPr>
              <a:t>استطلاع سجل وصايا DIFC، 2017: «أكثر بقليل من 10%» لديهم وصية</a:t>
            </a:r>
            <a:endParaRPr lang="ar-AE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1879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800" i="1" dirty="0">
                <a:solidFill>
                  <a:schemeClr val="accent3"/>
                </a:solidFill>
              </a:rPr>
              <a:t>المصدر: استطلاع YouGov لصالح Blanket، 1,014 مقيماً، سبتمبر 2026؛ واستطلاع سجل وصايا DIFC لعام 2017. أبرز أسباب عدم كتابة الوصية: 28% يرون أصولهم غير كافية، و21% لا يعرفون من أين يبدؤون.</a:t>
            </a:r>
            <a:endParaRPr lang="ar-AE" sz="800" dirty="0"/>
          </a:p>
        </p:txBody>
      </p:sp>
      <p:sp>
        <p:nvSpPr>
          <p:cNvPr id="17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8046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7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أقل من 1%</a:t>
            </a:r>
            <a:endParaRPr lang="ar-AE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4231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من المقيمين الأجانب لديهم وصية مسجلة في الإمارات</a:t>
            </a:r>
            <a:endParaRPr lang="ar-AE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737360" y="315468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300" dirty="0">
                <a:solidFill>
                  <a:schemeClr val="accent2"/>
                </a:solidFill>
              </a:rPr>
              <a:t>تقديرنا الاسترشادي: نحو 35,000 وصية مسجلة لغير المسلمين (DIFC أكثر من 14,000 + أبوظبي 21,000، بالإضافة إلى سجل محاكم دبي غير المنشور) مقابل نحو 10 ملايين مقيم أجنبي. حتى لو تضاعف الرقم ثلاث مرات، تبقى النسبة دون 1%.</a:t>
            </a:r>
            <a:endParaRPr lang="ar-AE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245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900" i="1" dirty="0">
                <a:solidFill>
                  <a:schemeClr val="accent3"/>
                </a:solidFill>
              </a:rPr>
              <a:t>حساب مكتب راشد الكيتوب من الأرقام الرسمية المذكورة في هذا العرض. ليس إحصائية رسمية.</a:t>
            </a:r>
            <a:endParaRPr lang="ar-AE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دبي تختصر زمن تسوية التركات من 81 يوماً إلى 13.8</a:t>
            </a:r>
            <a:endParaRPr lang="ar-AE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000" b="1" dirty="0">
                <a:solidFill>
                  <a:schemeClr val="accent1"/>
                </a:solidFill>
              </a:rPr>
              <a:t>الأرقام</a:t>
            </a:r>
            <a:endParaRPr lang="ar-AE" sz="1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474720" y="1188720"/>
          <a:ext cx="521208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1188720"/>
            <a:ext cx="2788920" cy="30175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3258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 → 3</a:t>
            </a:r>
            <a:endParaRPr lang="ar-AE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0574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250" b="1" dirty="0">
                <a:solidFill>
                  <a:schemeClr val="tx1"/>
                </a:solidFill>
              </a:rPr>
              <a:t>يوماً: زمن إجراءات الوفاة بعد منصة «جبر» (أكتوبر 2025)</a:t>
            </a:r>
            <a:endParaRPr lang="ar-AE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834640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000" dirty="0">
                <a:solidFill>
                  <a:schemeClr val="accent3"/>
                </a:solidFill>
              </a:rPr>
              <a:t>المتطلبات من 10 إلى 4، و1,103 حالة في أول ثلاثة أشهر. القيود التنظيمية لمحكمة التركات: التحضير ≤ 30 يوماً، والتقاضي ≤ 12 شهراً. ما يحدث خارج دبي، أو بلا وصية، أو مع نزاع، لا تغطيه هذه الأرقام.</a:t>
            </a:r>
            <a:endParaRPr lang="ar-AE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1879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800" i="1" dirty="0">
                <a:solidFill>
                  <a:schemeClr val="accent3"/>
                </a:solidFill>
              </a:rPr>
              <a:t>محاكم دبي: التقارير السنوية 2022–2025 والمكتب الإعلامي لحكومة دبي</a:t>
            </a:r>
            <a:endParaRPr lang="ar-AE" sz="800" dirty="0"/>
          </a:p>
        </p:txBody>
      </p:sp>
      <p:sp>
        <p:nvSpPr>
          <p:cNvPr id="10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المشاكل التي تحدث فعلاً</a:t>
            </a:r>
            <a:endParaRPr lang="ar-AE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000" b="1" dirty="0">
                <a:solidFill>
                  <a:schemeClr val="accent1"/>
                </a:solidFill>
              </a:rPr>
              <a:t>الأرقام</a:t>
            </a:r>
            <a:endParaRPr lang="ar-AE" sz="1000" dirty="0"/>
          </a:p>
        </p:txBody>
      </p:sp>
      <p:sp>
        <p:nvSpPr>
          <p:cNvPr id="4" name="Shape 2"/>
          <p:cNvSpPr/>
          <p:nvPr/>
        </p:nvSpPr>
        <p:spPr>
          <a:xfrm>
            <a:off x="8229600" y="1188720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5" name="icon FaLock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12801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1170432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200"/>
              </a:spcAft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تجميد الحسابات البنكية فوراً، بما فيها المشتركة</a:t>
            </a:r>
            <a:endParaRPr lang="ar-AE" sz="1300" dirty="0"/>
          </a:p>
          <a:p>
            <a:pPr algn="r" indent="0" marL="0">
              <a:spcAft>
                <a:spcPts val="200"/>
              </a:spcAft>
              <a:buNone/>
            </a:pPr>
            <a:r>
              <a:rPr lang="ar-AE" altLang="en-US" sz="1100" dirty="0">
                <a:solidFill>
                  <a:schemeClr val="accent3"/>
                </a:solidFill>
              </a:rPr>
              <a:t>تبقى مجمّدة حتى صدور أوامر التوزيع؛ الإفراج الجزئي نادر، والإفراج بعد الأوامر يستغرق 2–6 أسابيع إضافية.</a:t>
            </a:r>
            <a:endParaRPr lang="ar-AE" sz="1300" dirty="0"/>
          </a:p>
        </p:txBody>
      </p:sp>
      <p:sp>
        <p:nvSpPr>
          <p:cNvPr id="7" name="Shape 4"/>
          <p:cNvSpPr/>
          <p:nvPr/>
        </p:nvSpPr>
        <p:spPr>
          <a:xfrm>
            <a:off x="8229600" y="1847088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8" name="icon FaHouseLoc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938528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1828800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200"/>
              </a:spcAft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تعطّل نقل ملكية العقارات والمركبات والرخص</a:t>
            </a:r>
            <a:endParaRPr lang="ar-AE" sz="1300" dirty="0"/>
          </a:p>
          <a:p>
            <a:pPr algn="r" indent="0" marL="0">
              <a:spcAft>
                <a:spcPts val="200"/>
              </a:spcAft>
              <a:buNone/>
            </a:pPr>
            <a:r>
              <a:rPr lang="ar-AE" altLang="en-US" sz="1100" dirty="0">
                <a:solidFill>
                  <a:schemeClr val="accent3"/>
                </a:solidFill>
              </a:rPr>
              <a:t>في دبي وحدها مرّ عبر تسويات التركات في 2025: 1,052 عقاراً، 357 مركبة، 240 لوحة، 284 رخصة تجارية.</a:t>
            </a:r>
            <a:endParaRPr lang="ar-AE" sz="1300" dirty="0"/>
          </a:p>
        </p:txBody>
      </p:sp>
      <p:sp>
        <p:nvSpPr>
          <p:cNvPr id="10" name="Shape 6"/>
          <p:cNvSpPr/>
          <p:nvPr/>
        </p:nvSpPr>
        <p:spPr>
          <a:xfrm>
            <a:off x="8229600" y="2505456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1" name="icon FaChildre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596896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57200" y="2487168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200"/>
              </a:spcAft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وصاية غير موثقة على الأطفال</a:t>
            </a:r>
            <a:endParaRPr lang="ar-AE" sz="1300" dirty="0"/>
          </a:p>
          <a:p>
            <a:pPr algn="r" indent="0" marL="0">
              <a:spcAft>
                <a:spcPts val="200"/>
              </a:spcAft>
              <a:buNone/>
            </a:pPr>
            <a:r>
              <a:rPr lang="ar-AE" altLang="en-US" sz="1100" dirty="0">
                <a:solidFill>
                  <a:schemeClr val="accent3"/>
                </a:solidFill>
              </a:rPr>
              <a:t>24% فقط من الآباء وثّقوا الوصاية؛ أما 28% فيظنون أنهم لا يملكون أصولاً تستحق وصية.</a:t>
            </a:r>
            <a:endParaRPr lang="ar-AE" sz="1300" dirty="0"/>
          </a:p>
        </p:txBody>
      </p:sp>
      <p:sp>
        <p:nvSpPr>
          <p:cNvPr id="13" name="Shape 8"/>
          <p:cNvSpPr/>
          <p:nvPr/>
        </p:nvSpPr>
        <p:spPr>
          <a:xfrm>
            <a:off x="8229600" y="3163824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4" name="icon FaPeopleArrows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3255264"/>
            <a:ext cx="274320" cy="2743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457200" y="3145536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200"/>
              </a:spcAft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النزاعات بين الورثة</a:t>
            </a:r>
            <a:endParaRPr lang="ar-AE" sz="1300" dirty="0"/>
          </a:p>
          <a:p>
            <a:pPr algn="r" indent="0" marL="0">
              <a:spcAft>
                <a:spcPts val="200"/>
              </a:spcAft>
              <a:buNone/>
            </a:pPr>
            <a:r>
              <a:rPr lang="ar-AE" altLang="en-US" sz="1100" dirty="0">
                <a:solidFill>
                  <a:schemeClr val="accent3"/>
                </a:solidFill>
              </a:rPr>
              <a:t>مطالبات بقيمة 35 مليار درهم أمام محكمة التركات في دبي عام 2024، و7.5% من الملفات في 2025 لم تُحل ودياً.</a:t>
            </a:r>
            <a:endParaRPr lang="ar-AE" sz="1300" dirty="0"/>
          </a:p>
        </p:txBody>
      </p:sp>
      <p:sp>
        <p:nvSpPr>
          <p:cNvPr id="16" name="Shape 10"/>
          <p:cNvSpPr/>
          <p:nvPr/>
        </p:nvSpPr>
        <p:spPr>
          <a:xfrm>
            <a:off x="8229600" y="3822192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7" name="icon FaFileCircleExclamati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0" y="3913632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457200" y="3803904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200"/>
              </a:spcAft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وثائق أجنبية تحتاج تصديقاً وترجمة</a:t>
            </a:r>
            <a:endParaRPr lang="ar-AE" sz="1300" dirty="0"/>
          </a:p>
          <a:p>
            <a:pPr algn="r" indent="0" marL="0">
              <a:spcAft>
                <a:spcPts val="200"/>
              </a:spcAft>
              <a:buNone/>
            </a:pPr>
            <a:r>
              <a:rPr lang="ar-AE" altLang="en-US" sz="1100" dirty="0">
                <a:solidFill>
                  <a:schemeClr val="accent3"/>
                </a:solidFill>
              </a:rPr>
              <a:t>في غياب وصية محلية، يجب تصديق شهادات الزواج والميلاد وإثبات القانون الأجنبي، وهو أكبر مصدر للتأخير.</a:t>
            </a:r>
            <a:endParaRPr lang="ar-AE" sz="1300" dirty="0"/>
          </a:p>
        </p:txBody>
      </p:sp>
      <p:sp>
        <p:nvSpPr>
          <p:cNvPr id="19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مع التخطيط وبدونه</a:t>
            </a:r>
            <a:endParaRPr lang="ar-AE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000" b="1" dirty="0">
                <a:solidFill>
                  <a:schemeClr val="accent1"/>
                </a:solidFill>
              </a:rPr>
              <a:t>المقارنة</a:t>
            </a:r>
            <a:endParaRPr lang="ar-AE" sz="1000" dirty="0"/>
          </a:p>
        </p:txBody>
      </p:sp>
      <p:sp>
        <p:nvSpPr>
          <p:cNvPr id="4" name="Shape 2"/>
          <p:cNvSpPr/>
          <p:nvPr/>
        </p:nvSpPr>
        <p:spPr>
          <a:xfrm>
            <a:off x="4686300" y="1188720"/>
            <a:ext cx="4000500" cy="548640"/>
          </a:xfrm>
          <a:prstGeom prst="rect">
            <a:avLst/>
          </a:prstGeom>
          <a:solidFill>
            <a:srgbClr val="0E2238"/>
          </a:solidFill>
          <a:ln w="12700">
            <a:solidFill>
              <a:srgbClr val="0E223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823460" y="1188720"/>
            <a:ext cx="37261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300" b="1" dirty="0">
                <a:solidFill>
                  <a:schemeClr val="accent2"/>
                </a:solidFill>
              </a:rPr>
              <a:t>بدون وصية أو هيكلة</a:t>
            </a:r>
            <a:endParaRPr lang="ar-AE" sz="1300" dirty="0"/>
          </a:p>
        </p:txBody>
      </p:sp>
      <p:sp>
        <p:nvSpPr>
          <p:cNvPr id="6" name="Shape 4"/>
          <p:cNvSpPr/>
          <p:nvPr/>
        </p:nvSpPr>
        <p:spPr>
          <a:xfrm>
            <a:off x="4686300" y="1737360"/>
            <a:ext cx="4000500" cy="26974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23460" y="1874520"/>
            <a:ext cx="37261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ar-AE" altLang="en-US" sz="1100" dirty="0">
                <a:solidFill>
                  <a:schemeClr val="tx2"/>
                </a:solidFill>
              </a:rPr>
              <a:t>إجراءات قانونية تختلف حسب الحالة والجنسية</a:t>
            </a:r>
            <a:endParaRPr lang="ar-AE" sz="1100" dirty="0"/>
          </a:p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ar-AE" altLang="en-US" sz="1100" dirty="0">
                <a:solidFill>
                  <a:schemeClr val="tx2"/>
                </a:solidFill>
              </a:rPr>
              <a:t>احتمال تجميد الحسابات والعقارات</a:t>
            </a:r>
            <a:endParaRPr lang="ar-AE" sz="1100" dirty="0"/>
          </a:p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ar-AE" altLang="en-US" sz="1100" dirty="0">
                <a:solidFill>
                  <a:schemeClr val="tx2"/>
                </a:solidFill>
              </a:rPr>
              <a:t>وقت أطول وتكاليف أعلى للورثة</a:t>
            </a:r>
            <a:endParaRPr lang="ar-AE" sz="1100" dirty="0"/>
          </a:p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ar-AE" altLang="en-US" sz="1100" dirty="0">
                <a:solidFill>
                  <a:schemeClr val="tx2"/>
                </a:solidFill>
              </a:rPr>
              <a:t>لا وصي معيّن على الأطفال</a:t>
            </a:r>
            <a:endParaRPr lang="ar-AE" sz="1100" dirty="0"/>
          </a:p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ar-AE" altLang="en-US" sz="1100" dirty="0">
                <a:solidFill>
                  <a:schemeClr val="tx2"/>
                </a:solidFill>
              </a:rPr>
              <a:t>احتمال نزاع بين الورثة</a:t>
            </a:r>
            <a:endParaRPr lang="ar-AE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4000500" cy="548640"/>
          </a:xfrm>
          <a:prstGeom prst="rect">
            <a:avLst/>
          </a:prstGeom>
          <a:solidFill>
            <a:srgbClr val="B5723B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1188720"/>
            <a:ext cx="37261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مع وصية مسجلة وهيكلة مناسبة</a:t>
            </a:r>
            <a:endParaRPr lang="ar-AE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737360"/>
            <a:ext cx="4000500" cy="26974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1874520"/>
            <a:ext cx="37261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ar-AE" altLang="en-US" sz="1100" dirty="0">
                <a:solidFill>
                  <a:schemeClr val="tx2"/>
                </a:solidFill>
              </a:rPr>
              <a:t>مسار واضح لانتقال الملكية</a:t>
            </a:r>
            <a:endParaRPr lang="ar-AE" sz="1100" dirty="0"/>
          </a:p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ar-AE" altLang="en-US" sz="1100" dirty="0">
                <a:solidFill>
                  <a:schemeClr val="tx2"/>
                </a:solidFill>
              </a:rPr>
              <a:t>حماية الحسابات والعقارات والشركات</a:t>
            </a:r>
            <a:endParaRPr lang="ar-AE" sz="1100" dirty="0"/>
          </a:p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ar-AE" altLang="en-US" sz="1100" dirty="0">
                <a:solidFill>
                  <a:schemeClr val="tx2"/>
                </a:solidFill>
              </a:rPr>
              <a:t>وصي معيّن وحصص محددة للأطفال</a:t>
            </a:r>
            <a:endParaRPr lang="ar-AE" sz="1100" dirty="0"/>
          </a:p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ar-AE" altLang="en-US" sz="1100" dirty="0">
                <a:solidFill>
                  <a:schemeClr val="tx2"/>
                </a:solidFill>
              </a:rPr>
              <a:t>قانونك المفضّل أو الهيكلة التي تختارها</a:t>
            </a:r>
            <a:endParaRPr lang="ar-AE" sz="1100" dirty="0"/>
          </a:p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ar-AE" altLang="en-US" sz="1100" dirty="0">
                <a:solidFill>
                  <a:schemeClr val="tx2"/>
                </a:solidFill>
              </a:rPr>
              <a:t>راحة بال لك ولعائلتك</a:t>
            </a:r>
            <a:endParaRPr lang="ar-AE" sz="1100" dirty="0"/>
          </a:p>
        </p:txBody>
      </p:sp>
      <p:sp>
        <p:nvSpPr>
          <p:cNvPr id="12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ما الذي يمكننا حمايته</a:t>
            </a:r>
            <a:endParaRPr lang="ar-AE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000" b="1" dirty="0">
                <a:solidFill>
                  <a:schemeClr val="accent1"/>
                </a:solidFill>
              </a:rPr>
              <a:t>نطاق الحماية</a:t>
            </a:r>
            <a:endParaRPr lang="ar-AE" sz="1000" dirty="0"/>
          </a:p>
        </p:txBody>
      </p:sp>
      <p:sp>
        <p:nvSpPr>
          <p:cNvPr id="4" name="Shape 2"/>
          <p:cNvSpPr/>
          <p:nvPr/>
        </p:nvSpPr>
        <p:spPr>
          <a:xfrm>
            <a:off x="6096000" y="1188720"/>
            <a:ext cx="2590800" cy="150876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5" name="icon FaHous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4736" y="1389888"/>
            <a:ext cx="310896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297168" y="1828800"/>
            <a:ext cx="2188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300"/>
              </a:spcAft>
              <a:buNone/>
            </a:pPr>
            <a:r>
              <a:rPr lang="ar-AE" altLang="en-US" sz="1250" b="1" dirty="0">
                <a:solidFill>
                  <a:schemeClr val="tx1"/>
                </a:solidFill>
              </a:rPr>
              <a:t>العقارات في الإمارات</a:t>
            </a:r>
            <a:endParaRPr lang="ar-AE" sz="1250" dirty="0"/>
          </a:p>
          <a:p>
            <a:pPr algn="r" indent="0" marL="0">
              <a:spcAft>
                <a:spcPts val="300"/>
              </a:spcAft>
              <a:buNone/>
            </a:pPr>
            <a:r>
              <a:rPr lang="ar-AE" altLang="en-US" sz="1050" dirty="0">
                <a:solidFill>
                  <a:schemeClr val="accent3"/>
                </a:solidFill>
              </a:rPr>
              <a:t>الوحدات السكنية والتجارية وعلى الخارطة.</a:t>
            </a:r>
            <a:endParaRPr lang="ar-AE" sz="1250" dirty="0"/>
          </a:p>
        </p:txBody>
      </p:sp>
      <p:sp>
        <p:nvSpPr>
          <p:cNvPr id="7" name="Shape 4"/>
          <p:cNvSpPr/>
          <p:nvPr/>
        </p:nvSpPr>
        <p:spPr>
          <a:xfrm>
            <a:off x="3276600" y="1188720"/>
            <a:ext cx="2590800" cy="150876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8" name="icon FaBriefcas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5336" y="1389888"/>
            <a:ext cx="310896" cy="31089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477768" y="1828800"/>
            <a:ext cx="2188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300"/>
              </a:spcAft>
              <a:buNone/>
            </a:pPr>
            <a:r>
              <a:rPr lang="ar-AE" altLang="en-US" sz="1250" b="1" dirty="0">
                <a:solidFill>
                  <a:schemeClr val="tx1"/>
                </a:solidFill>
              </a:rPr>
              <a:t>الشركات والحصص</a:t>
            </a:r>
            <a:endParaRPr lang="ar-AE" sz="1250" dirty="0"/>
          </a:p>
          <a:p>
            <a:pPr algn="r" indent="0" marL="0">
              <a:spcAft>
                <a:spcPts val="300"/>
              </a:spcAft>
              <a:buNone/>
            </a:pPr>
            <a:r>
              <a:rPr lang="ar-AE" altLang="en-US" sz="1050" dirty="0">
                <a:solidFill>
                  <a:schemeClr val="accent3"/>
                </a:solidFill>
              </a:rPr>
              <a:t>ضمان استمرارية الأعمال وانتقال الحصص.</a:t>
            </a:r>
            <a:endParaRPr lang="ar-AE" sz="1250" dirty="0"/>
          </a:p>
        </p:txBody>
      </p:sp>
      <p:sp>
        <p:nvSpPr>
          <p:cNvPr id="10" name="Shape 6"/>
          <p:cNvSpPr/>
          <p:nvPr/>
        </p:nvSpPr>
        <p:spPr>
          <a:xfrm>
            <a:off x="457200" y="1188720"/>
            <a:ext cx="2590800" cy="150876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1" name="icon FaBuildingColumns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5936" y="1389888"/>
            <a:ext cx="310896" cy="31089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58368" y="1828800"/>
            <a:ext cx="2188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300"/>
              </a:spcAft>
              <a:buNone/>
            </a:pPr>
            <a:r>
              <a:rPr lang="ar-AE" altLang="en-US" sz="1250" b="1" dirty="0">
                <a:solidFill>
                  <a:schemeClr val="tx1"/>
                </a:solidFill>
              </a:rPr>
              <a:t>الحسابات البنكية</a:t>
            </a:r>
            <a:endParaRPr lang="ar-AE" sz="1250" dirty="0"/>
          </a:p>
          <a:p>
            <a:pPr algn="r" indent="0" marL="0">
              <a:spcAft>
                <a:spcPts val="300"/>
              </a:spcAft>
              <a:buNone/>
            </a:pPr>
            <a:r>
              <a:rPr lang="ar-AE" altLang="en-US" sz="1050" dirty="0">
                <a:solidFill>
                  <a:schemeClr val="accent3"/>
                </a:solidFill>
              </a:rPr>
              <a:t>تحديد من يتسلمها وكيف.</a:t>
            </a:r>
            <a:endParaRPr lang="ar-AE" sz="1250" dirty="0"/>
          </a:p>
        </p:txBody>
      </p:sp>
      <p:sp>
        <p:nvSpPr>
          <p:cNvPr id="13" name="Shape 8"/>
          <p:cNvSpPr/>
          <p:nvPr/>
        </p:nvSpPr>
        <p:spPr>
          <a:xfrm>
            <a:off x="6096000" y="2926080"/>
            <a:ext cx="2590800" cy="150876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4" name="icon FaChildre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3127248"/>
            <a:ext cx="310896" cy="31089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297168" y="3566160"/>
            <a:ext cx="2188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300"/>
              </a:spcAft>
              <a:buNone/>
            </a:pPr>
            <a:r>
              <a:rPr lang="ar-AE" altLang="en-US" sz="1250" b="1" dirty="0">
                <a:solidFill>
                  <a:schemeClr val="tx1"/>
                </a:solidFill>
              </a:rPr>
              <a:t>الأطفال والوصاية</a:t>
            </a:r>
            <a:endParaRPr lang="ar-AE" sz="1250" dirty="0"/>
          </a:p>
          <a:p>
            <a:pPr algn="r" indent="0" marL="0">
              <a:spcAft>
                <a:spcPts val="300"/>
              </a:spcAft>
              <a:buNone/>
            </a:pPr>
            <a:r>
              <a:rPr lang="ar-AE" altLang="en-US" sz="1050" dirty="0">
                <a:solidFill>
                  <a:schemeClr val="accent3"/>
                </a:solidFill>
              </a:rPr>
              <a:t>تعيين وصي تثق به على القاصرين.</a:t>
            </a:r>
            <a:endParaRPr lang="ar-AE" sz="1250" dirty="0"/>
          </a:p>
        </p:txBody>
      </p:sp>
      <p:sp>
        <p:nvSpPr>
          <p:cNvPr id="16" name="Shape 10"/>
          <p:cNvSpPr/>
          <p:nvPr/>
        </p:nvSpPr>
        <p:spPr>
          <a:xfrm>
            <a:off x="3276600" y="2926080"/>
            <a:ext cx="2590800" cy="150876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7" name="icon FaGlob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5336" y="3127248"/>
            <a:ext cx="310896" cy="310896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3477768" y="3566160"/>
            <a:ext cx="2188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300"/>
              </a:spcAft>
              <a:buNone/>
            </a:pPr>
            <a:r>
              <a:rPr lang="ar-AE" altLang="en-US" sz="1250" b="1" dirty="0">
                <a:solidFill>
                  <a:schemeClr val="tx1"/>
                </a:solidFill>
              </a:rPr>
              <a:t>الورثة داخل الدولة وخارجها</a:t>
            </a:r>
            <a:endParaRPr lang="ar-AE" sz="1250" dirty="0"/>
          </a:p>
          <a:p>
            <a:pPr algn="r" indent="0" marL="0">
              <a:spcAft>
                <a:spcPts val="300"/>
              </a:spcAft>
              <a:buNone/>
            </a:pPr>
            <a:r>
              <a:rPr lang="ar-AE" altLang="en-US" sz="1050" dirty="0">
                <a:solidFill>
                  <a:schemeClr val="accent3"/>
                </a:solidFill>
              </a:rPr>
              <a:t>تنسيق مع وصاياك في بلدك الأم إن وُجدت.</a:t>
            </a:r>
            <a:endParaRPr lang="ar-AE" sz="1250" dirty="0"/>
          </a:p>
        </p:txBody>
      </p:sp>
      <p:sp>
        <p:nvSpPr>
          <p:cNvPr id="19" name="Shape 12"/>
          <p:cNvSpPr/>
          <p:nvPr/>
        </p:nvSpPr>
        <p:spPr>
          <a:xfrm>
            <a:off x="457200" y="2926080"/>
            <a:ext cx="2590800" cy="150876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20" name="icon FaLayerGroup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35936" y="3127248"/>
            <a:ext cx="310896" cy="310896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658368" y="3566160"/>
            <a:ext cx="2188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300"/>
              </a:spcAft>
              <a:buNone/>
            </a:pPr>
            <a:r>
              <a:rPr lang="ar-AE" altLang="en-US" sz="1250" b="1" dirty="0">
                <a:solidFill>
                  <a:schemeClr val="tx1"/>
                </a:solidFill>
              </a:rPr>
              <a:t>الأصول في أكثر من دولة</a:t>
            </a:r>
            <a:endParaRPr lang="ar-AE" sz="1250" dirty="0"/>
          </a:p>
          <a:p>
            <a:pPr algn="r" indent="0" marL="0">
              <a:spcAft>
                <a:spcPts val="300"/>
              </a:spcAft>
              <a:buNone/>
            </a:pPr>
            <a:r>
              <a:rPr lang="ar-AE" altLang="en-US" sz="1050" dirty="0">
                <a:solidFill>
                  <a:schemeClr val="accent3"/>
                </a:solidFill>
              </a:rPr>
              <a:t>هياكل قابضة أو مؤسسات أو صناديق.</a:t>
            </a:r>
            <a:endParaRPr lang="ar-AE" sz="125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جهات تسجيل الوصايا في الإمارات</a:t>
            </a:r>
            <a:endParaRPr lang="ar-AE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000" b="1" dirty="0">
                <a:solidFill>
                  <a:schemeClr val="accent1"/>
                </a:solidFill>
              </a:rPr>
              <a:t>الإطار القانوني</a:t>
            </a:r>
            <a:endParaRPr lang="ar-AE" sz="1000" dirty="0"/>
          </a:p>
        </p:txBody>
      </p:sp>
      <p:sp>
        <p:nvSpPr>
          <p:cNvPr id="4" name="Shape 2"/>
          <p:cNvSpPr/>
          <p:nvPr/>
        </p:nvSpPr>
        <p:spPr>
          <a:xfrm>
            <a:off x="8229600" y="1188720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5" name="icon FaLandmark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12801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566160" y="1170432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200"/>
              </a:spcAft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محاكم دبي</a:t>
            </a:r>
            <a:endParaRPr lang="ar-AE" sz="1300" dirty="0"/>
          </a:p>
          <a:p>
            <a:pPr algn="r" indent="0" marL="0">
              <a:spcAft>
                <a:spcPts val="200"/>
              </a:spcAft>
              <a:buNone/>
            </a:pPr>
            <a:r>
              <a:rPr lang="ar-AE" altLang="en-US" sz="1100" dirty="0">
                <a:solidFill>
                  <a:schemeClr val="accent3"/>
                </a:solidFill>
              </a:rPr>
              <a:t>تسجيل وصايا غير المسلمين لدى محاكم دبي، وفق قانون الأحوال الشخصية لغير المسلمين.</a:t>
            </a:r>
            <a:endParaRPr lang="ar-AE" sz="1300" dirty="0"/>
          </a:p>
        </p:txBody>
      </p:sp>
      <p:sp>
        <p:nvSpPr>
          <p:cNvPr id="7" name="Shape 4"/>
          <p:cNvSpPr/>
          <p:nvPr/>
        </p:nvSpPr>
        <p:spPr>
          <a:xfrm>
            <a:off x="8229600" y="1847088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8" name="icon FaLand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938528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566160" y="1828800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200"/>
              </a:spcAft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محاكم أبوظبي</a:t>
            </a:r>
            <a:endParaRPr lang="ar-AE" sz="1300" dirty="0"/>
          </a:p>
          <a:p>
            <a:pPr algn="r" indent="0" marL="0">
              <a:spcAft>
                <a:spcPts val="200"/>
              </a:spcAft>
              <a:buNone/>
            </a:pPr>
            <a:r>
              <a:rPr lang="ar-AE" altLang="en-US" sz="1100" dirty="0">
                <a:solidFill>
                  <a:schemeClr val="accent3"/>
                </a:solidFill>
              </a:rPr>
              <a:t>تسجيل الوصايا لدى دائرة القضاء في أبوظبي لمن يفضّل هذا المسار.</a:t>
            </a:r>
            <a:endParaRPr lang="ar-AE" sz="1300" dirty="0"/>
          </a:p>
        </p:txBody>
      </p:sp>
      <p:sp>
        <p:nvSpPr>
          <p:cNvPr id="10" name="Shape 6"/>
          <p:cNvSpPr/>
          <p:nvPr/>
        </p:nvSpPr>
        <p:spPr>
          <a:xfrm>
            <a:off x="8229600" y="2505456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1" name="icon FaBuildingColumns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596896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566160" y="2487168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200"/>
              </a:spcAft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DIFC</a:t>
            </a:r>
            <a:endParaRPr lang="ar-AE" sz="1300" dirty="0"/>
          </a:p>
          <a:p>
            <a:pPr algn="r" indent="0" marL="0">
              <a:spcAft>
                <a:spcPts val="200"/>
              </a:spcAft>
              <a:buNone/>
            </a:pPr>
            <a:r>
              <a:rPr lang="ar-AE" altLang="en-US" sz="1100" dirty="0">
                <a:solidFill>
                  <a:schemeClr val="accent3"/>
                </a:solidFill>
              </a:rPr>
              <a:t>سجل وصايا مركز دبي المالي العالمي لغير المسلمين، باللغة الإنجليزية، يغطي الأصول في الدولة.</a:t>
            </a:r>
            <a:endParaRPr lang="ar-AE" sz="1300" dirty="0"/>
          </a:p>
        </p:txBody>
      </p:sp>
      <p:sp>
        <p:nvSpPr>
          <p:cNvPr id="13" name="Shape 8"/>
          <p:cNvSpPr/>
          <p:nvPr/>
        </p:nvSpPr>
        <p:spPr>
          <a:xfrm>
            <a:off x="8229600" y="3163824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4" name="icon FaBuildingColumns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3255264"/>
            <a:ext cx="274320" cy="2743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3566160" y="3145536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200"/>
              </a:spcAft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ADGM</a:t>
            </a:r>
            <a:endParaRPr lang="ar-AE" sz="1300" dirty="0"/>
          </a:p>
          <a:p>
            <a:pPr algn="r" indent="0" marL="0">
              <a:spcAft>
                <a:spcPts val="200"/>
              </a:spcAft>
              <a:buNone/>
            </a:pPr>
            <a:r>
              <a:rPr lang="ar-AE" altLang="en-US" sz="1100" dirty="0">
                <a:solidFill>
                  <a:schemeClr val="accent3"/>
                </a:solidFill>
              </a:rPr>
              <a:t>سجل وصايا سوق أبوظبي العالمي لغير المسلمين، مسار بديل بالإنجليزية.</a:t>
            </a:r>
            <a:endParaRPr lang="ar-AE" sz="1300" dirty="0"/>
          </a:p>
        </p:txBody>
      </p:sp>
      <p:sp>
        <p:nvSpPr>
          <p:cNvPr id="16" name="Shape 10"/>
          <p:cNvSpPr/>
          <p:nvPr/>
        </p:nvSpPr>
        <p:spPr>
          <a:xfrm>
            <a:off x="8229600" y="3822192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7" name="icon FaScaleBalanced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0" y="3913632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3566160" y="3803904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200"/>
              </a:spcAft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الشريعة الإسلامية أو القانون الأجنبي</a:t>
            </a:r>
            <a:endParaRPr lang="ar-AE" sz="1300" dirty="0"/>
          </a:p>
          <a:p>
            <a:pPr algn="r" indent="0" marL="0">
              <a:spcAft>
                <a:spcPts val="200"/>
              </a:spcAft>
              <a:buNone/>
            </a:pPr>
            <a:r>
              <a:rPr lang="ar-AE" altLang="en-US" sz="1100" dirty="0">
                <a:solidFill>
                  <a:schemeClr val="accent3"/>
                </a:solidFill>
              </a:rPr>
              <a:t>نحدد القانون الواجب التطبيق بحسب جنسية الموكل وديانته ورغبته.</a:t>
            </a:r>
            <a:endParaRPr lang="ar-AE" sz="1300" dirty="0"/>
          </a:p>
        </p:txBody>
      </p:sp>
      <p:sp>
        <p:nvSpPr>
          <p:cNvPr id="19" name="Shape 12"/>
          <p:cNvSpPr/>
          <p:nvPr/>
        </p:nvSpPr>
        <p:spPr>
          <a:xfrm>
            <a:off x="457200" y="1188720"/>
            <a:ext cx="2743200" cy="3246120"/>
          </a:xfrm>
          <a:prstGeom prst="rect">
            <a:avLst/>
          </a:prstGeom>
          <a:solidFill>
            <a:srgbClr val="0E2238"/>
          </a:solidFill>
          <a:ln w="12700">
            <a:solidFill>
              <a:srgbClr val="0E2238"/>
            </a:solidFill>
            <a:prstDash val="solid"/>
          </a:ln>
        </p:spPr>
      </p:sp>
      <p:sp>
        <p:nvSpPr>
          <p:cNvPr id="20" name="Shape 13"/>
          <p:cNvSpPr/>
          <p:nvPr/>
        </p:nvSpPr>
        <p:spPr>
          <a:xfrm>
            <a:off x="566928" y="1298448"/>
            <a:ext cx="2523744" cy="3026664"/>
          </a:xfrm>
          <a:prstGeom prst="rect">
            <a:avLst/>
          </a:prstGeom>
          <a:ln w="9525">
            <a:solidFill>
              <a:srgbClr val="B5723B"/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777240" y="15087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كل موكل حالة مستقلة</a:t>
            </a:r>
            <a:endParaRPr lang="ar-AE" sz="1600" dirty="0"/>
          </a:p>
        </p:txBody>
      </p:sp>
      <p:sp>
        <p:nvSpPr>
          <p:cNvPr id="22" name="Text 15"/>
          <p:cNvSpPr txBox="1"/>
          <p:nvPr/>
        </p:nvSpPr>
        <p:spPr>
          <a:xfrm>
            <a:off x="777240" y="219456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150" dirty="0">
                <a:solidFill>
                  <a:schemeClr val="bg2"/>
                </a:solidFill>
              </a:rPr>
              <a:t>الجنسية، الديانة، الحالة العائلية، وموقع الأصول تحدد المسار الأنسب. لذلك نبدأ دائماً بجلسة اكتشاف لا بنوع الوصية.</a:t>
            </a:r>
            <a:endParaRPr lang="ar-AE" sz="1150" dirty="0"/>
          </a:p>
        </p:txBody>
      </p:sp>
      <p:sp>
        <p:nvSpPr>
          <p:cNvPr id="23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أنواع الخدمة</a:t>
            </a:r>
            <a:endParaRPr lang="ar-AE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000" b="1" dirty="0">
                <a:solidFill>
                  <a:schemeClr val="accent1"/>
                </a:solidFill>
              </a:rPr>
              <a:t>الخيارات</a:t>
            </a:r>
            <a:endParaRPr lang="ar-AE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291840"/>
                <a:gridCol w="2103120"/>
              </a:tblGrid>
              <a:tr h="43891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D9B38C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لمن يناسب</a:t>
                      </a:r>
                      <a:endParaRPr lang="en-US" sz="11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D9B38C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ما يغطيه</a:t>
                      </a:r>
                      <a:endParaRPr lang="en-US" sz="11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D9B38C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النوع</a:t>
                      </a:r>
                      <a:endParaRPr lang="en-US" sz="11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3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كل مستثمر أو مقيم يملك أصولاً في الإمارات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أصولك في الدولة، الأوصياء، والمنفذون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E2238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وصية فردية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الأزواج، خاصة مع وجود أطفال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وصيتان متطابقتان للزوجين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E2238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وصية زوجية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المستثمر العقاري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العقارات داخل الإمارات فقط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E2238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وصية عقارية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أصحاب الشركات والشركاء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حصص الشركات واستمرارية الأعمال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E2238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وصية أعمال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المحافظ الكبيرة والأصول متعددة الدول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شركة قابضة أو SPV مرتبطة بخطة الإرث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E2238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هيكلة شركات / Holding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العائلات وأصحاب الثروات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حوكمة العائلة وحماية الثروة عبر الأجيال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E2238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مؤسسة أو صندوق ائتماني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950" i="1" dirty="0">
                <a:solidFill>
                  <a:schemeClr val="accent3"/>
                </a:solidFill>
              </a:rPr>
              <a:t>نحدد النوع والجهة الأنسب لك بعد أسئلة الاكتشاف في هذه الجلسة.</a:t>
            </a:r>
            <a:endParaRPr lang="ar-AE" sz="950" dirty="0"/>
          </a:p>
        </p:txBody>
      </p:sp>
      <p:sp>
        <p:nvSpPr>
          <p:cNvPr id="6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كيف نعمل معك</a:t>
            </a:r>
            <a:endParaRPr lang="ar-AE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000" b="1" dirty="0">
                <a:solidFill>
                  <a:schemeClr val="accent1"/>
                </a:solidFill>
              </a:rPr>
              <a:t>خمس خطوات</a:t>
            </a:r>
            <a:endParaRPr lang="ar-AE" sz="10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7680960" cy="0"/>
          </a:xfrm>
          <a:prstGeom prst="line">
            <a:avLst/>
          </a:prstGeom>
          <a:noFill/>
          <a:ln w="9525">
            <a:solidFill>
              <a:srgbClr val="D9B3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38160" y="1325880"/>
            <a:ext cx="548640" cy="548640"/>
          </a:xfrm>
          <a:prstGeom prst="ellipse">
            <a:avLst/>
          </a:prstGeom>
          <a:solidFill>
            <a:srgbClr val="0E2238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13816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172554" y="2057400"/>
            <a:ext cx="15142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جلسة الاكتشاف</a:t>
            </a:r>
            <a:endParaRPr lang="ar-AE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172554" y="2606040"/>
            <a:ext cx="151424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050" dirty="0">
                <a:solidFill>
                  <a:schemeClr val="accent3"/>
                </a:solidFill>
              </a:rPr>
              <a:t>نتعرف على جنسيتك وحالتك العائلية وأصولك وعقاراتك وشركاتك وأطفالك وحساباتك.</a:t>
            </a:r>
            <a:endParaRPr lang="ar-AE" sz="1050" dirty="0"/>
          </a:p>
        </p:txBody>
      </p:sp>
      <p:sp>
        <p:nvSpPr>
          <p:cNvPr id="9" name="Shape 7"/>
          <p:cNvSpPr/>
          <p:nvPr/>
        </p:nvSpPr>
        <p:spPr>
          <a:xfrm>
            <a:off x="6459322" y="1325880"/>
            <a:ext cx="548640" cy="548640"/>
          </a:xfrm>
          <a:prstGeom prst="ellipse">
            <a:avLst/>
          </a:prstGeom>
          <a:solidFill>
            <a:srgbClr val="0E2238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59322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493715" y="2057400"/>
            <a:ext cx="15142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تقييم المخاطر</a:t>
            </a:r>
            <a:endParaRPr lang="ar-AE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93715" y="2606040"/>
            <a:ext cx="151424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050" dirty="0">
                <a:solidFill>
                  <a:schemeClr val="accent3"/>
                </a:solidFill>
              </a:rPr>
              <a:t>نحدد ما تحتاجه فعلاً: وصية فقط، DIFC أو ADGM، هيكلة شركات، مؤسسة، أو شركة قابضة.</a:t>
            </a:r>
            <a:endParaRPr lang="ar-AE" sz="1050" dirty="0"/>
          </a:p>
        </p:txBody>
      </p:sp>
      <p:sp>
        <p:nvSpPr>
          <p:cNvPr id="13" name="Shape 11"/>
          <p:cNvSpPr/>
          <p:nvPr/>
        </p:nvSpPr>
        <p:spPr>
          <a:xfrm>
            <a:off x="4780483" y="1325880"/>
            <a:ext cx="548640" cy="548640"/>
          </a:xfrm>
          <a:prstGeom prst="ellipse">
            <a:avLst/>
          </a:prstGeom>
          <a:solidFill>
            <a:srgbClr val="0E2238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80483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814877" y="2057400"/>
            <a:ext cx="15142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العرض</a:t>
            </a:r>
            <a:endParaRPr lang="ar-AE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814877" y="2606040"/>
            <a:ext cx="151424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050" dirty="0">
                <a:solidFill>
                  <a:schemeClr val="accent3"/>
                </a:solidFill>
              </a:rPr>
              <a:t>عرض مكتوب واحد: نطاق العمل، الأتعاب، الجدول الزمني، ورسوم التسجيل.</a:t>
            </a:r>
            <a:endParaRPr lang="ar-AE" sz="1050" dirty="0"/>
          </a:p>
        </p:txBody>
      </p:sp>
      <p:sp>
        <p:nvSpPr>
          <p:cNvPr id="17" name="Shape 15"/>
          <p:cNvSpPr/>
          <p:nvPr/>
        </p:nvSpPr>
        <p:spPr>
          <a:xfrm>
            <a:off x="3101645" y="1325880"/>
            <a:ext cx="548640" cy="548640"/>
          </a:xfrm>
          <a:prstGeom prst="ellipse">
            <a:avLst/>
          </a:prstGeom>
          <a:solidFill>
            <a:srgbClr val="0E2238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101645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2136038" y="2057400"/>
            <a:ext cx="15142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الصياغة</a:t>
            </a:r>
            <a:endParaRPr lang="ar-AE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2136038" y="2606040"/>
            <a:ext cx="151424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050" dirty="0">
                <a:solidFill>
                  <a:schemeClr val="accent3"/>
                </a:solidFill>
              </a:rPr>
              <a:t>إعداد الوصية، الترجمة، الشهود، والتوثيق.</a:t>
            </a:r>
            <a:endParaRPr lang="ar-AE" sz="1050" dirty="0"/>
          </a:p>
        </p:txBody>
      </p:sp>
      <p:sp>
        <p:nvSpPr>
          <p:cNvPr id="21" name="Shape 19"/>
          <p:cNvSpPr/>
          <p:nvPr/>
        </p:nvSpPr>
        <p:spPr>
          <a:xfrm>
            <a:off x="1422806" y="1325880"/>
            <a:ext cx="548640" cy="548640"/>
          </a:xfrm>
          <a:prstGeom prst="ellipse">
            <a:avLst/>
          </a:prstGeom>
          <a:solidFill>
            <a:srgbClr val="0E2238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422806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2057400"/>
            <a:ext cx="15142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التسجيل</a:t>
            </a:r>
            <a:endParaRPr lang="ar-AE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2606040"/>
            <a:ext cx="151424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050" dirty="0">
                <a:solidFill>
                  <a:schemeClr val="accent3"/>
                </a:solidFill>
              </a:rPr>
              <a:t>لدى الجهة المختارة، مع متابعة مباشرة وتسليمك نسختك المسجلة.</a:t>
            </a:r>
            <a:endParaRPr lang="ar-AE" sz="1050" dirty="0"/>
          </a:p>
        </p:txBody>
      </p:sp>
      <p:sp>
        <p:nvSpPr>
          <p:cNvPr id="25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ما نحتاجه منك</a:t>
            </a:r>
            <a:endParaRPr lang="ar-AE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000" b="1" dirty="0">
                <a:solidFill>
                  <a:schemeClr val="accent1"/>
                </a:solidFill>
              </a:rPr>
              <a:t>المستندات</a:t>
            </a:r>
            <a:endParaRPr lang="ar-AE" sz="1000" dirty="0"/>
          </a:p>
        </p:txBody>
      </p:sp>
      <p:sp>
        <p:nvSpPr>
          <p:cNvPr id="4" name="Shape 2"/>
          <p:cNvSpPr/>
          <p:nvPr/>
        </p:nvSpPr>
        <p:spPr>
          <a:xfrm>
            <a:off x="8229600" y="1188720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5" name="icon FaPasspor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12801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566160" y="1170432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200"/>
              </a:spcAft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إثبات الهوية</a:t>
            </a:r>
            <a:endParaRPr lang="ar-AE" sz="1300" dirty="0"/>
          </a:p>
          <a:p>
            <a:pPr algn="r" indent="0" marL="0">
              <a:spcAft>
                <a:spcPts val="200"/>
              </a:spcAft>
              <a:buNone/>
            </a:pPr>
            <a:r>
              <a:rPr lang="ar-AE" altLang="en-US" sz="1100" dirty="0">
                <a:solidFill>
                  <a:schemeClr val="accent3"/>
                </a:solidFill>
              </a:rPr>
              <a:t>جواز السفر، الهوية الإماراتية أو الإقامة إن وُجدت.</a:t>
            </a:r>
            <a:endParaRPr lang="ar-AE" sz="1300" dirty="0"/>
          </a:p>
        </p:txBody>
      </p:sp>
      <p:sp>
        <p:nvSpPr>
          <p:cNvPr id="7" name="Shape 4"/>
          <p:cNvSpPr/>
          <p:nvPr/>
        </p:nvSpPr>
        <p:spPr>
          <a:xfrm>
            <a:off x="8229600" y="1847088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8" name="icon FaHous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938528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566160" y="1828800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200"/>
              </a:spcAft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العقارات</a:t>
            </a:r>
            <a:endParaRPr lang="ar-AE" sz="1300" dirty="0"/>
          </a:p>
          <a:p>
            <a:pPr algn="r" indent="0" marL="0">
              <a:spcAft>
                <a:spcPts val="200"/>
              </a:spcAft>
              <a:buNone/>
            </a:pPr>
            <a:r>
              <a:rPr lang="ar-AE" altLang="en-US" sz="1100" dirty="0">
                <a:solidFill>
                  <a:schemeClr val="accent3"/>
                </a:solidFill>
              </a:rPr>
              <a:t>سندات الملكية أو عقود البيع للوحدات داخل الدولة.</a:t>
            </a:r>
            <a:endParaRPr lang="ar-AE" sz="1300" dirty="0"/>
          </a:p>
        </p:txBody>
      </p:sp>
      <p:sp>
        <p:nvSpPr>
          <p:cNvPr id="10" name="Shape 6"/>
          <p:cNvSpPr/>
          <p:nvPr/>
        </p:nvSpPr>
        <p:spPr>
          <a:xfrm>
            <a:off x="8229600" y="2505456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1" name="icon FaBriefcas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596896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566160" y="2487168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200"/>
              </a:spcAft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الشركات</a:t>
            </a:r>
            <a:endParaRPr lang="ar-AE" sz="1300" dirty="0"/>
          </a:p>
          <a:p>
            <a:pPr algn="r" indent="0" marL="0">
              <a:spcAft>
                <a:spcPts val="200"/>
              </a:spcAft>
              <a:buNone/>
            </a:pPr>
            <a:r>
              <a:rPr lang="ar-AE" altLang="en-US" sz="1100" dirty="0">
                <a:solidFill>
                  <a:schemeClr val="accent3"/>
                </a:solidFill>
              </a:rPr>
              <a:t>الرخص التجارية وعقود التأسيس وبيان الحصص.</a:t>
            </a:r>
            <a:endParaRPr lang="ar-AE" sz="1300" dirty="0"/>
          </a:p>
        </p:txBody>
      </p:sp>
      <p:sp>
        <p:nvSpPr>
          <p:cNvPr id="13" name="Shape 8"/>
          <p:cNvSpPr/>
          <p:nvPr/>
        </p:nvSpPr>
        <p:spPr>
          <a:xfrm>
            <a:off x="8229600" y="3163824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4" name="icon FaBuildingColumns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3255264"/>
            <a:ext cx="274320" cy="2743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3566160" y="3145536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200"/>
              </a:spcAft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الحسابات والأصول الأخرى</a:t>
            </a:r>
            <a:endParaRPr lang="ar-AE" sz="1300" dirty="0"/>
          </a:p>
          <a:p>
            <a:pPr algn="r" indent="0" marL="0">
              <a:spcAft>
                <a:spcPts val="200"/>
              </a:spcAft>
              <a:buNone/>
            </a:pPr>
            <a:r>
              <a:rPr lang="ar-AE" altLang="en-US" sz="1100" dirty="0">
                <a:solidFill>
                  <a:schemeClr val="accent3"/>
                </a:solidFill>
              </a:rPr>
              <a:t>قائمة الحسابات والاستثمارات دون الحاجة لأرصدة دقيقة.</a:t>
            </a:r>
            <a:endParaRPr lang="ar-AE" sz="1300" dirty="0"/>
          </a:p>
        </p:txBody>
      </p:sp>
      <p:sp>
        <p:nvSpPr>
          <p:cNvPr id="16" name="Shape 10"/>
          <p:cNvSpPr/>
          <p:nvPr/>
        </p:nvSpPr>
        <p:spPr>
          <a:xfrm>
            <a:off x="8229600" y="3822192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7" name="icon FaUsers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0" y="3913632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3566160" y="3803904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200"/>
              </a:spcAft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العائلة</a:t>
            </a:r>
            <a:endParaRPr lang="ar-AE" sz="1300" dirty="0"/>
          </a:p>
          <a:p>
            <a:pPr algn="r" indent="0" marL="0">
              <a:spcAft>
                <a:spcPts val="200"/>
              </a:spcAft>
              <a:buNone/>
            </a:pPr>
            <a:r>
              <a:rPr lang="ar-AE" altLang="en-US" sz="1100" dirty="0">
                <a:solidFill>
                  <a:schemeClr val="accent3"/>
                </a:solidFill>
              </a:rPr>
              <a:t>بيانات الزوج/الزوجة والأطفال والورثة والأوصياء والمنفذين المقترحين.</a:t>
            </a:r>
            <a:endParaRPr lang="ar-AE" sz="1300" dirty="0"/>
          </a:p>
        </p:txBody>
      </p:sp>
      <p:sp>
        <p:nvSpPr>
          <p:cNvPr id="19" name="Shape 12"/>
          <p:cNvSpPr/>
          <p:nvPr/>
        </p:nvSpPr>
        <p:spPr>
          <a:xfrm>
            <a:off x="457200" y="1188720"/>
            <a:ext cx="2743200" cy="3246120"/>
          </a:xfrm>
          <a:prstGeom prst="rect">
            <a:avLst/>
          </a:prstGeom>
          <a:solidFill>
            <a:srgbClr val="0E2238"/>
          </a:solidFill>
          <a:ln w="12700">
            <a:solidFill>
              <a:srgbClr val="0E2238"/>
            </a:solidFill>
            <a:prstDash val="solid"/>
          </a:ln>
        </p:spPr>
      </p:sp>
      <p:sp>
        <p:nvSpPr>
          <p:cNvPr id="20" name="Shape 13"/>
          <p:cNvSpPr/>
          <p:nvPr/>
        </p:nvSpPr>
        <p:spPr>
          <a:xfrm>
            <a:off x="566928" y="1298448"/>
            <a:ext cx="2523744" cy="3026664"/>
          </a:xfrm>
          <a:prstGeom prst="rect">
            <a:avLst/>
          </a:prstGeom>
          <a:ln w="9525">
            <a:solidFill>
              <a:srgbClr val="B5723B"/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777240" y="15087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نحن نتولى الباقي</a:t>
            </a:r>
            <a:endParaRPr lang="ar-AE" sz="1600" dirty="0"/>
          </a:p>
        </p:txBody>
      </p:sp>
      <p:sp>
        <p:nvSpPr>
          <p:cNvPr id="22" name="Text 15"/>
          <p:cNvSpPr txBox="1"/>
          <p:nvPr/>
        </p:nvSpPr>
        <p:spPr>
          <a:xfrm>
            <a:off x="777240" y="219456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150" dirty="0">
                <a:solidFill>
                  <a:schemeClr val="bg2"/>
                </a:solidFill>
              </a:rPr>
              <a:t>الترجمة القانونية، تنسيق الشهود، التوثيق، حجز موعد التسجيل، والحضور معك.</a:t>
            </a:r>
            <a:endParaRPr lang="ar-AE" sz="1150" dirty="0"/>
          </a:p>
        </p:txBody>
      </p:sp>
      <p:sp>
        <p:nvSpPr>
          <p:cNvPr id="23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خدمة قانونية بمستوى Concierge</a:t>
            </a:r>
            <a:endParaRPr lang="ar-AE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000" b="1" dirty="0">
                <a:solidFill>
                  <a:schemeClr val="accent1"/>
                </a:solidFill>
              </a:rPr>
              <a:t>التجربة المميزة</a:t>
            </a:r>
            <a:endParaRPr lang="ar-AE" sz="1000" dirty="0"/>
          </a:p>
        </p:txBody>
      </p:sp>
      <p:sp>
        <p:nvSpPr>
          <p:cNvPr id="4" name="Shape 2"/>
          <p:cNvSpPr/>
          <p:nvPr/>
        </p:nvSpPr>
        <p:spPr>
          <a:xfrm>
            <a:off x="7223760" y="1188720"/>
            <a:ext cx="1463040" cy="32461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5" name="icon FaHouseUse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4736" y="1389888"/>
            <a:ext cx="310896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424928" y="1828800"/>
            <a:ext cx="106070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300"/>
              </a:spcAft>
              <a:buNone/>
            </a:pPr>
            <a:r>
              <a:rPr lang="ar-AE" altLang="en-US" sz="1400" b="1" dirty="0">
                <a:solidFill>
                  <a:schemeClr val="tx1"/>
                </a:solidFill>
              </a:rPr>
              <a:t>الاجتماع عندكم</a:t>
            </a:r>
            <a:endParaRPr lang="ar-AE" sz="1400" dirty="0"/>
          </a:p>
          <a:p>
            <a:pPr algn="r" indent="0" marL="0">
              <a:spcAft>
                <a:spcPts val="300"/>
              </a:spcAft>
              <a:buNone/>
            </a:pPr>
            <a:r>
              <a:rPr lang="ar-AE" altLang="en-US" sz="1150" dirty="0">
                <a:solidFill>
                  <a:schemeClr val="accent3"/>
                </a:solidFill>
              </a:rPr>
              <a:t>في مكتب الموكل أو منزله.</a:t>
            </a:r>
            <a:endParaRPr lang="ar-AE" sz="1400" dirty="0"/>
          </a:p>
        </p:txBody>
      </p:sp>
      <p:sp>
        <p:nvSpPr>
          <p:cNvPr id="7" name="Shape 4"/>
          <p:cNvSpPr/>
          <p:nvPr/>
        </p:nvSpPr>
        <p:spPr>
          <a:xfrm>
            <a:off x="5532120" y="1188720"/>
            <a:ext cx="1463040" cy="32461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8" name="icon FaCrow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1389888"/>
            <a:ext cx="310896" cy="31089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733288" y="1828800"/>
            <a:ext cx="106070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300"/>
              </a:spcAft>
              <a:buNone/>
            </a:pPr>
            <a:r>
              <a:rPr lang="ar-AE" altLang="en-US" sz="1400" b="1" dirty="0">
                <a:solidFill>
                  <a:schemeClr val="tx1"/>
                </a:solidFill>
              </a:rPr>
              <a:t>تعامل VIP</a:t>
            </a:r>
            <a:endParaRPr lang="ar-AE" sz="1400" dirty="0"/>
          </a:p>
          <a:p>
            <a:pPr algn="r" indent="0" marL="0">
              <a:spcAft>
                <a:spcPts val="300"/>
              </a:spcAft>
              <a:buNone/>
            </a:pPr>
            <a:r>
              <a:rPr lang="ar-AE" altLang="en-US" sz="1150" dirty="0">
                <a:solidFill>
                  <a:schemeClr val="accent3"/>
                </a:solidFill>
              </a:rPr>
              <a:t>مستشار مخصص لكل موكل.</a:t>
            </a:r>
            <a:endParaRPr lang="ar-AE" sz="1400" dirty="0"/>
          </a:p>
        </p:txBody>
      </p:sp>
      <p:sp>
        <p:nvSpPr>
          <p:cNvPr id="10" name="Shape 6"/>
          <p:cNvSpPr/>
          <p:nvPr/>
        </p:nvSpPr>
        <p:spPr>
          <a:xfrm>
            <a:off x="3840480" y="1188720"/>
            <a:ext cx="1463040" cy="32461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1" name="icon FaLanguag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1456" y="1389888"/>
            <a:ext cx="310896" cy="31089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041648" y="1828800"/>
            <a:ext cx="106070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300"/>
              </a:spcAft>
              <a:buNone/>
            </a:pPr>
            <a:r>
              <a:rPr lang="ar-AE" altLang="en-US" sz="1400" b="1" dirty="0">
                <a:solidFill>
                  <a:schemeClr val="tx1"/>
                </a:solidFill>
              </a:rPr>
              <a:t>أربع لغات</a:t>
            </a:r>
            <a:endParaRPr lang="ar-AE" sz="1400" dirty="0"/>
          </a:p>
          <a:p>
            <a:pPr algn="r" indent="0" marL="0">
              <a:spcAft>
                <a:spcPts val="300"/>
              </a:spcAft>
              <a:buNone/>
            </a:pPr>
            <a:r>
              <a:rPr lang="ar-AE" altLang="en-US" sz="1150" dirty="0">
                <a:solidFill>
                  <a:schemeClr val="accent3"/>
                </a:solidFill>
              </a:rPr>
              <a:t>العربية، الإنجليزية، الصينية، الروسية.</a:t>
            </a:r>
            <a:endParaRPr lang="ar-AE" sz="1400" dirty="0"/>
          </a:p>
        </p:txBody>
      </p:sp>
      <p:sp>
        <p:nvSpPr>
          <p:cNvPr id="13" name="Shape 8"/>
          <p:cNvSpPr/>
          <p:nvPr/>
        </p:nvSpPr>
        <p:spPr>
          <a:xfrm>
            <a:off x="2148840" y="1188720"/>
            <a:ext cx="1463040" cy="32461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4" name="icon FaListCheck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9816" y="1389888"/>
            <a:ext cx="310896" cy="31089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2350008" y="1828800"/>
            <a:ext cx="106070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300"/>
              </a:spcAft>
              <a:buNone/>
            </a:pPr>
            <a:r>
              <a:rPr lang="ar-AE" altLang="en-US" sz="1400" b="1" dirty="0">
                <a:solidFill>
                  <a:schemeClr val="tx1"/>
                </a:solidFill>
              </a:rPr>
              <a:t>تنسيق كامل</a:t>
            </a:r>
            <a:endParaRPr lang="ar-AE" sz="1400" dirty="0"/>
          </a:p>
          <a:p>
            <a:pPr algn="r" indent="0" marL="0">
              <a:spcAft>
                <a:spcPts val="300"/>
              </a:spcAft>
              <a:buNone/>
            </a:pPr>
            <a:r>
              <a:rPr lang="ar-AE" altLang="en-US" sz="1150" dirty="0">
                <a:solidFill>
                  <a:schemeClr val="accent3"/>
                </a:solidFill>
              </a:rPr>
              <a:t>الترجمة، الشهود، التوثيق، التسجيل.</a:t>
            </a:r>
            <a:endParaRPr lang="ar-AE" sz="1400" dirty="0"/>
          </a:p>
        </p:txBody>
      </p:sp>
      <p:sp>
        <p:nvSpPr>
          <p:cNvPr id="16" name="Shape 10"/>
          <p:cNvSpPr/>
          <p:nvPr/>
        </p:nvSpPr>
        <p:spPr>
          <a:xfrm>
            <a:off x="457200" y="1188720"/>
            <a:ext cx="1463040" cy="32461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7" name="icon FaBolt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8176" y="1389888"/>
            <a:ext cx="310896" cy="310896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658368" y="1828800"/>
            <a:ext cx="106070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300"/>
              </a:spcAft>
              <a:buNone/>
            </a:pPr>
            <a:r>
              <a:rPr lang="ar-AE" altLang="en-US" sz="1400" b="1" dirty="0">
                <a:solidFill>
                  <a:schemeClr val="tx1"/>
                </a:solidFill>
              </a:rPr>
              <a:t>تسجيل سريع</a:t>
            </a:r>
            <a:endParaRPr lang="ar-AE" sz="1400" dirty="0"/>
          </a:p>
          <a:p>
            <a:pPr algn="r" indent="0" marL="0">
              <a:spcAft>
                <a:spcPts val="300"/>
              </a:spcAft>
              <a:buNone/>
            </a:pPr>
            <a:r>
              <a:rPr lang="ar-AE" altLang="en-US" sz="1150" dirty="0">
                <a:solidFill>
                  <a:schemeClr val="accent3"/>
                </a:solidFill>
              </a:rPr>
              <a:t>متابعة مباشرة مع الجهات الرسمية.</a:t>
            </a:r>
            <a:endParaRPr lang="ar-AE" sz="1400" dirty="0"/>
          </a:p>
        </p:txBody>
      </p:sp>
      <p:sp>
        <p:nvSpPr>
          <p:cNvPr id="19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أي خيار يناسبك؟</a:t>
            </a:r>
            <a:endParaRPr lang="ar-AE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000" b="1" dirty="0">
                <a:solidFill>
                  <a:schemeClr val="accent1"/>
                </a:solidFill>
              </a:rPr>
              <a:t>أسئلة الاكتشاف</a:t>
            </a:r>
            <a:endParaRPr lang="ar-AE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206240" y="11430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000" b="1" dirty="0">
                <a:solidFill>
                  <a:schemeClr val="accent1"/>
                </a:solidFill>
              </a:rPr>
              <a:t>السؤال</a:t>
            </a:r>
            <a:endParaRPr lang="ar-AE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4300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000" b="1" dirty="0">
                <a:solidFill>
                  <a:schemeClr val="accent1"/>
                </a:solidFill>
              </a:rPr>
              <a:t>الاتجاه المحتمل</a:t>
            </a:r>
            <a:endParaRPr lang="ar-AE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229600" cy="318734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7" name="icon FaCircleQuesti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9328" y="1503535"/>
            <a:ext cx="237744" cy="2377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206240" y="1463040"/>
            <a:ext cx="4023360" cy="3187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150" dirty="0">
                <a:solidFill>
                  <a:schemeClr val="tx1"/>
                </a:solidFill>
              </a:rPr>
              <a:t>هل تملك عقارات داخل الإمارات؟</a:t>
            </a:r>
            <a:endParaRPr lang="ar-AE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463040"/>
            <a:ext cx="3520440" cy="3187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100" b="1" dirty="0">
                <a:solidFill>
                  <a:schemeClr val="accent4"/>
                </a:solidFill>
              </a:rPr>
              <a:t>وصية عقارية أو فردية</a:t>
            </a:r>
            <a:endParaRPr lang="ar-AE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1854926"/>
            <a:ext cx="8229600" cy="318734"/>
          </a:xfrm>
          <a:prstGeom prst="rect">
            <a:avLst/>
          </a:prstGeom>
          <a:solidFill>
            <a:srgbClr val="FFFFFF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1" name="icon FaCircleQuesti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28" y="1895421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206240" y="1854926"/>
            <a:ext cx="4023360" cy="3187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150" dirty="0">
                <a:solidFill>
                  <a:schemeClr val="tx1"/>
                </a:solidFill>
              </a:rPr>
              <a:t>هل لديك شركات أو حصص؟</a:t>
            </a:r>
            <a:endParaRPr lang="ar-AE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1854926"/>
            <a:ext cx="3520440" cy="3187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100" b="1" dirty="0">
                <a:solidFill>
                  <a:schemeClr val="accent4"/>
                </a:solidFill>
              </a:rPr>
              <a:t>وصية أعمال أو هيكلة شركات</a:t>
            </a:r>
            <a:endParaRPr lang="ar-AE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2246811"/>
            <a:ext cx="8229600" cy="318734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5" name="icon FaCircleQuesti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8" y="2287306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206240" y="2246811"/>
            <a:ext cx="4023360" cy="3187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150" dirty="0">
                <a:solidFill>
                  <a:schemeClr val="tx1"/>
                </a:solidFill>
              </a:rPr>
              <a:t>هل لديك أطفال؟</a:t>
            </a:r>
            <a:endParaRPr lang="ar-AE" sz="1150" dirty="0"/>
          </a:p>
        </p:txBody>
      </p:sp>
      <p:sp>
        <p:nvSpPr>
          <p:cNvPr id="17" name="Text 12"/>
          <p:cNvSpPr txBox="1"/>
          <p:nvPr/>
        </p:nvSpPr>
        <p:spPr>
          <a:xfrm>
            <a:off x="457200" y="2246811"/>
            <a:ext cx="3520440" cy="3187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100" b="1" dirty="0">
                <a:solidFill>
                  <a:schemeClr val="accent4"/>
                </a:solidFill>
              </a:rPr>
              <a:t>أحكام الوصاية ضمن الوصية، ووصايا زوجية</a:t>
            </a:r>
            <a:endParaRPr lang="ar-AE" sz="1100" dirty="0"/>
          </a:p>
        </p:txBody>
      </p:sp>
      <p:sp>
        <p:nvSpPr>
          <p:cNvPr id="18" name="Shape 13"/>
          <p:cNvSpPr/>
          <p:nvPr/>
        </p:nvSpPr>
        <p:spPr>
          <a:xfrm>
            <a:off x="457200" y="2638697"/>
            <a:ext cx="8229600" cy="318734"/>
          </a:xfrm>
          <a:prstGeom prst="rect">
            <a:avLst/>
          </a:prstGeom>
          <a:solidFill>
            <a:srgbClr val="FFFFFF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9" name="icon FaCircleQuesti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9328" y="2679192"/>
            <a:ext cx="237744" cy="23774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4206240" y="2638697"/>
            <a:ext cx="4023360" cy="3187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150" dirty="0">
                <a:solidFill>
                  <a:schemeClr val="tx1"/>
                </a:solidFill>
              </a:rPr>
              <a:t>هل الورثة داخل الإمارات أم خارجها؟</a:t>
            </a:r>
            <a:endParaRPr lang="ar-AE" sz="1150" dirty="0"/>
          </a:p>
        </p:txBody>
      </p:sp>
      <p:sp>
        <p:nvSpPr>
          <p:cNvPr id="21" name="Text 15"/>
          <p:cNvSpPr txBox="1"/>
          <p:nvPr/>
        </p:nvSpPr>
        <p:spPr>
          <a:xfrm>
            <a:off x="457200" y="2638697"/>
            <a:ext cx="3520440" cy="3187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100" b="1" dirty="0">
                <a:solidFill>
                  <a:schemeClr val="accent4"/>
                </a:solidFill>
              </a:rPr>
              <a:t>اختيار الجهة والقانون الواجب التطبيق</a:t>
            </a:r>
            <a:endParaRPr lang="ar-AE" sz="1100" dirty="0"/>
          </a:p>
        </p:txBody>
      </p:sp>
      <p:sp>
        <p:nvSpPr>
          <p:cNvPr id="22" name="Shape 16"/>
          <p:cNvSpPr/>
          <p:nvPr/>
        </p:nvSpPr>
        <p:spPr>
          <a:xfrm>
            <a:off x="457200" y="3030583"/>
            <a:ext cx="8229600" cy="318734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23" name="icon FaCircleQuesti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9328" y="3071078"/>
            <a:ext cx="237744" cy="237744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4206240" y="3030583"/>
            <a:ext cx="4023360" cy="3187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150" dirty="0">
                <a:solidFill>
                  <a:schemeClr val="tx1"/>
                </a:solidFill>
              </a:rPr>
              <a:t>هل لديك حسابات بنكية محلية؟</a:t>
            </a:r>
            <a:endParaRPr lang="ar-AE" sz="1150" dirty="0"/>
          </a:p>
        </p:txBody>
      </p:sp>
      <p:sp>
        <p:nvSpPr>
          <p:cNvPr id="25" name="Text 18"/>
          <p:cNvSpPr txBox="1"/>
          <p:nvPr/>
        </p:nvSpPr>
        <p:spPr>
          <a:xfrm>
            <a:off x="457200" y="3030583"/>
            <a:ext cx="3520440" cy="3187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100" b="1" dirty="0">
                <a:solidFill>
                  <a:schemeClr val="accent4"/>
                </a:solidFill>
              </a:rPr>
              <a:t>تغطيتها صراحة في الوصية</a:t>
            </a:r>
            <a:endParaRPr lang="ar-AE" sz="1100" dirty="0"/>
          </a:p>
        </p:txBody>
      </p:sp>
      <p:sp>
        <p:nvSpPr>
          <p:cNvPr id="26" name="Shape 19"/>
          <p:cNvSpPr/>
          <p:nvPr/>
        </p:nvSpPr>
        <p:spPr>
          <a:xfrm>
            <a:off x="457200" y="3422469"/>
            <a:ext cx="8229600" cy="318734"/>
          </a:xfrm>
          <a:prstGeom prst="rect">
            <a:avLst/>
          </a:prstGeom>
          <a:solidFill>
            <a:srgbClr val="FFFFFF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27" name="icon FaCircleQuesti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9328" y="3462963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4206240" y="3422469"/>
            <a:ext cx="4023360" cy="3187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150" dirty="0">
                <a:solidFill>
                  <a:schemeClr val="tx1"/>
                </a:solidFill>
              </a:rPr>
              <a:t>هل تملك أصولاً في أكثر من دولة؟</a:t>
            </a:r>
            <a:endParaRPr lang="ar-AE" sz="1150" dirty="0"/>
          </a:p>
        </p:txBody>
      </p:sp>
      <p:sp>
        <p:nvSpPr>
          <p:cNvPr id="29" name="Text 21"/>
          <p:cNvSpPr txBox="1"/>
          <p:nvPr/>
        </p:nvSpPr>
        <p:spPr>
          <a:xfrm>
            <a:off x="457200" y="3422469"/>
            <a:ext cx="3520440" cy="3187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100" b="1" dirty="0">
                <a:solidFill>
                  <a:schemeClr val="accent4"/>
                </a:solidFill>
              </a:rPr>
              <a:t>مؤسسة أو صندوق أو شركة قابضة</a:t>
            </a:r>
            <a:endParaRPr lang="ar-AE" sz="1100" dirty="0"/>
          </a:p>
        </p:txBody>
      </p:sp>
      <p:sp>
        <p:nvSpPr>
          <p:cNvPr id="30" name="Shape 22"/>
          <p:cNvSpPr/>
          <p:nvPr/>
        </p:nvSpPr>
        <p:spPr>
          <a:xfrm>
            <a:off x="457200" y="3814354"/>
            <a:ext cx="8229600" cy="318734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31" name="icon FaCircleQuesti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9328" y="3854849"/>
            <a:ext cx="237744" cy="237744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4206240" y="3814354"/>
            <a:ext cx="4023360" cy="3187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150" dirty="0">
                <a:solidFill>
                  <a:schemeClr val="tx1"/>
                </a:solidFill>
              </a:rPr>
              <a:t>هل ترغب بتطبيق قوانين بلدك أم هيكلة مختلفة؟</a:t>
            </a:r>
            <a:endParaRPr lang="ar-AE" sz="1150" dirty="0"/>
          </a:p>
        </p:txBody>
      </p:sp>
      <p:sp>
        <p:nvSpPr>
          <p:cNvPr id="33" name="Text 24"/>
          <p:cNvSpPr txBox="1"/>
          <p:nvPr/>
        </p:nvSpPr>
        <p:spPr>
          <a:xfrm>
            <a:off x="457200" y="3814354"/>
            <a:ext cx="3520440" cy="3187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100" b="1" dirty="0">
                <a:solidFill>
                  <a:schemeClr val="accent4"/>
                </a:solidFill>
              </a:rPr>
              <a:t>DIFC أو ADGM أو المحاكم المحلية</a:t>
            </a:r>
            <a:endParaRPr lang="ar-AE" sz="1100" dirty="0"/>
          </a:p>
        </p:txBody>
      </p:sp>
      <p:sp>
        <p:nvSpPr>
          <p:cNvPr id="34" name="Text 25"/>
          <p:cNvSpPr txBox="1"/>
          <p:nvPr/>
        </p:nvSpPr>
        <p:spPr>
          <a:xfrm>
            <a:off x="457200" y="43159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950" i="1" dirty="0">
                <a:solidFill>
                  <a:schemeClr val="accent3"/>
                </a:solidFill>
              </a:rPr>
              <a:t>في نهاية الجلسة نوصي بخيار واحد واضح ونرسل لك العرض خلال 48 ساعة.</a:t>
            </a:r>
            <a:endParaRPr lang="ar-AE" sz="950" dirty="0"/>
          </a:p>
        </p:txBody>
      </p:sp>
      <p:sp>
        <p:nvSpPr>
          <p:cNvPr id="35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أسئلة يطرحها عملاؤنا كثيراً</a:t>
            </a:r>
            <a:endParaRPr lang="ar-AE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000" b="1" dirty="0">
                <a:solidFill>
                  <a:schemeClr val="accent1"/>
                </a:solidFill>
              </a:rPr>
              <a:t>FAQ</a:t>
            </a:r>
            <a:endParaRPr lang="ar-AE" sz="1000" dirty="0"/>
          </a:p>
        </p:txBody>
      </p:sp>
      <p:sp>
        <p:nvSpPr>
          <p:cNvPr id="4" name="Shape 2"/>
          <p:cNvSpPr/>
          <p:nvPr/>
        </p:nvSpPr>
        <p:spPr>
          <a:xfrm>
            <a:off x="8229600" y="1188720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5" name="icon FaCircleQuesti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12801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1170432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200"/>
              </a:spcAft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هل يمكنني تأجيل الموضوع؟</a:t>
            </a:r>
            <a:endParaRPr lang="ar-AE" sz="1300" dirty="0"/>
          </a:p>
          <a:p>
            <a:pPr algn="r" indent="0" marL="0">
              <a:spcAft>
                <a:spcPts val="200"/>
              </a:spcAft>
              <a:buNone/>
            </a:pPr>
            <a:r>
              <a:rPr lang="ar-AE" altLang="en-US" sz="1100" dirty="0">
                <a:solidFill>
                  <a:schemeClr val="accent3"/>
                </a:solidFill>
              </a:rPr>
              <a:t>نعم، لكن أغلب العملاء يرتبونه مباشرة بعد الشراء لأن الإجراءات أسهل والملفات جاهزة.</a:t>
            </a:r>
            <a:endParaRPr lang="ar-AE" sz="1300" dirty="0"/>
          </a:p>
        </p:txBody>
      </p:sp>
      <p:sp>
        <p:nvSpPr>
          <p:cNvPr id="7" name="Shape 4"/>
          <p:cNvSpPr/>
          <p:nvPr/>
        </p:nvSpPr>
        <p:spPr>
          <a:xfrm>
            <a:off x="8229600" y="1847088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8" name="icon FaCircleQuesti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938528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1828800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200"/>
              </a:spcAft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هل تغطي الوصية أصولي خارج الإمارات؟</a:t>
            </a:r>
            <a:endParaRPr lang="ar-AE" sz="1300" dirty="0"/>
          </a:p>
          <a:p>
            <a:pPr algn="r" indent="0" marL="0">
              <a:spcAft>
                <a:spcPts val="200"/>
              </a:spcAft>
              <a:buNone/>
            </a:pPr>
            <a:r>
              <a:rPr lang="ar-AE" altLang="en-US" sz="1100" dirty="0">
                <a:solidFill>
                  <a:schemeClr val="accent3"/>
                </a:solidFill>
              </a:rPr>
              <a:t>نصمم الوصية لأصولك في الدولة وننسقها مع أي وصية في بلدك الأم.</a:t>
            </a:r>
            <a:endParaRPr lang="ar-AE" sz="1300" dirty="0"/>
          </a:p>
        </p:txBody>
      </p:sp>
      <p:sp>
        <p:nvSpPr>
          <p:cNvPr id="10" name="Shape 6"/>
          <p:cNvSpPr/>
          <p:nvPr/>
        </p:nvSpPr>
        <p:spPr>
          <a:xfrm>
            <a:off x="8229600" y="2505456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1" name="icon FaCircleQuesti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596896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57200" y="2487168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200"/>
              </a:spcAft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بأي لغة تكون الوصية؟</a:t>
            </a:r>
            <a:endParaRPr lang="ar-AE" sz="1300" dirty="0"/>
          </a:p>
          <a:p>
            <a:pPr algn="r" indent="0" marL="0">
              <a:spcAft>
                <a:spcPts val="200"/>
              </a:spcAft>
              <a:buNone/>
            </a:pPr>
            <a:r>
              <a:rPr lang="ar-AE" altLang="en-US" sz="1100" dirty="0">
                <a:solidFill>
                  <a:schemeClr val="accent3"/>
                </a:solidFill>
              </a:rPr>
              <a:t>بحسب الجهة: الإنجليزية أو العربية مع ترجمة قانونية معتمدة.</a:t>
            </a:r>
            <a:endParaRPr lang="ar-AE" sz="1300" dirty="0"/>
          </a:p>
        </p:txBody>
      </p:sp>
      <p:sp>
        <p:nvSpPr>
          <p:cNvPr id="13" name="Shape 8"/>
          <p:cNvSpPr/>
          <p:nvPr/>
        </p:nvSpPr>
        <p:spPr>
          <a:xfrm>
            <a:off x="8229600" y="3163824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4" name="icon FaCircleQuesti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3255264"/>
            <a:ext cx="274320" cy="2743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457200" y="3145536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200"/>
              </a:spcAft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هل يمكنني تعديلها لاحقاً؟</a:t>
            </a:r>
            <a:endParaRPr lang="ar-AE" sz="1300" dirty="0"/>
          </a:p>
          <a:p>
            <a:pPr algn="r" indent="0" marL="0">
              <a:spcAft>
                <a:spcPts val="200"/>
              </a:spcAft>
              <a:buNone/>
            </a:pPr>
            <a:r>
              <a:rPr lang="ar-AE" altLang="en-US" sz="1100" dirty="0">
                <a:solidFill>
                  <a:schemeClr val="accent3"/>
                </a:solidFill>
              </a:rPr>
              <a:t>نعم، تُحدَّث عند تغيّر أصولك أو عائلتك، ونحن نتابع ذلك معك.</a:t>
            </a:r>
            <a:endParaRPr lang="ar-AE" sz="1300" dirty="0"/>
          </a:p>
        </p:txBody>
      </p:sp>
      <p:sp>
        <p:nvSpPr>
          <p:cNvPr id="16" name="Shape 10"/>
          <p:cNvSpPr/>
          <p:nvPr/>
        </p:nvSpPr>
        <p:spPr>
          <a:xfrm>
            <a:off x="8229600" y="3822192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7" name="icon FaCircleQuesti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0" y="3913632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457200" y="3803904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200"/>
              </a:spcAft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كم تستغرق العملية؟</a:t>
            </a:r>
            <a:endParaRPr lang="ar-AE" sz="1300" dirty="0"/>
          </a:p>
          <a:p>
            <a:pPr algn="r" indent="0" marL="0">
              <a:spcAft>
                <a:spcPts val="200"/>
              </a:spcAft>
              <a:buNone/>
            </a:pPr>
            <a:r>
              <a:rPr lang="ar-AE" altLang="en-US" sz="1100" dirty="0">
                <a:solidFill>
                  <a:schemeClr val="accent3"/>
                </a:solidFill>
              </a:rPr>
              <a:t>يحدد العرض الجدول الزمني بدقة بحسب الجهة ونوع الخدمة.</a:t>
            </a:r>
            <a:endParaRPr lang="ar-AE" sz="1300" dirty="0"/>
          </a:p>
        </p:txBody>
      </p:sp>
      <p:sp>
        <p:nvSpPr>
          <p:cNvPr id="19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ما بعد الوصية: علاقة قانونية مدى الحياة</a:t>
            </a:r>
            <a:endParaRPr lang="ar-AE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000" b="1" dirty="0">
                <a:solidFill>
                  <a:schemeClr val="accent1"/>
                </a:solidFill>
              </a:rPr>
              <a:t>شريكك القانوني في الإمارات</a:t>
            </a:r>
            <a:endParaRPr lang="ar-AE" sz="1000" dirty="0"/>
          </a:p>
        </p:txBody>
      </p:sp>
      <p:sp>
        <p:nvSpPr>
          <p:cNvPr id="4" name="Shape 2"/>
          <p:cNvSpPr/>
          <p:nvPr/>
        </p:nvSpPr>
        <p:spPr>
          <a:xfrm>
            <a:off x="5394960" y="1188720"/>
            <a:ext cx="3291840" cy="3246120"/>
          </a:xfrm>
          <a:prstGeom prst="rect">
            <a:avLst/>
          </a:prstGeom>
          <a:solidFill>
            <a:srgbClr val="0E2238"/>
          </a:solidFill>
          <a:ln w="12700">
            <a:solidFill>
              <a:srgbClr val="0E2238"/>
            </a:solidFill>
            <a:prstDash val="solid"/>
          </a:ln>
        </p:spPr>
      </p:sp>
      <p:pic>
        <p:nvPicPr>
          <p:cNvPr id="5" name="icon FaInfinity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15087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715000" y="2103120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مستشار واحد لكل احتياجاتك</a:t>
            </a:r>
            <a:endParaRPr lang="ar-AE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715000" y="2862072"/>
            <a:ext cx="265176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100" dirty="0">
                <a:solidFill>
                  <a:schemeClr val="bg2"/>
                </a:solidFill>
              </a:rPr>
              <a:t>فريق واحد يعرف وضعك وأصولك، ويرافقك في كل خطوة استثمارية أو عائلية قادمة.</a:t>
            </a:r>
            <a:endParaRPr lang="ar-AE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188720"/>
            <a:ext cx="46634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177800" indent="-177800">
              <a:spcAft>
                <a:spcPts val="800"/>
              </a:spcAft>
              <a:buSzPct val="100000"/>
              <a:buChar char="•"/>
            </a:pPr>
            <a:r>
              <a:rPr lang="ar-AE" altLang="en-US" sz="1250" dirty="0">
                <a:solidFill>
                  <a:schemeClr val="tx1"/>
                </a:solidFill>
              </a:rPr>
              <a:t>نقل الملكية وتسجيل العقارات</a:t>
            </a:r>
            <a:endParaRPr lang="ar-AE" sz="1250" dirty="0"/>
          </a:p>
          <a:p>
            <a:pPr algn="r" marL="177800" indent="-177800">
              <a:spcAft>
                <a:spcPts val="800"/>
              </a:spcAft>
              <a:buSzPct val="100000"/>
              <a:buChar char="•"/>
            </a:pPr>
            <a:r>
              <a:rPr lang="ar-AE" altLang="en-US" sz="1250" dirty="0">
                <a:solidFill>
                  <a:schemeClr val="tx1"/>
                </a:solidFill>
              </a:rPr>
              <a:t>تأسيس الشركات والهيكلة الضريبية</a:t>
            </a:r>
            <a:endParaRPr lang="ar-AE" sz="1250" dirty="0"/>
          </a:p>
          <a:p>
            <a:pPr algn="r" marL="177800" indent="-177800">
              <a:spcAft>
                <a:spcPts val="800"/>
              </a:spcAft>
              <a:buSzPct val="100000"/>
              <a:buChar char="•"/>
            </a:pPr>
            <a:r>
              <a:rPr lang="ar-AE" altLang="en-US" sz="1250" dirty="0">
                <a:solidFill>
                  <a:schemeClr val="tx1"/>
                </a:solidFill>
              </a:rPr>
              <a:t>المكتب العائلي والمؤسسات والصناديق</a:t>
            </a:r>
            <a:endParaRPr lang="ar-AE" sz="1250" dirty="0"/>
          </a:p>
          <a:p>
            <a:pPr algn="r" marL="177800" indent="-177800">
              <a:spcAft>
                <a:spcPts val="800"/>
              </a:spcAft>
              <a:buSzPct val="100000"/>
              <a:buChar char="•"/>
            </a:pPr>
            <a:r>
              <a:rPr lang="ar-AE" altLang="en-US" sz="1250" dirty="0">
                <a:solidFill>
                  <a:schemeClr val="tx1"/>
                </a:solidFill>
              </a:rPr>
              <a:t>العقود والاستثمارات والشراكات</a:t>
            </a:r>
            <a:endParaRPr lang="ar-AE" sz="1250" dirty="0"/>
          </a:p>
          <a:p>
            <a:pPr algn="r" marL="177800" indent="-177800">
              <a:spcAft>
                <a:spcPts val="800"/>
              </a:spcAft>
              <a:buSzPct val="100000"/>
              <a:buChar char="•"/>
            </a:pPr>
            <a:r>
              <a:rPr lang="ar-AE" altLang="en-US" sz="1250" dirty="0">
                <a:solidFill>
                  <a:schemeClr val="tx1"/>
                </a:solidFill>
              </a:rPr>
              <a:t>تمثيلك في أي نزاع أمام المحاكم والتحكيم</a:t>
            </a:r>
            <a:endParaRPr lang="ar-AE" sz="1250" dirty="0"/>
          </a:p>
        </p:txBody>
      </p:sp>
      <p:sp>
        <p:nvSpPr>
          <p:cNvPr id="9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4023360"/>
          </a:xfrm>
          <a:prstGeom prst="rect">
            <a:avLst/>
          </a:prstGeom>
          <a:ln w="9525">
            <a:solidFill>
              <a:srgbClr val="B572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406640" y="64008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2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72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463040"/>
            <a:ext cx="7315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22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الوصية مرتبطة بالموت، أما حماية الأصول فمرتبطة بالاستثمار والأمان. ما نرتبه اليوم هو حماية لما بنيته ولمن تحب.</a:t>
            </a:r>
            <a:endParaRPr lang="ar-AE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3566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200" dirty="0">
                <a:solidFill>
                  <a:schemeClr val="accent2"/>
                </a:solidFill>
              </a:rPr>
              <a:t>راشد الكيتوب للمحاماة والاستشارات القانونية</a:t>
            </a:r>
            <a:endParaRPr lang="ar-AE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4229100"/>
          </a:xfrm>
          <a:prstGeom prst="rect">
            <a:avLst/>
          </a:prstGeom>
          <a:ln w="9525">
            <a:solidFill>
              <a:srgbClr val="B572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68680" y="777240"/>
            <a:ext cx="7406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الخطوة التالية</a:t>
            </a:r>
            <a:endParaRPr lang="ar-AE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155448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300" dirty="0">
                <a:solidFill>
                  <a:schemeClr val="accent2"/>
                </a:solidFill>
              </a:rPr>
              <a:t>نرسل لك العرض خلال 48 ساعة، ونحجز موعد الصياغة والتسجيل في الوقت الذي يناسبك</a:t>
            </a:r>
            <a:endParaRPr lang="ar-AE" sz="1300" dirty="0"/>
          </a:p>
        </p:txBody>
      </p:sp>
      <p:pic>
        <p:nvPicPr>
          <p:cNvPr id="5" name="icon FaLocationDo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228600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22402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200" dirty="0">
                <a:solidFill>
                  <a:schemeClr val="bg2"/>
                </a:solidFill>
              </a:rPr>
              <a:t>شارع الشيخ زايد، برج سعيد 2، مكتب 501، دبي، الإمارات العربية المتحدة</a:t>
            </a:r>
            <a:endParaRPr lang="ar-AE" sz="1200" dirty="0"/>
          </a:p>
        </p:txBody>
      </p:sp>
      <p:pic>
        <p:nvPicPr>
          <p:cNvPr id="7" name="icon FaPh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2788920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68680" y="27432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200" dirty="0">
                <a:solidFill>
                  <a:schemeClr val="bg2"/>
                </a:solidFill>
              </a:rPr>
              <a:t>+971 4 359 5552  |  جوال وواتساب: +971 52 107 4972</a:t>
            </a:r>
            <a:endParaRPr lang="ar-AE" sz="1200" dirty="0"/>
          </a:p>
        </p:txBody>
      </p:sp>
      <p:pic>
        <p:nvPicPr>
          <p:cNvPr id="9" name="icon FaEnvelop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291840"/>
            <a:ext cx="274320" cy="27432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868680" y="32461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200" dirty="0">
                <a:solidFill>
                  <a:schemeClr val="bg2"/>
                </a:solidFill>
              </a:rPr>
              <a:t>ward.shueibi@rk-advocates.com  |  rk-advocates.com</a:t>
            </a:r>
            <a:endParaRPr lang="ar-AE" sz="1200" dirty="0"/>
          </a:p>
        </p:txBody>
      </p:sp>
      <p:pic>
        <p:nvPicPr>
          <p:cNvPr id="11" name="icon FaClock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3794760"/>
            <a:ext cx="274320" cy="27432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868680" y="37490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200" dirty="0">
                <a:solidFill>
                  <a:schemeClr val="bg2"/>
                </a:solidFill>
              </a:rPr>
              <a:t>الاثنين – الجمعة، 8:30 – 17:30  |  العربية · English · 中文 · Русский</a:t>
            </a:r>
            <a:endParaRPr lang="ar-AE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dnight Copper">
  <a:themeElements>
    <a:clrScheme name="Midnight Copper">
      <a:dk1>
        <a:srgbClr val="0E2238"/>
      </a:dk1>
      <a:lt1>
        <a:srgbClr val="FFFFFF"/>
      </a:lt1>
      <a:dk2>
        <a:srgbClr val="1F3A52"/>
      </a:dk2>
      <a:lt2>
        <a:srgbClr val="F4F1EB"/>
      </a:lt2>
      <a:accent1>
        <a:srgbClr val="B5723B"/>
      </a:accent1>
      <a:accent2>
        <a:srgbClr val="D9B38C"/>
      </a:accent2>
      <a:accent3>
        <a:srgbClr val="6E7B88"/>
      </a:accent3>
      <a:accent4>
        <a:srgbClr val="8C5527"/>
      </a:accent4>
      <a:accent5>
        <a:srgbClr val="E6E1D8"/>
      </a:accent5>
      <a:accent6>
        <a:srgbClr val="5B7A8C"/>
      </a:accent6>
      <a:hlink>
        <a:srgbClr val="B5723B"/>
      </a:hlink>
      <a:folHlink>
        <a:srgbClr val="8C5527"/>
      </a:folHlink>
    </a:clrScheme>
    <a:fontScheme name="Midnight Coppe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Rashid Alkaitoob Advocates &amp; Legal Consultants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حماية أصولك وعائلتك في الإمارات</dc:title>
  <dc:subject>PptxGenJS Presentation</dc:subject>
  <dc:creator>Rashid Alkaitoob Advocates &amp; Legal Consultants</dc:creator>
  <cp:lastModifiedBy>Rashid Alkaitoob Advocates &amp; Legal Consultants</cp:lastModifiedBy>
  <cp:revision>1</cp:revision>
  <dcterms:created xsi:type="dcterms:W3CDTF">2026-10-27T14:33:26Z</dcterms:created>
  <dcterms:modified xsi:type="dcterms:W3CDTF">2026-10-27T14:33:26Z</dcterms:modified>
</cp:coreProperties>
</file>