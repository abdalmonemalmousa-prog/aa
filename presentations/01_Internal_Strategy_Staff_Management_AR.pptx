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8c413497-2f42-783d-f5af-b2d83a451630}">
          <p14:sldIdLst>
            <p14:sldId id="256"/>
            <p14:sldId id="257"/>
          </p14:sldIdLst>
        </p14:section>
        <p14:section name="الفكرة" id="{c2d4efce-e5e8-0640-97f4-ceda65a492f0}">
          <p14:sldIdLst>
            <p14:sldId id="258"/>
            <p14:sldId id="259"/>
            <p14:sldId id="260"/>
            <p14:sldId id="261"/>
          </p14:sldIdLst>
        </p14:section>
        <p14:section name="الوسطاء" id="{6413e8db-8461-4242-e3a8-2130beb73f51}">
          <p14:sldIdLst>
            <p14:sldId id="262"/>
            <p14:sldId id="263"/>
            <p14:sldId id="264"/>
          </p14:sldIdLst>
        </p14:section>
        <p14:section name="نموذج التعاون" id="{b6ebf3c9-bd68-1fda-c919-1804c40be941}">
          <p14:sldIdLst>
            <p14:sldId id="265"/>
            <p14:sldId id="266"/>
            <p14:sldId id="267"/>
          </p14:sldIdLst>
        </p14:section>
        <p14:section name="مسار العمل" id="{a5e5429e-c756-061b-d403-ed69a8880019}">
          <p14:sldIdLst>
            <p14:sldId id="268"/>
            <p14:sldId id="269"/>
            <p14:sldId id="270"/>
            <p14:sldId id="271"/>
          </p14:sldIdLst>
        </p14:section>
        <p14:section name="المال والتسويق" id="{01ad42e9-a0fa-dca5-7c29-506bb858a156}">
          <p14:sldIdLst>
            <p14:sldId id="272"/>
            <p14:sldId id="273"/>
            <p14:sldId id="274"/>
            <p14:sldId id="275"/>
          </p14:sldIdLst>
        </p14:section>
        <p14:section name="الأدوار والإطلاق" id="{714e8b2f-3572-efb6-1b25-942445643532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432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استراتيجية خدمة حماية الأصول والوصايا</a:t>
            </a:r>
            <a:endParaRPr lang="ar-AE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عرض داخلي للإدارة والموظفين — المرحلة الأولى: الدخول عبر شركات الوساطة العقارية</a:t>
            </a:r>
            <a:endParaRPr lang="ar-AE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أكتوبر 2026 · للاستخدام الداخلي فقط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جدول العرض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الفكرة: من مكتب محاماة إلى شريك حماية قانونية للمستثمرين</a:t>
            </a:r>
            <a:endParaRPr lang="ar-AE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لماذا شركات الوساطة العقارية هي بوابة الدخول</a:t>
            </a:r>
            <a:endParaRPr lang="ar-AE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نموذج التعاون والهيكل القانوني</a:t>
            </a:r>
            <a:endParaRPr lang="ar-AE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مسار العمل من الوسيط إلى الموكل</a:t>
            </a:r>
            <a:endParaRPr lang="ar-AE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النموذج المالي والتسويق</a:t>
            </a:r>
            <a:endParaRPr lang="ar-AE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الأدوار الداخلية وخطة الإطلاق</a:t>
            </a:r>
            <a:endParaRPr lang="ar-AE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الفكرة والتموضع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الخدمة ليست «كتابة وصية»، بل حماية متكاملة لأصول المستثمر وعائلته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«مكتب محاماة» إلى شريك حماية قانونية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التموضع الصحيح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Protection Partner for Investors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3163824"/>
            <a:ext cx="2651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00" dirty="0">
                <a:solidFill>
                  <a:schemeClr val="bg2"/>
                </a:solidFill>
              </a:rPr>
              <a:t>نساعد شركاءنا على حماية عملائهم، ورفع قيمة خدماتهم، وزيادة ثقة المستثمر بهم.</a:t>
            </a:r>
            <a:endParaRPr lang="ar-AE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حماية الأصول والعقارات في الإمارات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ترتيب قانوني يمنع تجميد الحسابات أو العقارات بعد الوفاة.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حماية الورثة والأطفال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تعيين الأوصياء وتحديد مسار انتقال الملكية مسبقاً.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وصايا متوافقة مع كل الجهات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محاكم دبي، محاكم أبوظبي، DIFC، ADGM، والشريعة أو القانون الأجنبي بحسب حالة الموكل.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لا نقول للوسيط «عندنا خدمة وصايا»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نقول: نحميكم، نحمي عملاءكم، ونرفع قيمة ما تبيعونه.</a:t>
            </a:r>
            <a:endParaRPr lang="ar-AE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خدماتنا في حماية الأصول والتركات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باقة الخدمة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إعداد الوصية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صياغة وصية صحيحة قانوناً تناسب وضع الموكل وجنسيته وأصوله.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tam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تسجيل الوصية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التسجيل لدى الجهة المناسبة: محاكم دبي، أبوظبي، DIFC أو ADGM.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هيكلة الإرث والأصول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ترتيب انتقال الملكية مسبقاً بما يمنع التجميد والنزاعات.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حماية المستثمر الأجنبي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حلول تراعي الشريعة الإسلامية أو القانون الأجنبي بحسب حالة كل موكل.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Ke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نقل الملكية بعد الوفاة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تمثيل الورثة واستكمال إجراءات نقل العقارات والحسابات.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Buildin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018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تأسيس Holding / SPV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هياكل شركات قابضة مرتبطة بهيكلة الإرث لحماية الاستثمارات.</a:t>
            </a:r>
            <a:endParaRPr lang="ar-AE" sz="1250" dirty="0"/>
          </a:p>
        </p:txBody>
      </p:sp>
      <p:sp>
        <p:nvSpPr>
          <p:cNvPr id="22" name="Shape 14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Hous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5636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وصايا العقارات والأعمال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وصايا مخصصة للعقارات فقط أو لحصص الشركات والأعمال.</a:t>
            </a:r>
            <a:endParaRPr lang="ar-AE" sz="1250" dirty="0"/>
          </a:p>
        </p:txBody>
      </p:sp>
      <p:sp>
        <p:nvSpPr>
          <p:cNvPr id="25" name="Shape 16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PeopleRoof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1086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حوكمة العائلة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مكتب عائلي، مؤسسات وصناديق ائتمانية، واتفاقيات شراكة.</a:t>
            </a:r>
            <a:endParaRPr lang="ar-AE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جهات تسجيل الوصايا في الإمارات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الإطار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دبي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وصايا غير المسلمين لدى محاكم دبي، وفق قانون الأحوال الشخصية لغير المسلمين.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أبوظبي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الوصايا لدى دائرة القضاء في أبوظبي لمن يفضّل هذا المسار.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مركز دبي المالي العالمي لغير المسلمين، باللغة الإنجليزية، يغطي الأصول في الدولة.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ADGM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سوق أبوظبي العالمي لغير المسلمين، مسار بديل بالإنجليزية.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الشريعة الإسلامية أو القانون الأجنبي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نحدد القانون الواجب التطبيق بحسب جنسية الموكل وديانته ورغبته.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موكل حالة مستقلة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الجنسية، الديانة، الحالة العائلية، وموقع الأصول تحدد المسار الأنسب. لذلك نبدأ دائماً بجلسة اكتشاف لا بنوع الوصية.</a:t>
            </a:r>
            <a:endParaRPr lang="ar-AE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شركات الوساطة العقارية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الوسيط يصل إلى المستثمر الأجنبي في اللحظة التي يحتاج فيها الحماية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الوسيط العقاري هو البوابة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منطق الدخول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أغلب المشترين الأجانب لا يعرفون قوانين الإرث في الإمارات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يشترون بملايين الدراهم دون أي وصية أو هيكلة قانونية.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من يشتري عقاراً يحتاج وصية غالباً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توقيت الشراء هو أفضل لحظة لطرح الحماية.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e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الوسطاء يملكون قاعدة عملاء High Net Worth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خاصة من يبيع العقارات الفاخرة والاستثمارية وعلى الخارطة.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l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الوسيط يحتاج «خدمة إضافية» ترفع قيمته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نحن نمنحه ما يميّزه عن المنافسين دون أي عبء قانوني عليه.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ماذا يكسب الوسيط؟</a:t>
            </a:r>
            <a:endParaRPr lang="ar-AE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1. ثقة العميل: يشعر أن الوسيط يهتم بحمايته لا بالبيع فقط.</a:t>
            </a:r>
            <a:endParaRPr lang="ar-AE" sz="1150" dirty="0"/>
          </a:p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2. رفع نسبة الإغلاق: المستثمر يرتاح لوجود حماية قانونية.</a:t>
            </a:r>
            <a:endParaRPr lang="ar-AE" sz="1150" dirty="0"/>
          </a:p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3. خدمة VIP: يقدّم نفسه كمستشار استثمار متكامل.</a:t>
            </a:r>
            <a:endParaRPr lang="ar-AE" sz="1150" dirty="0"/>
          </a:p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4. دخل إضافي عبر هيكل الإحالة.</a:t>
            </a:r>
            <a:endParaRPr lang="ar-AE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نستهدف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الفئات المستهدفة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شركات الوساطة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تبيع العقارات على الخارطة (Off-plan)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تتعامل مع الروس والأوروبيين والصينيين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تتعامل مع أصحاب الثروات (HNWI)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شركات تبيع العقارات الفاخرة والاستثمارية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المستثمرون الأجانب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الروس، البريطانيون، الهنود، الصينيون، الأوكرانيون، الأوروبيون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أصحاب العقارات داخل الدولة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أصحاب الشركات والحصص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من لديهم أطفال داخل الإمارات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أصحاب الحسابات البنكية الكبيرة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نموذج التعاون والهيكل القانوني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الوسيط يفتح الباب، ونحن نتولى كل الجانب القانوني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توزيع الأدوار بيننا وبين الشريك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النموذج الأفضل عملياً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شركة الوساطة العقارية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تحوّل العميل إلينا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تقدّم الخدمة كقيمة مضافة ضمن عرضها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تحصل على رسوم إحالة / عمولة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تقدّم أي استشارة قانونية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مكتب راشد الكيتوب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الاستشارة القانونية وتقييم المخاطر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إعداد الوصية والترجمة والتوثيق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التسجيل والمتابعة مع الجهات الرسمية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حماية الوسيط من أي مسؤولية قانونية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اتفاقية الإحالة والتعاون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الهيكل القانوني المقترح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آلية تحويل العملاء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رسالة تعريف موحّدة من الوسيط، وتواصل أولي منا خلال يوم عمل.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نسبة العمولة وآلية الدفع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نسبة ثابتة أو مبلغ ثابت لكل عميل، مع مراعاة تنظيمات المهنة والقوانين المحلية.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السرية وحماية البيانات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اتفاقية عدم إفشاء، وحماية بيانات العملاء وفق القانون.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تحمّل الوسيط أي مسؤولية قانونية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الوسيط لا يقدّم استشارات قانونية ولا يضمن نتائج.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التجاوز (Non-circumvention)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حماية علاقة كل طرف بعملائه.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مسار العمل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من توقيع الاتفاقية مع الوسيط إلى تسجيل الوصية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المرحلة الأولى: مع شركة الوساطة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الإعداد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توقيع اتفاقية التعاون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هيكل الإحالة، اتفاقية السرية، هيكل العمولة، وبند عدم التجاوز.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03961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961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تدريب فريق الوسيط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ملف PDF مبسّط، عرض تقديمي، وأسئلة شائعة: ماذا يحدث للعقار بعد الوفاة؟ هل تُجمّد الحسابات؟ كيف نحمي العائلة؟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39410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410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توفير سكربت المبيعات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جملة واحدة يستخدمها الوسيط في التوقيت الصحيح دون أي استشارة قانونية.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184251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425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الإطلاق المشترك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ندوة مجانية لفريق المبيعات، واستشارة مجانية أولى لعملائهم، ومواد تسويقية جاهزة.</a:t>
            </a:r>
            <a:endParaRPr lang="ar-AE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المرحلة الثانية: بعد تحويل العميل إلينا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رحلة الموكل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اجتماع تعريفي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الجنسية، الديانة، الحالة العائلية، الأصول، العقارات، الشركات، الأطفال، الحسابات البنكية.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45932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932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تقييم المخاطر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هل يحتاج وصية فقط، وصية DIFC أو ADGM، هيكلة شركات، صندوق أو مؤسسة، أم شركة قابضة؟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4780483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0483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تقديم العرض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نطاق العمل، الأتعاب، الجدول الزمني، ورسوم التسجيل.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10164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164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الصياغة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إعداد الوصية، الترجمة، الشهود، والتوثيق.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142280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2280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التسجيل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بحسب الجهة: محاكم دبي، DIFC، ADGM، أو كاتب العدل.</a:t>
            </a:r>
            <a:endParaRPr lang="ar-AE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داخل الاجتماع: أسئلة الاكتشاف أولاً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لا نبدأ بـ «أي نوع وصية تريد؟»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السؤال</a:t>
            </a:r>
            <a:endParaRPr lang="ar-AE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يوجّهنا إليه</a:t>
            </a:r>
            <a:endParaRPr lang="ar-AE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20624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عقارات داخل الإمارات؟</a:t>
            </a:r>
            <a:endParaRPr lang="ar-AE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عقارية / محاكم دبي أو DIFC</a:t>
            </a:r>
            <a:endParaRPr lang="ar-AE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شركات أو حصص؟</a:t>
            </a:r>
            <a:endParaRPr lang="ar-AE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أعمال / هيكلة شركات / Holding</a:t>
            </a:r>
            <a:endParaRPr lang="ar-AE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0624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أطفال؟</a:t>
            </a:r>
            <a:endParaRPr lang="ar-AE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وصاية على القاصرين ضمن الوصية</a:t>
            </a:r>
            <a:endParaRPr lang="ar-AE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الورثة داخل الإمارات أم خارجها؟</a:t>
            </a:r>
            <a:endParaRPr lang="ar-AE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اختيار الجهة والقانون الواجب التطبيق</a:t>
            </a:r>
            <a:endParaRPr lang="ar-AE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0624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أصولاً في أكثر من دولة؟</a:t>
            </a:r>
            <a:endParaRPr lang="ar-AE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مؤسسة / صندوق ائتماني / تنسيق مع وصايا خارجية</a:t>
            </a:r>
            <a:endParaRPr lang="ar-AE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20624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ترغب بتطبيق قوانين بلدك أم هيكلة مختلفة؟</a:t>
            </a:r>
            <a:endParaRPr lang="ar-AE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DIFC / ADGM / المحاكم المحلية</a:t>
            </a:r>
            <a:endParaRPr lang="ar-AE" sz="1100" dirty="0"/>
          </a:p>
        </p:txBody>
      </p:sp>
      <p:sp>
        <p:nvSpPr>
          <p:cNvPr id="3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النموذج المالي والتسويق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لا نبيع وصية واحدة، بل علاقة قانونية مدى الحياة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نموذج الإيرادات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ثلاثة مصادر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971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ar-AE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971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أتعاب ثابتة لكل موكل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وصية فردية، وصية زوجية، وصية عقارية، وصية أعمال. تُحدَّد الأتعاب مع مراعاة تنظيمات المهنة والقوانين المحلية.</a:t>
            </a:r>
            <a:endParaRPr lang="ar-AE" sz="1400" dirty="0"/>
          </a:p>
        </p:txBody>
      </p:sp>
      <p:sp>
        <p:nvSpPr>
          <p:cNvPr id="7" name="Shape 5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77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ar-AE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77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عمولة إحالة للشريك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نسبة ثابتة أو مبلغ لكل عميل، تُسوّى شهرياً وفق الاتفاقية.</a:t>
            </a:r>
            <a:endParaRPr lang="ar-AE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ar-AE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البيع الإضافي بعد الوصية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تأسيس شركات، هيكلة ضريبية، نقل ملكية، مكتب عائلي، صناديق ومؤسسات، عقود شراكة، هيكلة التركات.</a:t>
            </a:r>
            <a:endParaRPr lang="ar-AE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أهم نقطة تسويقية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الرسالة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ea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لا نبيع «وصية»، نبيع «حماية العائلة والأصول والاستثمارات»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العميل يتحرك عاطفياً أكثر من قانونياً. الوصية مرتبطة بالموت، أما الحماية فمرتبطة بالاستثمار والأمان.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halkboardUs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9339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القنوات مع الوسطاء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ندوات، ويبينارات، فعاليات المستثمرين، وفعاليات إطلاق المشاريع العقارية.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ashta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81635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محتوى التواصل الاجتماعي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ماذا يحدث لعقارك إذا توفيت بدون وصية؟ هل يمكن تجميد حسابات العائلة؟ الفرق بين DIFC وADGM. أخطاء يقع بها المستثمرون الأجانب.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63931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الخدمة بمستوى Premium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اجتماع عند العميل، تعامل VIP، تعدد اللغات، تنسيق كامل، وتسجيل سريع.</a:t>
            </a:r>
            <a:endParaRPr lang="ar-AE" sz="13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خدمة قانونية بمستوى Concierge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التجربة المميزة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الاجتماع عندكم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في مكتب الموكل أو منزله.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تعامل VIP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مستشار مخصص لكل موكل.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أربع لغات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العربية، الإنجليزية، الصينية، الروسية.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تنسيق كامل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الترجمة، الشهود، التوثيق، التسجيل.</a:t>
            </a:r>
            <a:endParaRPr lang="ar-AE" sz="14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176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تسجيل سريع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متابعة مباشرة مع الجهات الرسمية.</a:t>
            </a:r>
            <a:endParaRPr lang="ar-AE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الأدوار الداخلية وخطة الإطلاق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كل قسم يعرف دوره ومؤشر أدائه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يفعل ماذا داخل المكتب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الأدوار الداخلية</a:t>
            </a:r>
            <a:endParaRPr lang="ar-AE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مؤشر الأداء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المسؤولية في هذه الخدمة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الدور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عدد الشراكات النشطة شهرياً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اختيار شركات الوساطة المستهدفة، الاجتماع مع مالكيها، توقيع الاتفاقيات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مدير تطوير الأعمال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نسبة تحويل الإحالة إلى موكل ≥ 40%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تدريب فرق الوسطاء، متابعة الإحالات، تحويلها إلى موكلين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فريق المبيعات (BD Sales)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لا إحالة بدون متابعة: 100%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تسجيل كل إحالة في النظام، التواصل الأول خلال يوم عمل، تجهيز المواد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مساعد تطوير الأعمال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العرض خلال 48 ساعة من الاجتماع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اجتماع الاكتشاف، تقييم المخاطر، الصياغة، حضور التسجيل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المستشارون القانونيون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الالتزام بالجدول الزمني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الترجمة، الشهود، التوثيق، التنسيق مع الجهات الرسمية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مدير العمليات القانونية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رضا الموكل ≥ 90%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تحديث الموكل والوسيط في كل مرحلة، قياس الرضا، فتح فرص البيع الإضافي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مدير الحسابات والمتابعة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نسبة التحصيل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الفوترة، التحصيل، تسوية عمولات الإحالة شهرياً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المالية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خطة الإطلاق: 90 يوماً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الجدول الزمني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6552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0268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b="1" dirty="0">
                <a:solidFill>
                  <a:schemeClr val="accent1"/>
                </a:solidFill>
              </a:rPr>
              <a:t>الشهر الأول: التجهيز</a:t>
            </a:r>
            <a:endParaRPr lang="ar-AE" sz="1200" dirty="0"/>
          </a:p>
        </p:txBody>
      </p:sp>
      <p:sp>
        <p:nvSpPr>
          <p:cNvPr id="6" name="Shape 4"/>
          <p:cNvSpPr/>
          <p:nvPr/>
        </p:nvSpPr>
        <p:spPr>
          <a:xfrm>
            <a:off x="606552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0268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الأدوات والاتفاقيات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0268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نموذج اتفاقية الإحالة والتعاون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مواد التدريب: PDF، عرض، أسئلة شائعة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سكربتات التواصل والمبيعات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قائمة 20 شركة وساطة مستهدفة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326136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852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b="1" dirty="0">
                <a:solidFill>
                  <a:schemeClr val="accent1"/>
                </a:solidFill>
              </a:rPr>
              <a:t>الشهر الثاني: الشراكات</a:t>
            </a:r>
            <a:endParaRPr lang="ar-AE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52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أول خمس شراكات</a:t>
            </a:r>
            <a:endParaRPr lang="ar-AE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9852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اجتماعات مع مالكي الشركات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توقيع أول خمس اتفاقيات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ندوة مجانية لكل فريق مبيعات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إطلاق محتوى التواصل الاجتماعي</a:t>
            </a:r>
            <a:endParaRPr lang="ar-AE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b="1" dirty="0">
                <a:solidFill>
                  <a:schemeClr val="accent1"/>
                </a:solidFill>
              </a:rPr>
              <a:t>الشهر الثالث: الإحالات</a:t>
            </a:r>
            <a:endParaRPr lang="ar-AE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أول الموكلين</a:t>
            </a:r>
            <a:endParaRPr lang="ar-AE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استقبال الإحالات وتسجيلها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أول وصايا مسجلة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تقرير شهري لكل شريك</a:t>
            </a:r>
            <a:endParaRPr lang="ar-AE" sz="105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AE" altLang="en-US" sz="1050" dirty="0">
                <a:solidFill>
                  <a:schemeClr val="accent3"/>
                </a:solidFill>
              </a:rPr>
              <a:t>مراجعة النتائج وتعديل النموذج</a:t>
            </a:r>
            <a:endParaRPr lang="ar-AE" sz="105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تبيعوا وصية واحدة فقط. اعملوا علاقة قانونية مدى الحياة: بعد الوصية يأتي نقل الملكية، وتأسيس الشركات، والمكتب العائلي، والعقود، والاستثمارات.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القاعدة الذهبية للخدمة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شكراً لكم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أسئلتكم ومقترحاتكم موضع ترحيب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استراتيجية خدمة حماية الأصول والوصايا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2026-10-27T13:23:56Z</dcterms:created>
  <dcterms:modified xsi:type="dcterms:W3CDTF">2026-10-27T13:23:56Z</dcterms:modified>
</cp:coreProperties>
</file>