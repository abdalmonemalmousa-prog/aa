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مقدمة" id="{338fafd1-55d0-060b-57cc-5b7c739e307d}">
          <p14:sldIdLst>
            <p14:sldId id="256"/>
            <p14:sldId id="257"/>
          </p14:sldIdLst>
        </p14:section>
        <p14:section name="الفكرة" id="{bbe40217-1c79-99a5-57af-c11255746331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الوسطاء" id="{ec917f7c-f35b-5dcf-5ca6-0ada84b0dffb}">
          <p14:sldIdLst>
            <p14:sldId id="268"/>
            <p14:sldId id="269"/>
            <p14:sldId id="270"/>
          </p14:sldIdLst>
        </p14:section>
        <p14:section name="نموذج التعاون" id="{42db5cb9-3e17-4ced-5e12-b53dfe79747b}">
          <p14:sldIdLst>
            <p14:sldId id="271"/>
            <p14:sldId id="272"/>
            <p14:sldId id="273"/>
          </p14:sldIdLst>
        </p14:section>
        <p14:section name="مسار العمل" id="{6c28c306-a50f-d326-24ec-fa7057203632}">
          <p14:sldIdLst>
            <p14:sldId id="274"/>
            <p14:sldId id="275"/>
            <p14:sldId id="276"/>
            <p14:sldId id="277"/>
          </p14:sldIdLst>
        </p14:section>
        <p14:section name="المال والتسويق" id="{431a551f-d9a1-e690-f1c3-9bd9f92301e4}">
          <p14:sldIdLst>
            <p14:sldId id="278"/>
            <p14:sldId id="279"/>
            <p14:sldId id="280"/>
            <p14:sldId id="281"/>
          </p14:sldIdLst>
        </p14:section>
        <p14:section name="الأدوار والإطلاق" id="{f691fe7e-2cf5-f650-1fc3-1d90f2ce27cb}">
          <p14:sldIdLst>
            <p14:sldId id="282"/>
            <p14:sldId id="283"/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عدد الوصايا المسجلة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وصايا مسجلة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النصف الأول 2023*</c:v>
                  </c:pt>
                  <c:pt idx="1">
                    <c:v>النصف الأول 2024</c:v>
                  </c:pt>
                  <c:pt idx="2">
                    <c:v>النصف الأول 2025</c:v>
                  </c:pt>
                  <c:pt idx="3">
                    <c:v>سنة 2024*</c:v>
                  </c:pt>
                  <c:pt idx="4">
                    <c:v>سنة 2025</c:v>
                  </c:pt>
                  <c:pt idx="5">
                    <c:v>الربع الأول 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764</c:v>
                </c:pt>
                <c:pt idx="1">
                  <c:v>810</c:v>
                </c:pt>
                <c:pt idx="2">
                  <c:v>922</c:v>
                </c:pt>
                <c:pt idx="3">
                  <c:v>1820</c:v>
                </c:pt>
                <c:pt idx="4">
                  <c:v>2220</c:v>
                </c:pt>
                <c:pt idx="5">
                  <c:v>883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متوسط الزمن بالأيام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أيام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2023: تقاضٍ، من التسجيل للحكم</c:v>
                  </c:pt>
                  <c:pt idx="1">
                    <c:v>2023–24: أول 11 شهراً، تسوية ودية</c:v>
                  </c:pt>
                  <c:pt idx="2">
                    <c:v>2024: تسوية ودية</c:v>
                  </c:pt>
                  <c:pt idx="3">
                    <c:v>2025: تسوية ودية (أيام عمل)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</c:v>
                </c:pt>
                <c:pt idx="1">
                  <c:v>40</c:v>
                </c:pt>
                <c:pt idx="2">
                  <c:v>24</c:v>
                </c:pt>
                <c:pt idx="3">
                  <c:v>13.8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2823" y="4681728"/>
            <a:ext cx="1675417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2823" y="4681728"/>
            <a:ext cx="1675417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2600" b="1" dirty="0">
                <a:solidFill>
                  <a:srgbClr val="0E2238"/>
                </a:solidFill>
              </a:defRPr>
            </a:lvl1pPr>
          </a:lstStyle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pic>
        <p:nvPicPr>
          <p:cNvPr id="3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4320" y="868680"/>
            <a:ext cx="4021000" cy="6583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استراتيجية خدمة حماية الأصول والوصايا</a:t>
            </a:r>
            <a:endParaRPr lang="ar-AE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chemeClr val="accent2"/>
                </a:solidFill>
              </a:rPr>
              <a:t>عرض داخلي للإدارة والموظفين — المرحلة الأولى: الدخول عبر شركات الوساطة العقارية</a:t>
            </a:r>
            <a:endParaRPr lang="ar-AE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أكتوبر 2026 · للاستخدام الداخلي فقط</a:t>
            </a:r>
            <a:endParaRPr lang="ar-AE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جدول العرض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الفكرة: من مكتب محاماة إلى شريك حماية قانونية للمستثمرين</a:t>
            </a:r>
            <a:endParaRPr lang="ar-AE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لماذا شركات الوساطة العقارية هي بوابة الدخول</a:t>
            </a:r>
            <a:endParaRPr lang="ar-AE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نموذج التعاون والهيكل القانوني</a:t>
            </a:r>
            <a:endParaRPr lang="ar-AE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2336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مسار العمل من الوسيط إلى الموكل</a:t>
            </a:r>
            <a:endParaRPr lang="ar-AE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النموذج المالي والتسويق</a:t>
            </a:r>
            <a:endParaRPr lang="ar-AE" sz="1350" dirty="0"/>
          </a:p>
        </p:txBody>
      </p:sp>
      <p:sp>
        <p:nvSpPr>
          <p:cNvPr id="17" name="Shape 15"/>
          <p:cNvSpPr/>
          <p:nvPr/>
        </p:nvSpPr>
        <p:spPr>
          <a:xfrm>
            <a:off x="466344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02336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الأدوار الداخلية وخطة الإطلاق</a:t>
            </a:r>
            <a:endParaRPr lang="ar-AE" sz="1350" dirty="0"/>
          </a:p>
        </p:txBody>
      </p:sp>
      <p:sp>
        <p:nvSpPr>
          <p:cNvPr id="20" name="Shape 18"/>
          <p:cNvSpPr/>
          <p:nvPr/>
        </p:nvSpPr>
        <p:spPr>
          <a:xfrm>
            <a:off x="466344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2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الفكرة والتموضع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الخدمة ليست «كتابة وصية»، بل حماية متكاملة لأصول المستثمر وعائلته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 «مكتب محاماة» إلى شريك حماية قانونية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التموضع الصحيح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5394960" y="1188720"/>
            <a:ext cx="329184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pic>
        <p:nvPicPr>
          <p:cNvPr id="5" name="icon FaShieldHalve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5087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15000" y="2103120"/>
            <a:ext cx="26517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Legal Protection Partner for Investors</a:t>
            </a:r>
            <a:endParaRPr lang="ar-AE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3163824"/>
            <a:ext cx="26517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00" dirty="0">
                <a:solidFill>
                  <a:schemeClr val="bg2"/>
                </a:solidFill>
              </a:rPr>
              <a:t>نساعد شركاءنا على حماية عملائهم، ورفع قيمة خدماتهم، وزيادة ثقة المستثمر بهم.</a:t>
            </a:r>
            <a:endParaRPr lang="ar-AE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188720"/>
            <a:ext cx="46634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77800" indent="-177800">
              <a:buSzPct val="100000"/>
              <a:buChar char="•"/>
            </a:pPr>
            <a:r>
              <a:rPr lang="ar-AE" altLang="en-US" sz="1300" b="1" dirty="0">
                <a:solidFill>
                  <a:schemeClr val="tx1"/>
                </a:solidFill>
              </a:rPr>
              <a:t>حماية الأصول والعقارات في الإمارات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ترتيب قانوني يمنع تجميد الحسابات أو العقارات بعد الوفاة.</a:t>
            </a:r>
            <a:endParaRPr lang="ar-AE" sz="1300" dirty="0"/>
          </a:p>
          <a:p>
            <a:pPr algn="r" marL="177800" indent="-177800">
              <a:spcBef>
                <a:spcPts val="600"/>
              </a:spcBef>
              <a:buSzPct val="100000"/>
              <a:buChar char="•"/>
            </a:pPr>
            <a:r>
              <a:rPr lang="ar-AE" altLang="en-US" sz="1300" b="1" dirty="0">
                <a:solidFill>
                  <a:schemeClr val="tx1"/>
                </a:solidFill>
              </a:rPr>
              <a:t>حماية الورثة والأطفال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تعيين الأوصياء وتحديد مسار انتقال الملكية مسبقاً.</a:t>
            </a:r>
            <a:endParaRPr lang="ar-AE" sz="1300" dirty="0"/>
          </a:p>
          <a:p>
            <a:pPr algn="r" marL="177800" indent="-177800">
              <a:spcBef>
                <a:spcPts val="600"/>
              </a:spcBef>
              <a:buSzPct val="100000"/>
              <a:buChar char="•"/>
            </a:pPr>
            <a:r>
              <a:rPr lang="ar-AE" altLang="en-US" sz="1300" b="1" dirty="0">
                <a:solidFill>
                  <a:schemeClr val="tx1"/>
                </a:solidFill>
              </a:rPr>
              <a:t>وصايا متوافقة مع كل الجهات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محاكم دبي، محاكم أبوظبي، DIFC، ADGM، والشريعة أو القانون الأجنبي بحسب حالة الموكل.</a:t>
            </a:r>
            <a:endParaRPr lang="ar-AE" sz="1300" dirty="0"/>
          </a:p>
          <a:p>
            <a:pPr algn="r" marL="177800" indent="-177800">
              <a:spcBef>
                <a:spcPts val="600"/>
              </a:spcBef>
              <a:buSzPct val="100000"/>
              <a:buChar char="•"/>
            </a:pPr>
            <a:r>
              <a:rPr lang="ar-AE" altLang="en-US" sz="1300" b="1" dirty="0">
                <a:solidFill>
                  <a:schemeClr val="tx1"/>
                </a:solidFill>
              </a:rPr>
              <a:t>لا نقول للوسيط «عندنا خدمة وصايا»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نقول: نحميكم، نحمي عملاءكم، ونرفع قيمة ما تبيعونه.</a:t>
            </a:r>
            <a:endParaRPr lang="ar-AE" sz="1300" dirty="0"/>
          </a:p>
        </p:txBody>
      </p:sp>
      <p:sp>
        <p:nvSpPr>
          <p:cNvPr id="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خدماتنا في حماية الأصول والتركات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باقة الخدمة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80085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FileSignatu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36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0201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إعداد الوصية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صياغة وصية صحيحة قانوناً تناسب وضع الموكل وجنسيته وأصوله.</a:t>
            </a:r>
            <a:endParaRPr lang="ar-AE" sz="1250" dirty="0"/>
          </a:p>
        </p:txBody>
      </p:sp>
      <p:sp>
        <p:nvSpPr>
          <p:cNvPr id="7" name="Shape 4"/>
          <p:cNvSpPr/>
          <p:nvPr/>
        </p:nvSpPr>
        <p:spPr>
          <a:xfrm>
            <a:off x="468630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Stamp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0186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88746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تسجيل الوصية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التسجيل لدى الجهة المناسبة: محاكم دبي، أبوظبي، DIFC أو ADGM.</a:t>
            </a:r>
            <a:endParaRPr lang="ar-AE" sz="1250" dirty="0"/>
          </a:p>
        </p:txBody>
      </p:sp>
      <p:sp>
        <p:nvSpPr>
          <p:cNvPr id="10" name="Shape 6"/>
          <p:cNvSpPr/>
          <p:nvPr/>
        </p:nvSpPr>
        <p:spPr>
          <a:xfrm>
            <a:off x="257175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Sitema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636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77291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هيكلة الإرث والأصول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ترتيب انتقال الملكية مسبقاً بما يمنع التجميد والنزاعات.</a:t>
            </a:r>
            <a:endParaRPr lang="ar-AE" sz="1250" dirty="0"/>
          </a:p>
        </p:txBody>
      </p:sp>
      <p:sp>
        <p:nvSpPr>
          <p:cNvPr id="13" name="Shape 8"/>
          <p:cNvSpPr/>
          <p:nvPr/>
        </p:nvSpPr>
        <p:spPr>
          <a:xfrm>
            <a:off x="45720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UserShiel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1086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836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حماية المستثمر الأجنبي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حلول تراعي الشريعة الإسلامية أو القانون الأجنبي بحسب حالة كل موكل.</a:t>
            </a:r>
            <a:endParaRPr lang="ar-AE" sz="1250" dirty="0"/>
          </a:p>
        </p:txBody>
      </p:sp>
      <p:sp>
        <p:nvSpPr>
          <p:cNvPr id="16" name="Shape 10"/>
          <p:cNvSpPr/>
          <p:nvPr/>
        </p:nvSpPr>
        <p:spPr>
          <a:xfrm>
            <a:off x="680085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Key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00201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نقل الملكية بعد الوفاة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تمثيل الورثة واستكمال إجراءات نقل العقارات والحسابات.</a:t>
            </a:r>
            <a:endParaRPr lang="ar-AE" sz="1250" dirty="0"/>
          </a:p>
        </p:txBody>
      </p:sp>
      <p:sp>
        <p:nvSpPr>
          <p:cNvPr id="19" name="Shape 12"/>
          <p:cNvSpPr/>
          <p:nvPr/>
        </p:nvSpPr>
        <p:spPr>
          <a:xfrm>
            <a:off x="468630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0" name="icon FaBuilding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0186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488746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تأسيس Holding / SPV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هياكل شركات قابضة مرتبطة بهيكلة الإرث لحماية الاستثمارات.</a:t>
            </a:r>
            <a:endParaRPr lang="ar-AE" sz="1250" dirty="0"/>
          </a:p>
        </p:txBody>
      </p:sp>
      <p:sp>
        <p:nvSpPr>
          <p:cNvPr id="22" name="Shape 14"/>
          <p:cNvSpPr/>
          <p:nvPr/>
        </p:nvSpPr>
        <p:spPr>
          <a:xfrm>
            <a:off x="257175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3" name="icon FaHous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5636" y="3127248"/>
            <a:ext cx="310896" cy="310896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277291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وصايا العقارات والأعمال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وصايا مخصصة للعقارات فقط أو لحصص الشركات والأعمال.</a:t>
            </a:r>
            <a:endParaRPr lang="ar-AE" sz="1250" dirty="0"/>
          </a:p>
        </p:txBody>
      </p:sp>
      <p:sp>
        <p:nvSpPr>
          <p:cNvPr id="25" name="Shape 16"/>
          <p:cNvSpPr/>
          <p:nvPr/>
        </p:nvSpPr>
        <p:spPr>
          <a:xfrm>
            <a:off x="45720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6" name="icon FaPeopleRoof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31086" y="3127248"/>
            <a:ext cx="310896" cy="310896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65836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حوكمة العائلة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مكتب عائلي، مؤسسات وصناديق ائتمانية، واتفاقيات شراكة.</a:t>
            </a:r>
            <a:endParaRPr lang="ar-AE" sz="1250" dirty="0"/>
          </a:p>
        </p:txBody>
      </p:sp>
      <p:sp>
        <p:nvSpPr>
          <p:cNvPr id="28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جهات تسجيل الوصايا في الإمارات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الإطار القانوني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andmar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56616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محاكم دبي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تسجيل وصايا غير المسلمين لدى محاكم دبي، وفق قانون الأحوال الشخصية لغير المسلمين.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Landmar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56616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محاكم أبوظبي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تسجيل الوصايا لدى دائرة القضاء في أبوظبي لمن يفضّل هذا المسار.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BuildingColumn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56616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DIFC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سجل وصايا مركز دبي المالي العالمي لغير المسلمين، باللغة الإنجليزية، يغطي الأصول في الدولة.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BuildingColumn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56616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ADGM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سجل وصايا سوق أبوظبي العالمي لغير المسلمين، مسار بديل بالإنجليزية.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82296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ScaleBalanced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56616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الشريعة الإسلامية أو القانون الأجنبي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نحدد القانون الواجب التطبيق بحسب جنسية الموكل وديانته ورغبته.</a:t>
            </a:r>
            <a:endParaRPr lang="ar-AE" sz="1300" dirty="0"/>
          </a:p>
        </p:txBody>
      </p:sp>
      <p:sp>
        <p:nvSpPr>
          <p:cNvPr id="19" name="Shape 12"/>
          <p:cNvSpPr/>
          <p:nvPr/>
        </p:nvSpPr>
        <p:spPr>
          <a:xfrm>
            <a:off x="4572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5669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77240" y="1508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كل موكل حالة مستقلة</a:t>
            </a:r>
            <a:endParaRPr lang="ar-AE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777240" y="2194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الجنسية، الديانة، الحالة العائلية، وموقع الأصول تحدد المسار الأنسب. لذلك نبدأ دائماً بجلسة اكتشاف لا بنوع الوصية.</a:t>
            </a:r>
            <a:endParaRPr lang="ar-AE" sz="1150" dirty="0"/>
          </a:p>
        </p:txBody>
      </p:sp>
      <p:sp>
        <p:nvSpPr>
          <p:cNvPr id="2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الواقع بأربعة أرقام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الأرقام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ar-AE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المقيمين الأجانب لم يبدأوا وصية بعد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استطلاع YouGov، سبتمبر 2026</a:t>
            </a:r>
            <a:endParaRPr lang="ar-AE" sz="1250" dirty="0"/>
          </a:p>
        </p:txBody>
      </p:sp>
      <p:sp>
        <p:nvSpPr>
          <p:cNvPr id="7" name="Shape 5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35,000+</a:t>
            </a:r>
            <a:endParaRPr lang="ar-AE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وصية مسجلة لغير المسلمين منذ 2015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DIFC (أكثر من 14,000) + أبوظبي (21,000)، في دولة يفوق سكانها 11 مليوناً</a:t>
            </a:r>
            <a:endParaRPr lang="ar-AE" sz="1250" dirty="0"/>
          </a:p>
        </p:txBody>
      </p:sp>
      <p:sp>
        <p:nvSpPr>
          <p:cNvPr id="10" name="Shape 8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13.8</a:t>
            </a:r>
            <a:endParaRPr lang="ar-AE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يوم عمل متوسط التسوية الودية للتركات في دبي (2025)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مقابل 24 يوماً في 2024 و81 يوماً للتقاضي في 2023</a:t>
            </a:r>
            <a:endParaRPr lang="ar-AE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تريليون $</a:t>
            </a:r>
            <a:endParaRPr lang="ar-AE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أصول العائلات الخليجية تنتقل للجيل التالي بحلول 2030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وأقل من ثلث الشركات العائلية لديها خطة خلافة</a:t>
            </a:r>
            <a:endParaRPr lang="ar-AE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المصادر: محاكم مركز دبي المالي العالمي، دائرة القضاء في أبوظبي، محاكم دبي، استطلاع YouGov (سبتمبر 2026)، Khaleej Times / Gulf News. التفاصيل في عرض «الوصايا والميراث في الإمارات: ما تقوله الأرقام».</a:t>
            </a:r>
            <a:endParaRPr lang="ar-AE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 لا يملك وصية: ما تقوله الاستطلاعات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الأرقام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ar-AE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لم يبدأوا وصية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من المقيمين الأجانب في الإمارات، 2026</a:t>
            </a:r>
            <a:endParaRPr lang="ar-AE" sz="1250" dirty="0"/>
          </a:p>
        </p:txBody>
      </p:sp>
      <p:sp>
        <p:nvSpPr>
          <p:cNvPr id="7" name="Shape 5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56%</a:t>
            </a:r>
            <a:endParaRPr lang="ar-AE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يعتقدون أن الزوج/الزوجة يرث كل شيء تلقائياً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وهو اعتقاد خاطئ قانونياً</a:t>
            </a:r>
            <a:endParaRPr lang="ar-AE" sz="1250" dirty="0"/>
          </a:p>
        </p:txBody>
      </p:sp>
      <p:sp>
        <p:nvSpPr>
          <p:cNvPr id="10" name="Shape 8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24%</a:t>
            </a:r>
            <a:endParaRPr lang="ar-AE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فقط من الآباء وثّقوا الوصاية على أطفالهم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مقابل 73% يظنون أن عائلاتهم ستعرف رغباتهم</a:t>
            </a:r>
            <a:endParaRPr lang="ar-AE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نحو 90%</a:t>
            </a:r>
            <a:endParaRPr lang="ar-AE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مالكي الأصول في دبي لم يكن لديهم وصية مسجلة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استطلاع سجل وصايا DIFC، 2017: «أكثر بقليل من 10%» لديهم وصية</a:t>
            </a:r>
            <a:endParaRPr lang="ar-AE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المصدر: استطلاع YouGov لصالح Blanket، 1,014 مقيماً، سبتمبر 2026؛ واستطلاع سجل وصايا DIFC لعام 2017. أبرز أسباب عدم كتابة الوصية: 28% يرون أصولهم غير كافية، و21% لا يعرفون من أين يبدؤون.</a:t>
            </a:r>
            <a:endParaRPr lang="ar-AE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DIFC: تسارع واضح في التسجيل السنوي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الأرقام</a:t>
            </a:r>
            <a:endParaRPr lang="ar-AE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47472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+120%</a:t>
            </a:r>
            <a:endParaRPr lang="ar-AE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نمو الربع الأول 2026 مقارنة بالربع الأول 2025</a:t>
            </a:r>
            <a:endParaRPr lang="ar-AE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2025: 2,220 وصية (+22%). طلبات تنفيذ الوصايا (Probate): 41 طلباً في 2025 (+37%)، و27 أمراً في النصف الأول 2025 وحده.</a:t>
            </a:r>
            <a:endParaRPr lang="ar-AE" sz="1000" dirty="0"/>
          </a:p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* أرقام محسوبة من نسب النمو المعلنة.</a:t>
            </a:r>
            <a:endParaRPr lang="ar-AE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محاكم مركز دبي المالي العالمي، بيانات صحفية 2017–2026 وبوابة الإحصاءات</a:t>
            </a:r>
            <a:endParaRPr lang="ar-AE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دبي تختصر زمن تسوية التركات من 81 يوماً إلى 13.8</a:t>
            </a:r>
            <a:endParaRPr lang="ar-AE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الأرقام</a:t>
            </a:r>
            <a:endParaRPr lang="ar-AE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47472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 → 3</a:t>
            </a:r>
            <a:endParaRPr lang="ar-AE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يوماً: زمن إجراءات الوفاة بعد منصة «جبر» (أكتوبر 2025)</a:t>
            </a:r>
            <a:endParaRPr lang="ar-AE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83464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المتطلبات من 10 إلى 4، و1,103 حالة في أول ثلاثة أشهر. القيود التنظيمية لمحكمة التركات: التحضير ≤ 30 يوماً، والتقاضي ≤ 12 شهراً. ما يحدث خارج دبي، أو بلا وصية، أو مع نزاع، لا تغطيه هذه الأرقام.</a:t>
            </a:r>
            <a:endParaRPr lang="ar-AE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محاكم دبي: التقارير السنوية 2022–2025 والمكتب الإعلامي لحكومة دبي</a:t>
            </a:r>
            <a:endParaRPr lang="ar-AE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الشركات العائلية في الخليج بالأرقام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الأرقام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ar-AE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الناتج المحلي الخليجي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تساهم به الشركات العائلية</a:t>
            </a:r>
            <a:endParaRPr lang="ar-AE" sz="1250" dirty="0"/>
          </a:p>
        </p:txBody>
      </p:sp>
      <p:sp>
        <p:nvSpPr>
          <p:cNvPr id="7" name="Shape 5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ar-AE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القوى العاملة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يعملون في شركات عائلية</a:t>
            </a:r>
            <a:endParaRPr lang="ar-AE" sz="1250" dirty="0"/>
          </a:p>
        </p:txBody>
      </p:sp>
      <p:sp>
        <p:nvSpPr>
          <p:cNvPr id="10" name="Shape 8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ar-AE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القطاع الخاص في الإمارات والسعودية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شركات مملوكة لعائلات</a:t>
            </a:r>
            <a:endParaRPr lang="ar-AE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$1T</a:t>
            </a:r>
            <a:endParaRPr lang="ar-AE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أصول تنتقل بين الأجيال بحلول 2030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في دول مجلس التعاون</a:t>
            </a:r>
            <a:endParaRPr lang="ar-AE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جلف نيوز، فبراير 2023 (Jersey Finance)؛ خليج تايمز، مايو 2026 (جامعة جورجتاون، برنامج دبي).</a:t>
            </a:r>
            <a:endParaRPr lang="ar-AE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ما هو موثّق وما هو غير موجود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الأرقام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موثّق رسمياً</a:t>
            </a:r>
            <a:endParaRPr lang="ar-AE" sz="1300" dirty="0"/>
          </a:p>
        </p:txBody>
      </p:sp>
      <p:sp>
        <p:nvSpPr>
          <p:cNvPr id="6" name="Shape 4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عدد الوصايا المسجلة في DIFC (منذ 2015) وأبوظبي (منذ 2017)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عدد ملفات التركات وقيمتها وزمن تسويتها في محاكم دبي (2022–2025)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تقسيم التركات بين مسلمين وغير مسلمين في دبي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السكان الإجماليون ونموهم (المركز الاتحادي للإحصاء)</a:t>
            </a:r>
            <a:endParaRPr lang="ar-AE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accent2"/>
                </a:solidFill>
              </a:rPr>
              <a:t>غير موجود أو غير منشور</a:t>
            </a:r>
            <a:endParaRPr lang="ar-AE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إحصائية رسمية لعدد من توفوا بلا وصية في أي سنة من 2000 إلى 2026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عدد الوصايا المسجلة في سجل محاكم دبي لغير المسلمين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مقارنة رسمية لزمن التسوية مع وصية وبدونها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نسبة رسمية حديثة للأجانب من السكان بعد تعداد 2010</a:t>
            </a:r>
            <a:endParaRPr lang="ar-AE" sz="1100" dirty="0"/>
          </a:p>
        </p:txBody>
      </p:sp>
      <p:sp>
        <p:nvSpPr>
          <p:cNvPr id="1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لماذا شركات الوساطة العقارية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الوسيط يصل إلى المستثمر الأجنبي في اللحظة التي يحتاج فيها الحماية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لماذا الوسيط العقاري هو البوابة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منطق الدخول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566160" y="117043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أغلب المشترين الأجانب لا يعرفون قوانين الإرث في الإمارات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يشترون بملايين الدراهم دون أي وصية أو هيكلة قانونية.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201168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10312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566160" y="199339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من يشتري عقاراً يحتاج وصية غالباً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توقيت الشراء هو أفضل لحظة لطرح الحماية.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83464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Gem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9260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566160" y="281635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الوسطاء يملكون قاعدة عملاء High Net Worth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خاصة من يبيع العقارات الفاخرة والاستثمارية وعلى الخارطة.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65760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Plu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749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566160" y="363931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الوسيط يحتاج «خدمة إضافية» ترفع قيمته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نحن نمنحه ما يميّزه عن المنافسين دون أي عبء قانوني عليه.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5669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77240" y="1508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ماذا يكسب الوسيط؟</a:t>
            </a:r>
            <a:endParaRPr lang="ar-AE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2194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1. ثقة العميل: يشعر أن الوسيط يهتم بحمايته لا بالبيع فقط.</a:t>
            </a:r>
            <a:endParaRPr lang="ar-AE" sz="1150" dirty="0"/>
          </a:p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2. رفع نسبة الإغلاق: المستثمر يرتاح لوجود حماية قانونية.</a:t>
            </a:r>
            <a:endParaRPr lang="ar-AE" sz="1150" dirty="0"/>
          </a:p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3. خدمة VIP: يقدّم نفسه كمستشار استثمار متكامل.</a:t>
            </a:r>
            <a:endParaRPr lang="ar-AE" sz="1150" dirty="0"/>
          </a:p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4. دخل إضافي عبر هيكل الإحالة.</a:t>
            </a:r>
            <a:endParaRPr lang="ar-AE" sz="1150" dirty="0"/>
          </a:p>
        </p:txBody>
      </p:sp>
      <p:sp>
        <p:nvSpPr>
          <p:cNvPr id="2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 نستهدف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الفئات المستهدفة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شركات الوساطة</a:t>
            </a:r>
            <a:endParaRPr lang="ar-AE" sz="1300" dirty="0"/>
          </a:p>
        </p:txBody>
      </p:sp>
      <p:sp>
        <p:nvSpPr>
          <p:cNvPr id="6" name="Shape 4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شركات تبيع العقارات على الخارطة (Off-plan)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شركات تتعامل مع الروس والأوروبيين والصينيين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شركات تتعامل مع أصحاب الثروات (HNWI)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شركات تبيع العقارات الفاخرة والاستثمارية</a:t>
            </a:r>
            <a:endParaRPr lang="ar-AE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accent2"/>
                </a:solidFill>
              </a:rPr>
              <a:t>المستثمرون الأجانب</a:t>
            </a:r>
            <a:endParaRPr lang="ar-AE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الروس، البريطانيون، الهنود، الصينيون، الأوكرانيون، الأوروبيون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أصحاب العقارات داخل الدولة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أصحاب الشركات والحصص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من لديهم أطفال داخل الإمارات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أصحاب الحسابات البنكية الكبيرة</a:t>
            </a:r>
            <a:endParaRPr lang="ar-AE" sz="1100" dirty="0"/>
          </a:p>
        </p:txBody>
      </p:sp>
      <p:sp>
        <p:nvSpPr>
          <p:cNvPr id="1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نموذج التعاون والهيكل القانوني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الوسيط يفتح الباب، ونحن نتولى كل الجانب القانوني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توزيع الأدوار بيننا وبين الشريك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النموذج الأفضل عملياً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accent2"/>
                </a:solidFill>
              </a:rPr>
              <a:t>شركة الوساطة العقارية</a:t>
            </a:r>
            <a:endParaRPr lang="ar-AE" sz="1300" dirty="0"/>
          </a:p>
        </p:txBody>
      </p:sp>
      <p:sp>
        <p:nvSpPr>
          <p:cNvPr id="6" name="Shape 4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تحوّل العميل إلينا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تقدّم الخدمة كقيمة مضافة ضمن عرضها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تحصل على رسوم إحالة / عمولة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لا تقدّم أي استشارة قانونية</a:t>
            </a:r>
            <a:endParaRPr lang="ar-AE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مكتب راشد الكيتوب</a:t>
            </a:r>
            <a:endParaRPr lang="ar-AE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الاستشارة القانونية وتقييم المخاطر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إعداد الوصية والترجمة والتوثيق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التسجيل والمتابعة مع الجهات الرسمية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حماية الوسيط من أي مسؤولية قانونية</a:t>
            </a:r>
            <a:endParaRPr lang="ar-AE" sz="1100" dirty="0"/>
          </a:p>
        </p:txBody>
      </p:sp>
      <p:sp>
        <p:nvSpPr>
          <p:cNvPr id="1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اتفاقية الإحالة والتعاون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الهيكل القانوني المقترح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ArrowRightArrowLef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آلية تحويل العملاء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رسالة تعريف موحّدة من الوسيط، وتواصل أولي منا خلال يوم عمل.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Percen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نسبة العمولة وآلية الدفع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نسبة ثابتة أو مبلغ ثابت لكل عميل، مع مراعاة تنظيمات المهنة والقوانين المحلية.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Lo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السرية وحماية البيانات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اتفاقية عدم إفشاء، وحماية بيانات العملاء وفق القانون.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UserShiel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5720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عدم تحمّل الوسيط أي مسؤولية قانونية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الوسيط لا يقدّم استشارات قانونية ولا يضمن نتائج.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82296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Ba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5720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عدم التجاوز (Non-circumvention)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حماية علاقة كل طرف بعملائه.</a:t>
            </a:r>
            <a:endParaRPr lang="ar-AE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مسار العمل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من توقيع الاتفاقية مع الوسيط إلى تسجيل الوصية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المرحلة الأولى: مع شركة الوساطة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الإعداد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16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13816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752844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توقيع اتفاقية التعاون</a:t>
            </a:r>
            <a:endParaRPr lang="ar-AE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752844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هيكل الإحالة، اتفاقية السرية، هيكل العمولة، وبند عدم التجاوز.</a:t>
            </a:r>
            <a:endParaRPr lang="ar-AE" sz="1050" dirty="0"/>
          </a:p>
        </p:txBody>
      </p:sp>
      <p:sp>
        <p:nvSpPr>
          <p:cNvPr id="9" name="Shape 7"/>
          <p:cNvSpPr/>
          <p:nvPr/>
        </p:nvSpPr>
        <p:spPr>
          <a:xfrm>
            <a:off x="6039612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961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54296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تدريب فريق الوسيط</a:t>
            </a:r>
            <a:endParaRPr lang="ar-AE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54296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ملف PDF مبسّط، عرض تقديمي، وأسئلة شائعة: ماذا يحدث للعقار بعد الوفاة؟ هل تُجمّد الحسابات؟ كيف نحمي العائلة؟</a:t>
            </a:r>
            <a:endParaRPr lang="ar-AE" sz="1050" dirty="0"/>
          </a:p>
        </p:txBody>
      </p:sp>
      <p:sp>
        <p:nvSpPr>
          <p:cNvPr id="13" name="Shape 11"/>
          <p:cNvSpPr/>
          <p:nvPr/>
        </p:nvSpPr>
        <p:spPr>
          <a:xfrm>
            <a:off x="3941064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94106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555748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توفير سكربت المبيعات</a:t>
            </a:r>
            <a:endParaRPr lang="ar-AE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555748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جملة واحدة يستخدمها الوسيط في التوقيت الصحيح دون أي استشارة قانونية.</a:t>
            </a:r>
            <a:endParaRPr lang="ar-AE" sz="1050" dirty="0"/>
          </a:p>
        </p:txBody>
      </p:sp>
      <p:sp>
        <p:nvSpPr>
          <p:cNvPr id="17" name="Shape 15"/>
          <p:cNvSpPr/>
          <p:nvPr/>
        </p:nvSpPr>
        <p:spPr>
          <a:xfrm>
            <a:off x="1842516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4251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الإطلاق المشترك</a:t>
            </a:r>
            <a:endParaRPr lang="ar-AE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ندوة مجانية لفريق المبيعات، واستشارة مجانية أولى لعملائهم، ومواد تسويقية جاهزة.</a:t>
            </a:r>
            <a:endParaRPr lang="ar-AE" sz="1050" dirty="0"/>
          </a:p>
        </p:txBody>
      </p:sp>
      <p:sp>
        <p:nvSpPr>
          <p:cNvPr id="2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المرحلة الثانية: بعد تحويل العميل إلينا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رحلة الموكل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16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13816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172554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اجتماع تعريفي</a:t>
            </a:r>
            <a:endParaRPr lang="ar-AE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72554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الجنسية، الديانة، الحالة العائلية، الأصول، العقارات، الشركات، الأطفال، الحسابات البنكية.</a:t>
            </a:r>
            <a:endParaRPr lang="ar-AE" sz="1050" dirty="0"/>
          </a:p>
        </p:txBody>
      </p:sp>
      <p:sp>
        <p:nvSpPr>
          <p:cNvPr id="9" name="Shape 7"/>
          <p:cNvSpPr/>
          <p:nvPr/>
        </p:nvSpPr>
        <p:spPr>
          <a:xfrm>
            <a:off x="6459322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5932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93715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تقييم المخاطر</a:t>
            </a:r>
            <a:endParaRPr lang="ar-AE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93715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هل يحتاج وصية فقط، وصية DIFC أو ADGM، هيكلة شركات، صندوق أو مؤسسة، أم شركة قابضة؟</a:t>
            </a:r>
            <a:endParaRPr lang="ar-AE" sz="1050" dirty="0"/>
          </a:p>
        </p:txBody>
      </p:sp>
      <p:sp>
        <p:nvSpPr>
          <p:cNvPr id="13" name="Shape 11"/>
          <p:cNvSpPr/>
          <p:nvPr/>
        </p:nvSpPr>
        <p:spPr>
          <a:xfrm>
            <a:off x="4780483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80483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814877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تقديم العرض</a:t>
            </a:r>
            <a:endParaRPr lang="ar-AE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814877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نطاق العمل، الأتعاب، الجدول الزمني، ورسوم التسجيل.</a:t>
            </a:r>
            <a:endParaRPr lang="ar-AE" sz="1050" dirty="0"/>
          </a:p>
        </p:txBody>
      </p:sp>
      <p:sp>
        <p:nvSpPr>
          <p:cNvPr id="17" name="Shape 15"/>
          <p:cNvSpPr/>
          <p:nvPr/>
        </p:nvSpPr>
        <p:spPr>
          <a:xfrm>
            <a:off x="3101645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101645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136038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الصياغة</a:t>
            </a:r>
            <a:endParaRPr lang="ar-AE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136038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إعداد الوصية، الترجمة، الشهود، والتوثيق.</a:t>
            </a:r>
            <a:endParaRPr lang="ar-AE" sz="1050" dirty="0"/>
          </a:p>
        </p:txBody>
      </p:sp>
      <p:sp>
        <p:nvSpPr>
          <p:cNvPr id="21" name="Shape 19"/>
          <p:cNvSpPr/>
          <p:nvPr/>
        </p:nvSpPr>
        <p:spPr>
          <a:xfrm>
            <a:off x="1422806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42280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التسجيل</a:t>
            </a:r>
            <a:endParaRPr lang="ar-AE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بحسب الجهة: محاكم دبي، DIFC، ADGM، أو كاتب العدل.</a:t>
            </a:r>
            <a:endParaRPr lang="ar-AE" sz="1050" dirty="0"/>
          </a:p>
        </p:txBody>
      </p:sp>
      <p:sp>
        <p:nvSpPr>
          <p:cNvPr id="25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داخل الاجتماع: أسئلة الاكتشاف أولاً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لا نبدأ بـ «أي نوع وصية تريد؟»</a:t>
            </a:r>
            <a:endParaRPr lang="ar-AE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206240" y="11430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السؤال</a:t>
            </a:r>
            <a:endParaRPr lang="ar-AE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430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ما يوجّهنا إليه</a:t>
            </a:r>
            <a:endParaRPr lang="ar-AE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384048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7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1536192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206240" y="1463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تملك عقارات داخل الإمارات؟</a:t>
            </a:r>
            <a:endParaRPr lang="ar-AE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4630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وصية عقارية / محاكم دبي أو DIFC</a:t>
            </a:r>
            <a:endParaRPr lang="ar-AE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9202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ircleQues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199339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206240" y="1920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لديك شركات أو حصص؟</a:t>
            </a:r>
            <a:endParaRPr lang="ar-AE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19202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وصية أعمال / هيكلة شركات / Holding</a:t>
            </a:r>
            <a:endParaRPr lang="ar-AE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377440"/>
            <a:ext cx="8229600" cy="384048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5" name="icon FaCircleQues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245059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206240" y="23774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لديك أطفال؟</a:t>
            </a:r>
            <a:endParaRPr lang="ar-AE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23774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وصاية على القاصرين ضمن الوصية</a:t>
            </a:r>
            <a:endParaRPr lang="ar-AE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28346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9" name="icon FaCircleQues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28" y="2907792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206240" y="28346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الورثة داخل الإمارات أم خارجها؟</a:t>
            </a:r>
            <a:endParaRPr lang="ar-AE" sz="1150" dirty="0"/>
          </a:p>
        </p:txBody>
      </p:sp>
      <p:sp>
        <p:nvSpPr>
          <p:cNvPr id="21" name="Text 15"/>
          <p:cNvSpPr txBox="1"/>
          <p:nvPr/>
        </p:nvSpPr>
        <p:spPr>
          <a:xfrm>
            <a:off x="457200" y="28346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اختيار الجهة والقانون الواجب التطبيق</a:t>
            </a:r>
            <a:endParaRPr lang="ar-AE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3291840"/>
            <a:ext cx="8229600" cy="384048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3" name="icon FaCircleQues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9328" y="3364992"/>
            <a:ext cx="237744" cy="2377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206240" y="32918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تملك أصولاً في أكثر من دولة؟</a:t>
            </a:r>
            <a:endParaRPr lang="ar-AE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457200" y="32918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مؤسسة / صندوق ائتماني / تنسيق مع وصايا خارجية</a:t>
            </a:r>
            <a:endParaRPr lang="ar-AE" sz="1100" dirty="0"/>
          </a:p>
        </p:txBody>
      </p:sp>
      <p:sp>
        <p:nvSpPr>
          <p:cNvPr id="26" name="Shape 19"/>
          <p:cNvSpPr/>
          <p:nvPr/>
        </p:nvSpPr>
        <p:spPr>
          <a:xfrm>
            <a:off x="457200" y="37490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7" name="icon FaCircleQuesti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9328" y="3822192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4206240" y="3749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ترغب بتطبيق قوانين بلدك أم هيكلة مختلفة؟</a:t>
            </a:r>
            <a:endParaRPr lang="ar-AE" sz="1150" dirty="0"/>
          </a:p>
        </p:txBody>
      </p:sp>
      <p:sp>
        <p:nvSpPr>
          <p:cNvPr id="29" name="Text 21"/>
          <p:cNvSpPr txBox="1"/>
          <p:nvPr/>
        </p:nvSpPr>
        <p:spPr>
          <a:xfrm>
            <a:off x="457200" y="37490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DIFC / ADGM / المحاكم المحلية</a:t>
            </a:r>
            <a:endParaRPr lang="ar-AE" sz="1100" dirty="0"/>
          </a:p>
        </p:txBody>
      </p:sp>
      <p:sp>
        <p:nvSpPr>
          <p:cNvPr id="3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النموذج المالي والتسويق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لا نبيع وصية واحدة، بل علاقة قانونية مدى الحياة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نموذج الإيرادات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ثلاثة مصادر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0960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97168" y="1344168"/>
            <a:ext cx="2188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ar-AE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97168" y="1847088"/>
            <a:ext cx="218846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أتعاب ثابتة لكل موكل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وصية فردية، وصية زوجية، وصية عقارية، وصية أعمال. تُحدَّد الأتعاب مع مراعاة تنظيمات المهنة والقوانين المحلية.</a:t>
            </a:r>
            <a:endParaRPr lang="ar-AE" sz="1400" dirty="0"/>
          </a:p>
        </p:txBody>
      </p:sp>
      <p:sp>
        <p:nvSpPr>
          <p:cNvPr id="7" name="Shape 5"/>
          <p:cNvSpPr/>
          <p:nvPr/>
        </p:nvSpPr>
        <p:spPr>
          <a:xfrm>
            <a:off x="32766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7768" y="1344168"/>
            <a:ext cx="2188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ar-AE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77768" y="1847088"/>
            <a:ext cx="218846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عمولة إحالة للشريك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نسبة ثابتة أو مبلغ لكل عميل، تُسوّى شهرياً وفق الاتفاقية.</a:t>
            </a:r>
            <a:endParaRPr lang="ar-AE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1344168"/>
            <a:ext cx="2188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ar-AE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847088"/>
            <a:ext cx="218846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البيع الإضافي بعد الوصية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تأسيس شركات، هيكلة ضريبية، نقل ملكية، مكتب عائلي، صناديق ومؤسسات، عقود شراكة، هيكلة التركات.</a:t>
            </a:r>
            <a:endParaRPr lang="ar-AE" sz="1400" dirty="0"/>
          </a:p>
        </p:txBody>
      </p:sp>
      <p:sp>
        <p:nvSpPr>
          <p:cNvPr id="1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أهم نقطة تسويقية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الرسالة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Hear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17043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لا نبيع «وصية»، نبيع «حماية العائلة والأصول والاستثمارات»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العميل يتحرك عاطفياً أكثر من قانونياً. الوصية مرتبطة بالموت، أما الحماية فمرتبطة بالاستثمار والأمان.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201168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ChalkboardUse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10312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99339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القنوات مع الوسطاء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ندوات، ويبينارات، فعاليات المستثمرين، وفعاليات إطلاق المشاريع العقارية.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83464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Hashta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9260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81635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محتوى التواصل الاجتماعي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ماذا يحدث لعقارك إذا توفيت بدون وصية؟ هل يمكن تجميد حسابات العائلة؟ الفرق بين DIFC وADGM. أخطاء يقع بها المستثمرون الأجانب.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65760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Crow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749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57200" y="363931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الخدمة بمستوى Premium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اجتماع عند العميل، تعامل VIP، تعدد اللغات، تنسيق كامل، وتسجيل سريع.</a:t>
            </a:r>
            <a:endParaRPr lang="ar-AE" sz="1300" dirty="0"/>
          </a:p>
        </p:txBody>
      </p:sp>
      <p:sp>
        <p:nvSpPr>
          <p:cNvPr id="16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خدمة قانونية بمستوى Concierge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التجربة المميزة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722376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HouseUse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36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2492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الاجتماع عندكم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في مكتب الموكل أو منزله.</a:t>
            </a:r>
            <a:endParaRPr lang="ar-AE" sz="1400" dirty="0"/>
          </a:p>
        </p:txBody>
      </p:sp>
      <p:sp>
        <p:nvSpPr>
          <p:cNvPr id="7" name="Shape 4"/>
          <p:cNvSpPr/>
          <p:nvPr/>
        </p:nvSpPr>
        <p:spPr>
          <a:xfrm>
            <a:off x="553212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Crow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3096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73328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تعامل VIP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مستشار مخصص لكل موكل.</a:t>
            </a:r>
            <a:endParaRPr lang="ar-AE" sz="1400" dirty="0"/>
          </a:p>
        </p:txBody>
      </p:sp>
      <p:sp>
        <p:nvSpPr>
          <p:cNvPr id="10" name="Shape 6"/>
          <p:cNvSpPr/>
          <p:nvPr/>
        </p:nvSpPr>
        <p:spPr>
          <a:xfrm>
            <a:off x="384048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Langu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4164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أربع لغات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العربية، الإنجليزية، الصينية، الروسية.</a:t>
            </a:r>
            <a:endParaRPr lang="ar-AE" sz="1400" dirty="0"/>
          </a:p>
        </p:txBody>
      </p:sp>
      <p:sp>
        <p:nvSpPr>
          <p:cNvPr id="13" name="Shape 8"/>
          <p:cNvSpPr/>
          <p:nvPr/>
        </p:nvSpPr>
        <p:spPr>
          <a:xfrm>
            <a:off x="214884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List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9816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235000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تنسيق كامل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الترجمة، الشهود، التوثيق، التسجيل.</a:t>
            </a:r>
            <a:endParaRPr lang="ar-AE" sz="1400" dirty="0"/>
          </a:p>
        </p:txBody>
      </p:sp>
      <p:sp>
        <p:nvSpPr>
          <p:cNvPr id="16" name="Shape 10"/>
          <p:cNvSpPr/>
          <p:nvPr/>
        </p:nvSpPr>
        <p:spPr>
          <a:xfrm>
            <a:off x="45720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Bol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8176" y="138988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5836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تسجيل سريع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متابعة مباشرة مع الجهات الرسمية.</a:t>
            </a:r>
            <a:endParaRPr lang="ar-AE" sz="14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الأدوار الداخلية وخطة الإطلاق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كل قسم يعرف دوره ومؤشر أدائه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 يفعل ماذا داخل المكتب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الأدوار الداخلية</a:t>
            </a:r>
            <a:endParaRPr lang="ar-AE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931920"/>
                <a:gridCol w="2011680"/>
              </a:tblGrid>
              <a:tr h="4297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مؤشر الأداء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المسؤولية في هذه الخدمة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الدور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عدد الشراكات النشطة شهرياً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اختيار شركات الوساطة المستهدفة، الاجتماع مع مالكيها، توقيع الاتفاقيات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مدير تطوير الأعمال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نسبة تحويل الإحالة إلى موكل ≥ 40%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تدريب فرق الوسطاء، متابعة الإحالات، تحويلها إلى موكلين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فريق المبيعات (BD Sales)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لا إحالة بدون متابعة: 100%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تسجيل كل إحالة في النظام، التواصل الأول خلال يوم عمل، تجهيز المواد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مساعد تطوير الأعمال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العرض خلال 48 ساعة من الاجتماع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اجتماع الاكتشاف، تقييم المخاطر، الصياغة، حضور التسجيل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المستشارون القانونيون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الالتزام بالجدول الزمني ≥ 95%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الترجمة، الشهود، التوثيق، التنسيق مع الجهات الرسمية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مدير العمليات القانونية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رضا الموكل ≥ 90%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تحديث الموكل والوسيط في كل مرحلة، قياس الرضا، فتح فرص البيع الإضافي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مدير الحسابات والمتابعة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نسبة التحصيل ≥ 95%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الفوترة، التحصيل، تسوية عمولات الإحالة شهرياً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المالية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</a:tbl>
          </a:graphicData>
        </a:graphic>
      </p:graphicFrame>
      <p:sp>
        <p:nvSpPr>
          <p:cNvPr id="5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خطة الإطلاق: 90 يوماً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الجدول الزمني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065520" y="1188720"/>
            <a:ext cx="2621280" cy="5029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02680" y="118872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b="1" dirty="0">
                <a:solidFill>
                  <a:schemeClr val="accent1"/>
                </a:solidFill>
              </a:rPr>
              <a:t>الشهر الأول: التجهيز</a:t>
            </a:r>
            <a:endParaRPr lang="ar-AE" sz="1200" dirty="0"/>
          </a:p>
        </p:txBody>
      </p:sp>
      <p:sp>
        <p:nvSpPr>
          <p:cNvPr id="6" name="Shape 4"/>
          <p:cNvSpPr/>
          <p:nvPr/>
        </p:nvSpPr>
        <p:spPr>
          <a:xfrm>
            <a:off x="6065520" y="1691640"/>
            <a:ext cx="2621280" cy="274320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02680" y="18288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الأدوات والاتفاقيات</a:t>
            </a:r>
            <a:endParaRPr lang="ar-AE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02680" y="2286000"/>
            <a:ext cx="2346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نموذج اتفاقية الإحالة والتعاون</a:t>
            </a:r>
            <a:endParaRPr lang="ar-AE" sz="105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مواد التدريب: PDF، عرض، أسئلة شائعة</a:t>
            </a:r>
            <a:endParaRPr lang="ar-AE" sz="105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سكربتات التواصل والمبيعات</a:t>
            </a:r>
            <a:endParaRPr lang="ar-AE" sz="105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قائمة 20 شركة وساطة مستهدفة</a:t>
            </a:r>
            <a:endParaRPr lang="ar-AE" sz="1050" dirty="0"/>
          </a:p>
        </p:txBody>
      </p:sp>
      <p:sp>
        <p:nvSpPr>
          <p:cNvPr id="9" name="Shape 7"/>
          <p:cNvSpPr/>
          <p:nvPr/>
        </p:nvSpPr>
        <p:spPr>
          <a:xfrm>
            <a:off x="3261360" y="1188720"/>
            <a:ext cx="2621280" cy="5029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98520" y="118872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b="1" dirty="0">
                <a:solidFill>
                  <a:schemeClr val="accent1"/>
                </a:solidFill>
              </a:rPr>
              <a:t>الشهر الثاني: الشراكات</a:t>
            </a:r>
            <a:endParaRPr lang="ar-AE" sz="1200" dirty="0"/>
          </a:p>
        </p:txBody>
      </p:sp>
      <p:sp>
        <p:nvSpPr>
          <p:cNvPr id="11" name="Shape 9"/>
          <p:cNvSpPr/>
          <p:nvPr/>
        </p:nvSpPr>
        <p:spPr>
          <a:xfrm>
            <a:off x="3261360" y="1691640"/>
            <a:ext cx="2621280" cy="274320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98520" y="18288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أول خمس شراكات</a:t>
            </a:r>
            <a:endParaRPr lang="ar-AE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398520" y="2286000"/>
            <a:ext cx="2346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اجتماعات مع مالكي الشركات</a:t>
            </a:r>
            <a:endParaRPr lang="ar-AE" sz="105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توقيع أول خمس اتفاقيات</a:t>
            </a:r>
            <a:endParaRPr lang="ar-AE" sz="105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ندوة مجانية لكل فريق مبيعات</a:t>
            </a:r>
            <a:endParaRPr lang="ar-AE" sz="105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إطلاق محتوى التواصل الاجتماعي</a:t>
            </a:r>
            <a:endParaRPr lang="ar-AE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1188720"/>
            <a:ext cx="2621280" cy="5029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118872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b="1" dirty="0">
                <a:solidFill>
                  <a:schemeClr val="accent1"/>
                </a:solidFill>
              </a:rPr>
              <a:t>الشهر الثالث: الإحالات</a:t>
            </a:r>
            <a:endParaRPr lang="ar-AE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1691640"/>
            <a:ext cx="2621280" cy="274320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18288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أول الموكلين</a:t>
            </a:r>
            <a:endParaRPr lang="ar-AE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286000"/>
            <a:ext cx="2346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استقبال الإحالات وتسجيلها</a:t>
            </a:r>
            <a:endParaRPr lang="ar-AE" sz="105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أول وصايا مسجلة</a:t>
            </a:r>
            <a:endParaRPr lang="ar-AE" sz="105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تقرير شهري لكل شريك</a:t>
            </a:r>
            <a:endParaRPr lang="ar-AE" sz="105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مراجعة النتائج وتعديل النموذج</a:t>
            </a:r>
            <a:endParaRPr lang="ar-AE" sz="105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40664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لا تبيعوا وصية واحدة فقط. اعملوا علاقة قانونية مدى الحياة: بعد الوصية يأتي نقل الملكية، وتأسيس الشركات، والمكتب العائلي، والعقود، والاستثمارات.</a:t>
            </a:r>
            <a:endParaRPr lang="ar-AE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accent2"/>
                </a:solidFill>
              </a:rPr>
              <a:t>القاعدة الذهبية للخدمة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شكراً لكم</a:t>
            </a:r>
            <a:endParaRPr lang="ar-AE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dirty="0">
                <a:solidFill>
                  <a:schemeClr val="accent2"/>
                </a:solidFill>
              </a:rPr>
              <a:t>أسئلتكم ومقترحاتكم موضع ترحيب</a:t>
            </a:r>
            <a:endParaRPr lang="ar-AE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شارع الشيخ زايد، برج سعيد 2، مكتب 501، دبي، الإمارات العربية المتحدة</a:t>
            </a:r>
            <a:endParaRPr lang="ar-AE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+971 4 359 5552  |  جوال وواتساب: +971 52 107 4972</a:t>
            </a:r>
            <a:endParaRPr lang="ar-AE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ar-AE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686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الاثنين – الجمعة، 8:30 – 17:30  |  العربية · English · 中文 · Русский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Copper">
  <a:themeElements>
    <a:clrScheme name="Midnight Copper">
      <a:dk1>
        <a:srgbClr val="0E2238"/>
      </a:dk1>
      <a:lt1>
        <a:srgbClr val="FFFFFF"/>
      </a:lt1>
      <a:dk2>
        <a:srgbClr val="1F3A52"/>
      </a:dk2>
      <a:lt2>
        <a:srgbClr val="F4F1EB"/>
      </a:lt2>
      <a:accent1>
        <a:srgbClr val="B5723B"/>
      </a:accent1>
      <a:accent2>
        <a:srgbClr val="D9B38C"/>
      </a:accent2>
      <a:accent3>
        <a:srgbClr val="6E7B88"/>
      </a:accent3>
      <a:accent4>
        <a:srgbClr val="8C5527"/>
      </a:accent4>
      <a:accent5>
        <a:srgbClr val="E6E1D8"/>
      </a:accent5>
      <a:accent6>
        <a:srgbClr val="5B7A8C"/>
      </a:accent6>
      <a:hlink>
        <a:srgbClr val="B5723B"/>
      </a:hlink>
      <a:folHlink>
        <a:srgbClr val="8C5527"/>
      </a:folHlink>
    </a:clrScheme>
    <a:fontScheme name="Midnight Copp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استراتيجية خدمة حماية الأصول والوصايا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2026-10-27T14:33:25Z</dcterms:created>
  <dcterms:modified xsi:type="dcterms:W3CDTF">2026-10-27T14:33:25Z</dcterms:modified>
</cp:coreProperties>
</file>