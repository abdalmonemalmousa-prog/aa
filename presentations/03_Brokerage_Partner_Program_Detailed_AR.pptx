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9d656ce9-5961-99fb-b041-3e40efab26e3}">
          <p14:sldIdLst>
            <p14:sldId id="256"/>
            <p14:sldId id="257"/>
          </p14:sldIdLst>
        </p14:section>
        <p14:section name="من نحن" id="{96019fc4-7bc0-9f2b-03f7-8cab6e0a126d}">
          <p14:sldIdLst>
            <p14:sldId id="258"/>
            <p14:sldId id="259"/>
            <p14:sldId id="260"/>
          </p14:sldIdLst>
        </p14:section>
        <p14:section name="الخدمة" id="{a39f23a8-27cf-e1ee-c050-4409ef1461ac}">
          <p14:sldIdLst>
            <p14:sldId id="261"/>
            <p14:sldId id="262"/>
            <p14:sldId id="263"/>
            <p14:sldId id="264"/>
            <p14:sldId id="265"/>
          </p14:sldIdLst>
        </p14:section>
        <p14:section name="الشراكة" id="{a7494b4e-137a-d17e-f94f-0417a5ec8335}">
          <p14:sldIdLst>
            <p14:sldId id="266"/>
            <p14:sldId id="267"/>
            <p14:sldId id="268"/>
            <p14:sldId id="269"/>
          </p14:sldIdLst>
        </p14:section>
        <p14:section name="التقديم" id="{abf631d0-7666-d0de-06f7-3b538c2aba80}">
          <p14:sldIdLst>
            <p14:sldId id="270"/>
            <p14:sldId id="271"/>
            <p14:sldId id="272"/>
            <p14:sldId id="273"/>
            <p14:sldId id="274"/>
          </p14:sldIdLst>
        </p14:section>
        <p14:section name="المسار" id="{308193e0-74f9-4fde-5591-80f14f02d3b3}">
          <p14:sldIdLst>
            <p14:sldId id="275"/>
            <p14:sldId id="276"/>
            <p14:sldId id="277"/>
            <p14:sldId id="278"/>
          </p14:sldIdLst>
        </p14:section>
        <p14:section name="التسويق" id="{a5846ba3-928d-9621-2f95-d3f0c7b0d62d}">
          <p14:sldIdLst>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0B0B"/>
        </a:solidFill>
      </p:bgPr>
    </p:bg>
    <p:spTree>
      <p:nvGrpSpPr>
        <p:cNvPr id="1" name=""/>
        <p:cNvGrpSpPr/>
        <p:nvPr/>
      </p:nvGrpSpPr>
      <p:grpSpPr>
        <a:xfrm>
          <a:off x="0" y="0"/>
          <a:ext cx="0" cy="0"/>
          <a:chOff x="0" y="0"/>
          <a:chExt cx="0" cy="0"/>
        </a:xfrm>
      </p:grpSpPr>
      <p:sp>
        <p:nvSpPr>
          <p:cNvPr id="2" name="Shape 0"/>
          <p:cNvSpPr/>
          <p:nvPr/>
        </p:nvSpPr>
        <p:spPr>
          <a:xfrm>
            <a:off x="8394192" y="4626864"/>
            <a:ext cx="384048" cy="384048"/>
          </a:xfrm>
          <a:prstGeom prst="rect">
            <a:avLst/>
          </a:prstGeom>
          <a:solidFill>
            <a:srgbClr val="0B0B0B"/>
          </a:solidFill>
          <a:ln w="9525">
            <a:solidFill>
              <a:srgbClr val="B08D57"/>
            </a:solidFill>
            <a:prstDash val="solid"/>
          </a:ln>
        </p:spPr>
      </p:sp>
      <p:sp>
        <p:nvSpPr>
          <p:cNvPr id="3" name="Text 1"/>
          <p:cNvSpPr/>
          <p:nvPr/>
        </p:nvSpPr>
        <p:spPr>
          <a:xfrm>
            <a:off x="8394192" y="4626864"/>
            <a:ext cx="384048" cy="384048"/>
          </a:xfrm>
          <a:prstGeom prst="rect">
            <a:avLst/>
          </a:prstGeom>
          <a:noFill/>
          <a:ln/>
        </p:spPr>
        <p:txBody>
          <a:bodyPr wrap="square" lIns="0" tIns="0" rIns="0" bIns="0" rtlCol="0" anchor="ctr"/>
          <a:lstStyle/>
          <a:p>
            <a:pPr algn="ctr" indent="0" marL="0">
              <a:buNone/>
            </a:pPr>
            <a:r>
              <a:rPr lang="en-US" sz="1000" b="1" dirty="0">
                <a:solidFill>
                  <a:srgbClr val="B08D57"/>
                </a:solidFill>
                <a:latin typeface="Cambria" pitchFamily="34" charset="0"/>
                <a:ea typeface="Cambria" pitchFamily="34" charset="-122"/>
                <a:cs typeface="Cambria" pitchFamily="34" charset="-120"/>
              </a:rPr>
              <a:t>RK</a:t>
            </a:r>
            <a:endParaRPr lang="en-US" sz="1000" dirty="0"/>
          </a:p>
        </p:txBody>
      </p:sp>
      <p:sp>
        <p:nvSpPr>
          <p:cNvPr id="4" name="Text 2"/>
          <p:cNvSpPr/>
          <p:nvPr/>
        </p:nvSpPr>
        <p:spPr>
          <a:xfrm>
            <a:off x="3200400" y="4626864"/>
            <a:ext cx="5120640" cy="384048"/>
          </a:xfrm>
          <a:prstGeom prst="rect">
            <a:avLst/>
          </a:prstGeom>
          <a:noFill/>
          <a:ln/>
        </p:spPr>
        <p:txBody>
          <a:bodyPr wrap="square" lIns="0" tIns="0" rIns="0" bIns="0" rtlCol="0" anchor="ctr"/>
          <a:lstStyle/>
          <a:p>
            <a:pPr algn="r" indent="0" marL="0">
              <a:buNone/>
            </a:pPr>
            <a:r>
              <a:rPr lang="en-US" sz="900" dirty="0">
                <a:solidFill>
                  <a:srgbClr val="D8C39A"/>
                </a:solidFill>
              </a:rPr>
              <a:t>راشد الكيتوب للمحاماة والاستشارات القانونية</a:t>
            </a:r>
            <a:endParaRPr lang="en-US" sz="9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8C39A"/>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394192" y="4626864"/>
            <a:ext cx="384048" cy="384048"/>
          </a:xfrm>
          <a:prstGeom prst="rect">
            <a:avLst/>
          </a:prstGeom>
          <a:solidFill>
            <a:srgbClr val="FFFFFF"/>
          </a:solidFill>
          <a:ln w="9525">
            <a:solidFill>
              <a:srgbClr val="B08D57"/>
            </a:solidFill>
            <a:prstDash val="solid"/>
          </a:ln>
        </p:spPr>
      </p:sp>
      <p:sp>
        <p:nvSpPr>
          <p:cNvPr id="3" name="Text 1"/>
          <p:cNvSpPr/>
          <p:nvPr/>
        </p:nvSpPr>
        <p:spPr>
          <a:xfrm>
            <a:off x="8394192" y="4626864"/>
            <a:ext cx="384048" cy="384048"/>
          </a:xfrm>
          <a:prstGeom prst="rect">
            <a:avLst/>
          </a:prstGeom>
          <a:noFill/>
          <a:ln/>
        </p:spPr>
        <p:txBody>
          <a:bodyPr wrap="square" lIns="0" tIns="0" rIns="0" bIns="0" rtlCol="0" anchor="ctr"/>
          <a:lstStyle/>
          <a:p>
            <a:pPr algn="ctr" indent="0" marL="0">
              <a:buNone/>
            </a:pPr>
            <a:r>
              <a:rPr lang="en-US" sz="1000" b="1" dirty="0">
                <a:solidFill>
                  <a:srgbClr val="B08D57"/>
                </a:solidFill>
                <a:latin typeface="Cambria" pitchFamily="34" charset="0"/>
                <a:ea typeface="Cambria" pitchFamily="34" charset="-122"/>
                <a:cs typeface="Cambria" pitchFamily="34" charset="-120"/>
              </a:rPr>
              <a:t>RK</a:t>
            </a:r>
            <a:endParaRPr lang="en-US" sz="1000" dirty="0"/>
          </a:p>
        </p:txBody>
      </p:sp>
      <p:sp>
        <p:nvSpPr>
          <p:cNvPr id="4" name="Text 2"/>
          <p:cNvSpPr/>
          <p:nvPr/>
        </p:nvSpPr>
        <p:spPr>
          <a:xfrm>
            <a:off x="3200400" y="4626864"/>
            <a:ext cx="5120640" cy="384048"/>
          </a:xfrm>
          <a:prstGeom prst="rect">
            <a:avLst/>
          </a:prstGeom>
          <a:noFill/>
          <a:ln/>
        </p:spPr>
        <p:txBody>
          <a:bodyPr wrap="square" lIns="0" tIns="0" rIns="0" bIns="0" rtlCol="0" anchor="ctr"/>
          <a:lstStyle/>
          <a:p>
            <a:pPr algn="r" indent="0" marL="0">
              <a:buNone/>
            </a:pPr>
            <a:r>
              <a:rPr lang="en-US" sz="900" dirty="0">
                <a:solidFill>
                  <a:srgbClr val="6B6F76"/>
                </a:solidFill>
              </a:rPr>
              <a:t>راشد الكيتوب للمحاماة والاستشارات القانونية</a:t>
            </a:r>
            <a:endParaRPr lang="en-US" sz="900" dirty="0"/>
          </a:p>
        </p:txBody>
      </p:sp>
      <p:sp>
        <p:nvSpPr>
          <p:cNvPr id="5" name="Text 3"/>
          <p:cNvSpPr/>
          <p:nvPr>
            <p:ph idx="103" type="title" hasCustomPrompt="1"/>
          </p:nvPr>
        </p:nvSpPr>
        <p:spPr>
          <a:xfrm>
            <a:off x="457200" y="347472"/>
            <a:ext cx="8229600" cy="685800"/>
          </a:xfrm>
          <a:prstGeom prst="rect">
            <a:avLst/>
          </a:prstGeom>
          <a:noFill/>
          <a:ln/>
        </p:spPr>
        <p:txBody>
          <a:bodyPr wrap="square" rtlCol="0"/>
          <a:lstStyle>
            <a:lvl1pPr rtl="1" algn="r" indent="0" marL="0">
              <a:buNone/>
              <a:defRPr lang="en-US" sz="2600" b="1" dirty="0">
                <a:solidFill>
                  <a:srgbClr val="0B0B0B"/>
                </a:solidFill>
              </a:defRPr>
            </a:lvl1pPr>
          </a:lstStyle>
          <a:p>
            <a:pPr algn="r" indent="0" marL="0">
              <a:buNone/>
            </a:pPr>
            <a:endParaRPr lang="en-US" sz="26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_DARK">
    <p:bg>
      <p:bgPr>
        <a:solidFill>
          <a:srgbClr val="0B0B0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8C39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3.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3.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457200"/>
            <a:ext cx="8229600" cy="4229100"/>
          </a:xfrm>
          <a:prstGeom prst="rect">
            <a:avLst/>
          </a:prstGeom>
          <a:ln w="9525">
            <a:solidFill>
              <a:srgbClr val="B08D57"/>
            </a:solidFill>
            <a:prstDash val="solid"/>
          </a:ln>
        </p:spPr>
      </p:sp>
      <p:sp>
        <p:nvSpPr>
          <p:cNvPr id="3" name="Shape 1"/>
          <p:cNvSpPr/>
          <p:nvPr/>
        </p:nvSpPr>
        <p:spPr>
          <a:xfrm>
            <a:off x="7452360" y="868680"/>
            <a:ext cx="822960" cy="822960"/>
          </a:xfrm>
          <a:prstGeom prst="rect">
            <a:avLst/>
          </a:prstGeom>
          <a:solidFill>
            <a:srgbClr val="0B0B0B"/>
          </a:solidFill>
          <a:ln w="12700">
            <a:solidFill>
              <a:srgbClr val="B08D57"/>
            </a:solidFill>
            <a:prstDash val="solid"/>
          </a:ln>
        </p:spPr>
      </p:sp>
      <p:sp>
        <p:nvSpPr>
          <p:cNvPr id="4" name="Text 2"/>
          <p:cNvSpPr txBox="1"/>
          <p:nvPr/>
        </p:nvSpPr>
        <p:spPr>
          <a:xfrm>
            <a:off x="7452360" y="868680"/>
            <a:ext cx="822960" cy="82296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RK</a:t>
            </a:r>
            <a:endParaRPr lang="en-US" sz="2400" dirty="0"/>
          </a:p>
        </p:txBody>
      </p:sp>
      <p:sp>
        <p:nvSpPr>
          <p:cNvPr id="5" name="Text 3"/>
          <p:cNvSpPr txBox="1"/>
          <p:nvPr/>
        </p:nvSpPr>
        <p:spPr>
          <a:xfrm>
            <a:off x="1325880" y="868680"/>
            <a:ext cx="5943600" cy="822960"/>
          </a:xfrm>
          <a:prstGeom prst="rect">
            <a:avLst/>
          </a:prstGeom>
          <a:noFill/>
          <a:ln/>
        </p:spPr>
        <p:txBody>
          <a:bodyPr wrap="square" lIns="0" tIns="0" rIns="0" bIns="0" rtlCol="0" anchor="ctr"/>
          <a:lstStyle/>
          <a:p>
            <a:pPr rtl="1" algn="r" indent="0" marL="0">
              <a:buNone/>
            </a:pPr>
            <a:r>
              <a:rPr lang="ar-AE" altLang="en-US" sz="1200" dirty="0">
                <a:solidFill>
                  <a:schemeClr val="accent2"/>
                </a:solidFill>
              </a:rPr>
              <a:t>راشد الكيتوب للمحاماة والاستشارات القانونية</a:t>
            </a:r>
            <a:endParaRPr lang="ar-AE" sz="1200" dirty="0"/>
          </a:p>
        </p:txBody>
      </p:sp>
      <p:sp>
        <p:nvSpPr>
          <p:cNvPr id="6" name="Text 4"/>
          <p:cNvSpPr txBox="1"/>
          <p:nvPr/>
        </p:nvSpPr>
        <p:spPr>
          <a:xfrm>
            <a:off x="868680" y="1965960"/>
            <a:ext cx="7406640" cy="1371600"/>
          </a:xfrm>
          <a:prstGeom prst="rect">
            <a:avLst/>
          </a:prstGeom>
          <a:noFill/>
          <a:ln/>
        </p:spPr>
        <p:txBody>
          <a:bodyPr wrap="square" lIns="0" tIns="0" rIns="0" bIns="0" rtlCol="0" anchor="ctr"/>
          <a:lstStyle/>
          <a:p>
            <a:pPr rtl="1" algn="r" indent="0" marL="0">
              <a:buNone/>
            </a:pPr>
            <a:r>
              <a:rPr lang="ar-AE" altLang="en-US" sz="3000" b="1" dirty="0">
                <a:solidFill>
                  <a:schemeClr val="bg1"/>
                </a:solidFill>
                <a:latin typeface="Cambria" pitchFamily="34" charset="0"/>
                <a:ea typeface="Cambria" pitchFamily="34" charset="-122"/>
                <a:cs typeface="Cambria" pitchFamily="34" charset="-120"/>
              </a:rPr>
              <a:t>برنامج الحماية القانونية للمستثمرين</a:t>
            </a:r>
            <a:endParaRPr lang="ar-AE" sz="3000" dirty="0"/>
          </a:p>
        </p:txBody>
      </p:sp>
      <p:sp>
        <p:nvSpPr>
          <p:cNvPr id="7" name="Text 5"/>
          <p:cNvSpPr txBox="1"/>
          <p:nvPr/>
        </p:nvSpPr>
        <p:spPr>
          <a:xfrm>
            <a:off x="868680" y="3383280"/>
            <a:ext cx="7406640" cy="548640"/>
          </a:xfrm>
          <a:prstGeom prst="rect">
            <a:avLst/>
          </a:prstGeom>
          <a:noFill/>
          <a:ln/>
        </p:spPr>
        <p:txBody>
          <a:bodyPr wrap="square" lIns="0" tIns="0" rIns="0" bIns="0" rtlCol="0" anchor="t"/>
          <a:lstStyle/>
          <a:p>
            <a:pPr rtl="1" algn="r" indent="0" marL="0">
              <a:buNone/>
            </a:pPr>
            <a:r>
              <a:rPr lang="ar-AE" altLang="en-US" sz="1500" dirty="0">
                <a:solidFill>
                  <a:schemeClr val="accent2"/>
                </a:solidFill>
              </a:rPr>
              <a:t>الدليل التفصيلي لشركات الوساطة العقارية الشريكة: الخدمة، نموذج التعاون، وكيفية تقديمها للعملاء</a:t>
            </a:r>
            <a:endParaRPr lang="ar-AE" sz="1500" dirty="0"/>
          </a:p>
        </p:txBody>
      </p:sp>
      <p:sp>
        <p:nvSpPr>
          <p:cNvPr id="8" name="Text 6"/>
          <p:cNvSpPr txBox="1"/>
          <p:nvPr/>
        </p:nvSpPr>
        <p:spPr>
          <a:xfrm>
            <a:off x="868680" y="4023360"/>
            <a:ext cx="7406640" cy="365760"/>
          </a:xfrm>
          <a:prstGeom prst="rect">
            <a:avLst/>
          </a:prstGeom>
          <a:noFill/>
          <a:ln/>
        </p:spPr>
        <p:txBody>
          <a:bodyPr wrap="square" lIns="0" tIns="0" rIns="0" bIns="0" rtlCol="0" anchor="ctr"/>
          <a:lstStyle/>
          <a:p>
            <a:pPr rtl="1" algn="r" indent="0" marL="0">
              <a:buNone/>
            </a:pPr>
            <a:r>
              <a:rPr lang="ar-AE" altLang="en-US" sz="1000" dirty="0">
                <a:solidFill>
                  <a:schemeClr val="accent3"/>
                </a:solidFill>
              </a:rPr>
              <a:t>راشد الكيتوب للمحاماة والاستشارات القانونية · دبي</a:t>
            </a:r>
            <a:endParaRPr lang="ar-AE" sz="10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8C39A"/>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محتويات الدليل</a:t>
            </a:r>
            <a:endParaRPr lang="en-US" sz="2600" dirty="0"/>
          </a:p>
        </p:txBody>
      </p:sp>
      <p:sp>
        <p:nvSpPr>
          <p:cNvPr id="3" name="Text 1"/>
          <p:cNvSpPr txBox="1"/>
          <p:nvPr/>
        </p:nvSpPr>
        <p:spPr>
          <a:xfrm>
            <a:off x="8229600" y="1234440"/>
            <a:ext cx="457200" cy="530352"/>
          </a:xfrm>
          <a:prstGeom prst="rect">
            <a:avLst/>
          </a:prstGeom>
          <a:noFill/>
          <a:ln/>
        </p:spPr>
        <p:txBody>
          <a:bodyPr wrap="square" lIns="0" tIns="0" rIns="0" bIns="0" rtlCol="0" anchor="ctr"/>
          <a:lstStyle/>
          <a:p>
            <a:pPr algn="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4" name="Text 2"/>
          <p:cNvSpPr txBox="1"/>
          <p:nvPr/>
        </p:nvSpPr>
        <p:spPr>
          <a:xfrm>
            <a:off x="4663440" y="1234440"/>
            <a:ext cx="3474720" cy="530352"/>
          </a:xfrm>
          <a:prstGeom prst="rect">
            <a:avLst/>
          </a:prstGeom>
          <a:noFill/>
          <a:ln/>
        </p:spPr>
        <p:txBody>
          <a:bodyPr wrap="square" lIns="0" tIns="0" rIns="0" bIns="0" rtlCol="0" anchor="ctr"/>
          <a:lstStyle/>
          <a:p>
            <a:pPr rtl="1" algn="r" indent="0" marL="0">
              <a:buNone/>
            </a:pPr>
            <a:r>
              <a:rPr lang="ar-AE" altLang="en-US" sz="1350" dirty="0">
                <a:solidFill>
                  <a:schemeClr val="tx1"/>
                </a:solidFill>
              </a:rPr>
              <a:t>من نحن ولماذا هذه الخدمة مهمة لعملائكم</a:t>
            </a:r>
            <a:endParaRPr lang="ar-AE" sz="1350" dirty="0"/>
          </a:p>
        </p:txBody>
      </p:sp>
      <p:sp>
        <p:nvSpPr>
          <p:cNvPr id="5" name="Shape 3"/>
          <p:cNvSpPr/>
          <p:nvPr/>
        </p:nvSpPr>
        <p:spPr>
          <a:xfrm>
            <a:off x="457200" y="1801368"/>
            <a:ext cx="4023360" cy="0"/>
          </a:xfrm>
          <a:prstGeom prst="line">
            <a:avLst/>
          </a:prstGeom>
          <a:noFill/>
          <a:ln w="6350">
            <a:solidFill>
              <a:srgbClr val="E9E4DA"/>
            </a:solidFill>
            <a:prstDash val="solid"/>
          </a:ln>
        </p:spPr>
      </p:sp>
      <p:sp>
        <p:nvSpPr>
          <p:cNvPr id="6" name="Text 4"/>
          <p:cNvSpPr txBox="1"/>
          <p:nvPr/>
        </p:nvSpPr>
        <p:spPr>
          <a:xfrm>
            <a:off x="8229600" y="1856232"/>
            <a:ext cx="457200" cy="530352"/>
          </a:xfrm>
          <a:prstGeom prst="rect">
            <a:avLst/>
          </a:prstGeom>
          <a:noFill/>
          <a:ln/>
        </p:spPr>
        <p:txBody>
          <a:bodyPr wrap="square" lIns="0" tIns="0" rIns="0" bIns="0" rtlCol="0" anchor="ctr"/>
          <a:lstStyle/>
          <a:p>
            <a:pPr algn="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7" name="Text 5"/>
          <p:cNvSpPr txBox="1"/>
          <p:nvPr/>
        </p:nvSpPr>
        <p:spPr>
          <a:xfrm>
            <a:off x="4663440" y="1856232"/>
            <a:ext cx="3474720" cy="530352"/>
          </a:xfrm>
          <a:prstGeom prst="rect">
            <a:avLst/>
          </a:prstGeom>
          <a:noFill/>
          <a:ln/>
        </p:spPr>
        <p:txBody>
          <a:bodyPr wrap="square" lIns="0" tIns="0" rIns="0" bIns="0" rtlCol="0" anchor="ctr"/>
          <a:lstStyle/>
          <a:p>
            <a:pPr rtl="1" algn="r" indent="0" marL="0">
              <a:buNone/>
            </a:pPr>
            <a:r>
              <a:rPr lang="ar-AE" altLang="en-US" sz="1350" dirty="0">
                <a:solidFill>
                  <a:schemeClr val="tx1"/>
                </a:solidFill>
              </a:rPr>
              <a:t>الخدمة بالتفصيل: الأنواع والجهات</a:t>
            </a:r>
            <a:endParaRPr lang="ar-AE" sz="1350" dirty="0"/>
          </a:p>
        </p:txBody>
      </p:sp>
      <p:sp>
        <p:nvSpPr>
          <p:cNvPr id="8" name="Shape 6"/>
          <p:cNvSpPr/>
          <p:nvPr/>
        </p:nvSpPr>
        <p:spPr>
          <a:xfrm>
            <a:off x="457200" y="2423160"/>
            <a:ext cx="4023360" cy="0"/>
          </a:xfrm>
          <a:prstGeom prst="line">
            <a:avLst/>
          </a:prstGeom>
          <a:noFill/>
          <a:ln w="6350">
            <a:solidFill>
              <a:srgbClr val="E9E4DA"/>
            </a:solidFill>
            <a:prstDash val="solid"/>
          </a:ln>
        </p:spPr>
      </p:sp>
      <p:sp>
        <p:nvSpPr>
          <p:cNvPr id="9" name="Text 7"/>
          <p:cNvSpPr txBox="1"/>
          <p:nvPr/>
        </p:nvSpPr>
        <p:spPr>
          <a:xfrm>
            <a:off x="8229600" y="2478024"/>
            <a:ext cx="457200" cy="530352"/>
          </a:xfrm>
          <a:prstGeom prst="rect">
            <a:avLst/>
          </a:prstGeom>
          <a:noFill/>
          <a:ln/>
        </p:spPr>
        <p:txBody>
          <a:bodyPr wrap="square" lIns="0" tIns="0" rIns="0" bIns="0" rtlCol="0" anchor="ctr"/>
          <a:lstStyle/>
          <a:p>
            <a:pPr algn="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4663440" y="2478024"/>
            <a:ext cx="3474720" cy="530352"/>
          </a:xfrm>
          <a:prstGeom prst="rect">
            <a:avLst/>
          </a:prstGeom>
          <a:noFill/>
          <a:ln/>
        </p:spPr>
        <p:txBody>
          <a:bodyPr wrap="square" lIns="0" tIns="0" rIns="0" bIns="0" rtlCol="0" anchor="ctr"/>
          <a:lstStyle/>
          <a:p>
            <a:pPr rtl="1" algn="r" indent="0" marL="0">
              <a:buNone/>
            </a:pPr>
            <a:r>
              <a:rPr lang="ar-AE" altLang="en-US" sz="1350" dirty="0">
                <a:solidFill>
                  <a:schemeClr val="tx1"/>
                </a:solidFill>
              </a:rPr>
              <a:t>نموذج الشراكة والاتفاقية والنموذج التجاري</a:t>
            </a:r>
            <a:endParaRPr lang="ar-AE" sz="1350" dirty="0"/>
          </a:p>
        </p:txBody>
      </p:sp>
      <p:sp>
        <p:nvSpPr>
          <p:cNvPr id="11" name="Shape 9"/>
          <p:cNvSpPr/>
          <p:nvPr/>
        </p:nvSpPr>
        <p:spPr>
          <a:xfrm>
            <a:off x="457200" y="3044952"/>
            <a:ext cx="4023360" cy="0"/>
          </a:xfrm>
          <a:prstGeom prst="line">
            <a:avLst/>
          </a:prstGeom>
          <a:noFill/>
          <a:ln w="6350">
            <a:solidFill>
              <a:srgbClr val="E9E4DA"/>
            </a:solidFill>
            <a:prstDash val="solid"/>
          </a:ln>
        </p:spPr>
      </p:sp>
      <p:sp>
        <p:nvSpPr>
          <p:cNvPr id="12" name="Text 10"/>
          <p:cNvSpPr txBox="1"/>
          <p:nvPr/>
        </p:nvSpPr>
        <p:spPr>
          <a:xfrm>
            <a:off x="8229600" y="3099816"/>
            <a:ext cx="457200" cy="530352"/>
          </a:xfrm>
          <a:prstGeom prst="rect">
            <a:avLst/>
          </a:prstGeom>
          <a:noFill/>
          <a:ln/>
        </p:spPr>
        <p:txBody>
          <a:bodyPr wrap="square" lIns="0" tIns="0" rIns="0" bIns="0" rtlCol="0" anchor="ctr"/>
          <a:lstStyle/>
          <a:p>
            <a:pPr algn="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3" name="Text 11"/>
          <p:cNvSpPr txBox="1"/>
          <p:nvPr/>
        </p:nvSpPr>
        <p:spPr>
          <a:xfrm>
            <a:off x="4663440" y="3099816"/>
            <a:ext cx="3474720" cy="530352"/>
          </a:xfrm>
          <a:prstGeom prst="rect">
            <a:avLst/>
          </a:prstGeom>
          <a:noFill/>
          <a:ln/>
        </p:spPr>
        <p:txBody>
          <a:bodyPr wrap="square" lIns="0" tIns="0" rIns="0" bIns="0" rtlCol="0" anchor="ctr"/>
          <a:lstStyle/>
          <a:p>
            <a:pPr rtl="1" algn="r" indent="0" marL="0">
              <a:buNone/>
            </a:pPr>
            <a:r>
              <a:rPr lang="ar-AE" altLang="en-US" sz="1350" dirty="0">
                <a:solidFill>
                  <a:schemeClr val="tx1"/>
                </a:solidFill>
              </a:rPr>
              <a:t>كيف تقدّمون الخدمة للعميل: التوقيت والسكربت</a:t>
            </a:r>
            <a:endParaRPr lang="ar-AE" sz="1350" dirty="0"/>
          </a:p>
        </p:txBody>
      </p:sp>
      <p:sp>
        <p:nvSpPr>
          <p:cNvPr id="14" name="Shape 12"/>
          <p:cNvSpPr/>
          <p:nvPr/>
        </p:nvSpPr>
        <p:spPr>
          <a:xfrm>
            <a:off x="457200" y="3666744"/>
            <a:ext cx="4023360" cy="0"/>
          </a:xfrm>
          <a:prstGeom prst="line">
            <a:avLst/>
          </a:prstGeom>
          <a:noFill/>
          <a:ln w="6350">
            <a:solidFill>
              <a:srgbClr val="E9E4DA"/>
            </a:solidFill>
            <a:prstDash val="solid"/>
          </a:ln>
        </p:spPr>
      </p:sp>
      <p:sp>
        <p:nvSpPr>
          <p:cNvPr id="15" name="Text 13"/>
          <p:cNvSpPr txBox="1"/>
          <p:nvPr/>
        </p:nvSpPr>
        <p:spPr>
          <a:xfrm>
            <a:off x="4023360" y="1234440"/>
            <a:ext cx="457200" cy="530352"/>
          </a:xfrm>
          <a:prstGeom prst="rect">
            <a:avLst/>
          </a:prstGeom>
          <a:noFill/>
          <a:ln/>
        </p:spPr>
        <p:txBody>
          <a:bodyPr wrap="square" lIns="0" tIns="0" rIns="0" bIns="0" rtlCol="0" anchor="ctr"/>
          <a:lstStyle/>
          <a:p>
            <a:pPr algn="r" indent="0" marL="0">
              <a:buNone/>
            </a:pPr>
            <a:r>
              <a:rPr lang="en-US" sz="1800" b="1" dirty="0">
                <a:solidFill>
                  <a:schemeClr val="accent1"/>
                </a:solidFill>
                <a:latin typeface="Cambria" pitchFamily="34" charset="0"/>
                <a:ea typeface="Cambria" pitchFamily="34" charset="-122"/>
                <a:cs typeface="Cambria" pitchFamily="34" charset="-120"/>
              </a:rPr>
              <a:t>05</a:t>
            </a:r>
            <a:endParaRPr lang="en-US" sz="1800" dirty="0"/>
          </a:p>
        </p:txBody>
      </p:sp>
      <p:sp>
        <p:nvSpPr>
          <p:cNvPr id="16" name="Text 14"/>
          <p:cNvSpPr txBox="1"/>
          <p:nvPr/>
        </p:nvSpPr>
        <p:spPr>
          <a:xfrm>
            <a:off x="457200" y="1234440"/>
            <a:ext cx="3474720" cy="530352"/>
          </a:xfrm>
          <a:prstGeom prst="rect">
            <a:avLst/>
          </a:prstGeom>
          <a:noFill/>
          <a:ln/>
        </p:spPr>
        <p:txBody>
          <a:bodyPr wrap="square" lIns="0" tIns="0" rIns="0" bIns="0" rtlCol="0" anchor="ctr"/>
          <a:lstStyle/>
          <a:p>
            <a:pPr rtl="1" algn="r" indent="0" marL="0">
              <a:buNone/>
            </a:pPr>
            <a:r>
              <a:rPr lang="ar-AE" altLang="en-US" sz="1350" dirty="0">
                <a:solidFill>
                  <a:schemeClr val="tx1"/>
                </a:solidFill>
              </a:rPr>
              <a:t>ما يُقال وما لا يُقال، والأسئلة الشائعة</a:t>
            </a:r>
            <a:endParaRPr lang="ar-AE" sz="1350" dirty="0"/>
          </a:p>
        </p:txBody>
      </p:sp>
      <p:sp>
        <p:nvSpPr>
          <p:cNvPr id="17" name="Shape 15"/>
          <p:cNvSpPr/>
          <p:nvPr/>
        </p:nvSpPr>
        <p:spPr>
          <a:xfrm>
            <a:off x="4663440" y="1801368"/>
            <a:ext cx="4023360" cy="0"/>
          </a:xfrm>
          <a:prstGeom prst="line">
            <a:avLst/>
          </a:prstGeom>
          <a:noFill/>
          <a:ln w="6350">
            <a:solidFill>
              <a:srgbClr val="E9E4DA"/>
            </a:solidFill>
            <a:prstDash val="solid"/>
          </a:ln>
        </p:spPr>
      </p:sp>
      <p:sp>
        <p:nvSpPr>
          <p:cNvPr id="18" name="Text 16"/>
          <p:cNvSpPr txBox="1"/>
          <p:nvPr/>
        </p:nvSpPr>
        <p:spPr>
          <a:xfrm>
            <a:off x="4023360" y="1856232"/>
            <a:ext cx="457200" cy="530352"/>
          </a:xfrm>
          <a:prstGeom prst="rect">
            <a:avLst/>
          </a:prstGeom>
          <a:noFill/>
          <a:ln/>
        </p:spPr>
        <p:txBody>
          <a:bodyPr wrap="square" lIns="0" tIns="0" rIns="0" bIns="0" rtlCol="0" anchor="ctr"/>
          <a:lstStyle/>
          <a:p>
            <a:pPr algn="r" indent="0" marL="0">
              <a:buNone/>
            </a:pPr>
            <a:r>
              <a:rPr lang="en-US" sz="1800" b="1" dirty="0">
                <a:solidFill>
                  <a:schemeClr val="accent1"/>
                </a:solidFill>
                <a:latin typeface="Cambria" pitchFamily="34" charset="0"/>
                <a:ea typeface="Cambria" pitchFamily="34" charset="-122"/>
                <a:cs typeface="Cambria" pitchFamily="34" charset="-120"/>
              </a:rPr>
              <a:t>06</a:t>
            </a:r>
            <a:endParaRPr lang="en-US" sz="1800" dirty="0"/>
          </a:p>
        </p:txBody>
      </p:sp>
      <p:sp>
        <p:nvSpPr>
          <p:cNvPr id="19" name="Text 17"/>
          <p:cNvSpPr txBox="1"/>
          <p:nvPr/>
        </p:nvSpPr>
        <p:spPr>
          <a:xfrm>
            <a:off x="457200" y="1856232"/>
            <a:ext cx="3474720" cy="530352"/>
          </a:xfrm>
          <a:prstGeom prst="rect">
            <a:avLst/>
          </a:prstGeom>
          <a:noFill/>
          <a:ln/>
        </p:spPr>
        <p:txBody>
          <a:bodyPr wrap="square" lIns="0" tIns="0" rIns="0" bIns="0" rtlCol="0" anchor="ctr"/>
          <a:lstStyle/>
          <a:p>
            <a:pPr rtl="1" algn="r" indent="0" marL="0">
              <a:buNone/>
            </a:pPr>
            <a:r>
              <a:rPr lang="ar-AE" altLang="en-US" sz="1350" dirty="0">
                <a:solidFill>
                  <a:schemeClr val="tx1"/>
                </a:solidFill>
              </a:rPr>
              <a:t>مسار الإحالة، مستوى الخدمة، والامتثال</a:t>
            </a:r>
            <a:endParaRPr lang="ar-AE" sz="1350" dirty="0"/>
          </a:p>
        </p:txBody>
      </p:sp>
      <p:sp>
        <p:nvSpPr>
          <p:cNvPr id="20" name="Shape 18"/>
          <p:cNvSpPr/>
          <p:nvPr/>
        </p:nvSpPr>
        <p:spPr>
          <a:xfrm>
            <a:off x="4663440" y="2423160"/>
            <a:ext cx="4023360" cy="0"/>
          </a:xfrm>
          <a:prstGeom prst="line">
            <a:avLst/>
          </a:prstGeom>
          <a:noFill/>
          <a:ln w="6350">
            <a:solidFill>
              <a:srgbClr val="E9E4DA"/>
            </a:solidFill>
            <a:prstDash val="solid"/>
          </a:ln>
        </p:spPr>
      </p:sp>
      <p:sp>
        <p:nvSpPr>
          <p:cNvPr id="21" name="Text 19"/>
          <p:cNvSpPr txBox="1"/>
          <p:nvPr/>
        </p:nvSpPr>
        <p:spPr>
          <a:xfrm>
            <a:off x="4023360" y="2478024"/>
            <a:ext cx="457200" cy="530352"/>
          </a:xfrm>
          <a:prstGeom prst="rect">
            <a:avLst/>
          </a:prstGeom>
          <a:noFill/>
          <a:ln/>
        </p:spPr>
        <p:txBody>
          <a:bodyPr wrap="square" lIns="0" tIns="0" rIns="0" bIns="0" rtlCol="0" anchor="ctr"/>
          <a:lstStyle/>
          <a:p>
            <a:pPr algn="r" indent="0" marL="0">
              <a:buNone/>
            </a:pPr>
            <a:r>
              <a:rPr lang="en-US" sz="1800" b="1" dirty="0">
                <a:solidFill>
                  <a:schemeClr val="accent1"/>
                </a:solidFill>
                <a:latin typeface="Cambria" pitchFamily="34" charset="0"/>
                <a:ea typeface="Cambria" pitchFamily="34" charset="-122"/>
                <a:cs typeface="Cambria" pitchFamily="34" charset="-120"/>
              </a:rPr>
              <a:t>07</a:t>
            </a:r>
            <a:endParaRPr lang="en-US" sz="1800" dirty="0"/>
          </a:p>
        </p:txBody>
      </p:sp>
      <p:sp>
        <p:nvSpPr>
          <p:cNvPr id="22" name="Text 20"/>
          <p:cNvSpPr txBox="1"/>
          <p:nvPr/>
        </p:nvSpPr>
        <p:spPr>
          <a:xfrm>
            <a:off x="457200" y="2478024"/>
            <a:ext cx="3474720" cy="530352"/>
          </a:xfrm>
          <a:prstGeom prst="rect">
            <a:avLst/>
          </a:prstGeom>
          <a:noFill/>
          <a:ln/>
        </p:spPr>
        <p:txBody>
          <a:bodyPr wrap="square" lIns="0" tIns="0" rIns="0" bIns="0" rtlCol="0" anchor="ctr"/>
          <a:lstStyle/>
          <a:p>
            <a:pPr rtl="1" algn="r" indent="0" marL="0">
              <a:buNone/>
            </a:pPr>
            <a:r>
              <a:rPr lang="ar-AE" altLang="en-US" sz="1350" dirty="0">
                <a:solidFill>
                  <a:schemeClr val="tx1"/>
                </a:solidFill>
              </a:rPr>
              <a:t>التسويق المشترك وخطة الانطلاق</a:t>
            </a:r>
            <a:endParaRPr lang="ar-AE" sz="1350" dirty="0"/>
          </a:p>
        </p:txBody>
      </p:sp>
      <p:sp>
        <p:nvSpPr>
          <p:cNvPr id="23" name="Shape 21"/>
          <p:cNvSpPr/>
          <p:nvPr/>
        </p:nvSpPr>
        <p:spPr>
          <a:xfrm>
            <a:off x="4663440" y="3044952"/>
            <a:ext cx="4023360" cy="0"/>
          </a:xfrm>
          <a:prstGeom prst="line">
            <a:avLst/>
          </a:prstGeom>
          <a:noFill/>
          <a:ln w="6350">
            <a:solidFill>
              <a:srgbClr val="E9E4DA"/>
            </a:solidFill>
            <a:prstDash val="solid"/>
          </a:ln>
        </p:spPr>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0" y="1463040"/>
            <a:ext cx="1828800" cy="1463040"/>
          </a:xfrm>
          <a:prstGeom prst="rect">
            <a:avLst/>
          </a:prstGeom>
          <a:noFill/>
          <a:ln/>
        </p:spPr>
        <p:txBody>
          <a:bodyPr wrap="square" lIns="0" tIns="0" rIns="0" bIns="0" rtlCol="0" anchor="ctr"/>
          <a:lstStyle/>
          <a:p>
            <a:pPr algn="r" indent="0" marL="0">
              <a:buNone/>
            </a:pPr>
            <a:r>
              <a:rPr lang="en-US" sz="7200" dirty="0">
                <a:solidFill>
                  <a:schemeClr val="accent1"/>
                </a:solidFill>
                <a:latin typeface="Cambria" pitchFamily="34" charset="0"/>
                <a:ea typeface="Cambria" pitchFamily="34" charset="-122"/>
                <a:cs typeface="Cambria" pitchFamily="34" charset="-120"/>
              </a:rPr>
              <a:t>01</a:t>
            </a:r>
            <a:endParaRPr lang="en-US" sz="7200" dirty="0"/>
          </a:p>
        </p:txBody>
      </p:sp>
      <p:sp>
        <p:nvSpPr>
          <p:cNvPr id="3" name="Text 1"/>
          <p:cNvSpPr txBox="1"/>
          <p:nvPr/>
        </p:nvSpPr>
        <p:spPr>
          <a:xfrm>
            <a:off x="914400" y="2834640"/>
            <a:ext cx="7772400" cy="731520"/>
          </a:xfrm>
          <a:prstGeom prst="rect">
            <a:avLst/>
          </a:prstGeom>
          <a:noFill/>
          <a:ln/>
        </p:spPr>
        <p:txBody>
          <a:bodyPr wrap="square" lIns="0" tIns="0" rIns="0" bIns="0" rtlCol="0" anchor="t"/>
          <a:lstStyle/>
          <a:p>
            <a:pPr rtl="1" algn="r" indent="0" marL="0">
              <a:buNone/>
            </a:pPr>
            <a:r>
              <a:rPr lang="ar-AE" altLang="en-US" sz="3000" b="1" dirty="0">
                <a:solidFill>
                  <a:schemeClr val="bg1"/>
                </a:solidFill>
                <a:latin typeface="Cambria" pitchFamily="34" charset="0"/>
                <a:ea typeface="Cambria" pitchFamily="34" charset="-122"/>
                <a:cs typeface="Cambria" pitchFamily="34" charset="-120"/>
              </a:rPr>
              <a:t>من نحن ولماذا هذه الخدمة</a:t>
            </a:r>
            <a:endParaRPr lang="ar-AE" sz="3000" dirty="0"/>
          </a:p>
        </p:txBody>
      </p:sp>
      <p:sp>
        <p:nvSpPr>
          <p:cNvPr id="4" name="Text 2"/>
          <p:cNvSpPr txBox="1"/>
          <p:nvPr/>
        </p:nvSpPr>
        <p:spPr>
          <a:xfrm>
            <a:off x="914400" y="3566160"/>
            <a:ext cx="7772400" cy="548640"/>
          </a:xfrm>
          <a:prstGeom prst="rect">
            <a:avLst/>
          </a:prstGeom>
          <a:noFill/>
          <a:ln/>
        </p:spPr>
        <p:txBody>
          <a:bodyPr wrap="square" lIns="0" tIns="0" rIns="0" bIns="0" rtlCol="0" anchor="ctr"/>
          <a:lstStyle/>
          <a:p>
            <a:pPr rtl="1" algn="r" indent="0" marL="0">
              <a:buNone/>
            </a:pPr>
            <a:r>
              <a:rPr lang="ar-AE" altLang="en-US" sz="1400" dirty="0">
                <a:solidFill>
                  <a:schemeClr val="accent2"/>
                </a:solidFill>
              </a:rPr>
              <a:t>شريك قانوني يحمي عملاءكم ويرفع قيمة ما تبيعونه</a:t>
            </a:r>
            <a:endParaRPr lang="ar-AE" sz="14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8C39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من نحن</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راشد الكيتوب للمحاماة والاستشارات القانونية</a:t>
            </a:r>
            <a:endParaRPr lang="ar-AE" sz="1000" dirty="0"/>
          </a:p>
        </p:txBody>
      </p:sp>
      <p:sp>
        <p:nvSpPr>
          <p:cNvPr id="4" name="Shape 2"/>
          <p:cNvSpPr/>
          <p:nvPr/>
        </p:nvSpPr>
        <p:spPr>
          <a:xfrm>
            <a:off x="6096000" y="1188720"/>
            <a:ext cx="2590800" cy="1508760"/>
          </a:xfrm>
          <a:prstGeom prst="rect">
            <a:avLst/>
          </a:prstGeom>
          <a:solidFill>
            <a:srgbClr val="F4F1EA"/>
          </a:solidFill>
          <a:ln w="12700">
            <a:solidFill>
              <a:srgbClr val="F4F1EA"/>
            </a:solidFill>
            <a:prstDash val="solid"/>
          </a:ln>
        </p:spPr>
      </p:sp>
      <p:pic>
        <p:nvPicPr>
          <p:cNvPr id="5" name="icon FaBuildingColumns" descr="preencoded.png">    </p:cNvPr>
          <p:cNvPicPr>
            <a:picLocks noChangeAspect="1"/>
          </p:cNvPicPr>
          <p:nvPr/>
        </p:nvPicPr>
        <p:blipFill>
          <a:blip r:embed="rId1"/>
          <a:stretch>
            <a:fillRect/>
          </a:stretch>
        </p:blipFill>
        <p:spPr>
          <a:xfrm>
            <a:off x="8174736" y="1389888"/>
            <a:ext cx="310896" cy="310896"/>
          </a:xfrm>
          <a:prstGeom prst="rect">
            <a:avLst/>
          </a:prstGeom>
        </p:spPr>
      </p:pic>
      <p:sp>
        <p:nvSpPr>
          <p:cNvPr id="6" name="Text 3"/>
          <p:cNvSpPr txBox="1"/>
          <p:nvPr/>
        </p:nvSpPr>
        <p:spPr>
          <a:xfrm>
            <a:off x="6297168" y="182880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مكتب مرخّص منذ 2014</a:t>
            </a:r>
            <a:endParaRPr lang="ar-AE" sz="1250" dirty="0"/>
          </a:p>
          <a:p>
            <a:pPr algn="r" indent="0" marL="0">
              <a:spcAft>
                <a:spcPts val="300"/>
              </a:spcAft>
              <a:buNone/>
            </a:pPr>
            <a:r>
              <a:rPr lang="ar-AE" altLang="en-US" sz="1050" dirty="0">
                <a:solidFill>
                  <a:schemeClr val="accent3"/>
                </a:solidFill>
              </a:rPr>
              <a:t>مكتب محاماة مرخّص في دولة الإمارات، مقره شارع الشيخ زايد في دبي، يمثّل الأفراد والشركات أمام محاكم الدولة بجميع درجاتها.</a:t>
            </a:r>
            <a:endParaRPr lang="ar-AE" sz="1250" dirty="0"/>
          </a:p>
        </p:txBody>
      </p:sp>
      <p:sp>
        <p:nvSpPr>
          <p:cNvPr id="7" name="Shape 4"/>
          <p:cNvSpPr/>
          <p:nvPr/>
        </p:nvSpPr>
        <p:spPr>
          <a:xfrm>
            <a:off x="3276600" y="1188720"/>
            <a:ext cx="2590800" cy="1508760"/>
          </a:xfrm>
          <a:prstGeom prst="rect">
            <a:avLst/>
          </a:prstGeom>
          <a:solidFill>
            <a:srgbClr val="F4F1EA"/>
          </a:solidFill>
          <a:ln w="12700">
            <a:solidFill>
              <a:srgbClr val="F4F1EA"/>
            </a:solidFill>
            <a:prstDash val="solid"/>
          </a:ln>
        </p:spPr>
      </p:sp>
      <p:pic>
        <p:nvPicPr>
          <p:cNvPr id="8" name="icon FaScaleBalanced" descr="preencoded.png">    </p:cNvPr>
          <p:cNvPicPr>
            <a:picLocks noChangeAspect="1"/>
          </p:cNvPicPr>
          <p:nvPr/>
        </p:nvPicPr>
        <p:blipFill>
          <a:blip r:embed="rId2"/>
          <a:stretch>
            <a:fillRect/>
          </a:stretch>
        </p:blipFill>
        <p:spPr>
          <a:xfrm>
            <a:off x="5355336" y="1389888"/>
            <a:ext cx="310896" cy="310896"/>
          </a:xfrm>
          <a:prstGeom prst="rect">
            <a:avLst/>
          </a:prstGeom>
        </p:spPr>
      </p:pic>
      <p:sp>
        <p:nvSpPr>
          <p:cNvPr id="9" name="Text 5"/>
          <p:cNvSpPr txBox="1"/>
          <p:nvPr/>
        </p:nvSpPr>
        <p:spPr>
          <a:xfrm>
            <a:off x="3477768" y="182880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أكثر من 10 مجالات قانونية</a:t>
            </a:r>
            <a:endParaRPr lang="ar-AE" sz="1250" dirty="0"/>
          </a:p>
          <a:p>
            <a:pPr algn="r" indent="0" marL="0">
              <a:spcAft>
                <a:spcPts val="300"/>
              </a:spcAft>
              <a:buNone/>
            </a:pPr>
            <a:r>
              <a:rPr lang="ar-AE" altLang="en-US" sz="1050" dirty="0">
                <a:solidFill>
                  <a:schemeClr val="accent3"/>
                </a:solidFill>
              </a:rPr>
              <a:t>العقاري، التجاري والشركات، التحكيم، الأحوال الشخصية والتركات، الامتثال ومكافحة غسل الأموال، الملكية الفكرية وغيرها.</a:t>
            </a:r>
            <a:endParaRPr lang="ar-AE" sz="1250" dirty="0"/>
          </a:p>
        </p:txBody>
      </p:sp>
      <p:sp>
        <p:nvSpPr>
          <p:cNvPr id="10" name="Shape 6"/>
          <p:cNvSpPr/>
          <p:nvPr/>
        </p:nvSpPr>
        <p:spPr>
          <a:xfrm>
            <a:off x="457200" y="1188720"/>
            <a:ext cx="2590800" cy="1508760"/>
          </a:xfrm>
          <a:prstGeom prst="rect">
            <a:avLst/>
          </a:prstGeom>
          <a:solidFill>
            <a:srgbClr val="F4F1EA"/>
          </a:solidFill>
          <a:ln w="12700">
            <a:solidFill>
              <a:srgbClr val="F4F1EA"/>
            </a:solidFill>
            <a:prstDash val="solid"/>
          </a:ln>
        </p:spPr>
      </p:sp>
      <p:pic>
        <p:nvPicPr>
          <p:cNvPr id="11" name="icon FaGlobe" descr="preencoded.png">    </p:cNvPr>
          <p:cNvPicPr>
            <a:picLocks noChangeAspect="1"/>
          </p:cNvPicPr>
          <p:nvPr/>
        </p:nvPicPr>
        <p:blipFill>
          <a:blip r:embed="rId3"/>
          <a:stretch>
            <a:fillRect/>
          </a:stretch>
        </p:blipFill>
        <p:spPr>
          <a:xfrm>
            <a:off x="2535936" y="1389888"/>
            <a:ext cx="310896" cy="310896"/>
          </a:xfrm>
          <a:prstGeom prst="rect">
            <a:avLst/>
          </a:prstGeom>
        </p:spPr>
      </p:pic>
      <p:sp>
        <p:nvSpPr>
          <p:cNvPr id="12" name="Text 7"/>
          <p:cNvSpPr txBox="1"/>
          <p:nvPr/>
        </p:nvSpPr>
        <p:spPr>
          <a:xfrm>
            <a:off x="658368" y="182880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حضور إقليمي ودولي</a:t>
            </a:r>
            <a:endParaRPr lang="ar-AE" sz="1250" dirty="0"/>
          </a:p>
          <a:p>
            <a:pPr algn="r" indent="0" marL="0">
              <a:spcAft>
                <a:spcPts val="300"/>
              </a:spcAft>
              <a:buNone/>
            </a:pPr>
            <a:r>
              <a:rPr lang="ar-AE" altLang="en-US" sz="1050" dirty="0">
                <a:solidFill>
                  <a:schemeClr val="accent3"/>
                </a:solidFill>
              </a:rPr>
              <a:t>حضور راسخ في دول مجلس التعاون وآسيا، مع مكتب صيني متخصص للمستثمرين.</a:t>
            </a:r>
            <a:endParaRPr lang="ar-AE" sz="1250" dirty="0"/>
          </a:p>
        </p:txBody>
      </p:sp>
      <p:sp>
        <p:nvSpPr>
          <p:cNvPr id="13" name="Shape 8"/>
          <p:cNvSpPr/>
          <p:nvPr/>
        </p:nvSpPr>
        <p:spPr>
          <a:xfrm>
            <a:off x="6096000" y="2926080"/>
            <a:ext cx="2590800" cy="1508760"/>
          </a:xfrm>
          <a:prstGeom prst="rect">
            <a:avLst/>
          </a:prstGeom>
          <a:solidFill>
            <a:srgbClr val="F4F1EA"/>
          </a:solidFill>
          <a:ln w="12700">
            <a:solidFill>
              <a:srgbClr val="F4F1EA"/>
            </a:solidFill>
            <a:prstDash val="solid"/>
          </a:ln>
        </p:spPr>
      </p:sp>
      <p:pic>
        <p:nvPicPr>
          <p:cNvPr id="14" name="icon FaLanguage" descr="preencoded.png">    </p:cNvPr>
          <p:cNvPicPr>
            <a:picLocks noChangeAspect="1"/>
          </p:cNvPicPr>
          <p:nvPr/>
        </p:nvPicPr>
        <p:blipFill>
          <a:blip r:embed="rId4"/>
          <a:stretch>
            <a:fillRect/>
          </a:stretch>
        </p:blipFill>
        <p:spPr>
          <a:xfrm>
            <a:off x="8174736" y="3127248"/>
            <a:ext cx="310896" cy="310896"/>
          </a:xfrm>
          <a:prstGeom prst="rect">
            <a:avLst/>
          </a:prstGeom>
        </p:spPr>
      </p:pic>
      <p:sp>
        <p:nvSpPr>
          <p:cNvPr id="15" name="Text 9"/>
          <p:cNvSpPr txBox="1"/>
          <p:nvPr/>
        </p:nvSpPr>
        <p:spPr>
          <a:xfrm>
            <a:off x="6297168" y="356616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أربع لغات عمل</a:t>
            </a:r>
            <a:endParaRPr lang="ar-AE" sz="1250" dirty="0"/>
          </a:p>
          <a:p>
            <a:pPr algn="r" indent="0" marL="0">
              <a:spcAft>
                <a:spcPts val="300"/>
              </a:spcAft>
              <a:buNone/>
            </a:pPr>
            <a:r>
              <a:rPr lang="ar-AE" altLang="en-US" sz="1050" dirty="0">
                <a:solidFill>
                  <a:schemeClr val="accent3"/>
                </a:solidFill>
              </a:rPr>
              <a:t>العربية والإنجليزية والصينية والروسية، ليتواصل الموكل مباشرة مع مستشاره القانوني.</a:t>
            </a:r>
            <a:endParaRPr lang="ar-AE" sz="1250" dirty="0"/>
          </a:p>
        </p:txBody>
      </p:sp>
      <p:sp>
        <p:nvSpPr>
          <p:cNvPr id="16" name="Shape 10"/>
          <p:cNvSpPr/>
          <p:nvPr/>
        </p:nvSpPr>
        <p:spPr>
          <a:xfrm>
            <a:off x="3276600" y="2926080"/>
            <a:ext cx="2590800" cy="1508760"/>
          </a:xfrm>
          <a:prstGeom prst="rect">
            <a:avLst/>
          </a:prstGeom>
          <a:solidFill>
            <a:srgbClr val="F4F1EA"/>
          </a:solidFill>
          <a:ln w="12700">
            <a:solidFill>
              <a:srgbClr val="F4F1EA"/>
            </a:solidFill>
            <a:prstDash val="solid"/>
          </a:ln>
        </p:spPr>
      </p:sp>
      <p:pic>
        <p:nvPicPr>
          <p:cNvPr id="17" name="icon FaHandshake" descr="preencoded.png">    </p:cNvPr>
          <p:cNvPicPr>
            <a:picLocks noChangeAspect="1"/>
          </p:cNvPicPr>
          <p:nvPr/>
        </p:nvPicPr>
        <p:blipFill>
          <a:blip r:embed="rId5"/>
          <a:stretch>
            <a:fillRect/>
          </a:stretch>
        </p:blipFill>
        <p:spPr>
          <a:xfrm>
            <a:off x="5355336" y="3127248"/>
            <a:ext cx="310896" cy="310896"/>
          </a:xfrm>
          <a:prstGeom prst="rect">
            <a:avLst/>
          </a:prstGeom>
        </p:spPr>
      </p:pic>
      <p:sp>
        <p:nvSpPr>
          <p:cNvPr id="18" name="Text 11"/>
          <p:cNvSpPr txBox="1"/>
          <p:nvPr/>
        </p:nvSpPr>
        <p:spPr>
          <a:xfrm>
            <a:off x="3477768" y="356616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أولوية التسوية الودية</a:t>
            </a:r>
            <a:endParaRPr lang="ar-AE" sz="1250" dirty="0"/>
          </a:p>
          <a:p>
            <a:pPr algn="r" indent="0" marL="0">
              <a:spcAft>
                <a:spcPts val="300"/>
              </a:spcAft>
              <a:buNone/>
            </a:pPr>
            <a:r>
              <a:rPr lang="ar-AE" altLang="en-US" sz="1050" dirty="0">
                <a:solidFill>
                  <a:schemeClr val="accent3"/>
                </a:solidFill>
              </a:rPr>
              <a:t>نسعى للتفاوض والوساطة قبل التقاضي حيثما أمكن، لتحقيق أفضل نتيجة بأقل كلفة ووقت.</a:t>
            </a:r>
            <a:endParaRPr lang="ar-AE" sz="1250" dirty="0"/>
          </a:p>
        </p:txBody>
      </p:sp>
      <p:sp>
        <p:nvSpPr>
          <p:cNvPr id="19" name="Shape 12"/>
          <p:cNvSpPr/>
          <p:nvPr/>
        </p:nvSpPr>
        <p:spPr>
          <a:xfrm>
            <a:off x="457200" y="2926080"/>
            <a:ext cx="2590800" cy="1508760"/>
          </a:xfrm>
          <a:prstGeom prst="rect">
            <a:avLst/>
          </a:prstGeom>
          <a:solidFill>
            <a:srgbClr val="F4F1EA"/>
          </a:solidFill>
          <a:ln w="12700">
            <a:solidFill>
              <a:srgbClr val="F4F1EA"/>
            </a:solidFill>
            <a:prstDash val="solid"/>
          </a:ln>
        </p:spPr>
      </p:sp>
      <p:pic>
        <p:nvPicPr>
          <p:cNvPr id="20" name="icon FaUserShield" descr="preencoded.png">    </p:cNvPr>
          <p:cNvPicPr>
            <a:picLocks noChangeAspect="1"/>
          </p:cNvPicPr>
          <p:nvPr/>
        </p:nvPicPr>
        <p:blipFill>
          <a:blip r:embed="rId6"/>
          <a:stretch>
            <a:fillRect/>
          </a:stretch>
        </p:blipFill>
        <p:spPr>
          <a:xfrm>
            <a:off x="2535936" y="3127248"/>
            <a:ext cx="310896" cy="310896"/>
          </a:xfrm>
          <a:prstGeom prst="rect">
            <a:avLst/>
          </a:prstGeom>
        </p:spPr>
      </p:pic>
      <p:sp>
        <p:nvSpPr>
          <p:cNvPr id="21" name="Text 13"/>
          <p:cNvSpPr txBox="1"/>
          <p:nvPr/>
        </p:nvSpPr>
        <p:spPr>
          <a:xfrm>
            <a:off x="658368" y="356616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نهج يركّز على الموكل</a:t>
            </a:r>
            <a:endParaRPr lang="ar-AE" sz="1250" dirty="0"/>
          </a:p>
          <a:p>
            <a:pPr algn="r" indent="0" marL="0">
              <a:spcAft>
                <a:spcPts val="300"/>
              </a:spcAft>
              <a:buNone/>
            </a:pPr>
            <a:r>
              <a:rPr lang="ar-AE" altLang="en-US" sz="1050" dirty="0">
                <a:solidFill>
                  <a:schemeClr val="accent3"/>
                </a:solidFill>
              </a:rPr>
              <a:t>تواصل واضح، تحديثات منتظمة، وحلول عملية تُصاغ وفق طبيعة كل مسألة.</a:t>
            </a:r>
            <a:endParaRPr lang="ar-AE" sz="125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ماذا يحدث لعميلكم بدون تخطيط قانوني</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نقاط الألم</a:t>
            </a:r>
            <a:endParaRPr lang="ar-AE" sz="1000" dirty="0"/>
          </a:p>
        </p:txBody>
      </p:sp>
      <p:sp>
        <p:nvSpPr>
          <p:cNvPr id="4" name="Shape 2"/>
          <p:cNvSpPr/>
          <p:nvPr/>
        </p:nvSpPr>
        <p:spPr>
          <a:xfrm>
            <a:off x="8229600" y="1188720"/>
            <a:ext cx="457200" cy="457200"/>
          </a:xfrm>
          <a:prstGeom prst="ellipse">
            <a:avLst/>
          </a:prstGeom>
          <a:solidFill>
            <a:srgbClr val="F4F1EA"/>
          </a:solidFill>
          <a:ln w="12700">
            <a:solidFill>
              <a:srgbClr val="F4F1EA"/>
            </a:solidFill>
            <a:prstDash val="solid"/>
          </a:ln>
        </p:spPr>
      </p:sp>
      <p:pic>
        <p:nvPicPr>
          <p:cNvPr id="5" name="icon FaLock" descr="preencoded.png">    </p:cNvPr>
          <p:cNvPicPr>
            <a:picLocks noChangeAspect="1"/>
          </p:cNvPicPr>
          <p:nvPr/>
        </p:nvPicPr>
        <p:blipFill>
          <a:blip r:embed="rId1"/>
          <a:stretch>
            <a:fillRect/>
          </a:stretch>
        </p:blipFill>
        <p:spPr>
          <a:xfrm>
            <a:off x="8321040" y="1280160"/>
            <a:ext cx="274320" cy="274320"/>
          </a:xfrm>
          <a:prstGeom prst="rect">
            <a:avLst/>
          </a:prstGeom>
        </p:spPr>
      </p:pic>
      <p:sp>
        <p:nvSpPr>
          <p:cNvPr id="6" name="Text 3"/>
          <p:cNvSpPr txBox="1"/>
          <p:nvPr/>
        </p:nvSpPr>
        <p:spPr>
          <a:xfrm>
            <a:off x="3566160" y="1170432"/>
            <a:ext cx="4480560" cy="749808"/>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تجميد الحسابات البنكية</a:t>
            </a:r>
            <a:endParaRPr lang="ar-AE" sz="1300" dirty="0"/>
          </a:p>
          <a:p>
            <a:pPr algn="r" indent="0" marL="0">
              <a:spcAft>
                <a:spcPts val="200"/>
              </a:spcAft>
              <a:buNone/>
            </a:pPr>
            <a:r>
              <a:rPr lang="ar-AE" altLang="en-US" sz="1100" dirty="0">
                <a:solidFill>
                  <a:schemeClr val="accent3"/>
                </a:solidFill>
              </a:rPr>
              <a:t>قد تُجمّد الحسابات حتى صدور قرار بتوزيع التركة، فتتوقف مصاريف العائلة.</a:t>
            </a:r>
            <a:endParaRPr lang="ar-AE" sz="1300" dirty="0"/>
          </a:p>
        </p:txBody>
      </p:sp>
      <p:sp>
        <p:nvSpPr>
          <p:cNvPr id="7" name="Shape 4"/>
          <p:cNvSpPr/>
          <p:nvPr/>
        </p:nvSpPr>
        <p:spPr>
          <a:xfrm>
            <a:off x="8229600" y="2011680"/>
            <a:ext cx="457200" cy="457200"/>
          </a:xfrm>
          <a:prstGeom prst="ellipse">
            <a:avLst/>
          </a:prstGeom>
          <a:solidFill>
            <a:srgbClr val="F4F1EA"/>
          </a:solidFill>
          <a:ln w="12700">
            <a:solidFill>
              <a:srgbClr val="F4F1EA"/>
            </a:solidFill>
            <a:prstDash val="solid"/>
          </a:ln>
        </p:spPr>
      </p:sp>
      <p:pic>
        <p:nvPicPr>
          <p:cNvPr id="8" name="icon FaHouseLock" descr="preencoded.png">    </p:cNvPr>
          <p:cNvPicPr>
            <a:picLocks noChangeAspect="1"/>
          </p:cNvPicPr>
          <p:nvPr/>
        </p:nvPicPr>
        <p:blipFill>
          <a:blip r:embed="rId2"/>
          <a:stretch>
            <a:fillRect/>
          </a:stretch>
        </p:blipFill>
        <p:spPr>
          <a:xfrm>
            <a:off x="8321040" y="2103120"/>
            <a:ext cx="274320" cy="274320"/>
          </a:xfrm>
          <a:prstGeom prst="rect">
            <a:avLst/>
          </a:prstGeom>
        </p:spPr>
      </p:pic>
      <p:sp>
        <p:nvSpPr>
          <p:cNvPr id="9" name="Text 5"/>
          <p:cNvSpPr txBox="1"/>
          <p:nvPr/>
        </p:nvSpPr>
        <p:spPr>
          <a:xfrm>
            <a:off x="3566160" y="1993392"/>
            <a:ext cx="4480560" cy="749808"/>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تعطّل نقل ملكية العقار</a:t>
            </a:r>
            <a:endParaRPr lang="ar-AE" sz="1300" dirty="0"/>
          </a:p>
          <a:p>
            <a:pPr algn="r" indent="0" marL="0">
              <a:spcAft>
                <a:spcPts val="200"/>
              </a:spcAft>
              <a:buNone/>
            </a:pPr>
            <a:r>
              <a:rPr lang="ar-AE" altLang="en-US" sz="1100" dirty="0">
                <a:solidFill>
                  <a:schemeClr val="accent3"/>
                </a:solidFill>
              </a:rPr>
              <a:t>الإجراءات تطول وتختلف باختلاف الجنسية والديانة والحالة العائلية.</a:t>
            </a:r>
            <a:endParaRPr lang="ar-AE" sz="1300" dirty="0"/>
          </a:p>
        </p:txBody>
      </p:sp>
      <p:sp>
        <p:nvSpPr>
          <p:cNvPr id="10" name="Shape 6"/>
          <p:cNvSpPr/>
          <p:nvPr/>
        </p:nvSpPr>
        <p:spPr>
          <a:xfrm>
            <a:off x="8229600" y="2834640"/>
            <a:ext cx="457200" cy="457200"/>
          </a:xfrm>
          <a:prstGeom prst="ellipse">
            <a:avLst/>
          </a:prstGeom>
          <a:solidFill>
            <a:srgbClr val="F4F1EA"/>
          </a:solidFill>
          <a:ln w="12700">
            <a:solidFill>
              <a:srgbClr val="F4F1EA"/>
            </a:solidFill>
            <a:prstDash val="solid"/>
          </a:ln>
        </p:spPr>
      </p:sp>
      <p:pic>
        <p:nvPicPr>
          <p:cNvPr id="11" name="icon FaPeopleArrows" descr="preencoded.png">    </p:cNvPr>
          <p:cNvPicPr>
            <a:picLocks noChangeAspect="1"/>
          </p:cNvPicPr>
          <p:nvPr/>
        </p:nvPicPr>
        <p:blipFill>
          <a:blip r:embed="rId3"/>
          <a:stretch>
            <a:fillRect/>
          </a:stretch>
        </p:blipFill>
        <p:spPr>
          <a:xfrm>
            <a:off x="8321040" y="2926080"/>
            <a:ext cx="274320" cy="274320"/>
          </a:xfrm>
          <a:prstGeom prst="rect">
            <a:avLst/>
          </a:prstGeom>
        </p:spPr>
      </p:pic>
      <p:sp>
        <p:nvSpPr>
          <p:cNvPr id="12" name="Text 7"/>
          <p:cNvSpPr txBox="1"/>
          <p:nvPr/>
        </p:nvSpPr>
        <p:spPr>
          <a:xfrm>
            <a:off x="3566160" y="2816352"/>
            <a:ext cx="4480560" cy="749808"/>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نزاعات عائلية</a:t>
            </a:r>
            <a:endParaRPr lang="ar-AE" sz="1300" dirty="0"/>
          </a:p>
          <a:p>
            <a:pPr algn="r" indent="0" marL="0">
              <a:spcAft>
                <a:spcPts val="200"/>
              </a:spcAft>
              <a:buNone/>
            </a:pPr>
            <a:r>
              <a:rPr lang="ar-AE" altLang="en-US" sz="1100" dirty="0">
                <a:solidFill>
                  <a:schemeClr val="accent3"/>
                </a:solidFill>
              </a:rPr>
              <a:t>غياب وثيقة واضحة يفتح الباب للخلاف بين الورثة داخل الدولة وخارجها.</a:t>
            </a:r>
            <a:endParaRPr lang="ar-AE" sz="1300" dirty="0"/>
          </a:p>
        </p:txBody>
      </p:sp>
      <p:sp>
        <p:nvSpPr>
          <p:cNvPr id="13" name="Shape 8"/>
          <p:cNvSpPr/>
          <p:nvPr/>
        </p:nvSpPr>
        <p:spPr>
          <a:xfrm>
            <a:off x="8229600" y="3657600"/>
            <a:ext cx="457200" cy="457200"/>
          </a:xfrm>
          <a:prstGeom prst="ellipse">
            <a:avLst/>
          </a:prstGeom>
          <a:solidFill>
            <a:srgbClr val="F4F1EA"/>
          </a:solidFill>
          <a:ln w="12700">
            <a:solidFill>
              <a:srgbClr val="F4F1EA"/>
            </a:solidFill>
            <a:prstDash val="solid"/>
          </a:ln>
        </p:spPr>
      </p:sp>
      <p:pic>
        <p:nvPicPr>
          <p:cNvPr id="14" name="icon FaChildren" descr="preencoded.png">    </p:cNvPr>
          <p:cNvPicPr>
            <a:picLocks noChangeAspect="1"/>
          </p:cNvPicPr>
          <p:nvPr/>
        </p:nvPicPr>
        <p:blipFill>
          <a:blip r:embed="rId4"/>
          <a:stretch>
            <a:fillRect/>
          </a:stretch>
        </p:blipFill>
        <p:spPr>
          <a:xfrm>
            <a:off x="8321040" y="3749040"/>
            <a:ext cx="274320" cy="274320"/>
          </a:xfrm>
          <a:prstGeom prst="rect">
            <a:avLst/>
          </a:prstGeom>
        </p:spPr>
      </p:pic>
      <p:sp>
        <p:nvSpPr>
          <p:cNvPr id="15" name="Text 9"/>
          <p:cNvSpPr txBox="1"/>
          <p:nvPr/>
        </p:nvSpPr>
        <p:spPr>
          <a:xfrm>
            <a:off x="3566160" y="3639312"/>
            <a:ext cx="4480560" cy="749808"/>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مشاكل تتعلق بالأطفال والورثة</a:t>
            </a:r>
            <a:endParaRPr lang="ar-AE" sz="1300" dirty="0"/>
          </a:p>
          <a:p>
            <a:pPr algn="r" indent="0" marL="0">
              <a:spcAft>
                <a:spcPts val="200"/>
              </a:spcAft>
              <a:buNone/>
            </a:pPr>
            <a:r>
              <a:rPr lang="ar-AE" altLang="en-US" sz="1100" dirty="0">
                <a:solidFill>
                  <a:schemeClr val="accent3"/>
                </a:solidFill>
              </a:rPr>
              <a:t>لا وصي معيّن على القاصرين، ولا مسار واضح لحصصهم.</a:t>
            </a:r>
            <a:endParaRPr lang="ar-AE" sz="1300" dirty="0"/>
          </a:p>
        </p:txBody>
      </p:sp>
      <p:sp>
        <p:nvSpPr>
          <p:cNvPr id="16" name="Shape 10"/>
          <p:cNvSpPr/>
          <p:nvPr/>
        </p:nvSpPr>
        <p:spPr>
          <a:xfrm>
            <a:off x="457200" y="1188720"/>
            <a:ext cx="2743200" cy="3246120"/>
          </a:xfrm>
          <a:prstGeom prst="rect">
            <a:avLst/>
          </a:prstGeom>
          <a:solidFill>
            <a:srgbClr val="0B0B0B"/>
          </a:solidFill>
          <a:ln w="12700">
            <a:solidFill>
              <a:srgbClr val="0B0B0B"/>
            </a:solidFill>
            <a:prstDash val="solid"/>
          </a:ln>
        </p:spPr>
      </p:sp>
      <p:sp>
        <p:nvSpPr>
          <p:cNvPr id="17" name="Shape 11"/>
          <p:cNvSpPr/>
          <p:nvPr/>
        </p:nvSpPr>
        <p:spPr>
          <a:xfrm>
            <a:off x="566928" y="1298448"/>
            <a:ext cx="2523744" cy="3026664"/>
          </a:xfrm>
          <a:prstGeom prst="rect">
            <a:avLst/>
          </a:prstGeom>
          <a:ln w="9525">
            <a:solidFill>
              <a:srgbClr val="B08D57"/>
            </a:solidFill>
            <a:prstDash val="solid"/>
          </a:ln>
        </p:spPr>
      </p:sp>
      <p:sp>
        <p:nvSpPr>
          <p:cNvPr id="18" name="Text 12"/>
          <p:cNvSpPr txBox="1"/>
          <p:nvPr/>
        </p:nvSpPr>
        <p:spPr>
          <a:xfrm>
            <a:off x="777240" y="1508760"/>
            <a:ext cx="2103120" cy="731520"/>
          </a:xfrm>
          <a:prstGeom prst="rect">
            <a:avLst/>
          </a:prstGeom>
          <a:noFill/>
          <a:ln/>
        </p:spPr>
        <p:txBody>
          <a:bodyPr wrap="square" lIns="0" tIns="0" rIns="0" bIns="0" rtlCol="0" anchor="t"/>
          <a:lstStyle/>
          <a:p>
            <a:pPr rtl="1" algn="r" indent="0" marL="0">
              <a:buNone/>
            </a:pPr>
            <a:r>
              <a:rPr lang="ar-AE" altLang="en-US" sz="1600" b="1" dirty="0">
                <a:solidFill>
                  <a:schemeClr val="accent1"/>
                </a:solidFill>
                <a:latin typeface="Cambria" pitchFamily="34" charset="0"/>
                <a:ea typeface="Cambria" pitchFamily="34" charset="-122"/>
                <a:cs typeface="Cambria" pitchFamily="34" charset="-120"/>
              </a:rPr>
              <a:t>الحقيقة</a:t>
            </a:r>
            <a:endParaRPr lang="ar-AE" sz="1600" dirty="0"/>
          </a:p>
        </p:txBody>
      </p:sp>
      <p:sp>
        <p:nvSpPr>
          <p:cNvPr id="19" name="Text 13"/>
          <p:cNvSpPr txBox="1"/>
          <p:nvPr/>
        </p:nvSpPr>
        <p:spPr>
          <a:xfrm>
            <a:off x="777240" y="2286000"/>
            <a:ext cx="2103120" cy="1920240"/>
          </a:xfrm>
          <a:prstGeom prst="rect">
            <a:avLst/>
          </a:prstGeom>
          <a:noFill/>
          <a:ln/>
        </p:spPr>
        <p:txBody>
          <a:bodyPr wrap="square" lIns="0" tIns="0" rIns="0" bIns="0" rtlCol="0" anchor="t"/>
          <a:lstStyle/>
          <a:p>
            <a:pPr rtl="1" algn="r" indent="0" marL="0">
              <a:buNone/>
            </a:pPr>
            <a:r>
              <a:rPr lang="ar-AE" altLang="en-US" sz="1150" dirty="0">
                <a:solidFill>
                  <a:schemeClr val="bg2"/>
                </a:solidFill>
              </a:rPr>
              <a:t>أغلب المشترين الأجانب لا يعرفون قوانين الإرث في الإمارات، ويشترون بملايين الدراهم دون أي وصية أو هيكلة قانونية.</a:t>
            </a:r>
            <a:endParaRPr lang="ar-AE" sz="115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0" y="1463040"/>
            <a:ext cx="1828800" cy="1463040"/>
          </a:xfrm>
          <a:prstGeom prst="rect">
            <a:avLst/>
          </a:prstGeom>
          <a:noFill/>
          <a:ln/>
        </p:spPr>
        <p:txBody>
          <a:bodyPr wrap="square" lIns="0" tIns="0" rIns="0" bIns="0" rtlCol="0" anchor="ctr"/>
          <a:lstStyle/>
          <a:p>
            <a:pPr algn="r" indent="0" marL="0">
              <a:buNone/>
            </a:pPr>
            <a:r>
              <a:rPr lang="en-US" sz="7200" dirty="0">
                <a:solidFill>
                  <a:schemeClr val="accent1"/>
                </a:solidFill>
                <a:latin typeface="Cambria" pitchFamily="34" charset="0"/>
                <a:ea typeface="Cambria" pitchFamily="34" charset="-122"/>
                <a:cs typeface="Cambria" pitchFamily="34" charset="-120"/>
              </a:rPr>
              <a:t>02</a:t>
            </a:r>
            <a:endParaRPr lang="en-US" sz="7200" dirty="0"/>
          </a:p>
        </p:txBody>
      </p:sp>
      <p:sp>
        <p:nvSpPr>
          <p:cNvPr id="3" name="Text 1"/>
          <p:cNvSpPr txBox="1"/>
          <p:nvPr/>
        </p:nvSpPr>
        <p:spPr>
          <a:xfrm>
            <a:off x="914400" y="2834640"/>
            <a:ext cx="7772400" cy="731520"/>
          </a:xfrm>
          <a:prstGeom prst="rect">
            <a:avLst/>
          </a:prstGeom>
          <a:noFill/>
          <a:ln/>
        </p:spPr>
        <p:txBody>
          <a:bodyPr wrap="square" lIns="0" tIns="0" rIns="0" bIns="0" rtlCol="0" anchor="t"/>
          <a:lstStyle/>
          <a:p>
            <a:pPr rtl="1" algn="r" indent="0" marL="0">
              <a:buNone/>
            </a:pPr>
            <a:r>
              <a:rPr lang="ar-AE" altLang="en-US" sz="3000" b="1" dirty="0">
                <a:solidFill>
                  <a:schemeClr val="bg1"/>
                </a:solidFill>
                <a:latin typeface="Cambria" pitchFamily="34" charset="0"/>
                <a:ea typeface="Cambria" pitchFamily="34" charset="-122"/>
                <a:cs typeface="Cambria" pitchFamily="34" charset="-120"/>
              </a:rPr>
              <a:t>الخدمة بالتفصيل</a:t>
            </a:r>
            <a:endParaRPr lang="ar-AE" sz="3000" dirty="0"/>
          </a:p>
        </p:txBody>
      </p:sp>
      <p:sp>
        <p:nvSpPr>
          <p:cNvPr id="4" name="Text 2"/>
          <p:cNvSpPr txBox="1"/>
          <p:nvPr/>
        </p:nvSpPr>
        <p:spPr>
          <a:xfrm>
            <a:off x="914400" y="3566160"/>
            <a:ext cx="7772400" cy="548640"/>
          </a:xfrm>
          <a:prstGeom prst="rect">
            <a:avLst/>
          </a:prstGeom>
          <a:noFill/>
          <a:ln/>
        </p:spPr>
        <p:txBody>
          <a:bodyPr wrap="square" lIns="0" tIns="0" rIns="0" bIns="0" rtlCol="0" anchor="ctr"/>
          <a:lstStyle/>
          <a:p>
            <a:pPr rtl="1" algn="r" indent="0" marL="0">
              <a:buNone/>
            </a:pPr>
            <a:r>
              <a:rPr lang="ar-AE" altLang="en-US" sz="1400" dirty="0">
                <a:solidFill>
                  <a:schemeClr val="accent2"/>
                </a:solidFill>
              </a:rPr>
              <a:t>ليست «كتابة وصية»، بل حماية متكاملة للأصول والعائلة والاستثمار</a:t>
            </a:r>
            <a:endParaRPr lang="ar-AE" sz="14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8C39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خدماتنا في حماية الأصول والتركات</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باقة الخدمة</a:t>
            </a:r>
            <a:endParaRPr lang="ar-AE" sz="1000" dirty="0"/>
          </a:p>
        </p:txBody>
      </p:sp>
      <p:sp>
        <p:nvSpPr>
          <p:cNvPr id="4" name="Shape 2"/>
          <p:cNvSpPr/>
          <p:nvPr/>
        </p:nvSpPr>
        <p:spPr>
          <a:xfrm>
            <a:off x="6800850" y="1188720"/>
            <a:ext cx="1885950" cy="1508760"/>
          </a:xfrm>
          <a:prstGeom prst="rect">
            <a:avLst/>
          </a:prstGeom>
          <a:solidFill>
            <a:srgbClr val="F4F1EA"/>
          </a:solidFill>
          <a:ln w="12700">
            <a:solidFill>
              <a:srgbClr val="F4F1EA"/>
            </a:solidFill>
            <a:prstDash val="solid"/>
          </a:ln>
        </p:spPr>
      </p:sp>
      <p:pic>
        <p:nvPicPr>
          <p:cNvPr id="5" name="icon FaFileSignature" descr="preencoded.png">    </p:cNvPr>
          <p:cNvPicPr>
            <a:picLocks noChangeAspect="1"/>
          </p:cNvPicPr>
          <p:nvPr/>
        </p:nvPicPr>
        <p:blipFill>
          <a:blip r:embed="rId1"/>
          <a:stretch>
            <a:fillRect/>
          </a:stretch>
        </p:blipFill>
        <p:spPr>
          <a:xfrm>
            <a:off x="8174736" y="1389888"/>
            <a:ext cx="310896" cy="310896"/>
          </a:xfrm>
          <a:prstGeom prst="rect">
            <a:avLst/>
          </a:prstGeom>
        </p:spPr>
      </p:pic>
      <p:sp>
        <p:nvSpPr>
          <p:cNvPr id="6" name="Text 3"/>
          <p:cNvSpPr txBox="1"/>
          <p:nvPr/>
        </p:nvSpPr>
        <p:spPr>
          <a:xfrm>
            <a:off x="7002018" y="1828800"/>
            <a:ext cx="148361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إعداد الوصية</a:t>
            </a:r>
            <a:endParaRPr lang="ar-AE" sz="1250" dirty="0"/>
          </a:p>
          <a:p>
            <a:pPr algn="r" indent="0" marL="0">
              <a:spcAft>
                <a:spcPts val="300"/>
              </a:spcAft>
              <a:buNone/>
            </a:pPr>
            <a:r>
              <a:rPr lang="ar-AE" altLang="en-US" sz="1050" dirty="0">
                <a:solidFill>
                  <a:schemeClr val="accent3"/>
                </a:solidFill>
              </a:rPr>
              <a:t>صياغة وصية صحيحة قانوناً تناسب وضع الموكل وجنسيته وأصوله.</a:t>
            </a:r>
            <a:endParaRPr lang="ar-AE" sz="1250" dirty="0"/>
          </a:p>
        </p:txBody>
      </p:sp>
      <p:sp>
        <p:nvSpPr>
          <p:cNvPr id="7" name="Shape 4"/>
          <p:cNvSpPr/>
          <p:nvPr/>
        </p:nvSpPr>
        <p:spPr>
          <a:xfrm>
            <a:off x="4686300" y="1188720"/>
            <a:ext cx="1885950" cy="1508760"/>
          </a:xfrm>
          <a:prstGeom prst="rect">
            <a:avLst/>
          </a:prstGeom>
          <a:solidFill>
            <a:srgbClr val="F4F1EA"/>
          </a:solidFill>
          <a:ln w="12700">
            <a:solidFill>
              <a:srgbClr val="F4F1EA"/>
            </a:solidFill>
            <a:prstDash val="solid"/>
          </a:ln>
        </p:spPr>
      </p:sp>
      <p:pic>
        <p:nvPicPr>
          <p:cNvPr id="8" name="icon FaStamp" descr="preencoded.png">    </p:cNvPr>
          <p:cNvPicPr>
            <a:picLocks noChangeAspect="1"/>
          </p:cNvPicPr>
          <p:nvPr/>
        </p:nvPicPr>
        <p:blipFill>
          <a:blip r:embed="rId2"/>
          <a:stretch>
            <a:fillRect/>
          </a:stretch>
        </p:blipFill>
        <p:spPr>
          <a:xfrm>
            <a:off x="6060186" y="1389888"/>
            <a:ext cx="310896" cy="310896"/>
          </a:xfrm>
          <a:prstGeom prst="rect">
            <a:avLst/>
          </a:prstGeom>
        </p:spPr>
      </p:pic>
      <p:sp>
        <p:nvSpPr>
          <p:cNvPr id="9" name="Text 5"/>
          <p:cNvSpPr txBox="1"/>
          <p:nvPr/>
        </p:nvSpPr>
        <p:spPr>
          <a:xfrm>
            <a:off x="4887468" y="1828800"/>
            <a:ext cx="148361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تسجيل الوصية</a:t>
            </a:r>
            <a:endParaRPr lang="ar-AE" sz="1250" dirty="0"/>
          </a:p>
          <a:p>
            <a:pPr algn="r" indent="0" marL="0">
              <a:spcAft>
                <a:spcPts val="300"/>
              </a:spcAft>
              <a:buNone/>
            </a:pPr>
            <a:r>
              <a:rPr lang="ar-AE" altLang="en-US" sz="1050" dirty="0">
                <a:solidFill>
                  <a:schemeClr val="accent3"/>
                </a:solidFill>
              </a:rPr>
              <a:t>التسجيل لدى الجهة المناسبة: محاكم دبي، أبوظبي، DIFC أو ADGM.</a:t>
            </a:r>
            <a:endParaRPr lang="ar-AE" sz="1250" dirty="0"/>
          </a:p>
        </p:txBody>
      </p:sp>
      <p:sp>
        <p:nvSpPr>
          <p:cNvPr id="10" name="Shape 6"/>
          <p:cNvSpPr/>
          <p:nvPr/>
        </p:nvSpPr>
        <p:spPr>
          <a:xfrm>
            <a:off x="2571750" y="1188720"/>
            <a:ext cx="1885950" cy="1508760"/>
          </a:xfrm>
          <a:prstGeom prst="rect">
            <a:avLst/>
          </a:prstGeom>
          <a:solidFill>
            <a:srgbClr val="F4F1EA"/>
          </a:solidFill>
          <a:ln w="12700">
            <a:solidFill>
              <a:srgbClr val="F4F1EA"/>
            </a:solidFill>
            <a:prstDash val="solid"/>
          </a:ln>
        </p:spPr>
      </p:sp>
      <p:pic>
        <p:nvPicPr>
          <p:cNvPr id="11" name="icon FaSitemap" descr="preencoded.png">    </p:cNvPr>
          <p:cNvPicPr>
            <a:picLocks noChangeAspect="1"/>
          </p:cNvPicPr>
          <p:nvPr/>
        </p:nvPicPr>
        <p:blipFill>
          <a:blip r:embed="rId3"/>
          <a:stretch>
            <a:fillRect/>
          </a:stretch>
        </p:blipFill>
        <p:spPr>
          <a:xfrm>
            <a:off x="3945636" y="1389888"/>
            <a:ext cx="310896" cy="310896"/>
          </a:xfrm>
          <a:prstGeom prst="rect">
            <a:avLst/>
          </a:prstGeom>
        </p:spPr>
      </p:pic>
      <p:sp>
        <p:nvSpPr>
          <p:cNvPr id="12" name="Text 7"/>
          <p:cNvSpPr txBox="1"/>
          <p:nvPr/>
        </p:nvSpPr>
        <p:spPr>
          <a:xfrm>
            <a:off x="2772918" y="1828800"/>
            <a:ext cx="148361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هيكلة الإرث والأصول</a:t>
            </a:r>
            <a:endParaRPr lang="ar-AE" sz="1250" dirty="0"/>
          </a:p>
          <a:p>
            <a:pPr algn="r" indent="0" marL="0">
              <a:spcAft>
                <a:spcPts val="300"/>
              </a:spcAft>
              <a:buNone/>
            </a:pPr>
            <a:r>
              <a:rPr lang="ar-AE" altLang="en-US" sz="1050" dirty="0">
                <a:solidFill>
                  <a:schemeClr val="accent3"/>
                </a:solidFill>
              </a:rPr>
              <a:t>ترتيب انتقال الملكية مسبقاً بما يمنع التجميد والنزاعات.</a:t>
            </a:r>
            <a:endParaRPr lang="ar-AE" sz="1250" dirty="0"/>
          </a:p>
        </p:txBody>
      </p:sp>
      <p:sp>
        <p:nvSpPr>
          <p:cNvPr id="13" name="Shape 8"/>
          <p:cNvSpPr/>
          <p:nvPr/>
        </p:nvSpPr>
        <p:spPr>
          <a:xfrm>
            <a:off x="457200" y="1188720"/>
            <a:ext cx="1885950" cy="1508760"/>
          </a:xfrm>
          <a:prstGeom prst="rect">
            <a:avLst/>
          </a:prstGeom>
          <a:solidFill>
            <a:srgbClr val="F4F1EA"/>
          </a:solidFill>
          <a:ln w="12700">
            <a:solidFill>
              <a:srgbClr val="F4F1EA"/>
            </a:solidFill>
            <a:prstDash val="solid"/>
          </a:ln>
        </p:spPr>
      </p:sp>
      <p:pic>
        <p:nvPicPr>
          <p:cNvPr id="14" name="icon FaUserShield" descr="preencoded.png">    </p:cNvPr>
          <p:cNvPicPr>
            <a:picLocks noChangeAspect="1"/>
          </p:cNvPicPr>
          <p:nvPr/>
        </p:nvPicPr>
        <p:blipFill>
          <a:blip r:embed="rId4"/>
          <a:stretch>
            <a:fillRect/>
          </a:stretch>
        </p:blipFill>
        <p:spPr>
          <a:xfrm>
            <a:off x="1831086" y="1389888"/>
            <a:ext cx="310896" cy="310896"/>
          </a:xfrm>
          <a:prstGeom prst="rect">
            <a:avLst/>
          </a:prstGeom>
        </p:spPr>
      </p:pic>
      <p:sp>
        <p:nvSpPr>
          <p:cNvPr id="15" name="Text 9"/>
          <p:cNvSpPr txBox="1"/>
          <p:nvPr/>
        </p:nvSpPr>
        <p:spPr>
          <a:xfrm>
            <a:off x="658368" y="1828800"/>
            <a:ext cx="148361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حماية المستثمر الأجنبي</a:t>
            </a:r>
            <a:endParaRPr lang="ar-AE" sz="1250" dirty="0"/>
          </a:p>
          <a:p>
            <a:pPr algn="r" indent="0" marL="0">
              <a:spcAft>
                <a:spcPts val="300"/>
              </a:spcAft>
              <a:buNone/>
            </a:pPr>
            <a:r>
              <a:rPr lang="ar-AE" altLang="en-US" sz="1050" dirty="0">
                <a:solidFill>
                  <a:schemeClr val="accent3"/>
                </a:solidFill>
              </a:rPr>
              <a:t>حلول تراعي الشريعة الإسلامية أو القانون الأجنبي بحسب حالة كل موكل.</a:t>
            </a:r>
            <a:endParaRPr lang="ar-AE" sz="1250" dirty="0"/>
          </a:p>
        </p:txBody>
      </p:sp>
      <p:sp>
        <p:nvSpPr>
          <p:cNvPr id="16" name="Shape 10"/>
          <p:cNvSpPr/>
          <p:nvPr/>
        </p:nvSpPr>
        <p:spPr>
          <a:xfrm>
            <a:off x="6800850" y="2926080"/>
            <a:ext cx="1885950" cy="1508760"/>
          </a:xfrm>
          <a:prstGeom prst="rect">
            <a:avLst/>
          </a:prstGeom>
          <a:solidFill>
            <a:srgbClr val="F4F1EA"/>
          </a:solidFill>
          <a:ln w="12700">
            <a:solidFill>
              <a:srgbClr val="F4F1EA"/>
            </a:solidFill>
            <a:prstDash val="solid"/>
          </a:ln>
        </p:spPr>
      </p:sp>
      <p:pic>
        <p:nvPicPr>
          <p:cNvPr id="17" name="icon FaKey" descr="preencoded.png">    </p:cNvPr>
          <p:cNvPicPr>
            <a:picLocks noChangeAspect="1"/>
          </p:cNvPicPr>
          <p:nvPr/>
        </p:nvPicPr>
        <p:blipFill>
          <a:blip r:embed="rId5"/>
          <a:stretch>
            <a:fillRect/>
          </a:stretch>
        </p:blipFill>
        <p:spPr>
          <a:xfrm>
            <a:off x="8174736" y="3127248"/>
            <a:ext cx="310896" cy="310896"/>
          </a:xfrm>
          <a:prstGeom prst="rect">
            <a:avLst/>
          </a:prstGeom>
        </p:spPr>
      </p:pic>
      <p:sp>
        <p:nvSpPr>
          <p:cNvPr id="18" name="Text 11"/>
          <p:cNvSpPr txBox="1"/>
          <p:nvPr/>
        </p:nvSpPr>
        <p:spPr>
          <a:xfrm>
            <a:off x="7002018" y="3566160"/>
            <a:ext cx="148361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نقل الملكية بعد الوفاة</a:t>
            </a:r>
            <a:endParaRPr lang="ar-AE" sz="1250" dirty="0"/>
          </a:p>
          <a:p>
            <a:pPr algn="r" indent="0" marL="0">
              <a:spcAft>
                <a:spcPts val="300"/>
              </a:spcAft>
              <a:buNone/>
            </a:pPr>
            <a:r>
              <a:rPr lang="ar-AE" altLang="en-US" sz="1050" dirty="0">
                <a:solidFill>
                  <a:schemeClr val="accent3"/>
                </a:solidFill>
              </a:rPr>
              <a:t>تمثيل الورثة واستكمال إجراءات نقل العقارات والحسابات.</a:t>
            </a:r>
            <a:endParaRPr lang="ar-AE" sz="1250" dirty="0"/>
          </a:p>
        </p:txBody>
      </p:sp>
      <p:sp>
        <p:nvSpPr>
          <p:cNvPr id="19" name="Shape 12"/>
          <p:cNvSpPr/>
          <p:nvPr/>
        </p:nvSpPr>
        <p:spPr>
          <a:xfrm>
            <a:off x="4686300" y="2926080"/>
            <a:ext cx="1885950" cy="1508760"/>
          </a:xfrm>
          <a:prstGeom prst="rect">
            <a:avLst/>
          </a:prstGeom>
          <a:solidFill>
            <a:srgbClr val="F4F1EA"/>
          </a:solidFill>
          <a:ln w="12700">
            <a:solidFill>
              <a:srgbClr val="F4F1EA"/>
            </a:solidFill>
            <a:prstDash val="solid"/>
          </a:ln>
        </p:spPr>
      </p:sp>
      <p:pic>
        <p:nvPicPr>
          <p:cNvPr id="20" name="icon FaBuilding" descr="preencoded.png">    </p:cNvPr>
          <p:cNvPicPr>
            <a:picLocks noChangeAspect="1"/>
          </p:cNvPicPr>
          <p:nvPr/>
        </p:nvPicPr>
        <p:blipFill>
          <a:blip r:embed="rId6"/>
          <a:stretch>
            <a:fillRect/>
          </a:stretch>
        </p:blipFill>
        <p:spPr>
          <a:xfrm>
            <a:off x="6060186" y="3127248"/>
            <a:ext cx="310896" cy="310896"/>
          </a:xfrm>
          <a:prstGeom prst="rect">
            <a:avLst/>
          </a:prstGeom>
        </p:spPr>
      </p:pic>
      <p:sp>
        <p:nvSpPr>
          <p:cNvPr id="21" name="Text 13"/>
          <p:cNvSpPr txBox="1"/>
          <p:nvPr/>
        </p:nvSpPr>
        <p:spPr>
          <a:xfrm>
            <a:off x="4887468" y="3566160"/>
            <a:ext cx="148361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تأسيس Holding / SPV</a:t>
            </a:r>
            <a:endParaRPr lang="ar-AE" sz="1250" dirty="0"/>
          </a:p>
          <a:p>
            <a:pPr algn="r" indent="0" marL="0">
              <a:spcAft>
                <a:spcPts val="300"/>
              </a:spcAft>
              <a:buNone/>
            </a:pPr>
            <a:r>
              <a:rPr lang="ar-AE" altLang="en-US" sz="1050" dirty="0">
                <a:solidFill>
                  <a:schemeClr val="accent3"/>
                </a:solidFill>
              </a:rPr>
              <a:t>هياكل شركات قابضة مرتبطة بهيكلة الإرث لحماية الاستثمارات.</a:t>
            </a:r>
            <a:endParaRPr lang="ar-AE" sz="1250" dirty="0"/>
          </a:p>
        </p:txBody>
      </p:sp>
      <p:sp>
        <p:nvSpPr>
          <p:cNvPr id="22" name="Shape 14"/>
          <p:cNvSpPr/>
          <p:nvPr/>
        </p:nvSpPr>
        <p:spPr>
          <a:xfrm>
            <a:off x="2571750" y="2926080"/>
            <a:ext cx="1885950" cy="1508760"/>
          </a:xfrm>
          <a:prstGeom prst="rect">
            <a:avLst/>
          </a:prstGeom>
          <a:solidFill>
            <a:srgbClr val="F4F1EA"/>
          </a:solidFill>
          <a:ln w="12700">
            <a:solidFill>
              <a:srgbClr val="F4F1EA"/>
            </a:solidFill>
            <a:prstDash val="solid"/>
          </a:ln>
        </p:spPr>
      </p:sp>
      <p:pic>
        <p:nvPicPr>
          <p:cNvPr id="23" name="icon FaHouse" descr="preencoded.png">    </p:cNvPr>
          <p:cNvPicPr>
            <a:picLocks noChangeAspect="1"/>
          </p:cNvPicPr>
          <p:nvPr/>
        </p:nvPicPr>
        <p:blipFill>
          <a:blip r:embed="rId7"/>
          <a:stretch>
            <a:fillRect/>
          </a:stretch>
        </p:blipFill>
        <p:spPr>
          <a:xfrm>
            <a:off x="3945636" y="3127248"/>
            <a:ext cx="310896" cy="310896"/>
          </a:xfrm>
          <a:prstGeom prst="rect">
            <a:avLst/>
          </a:prstGeom>
        </p:spPr>
      </p:pic>
      <p:sp>
        <p:nvSpPr>
          <p:cNvPr id="24" name="Text 15"/>
          <p:cNvSpPr txBox="1"/>
          <p:nvPr/>
        </p:nvSpPr>
        <p:spPr>
          <a:xfrm>
            <a:off x="2772918" y="3566160"/>
            <a:ext cx="148361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وصايا العقارات والأعمال</a:t>
            </a:r>
            <a:endParaRPr lang="ar-AE" sz="1250" dirty="0"/>
          </a:p>
          <a:p>
            <a:pPr algn="r" indent="0" marL="0">
              <a:spcAft>
                <a:spcPts val="300"/>
              </a:spcAft>
              <a:buNone/>
            </a:pPr>
            <a:r>
              <a:rPr lang="ar-AE" altLang="en-US" sz="1050" dirty="0">
                <a:solidFill>
                  <a:schemeClr val="accent3"/>
                </a:solidFill>
              </a:rPr>
              <a:t>وصايا مخصصة للعقارات فقط أو لحصص الشركات والأعمال.</a:t>
            </a:r>
            <a:endParaRPr lang="ar-AE" sz="1250" dirty="0"/>
          </a:p>
        </p:txBody>
      </p:sp>
      <p:sp>
        <p:nvSpPr>
          <p:cNvPr id="25" name="Shape 16"/>
          <p:cNvSpPr/>
          <p:nvPr/>
        </p:nvSpPr>
        <p:spPr>
          <a:xfrm>
            <a:off x="457200" y="2926080"/>
            <a:ext cx="1885950" cy="1508760"/>
          </a:xfrm>
          <a:prstGeom prst="rect">
            <a:avLst/>
          </a:prstGeom>
          <a:solidFill>
            <a:srgbClr val="F4F1EA"/>
          </a:solidFill>
          <a:ln w="12700">
            <a:solidFill>
              <a:srgbClr val="F4F1EA"/>
            </a:solidFill>
            <a:prstDash val="solid"/>
          </a:ln>
        </p:spPr>
      </p:sp>
      <p:pic>
        <p:nvPicPr>
          <p:cNvPr id="26" name="icon FaPeopleRoof" descr="preencoded.png">    </p:cNvPr>
          <p:cNvPicPr>
            <a:picLocks noChangeAspect="1"/>
          </p:cNvPicPr>
          <p:nvPr/>
        </p:nvPicPr>
        <p:blipFill>
          <a:blip r:embed="rId8"/>
          <a:stretch>
            <a:fillRect/>
          </a:stretch>
        </p:blipFill>
        <p:spPr>
          <a:xfrm>
            <a:off x="1831086" y="3127248"/>
            <a:ext cx="310896" cy="310896"/>
          </a:xfrm>
          <a:prstGeom prst="rect">
            <a:avLst/>
          </a:prstGeom>
        </p:spPr>
      </p:pic>
      <p:sp>
        <p:nvSpPr>
          <p:cNvPr id="27" name="Text 17"/>
          <p:cNvSpPr txBox="1"/>
          <p:nvPr/>
        </p:nvSpPr>
        <p:spPr>
          <a:xfrm>
            <a:off x="658368" y="3566160"/>
            <a:ext cx="148361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حوكمة العائلة</a:t>
            </a:r>
            <a:endParaRPr lang="ar-AE" sz="1250" dirty="0"/>
          </a:p>
          <a:p>
            <a:pPr algn="r" indent="0" marL="0">
              <a:spcAft>
                <a:spcPts val="300"/>
              </a:spcAft>
              <a:buNone/>
            </a:pPr>
            <a:r>
              <a:rPr lang="ar-AE" altLang="en-US" sz="1050" dirty="0">
                <a:solidFill>
                  <a:schemeClr val="accent3"/>
                </a:solidFill>
              </a:rPr>
              <a:t>مكتب عائلي، مؤسسات وصناديق ائتمانية، واتفاقيات شراكة.</a:t>
            </a:r>
            <a:endParaRPr lang="ar-AE" sz="125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جهات التسجيل في الإمارات</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الإطار القانوني</a:t>
            </a:r>
            <a:endParaRPr lang="ar-AE"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108960"/>
                <a:gridCol w="3108960"/>
                <a:gridCol w="2011680"/>
              </a:tblGrid>
              <a:tr h="457200">
                <a:tc>
                  <a:txBody>
                    <a:bodyPr/>
                    <a:lstStyle/>
                    <a:p>
                      <a:pPr algn="r" indent="0" marL="0">
                        <a:buNone/>
                      </a:pPr>
                      <a:r>
                        <a:rPr lang="en-US" sz="1100" b="1" dirty="0">
                          <a:solidFill>
                            <a:srgbClr val="D8C39A"/>
                          </a:solidFill>
                          <a:latin typeface="+mn-lt" pitchFamily="34" charset="0"/>
                          <a:ea typeface="+mn-lt" pitchFamily="34" charset="-122"/>
                          <a:cs typeface="+mn-lt" pitchFamily="34" charset="-120"/>
                        </a:rPr>
                        <a:t>ملاحظات عملية</a:t>
                      </a:r>
                      <a:endParaRPr lang="en-US" sz="110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0B0B0B"/>
                    </a:solidFill>
                  </a:tcPr>
                </a:tc>
                <a:tc>
                  <a:txBody>
                    <a:bodyPr/>
                    <a:lstStyle/>
                    <a:p>
                      <a:pPr algn="r" indent="0" marL="0">
                        <a:buNone/>
                      </a:pPr>
                      <a:r>
                        <a:rPr lang="en-US" sz="1100" b="1" dirty="0">
                          <a:solidFill>
                            <a:srgbClr val="D8C39A"/>
                          </a:solidFill>
                          <a:latin typeface="+mn-lt" pitchFamily="34" charset="0"/>
                          <a:ea typeface="+mn-lt" pitchFamily="34" charset="-122"/>
                          <a:cs typeface="+mn-lt" pitchFamily="34" charset="-120"/>
                        </a:rPr>
                        <a:t>لمن تناسب</a:t>
                      </a:r>
                      <a:endParaRPr lang="en-US" sz="110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0B0B0B"/>
                    </a:solidFill>
                  </a:tcPr>
                </a:tc>
                <a:tc>
                  <a:txBody>
                    <a:bodyPr/>
                    <a:lstStyle/>
                    <a:p>
                      <a:pPr algn="r" indent="0" marL="0">
                        <a:buNone/>
                      </a:pPr>
                      <a:r>
                        <a:rPr lang="en-US" sz="1100" b="1" dirty="0">
                          <a:solidFill>
                            <a:srgbClr val="D8C39A"/>
                          </a:solidFill>
                          <a:latin typeface="+mn-lt" pitchFamily="34" charset="0"/>
                          <a:ea typeface="+mn-lt" pitchFamily="34" charset="-122"/>
                          <a:cs typeface="+mn-lt" pitchFamily="34" charset="-120"/>
                        </a:rPr>
                        <a:t>الجهة</a:t>
                      </a:r>
                      <a:endParaRPr lang="en-US" sz="110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0B0B0B"/>
                    </a:solidFill>
                  </a:tcPr>
                </a:tc>
              </a:tr>
              <a:tr h="457200">
                <a:tc>
                  <a:txBody>
                    <a:bodyPr/>
                    <a:lstStyle/>
                    <a:p>
                      <a:pPr algn="r" indent="0" marL="0">
                        <a:buNone/>
                      </a:pPr>
                      <a:r>
                        <a:rPr lang="en-US" sz="1050" dirty="0">
                          <a:solidFill>
                            <a:srgbClr val="2A2D33"/>
                          </a:solidFill>
                          <a:latin typeface="+mn-lt" pitchFamily="34" charset="0"/>
                          <a:ea typeface="+mn-lt" pitchFamily="34" charset="-122"/>
                          <a:cs typeface="+mn-lt" pitchFamily="34" charset="-120"/>
                        </a:rPr>
                        <a:t>تسجيل الوصية لدى محاكم دبي مع الترجمة والتوثيق</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c>
                  <a:txBody>
                    <a:bodyPr/>
                    <a:lstStyle/>
                    <a:p>
                      <a:pPr algn="r" indent="0" marL="0">
                        <a:buNone/>
                      </a:pPr>
                      <a:r>
                        <a:rPr lang="en-US" sz="1050" dirty="0">
                          <a:solidFill>
                            <a:srgbClr val="2A2D33"/>
                          </a:solidFill>
                          <a:latin typeface="+mn-lt" pitchFamily="34" charset="0"/>
                          <a:ea typeface="+mn-lt" pitchFamily="34" charset="-122"/>
                          <a:cs typeface="+mn-lt" pitchFamily="34" charset="-120"/>
                        </a:rPr>
                        <a:t>غير المسلمين الذين يملكون أصولاً في الدولة ويفضّلون المسار المحلي</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محاكم دبي</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r>
              <a:tr h="457200">
                <a:tc>
                  <a:txBody>
                    <a:bodyPr/>
                    <a:lstStyle/>
                    <a:p>
                      <a:pPr algn="r" indent="0" marL="0">
                        <a:buNone/>
                      </a:pPr>
                      <a:r>
                        <a:rPr lang="en-US" sz="1050" dirty="0">
                          <a:solidFill>
                            <a:srgbClr val="2A2D33"/>
                          </a:solidFill>
                          <a:latin typeface="+mn-lt" pitchFamily="34" charset="0"/>
                          <a:ea typeface="+mn-lt" pitchFamily="34" charset="-122"/>
                          <a:cs typeface="+mn-lt" pitchFamily="34" charset="-120"/>
                        </a:rPr>
                        <a:t>تسجيل لدى دائرة القضاء في أبوظبي</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A2D33"/>
                          </a:solidFill>
                          <a:latin typeface="+mn-lt" pitchFamily="34" charset="0"/>
                          <a:ea typeface="+mn-lt" pitchFamily="34" charset="-122"/>
                          <a:cs typeface="+mn-lt" pitchFamily="34" charset="-120"/>
                        </a:rPr>
                        <a:t>من لديهم أصول أو إقامة في أبوظبي</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محاكم أبوظبي</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r>
              <a:tr h="457200">
                <a:tc>
                  <a:txBody>
                    <a:bodyPr/>
                    <a:lstStyle/>
                    <a:p>
                      <a:pPr algn="r" indent="0" marL="0">
                        <a:buNone/>
                      </a:pPr>
                      <a:r>
                        <a:rPr lang="en-US" sz="1050" dirty="0">
                          <a:solidFill>
                            <a:srgbClr val="2A2D33"/>
                          </a:solidFill>
                          <a:latin typeface="+mn-lt" pitchFamily="34" charset="0"/>
                          <a:ea typeface="+mn-lt" pitchFamily="34" charset="-122"/>
                          <a:cs typeface="+mn-lt" pitchFamily="34" charset="-120"/>
                        </a:rPr>
                        <a:t>سجل وصايا مركز دبي المالي العالمي، يغطي الأصول في الدولة</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c>
                  <a:txBody>
                    <a:bodyPr/>
                    <a:lstStyle/>
                    <a:p>
                      <a:pPr algn="r" indent="0" marL="0">
                        <a:buNone/>
                      </a:pPr>
                      <a:r>
                        <a:rPr lang="en-US" sz="1050" dirty="0">
                          <a:solidFill>
                            <a:srgbClr val="2A2D33"/>
                          </a:solidFill>
                          <a:latin typeface="+mn-lt" pitchFamily="34" charset="0"/>
                          <a:ea typeface="+mn-lt" pitchFamily="34" charset="-122"/>
                          <a:cs typeface="+mn-lt" pitchFamily="34" charset="-120"/>
                        </a:rPr>
                        <a:t>غير المسلمين، خاصة الأوروبيين والروس والهنود ممن يفضّلون وثيقة بالإنجليزية</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DIFC</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r>
              <a:tr h="457200">
                <a:tc>
                  <a:txBody>
                    <a:bodyPr/>
                    <a:lstStyle/>
                    <a:p>
                      <a:pPr algn="r" indent="0" marL="0">
                        <a:buNone/>
                      </a:pPr>
                      <a:r>
                        <a:rPr lang="en-US" sz="1050" dirty="0">
                          <a:solidFill>
                            <a:srgbClr val="2A2D33"/>
                          </a:solidFill>
                          <a:latin typeface="+mn-lt" pitchFamily="34" charset="0"/>
                          <a:ea typeface="+mn-lt" pitchFamily="34" charset="-122"/>
                          <a:cs typeface="+mn-lt" pitchFamily="34" charset="-120"/>
                        </a:rPr>
                        <a:t>سجل وصايا سوق أبوظبي العالمي</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A2D33"/>
                          </a:solidFill>
                          <a:latin typeface="+mn-lt" pitchFamily="34" charset="0"/>
                          <a:ea typeface="+mn-lt" pitchFamily="34" charset="-122"/>
                          <a:cs typeface="+mn-lt" pitchFamily="34" charset="-120"/>
                        </a:rPr>
                        <a:t>غير المسلمين الذين يفضّلون مسار أبوظبي بالإنجليزية</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ADGM</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r>
              <a:tr h="457200">
                <a:tc>
                  <a:txBody>
                    <a:bodyPr/>
                    <a:lstStyle/>
                    <a:p>
                      <a:pPr algn="r" indent="0" marL="0">
                        <a:buNone/>
                      </a:pPr>
                      <a:r>
                        <a:rPr lang="en-US" sz="1050" dirty="0">
                          <a:solidFill>
                            <a:srgbClr val="2A2D33"/>
                          </a:solidFill>
                          <a:latin typeface="+mn-lt" pitchFamily="34" charset="0"/>
                          <a:ea typeface="+mn-lt" pitchFamily="34" charset="-122"/>
                          <a:cs typeface="+mn-lt" pitchFamily="34" charset="-120"/>
                        </a:rPr>
                        <a:t>يُستخدم مع المسارات السابقة عند الحاجة</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c>
                  <a:txBody>
                    <a:bodyPr/>
                    <a:lstStyle/>
                    <a:p>
                      <a:pPr algn="r" indent="0" marL="0">
                        <a:buNone/>
                      </a:pPr>
                      <a:r>
                        <a:rPr lang="en-US" sz="1050" dirty="0">
                          <a:solidFill>
                            <a:srgbClr val="2A2D33"/>
                          </a:solidFill>
                          <a:latin typeface="+mn-lt" pitchFamily="34" charset="0"/>
                          <a:ea typeface="+mn-lt" pitchFamily="34" charset="-122"/>
                          <a:cs typeface="+mn-lt" pitchFamily="34" charset="-120"/>
                        </a:rPr>
                        <a:t>الوثائق المساندة: الوكالات، الإقرارات، التصديقات</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كاتب العدل</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r>
            </a:tbl>
          </a:graphicData>
        </a:graphic>
      </p:graphicFrame>
      <p:sp>
        <p:nvSpPr>
          <p:cNvPr id="5" name="Text 2"/>
          <p:cNvSpPr txBox="1"/>
          <p:nvPr/>
        </p:nvSpPr>
        <p:spPr>
          <a:xfrm>
            <a:off x="457200" y="4251960"/>
            <a:ext cx="8229600" cy="320040"/>
          </a:xfrm>
          <a:prstGeom prst="rect">
            <a:avLst/>
          </a:prstGeom>
          <a:noFill/>
          <a:ln/>
        </p:spPr>
        <p:txBody>
          <a:bodyPr wrap="square" lIns="0" tIns="0" rIns="0" bIns="0" rtlCol="0" anchor="ctr"/>
          <a:lstStyle/>
          <a:p>
            <a:pPr rtl="1" algn="r" indent="0" marL="0">
              <a:buNone/>
            </a:pPr>
            <a:r>
              <a:rPr lang="ar-AE" altLang="en-US" sz="950" i="1" dirty="0">
                <a:solidFill>
                  <a:schemeClr val="accent3"/>
                </a:solidFill>
              </a:rPr>
              <a:t>الجهة والقانون الواجب التطبيق (الشريعة الإسلامية أو القانون الأجنبي) يُحدَّدان لكل موكل بعد جلسة الاكتشاف.</a:t>
            </a:r>
            <a:endParaRPr lang="ar-AE" sz="95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أنواع الخدمة</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ما يختاره الموكل بعد التقييم</a:t>
            </a:r>
            <a:endParaRPr lang="ar-AE" sz="1000" dirty="0"/>
          </a:p>
        </p:txBody>
      </p:sp>
      <p:sp>
        <p:nvSpPr>
          <p:cNvPr id="4" name="Shape 2"/>
          <p:cNvSpPr/>
          <p:nvPr/>
        </p:nvSpPr>
        <p:spPr>
          <a:xfrm>
            <a:off x="8229600" y="1188720"/>
            <a:ext cx="457200" cy="457200"/>
          </a:xfrm>
          <a:prstGeom prst="ellipse">
            <a:avLst/>
          </a:prstGeom>
          <a:solidFill>
            <a:srgbClr val="F4F1EA"/>
          </a:solidFill>
          <a:ln w="12700">
            <a:solidFill>
              <a:srgbClr val="F4F1EA"/>
            </a:solidFill>
            <a:prstDash val="solid"/>
          </a:ln>
        </p:spPr>
      </p:sp>
      <p:pic>
        <p:nvPicPr>
          <p:cNvPr id="5" name="icon FaUser" descr="preencoded.png">    </p:cNvPr>
          <p:cNvPicPr>
            <a:picLocks noChangeAspect="1"/>
          </p:cNvPicPr>
          <p:nvPr/>
        </p:nvPicPr>
        <p:blipFill>
          <a:blip r:embed="rId1"/>
          <a:stretch>
            <a:fillRect/>
          </a:stretch>
        </p:blipFill>
        <p:spPr>
          <a:xfrm>
            <a:off x="8321040" y="1280160"/>
            <a:ext cx="274320" cy="274320"/>
          </a:xfrm>
          <a:prstGeom prst="rect">
            <a:avLst/>
          </a:prstGeom>
        </p:spPr>
      </p:pic>
      <p:sp>
        <p:nvSpPr>
          <p:cNvPr id="6" name="Text 3"/>
          <p:cNvSpPr txBox="1"/>
          <p:nvPr/>
        </p:nvSpPr>
        <p:spPr>
          <a:xfrm>
            <a:off x="457200" y="1170432"/>
            <a:ext cx="7589520" cy="475488"/>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وصية فردية</a:t>
            </a:r>
            <a:endParaRPr lang="ar-AE" sz="1300" dirty="0"/>
          </a:p>
          <a:p>
            <a:pPr algn="r" indent="0" marL="0">
              <a:spcAft>
                <a:spcPts val="200"/>
              </a:spcAft>
              <a:buNone/>
            </a:pPr>
            <a:r>
              <a:rPr lang="ar-AE" altLang="en-US" sz="1100" dirty="0">
                <a:solidFill>
                  <a:schemeClr val="accent3"/>
                </a:solidFill>
              </a:rPr>
              <a:t>لشخص واحد يغطي أصوله في الدولة ويعيّن الأوصياء والمنفذين.</a:t>
            </a:r>
            <a:endParaRPr lang="ar-AE" sz="1300" dirty="0"/>
          </a:p>
        </p:txBody>
      </p:sp>
      <p:sp>
        <p:nvSpPr>
          <p:cNvPr id="7" name="Shape 4"/>
          <p:cNvSpPr/>
          <p:nvPr/>
        </p:nvSpPr>
        <p:spPr>
          <a:xfrm>
            <a:off x="8229600" y="1737360"/>
            <a:ext cx="457200" cy="457200"/>
          </a:xfrm>
          <a:prstGeom prst="ellipse">
            <a:avLst/>
          </a:prstGeom>
          <a:solidFill>
            <a:srgbClr val="F4F1EA"/>
          </a:solidFill>
          <a:ln w="12700">
            <a:solidFill>
              <a:srgbClr val="F4F1EA"/>
            </a:solidFill>
            <a:prstDash val="solid"/>
          </a:ln>
        </p:spPr>
      </p:sp>
      <p:pic>
        <p:nvPicPr>
          <p:cNvPr id="8" name="icon FaUserGroup" descr="preencoded.png">    </p:cNvPr>
          <p:cNvPicPr>
            <a:picLocks noChangeAspect="1"/>
          </p:cNvPicPr>
          <p:nvPr/>
        </p:nvPicPr>
        <p:blipFill>
          <a:blip r:embed="rId2"/>
          <a:stretch>
            <a:fillRect/>
          </a:stretch>
        </p:blipFill>
        <p:spPr>
          <a:xfrm>
            <a:off x="8321040" y="1828800"/>
            <a:ext cx="274320" cy="274320"/>
          </a:xfrm>
          <a:prstGeom prst="rect">
            <a:avLst/>
          </a:prstGeom>
        </p:spPr>
      </p:pic>
      <p:sp>
        <p:nvSpPr>
          <p:cNvPr id="9" name="Text 5"/>
          <p:cNvSpPr txBox="1"/>
          <p:nvPr/>
        </p:nvSpPr>
        <p:spPr>
          <a:xfrm>
            <a:off x="457200" y="1719072"/>
            <a:ext cx="7589520" cy="475488"/>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وصية زوجية (متبادلة)</a:t>
            </a:r>
            <a:endParaRPr lang="ar-AE" sz="1300" dirty="0"/>
          </a:p>
          <a:p>
            <a:pPr algn="r" indent="0" marL="0">
              <a:spcAft>
                <a:spcPts val="200"/>
              </a:spcAft>
              <a:buNone/>
            </a:pPr>
            <a:r>
              <a:rPr lang="ar-AE" altLang="en-US" sz="1100" dirty="0">
                <a:solidFill>
                  <a:schemeClr val="accent3"/>
                </a:solidFill>
              </a:rPr>
              <a:t>وصيتان متطابقتان للزوجين تحميان العائلة والأطفال.</a:t>
            </a:r>
            <a:endParaRPr lang="ar-AE" sz="1300" dirty="0"/>
          </a:p>
        </p:txBody>
      </p:sp>
      <p:sp>
        <p:nvSpPr>
          <p:cNvPr id="10" name="Shape 6"/>
          <p:cNvSpPr/>
          <p:nvPr/>
        </p:nvSpPr>
        <p:spPr>
          <a:xfrm>
            <a:off x="8229600" y="2286000"/>
            <a:ext cx="457200" cy="457200"/>
          </a:xfrm>
          <a:prstGeom prst="ellipse">
            <a:avLst/>
          </a:prstGeom>
          <a:solidFill>
            <a:srgbClr val="F4F1EA"/>
          </a:solidFill>
          <a:ln w="12700">
            <a:solidFill>
              <a:srgbClr val="F4F1EA"/>
            </a:solidFill>
            <a:prstDash val="solid"/>
          </a:ln>
        </p:spPr>
      </p:sp>
      <p:pic>
        <p:nvPicPr>
          <p:cNvPr id="11" name="icon FaHouse" descr="preencoded.png">    </p:cNvPr>
          <p:cNvPicPr>
            <a:picLocks noChangeAspect="1"/>
          </p:cNvPicPr>
          <p:nvPr/>
        </p:nvPicPr>
        <p:blipFill>
          <a:blip r:embed="rId3"/>
          <a:stretch>
            <a:fillRect/>
          </a:stretch>
        </p:blipFill>
        <p:spPr>
          <a:xfrm>
            <a:off x="8321040" y="2377440"/>
            <a:ext cx="274320" cy="274320"/>
          </a:xfrm>
          <a:prstGeom prst="rect">
            <a:avLst/>
          </a:prstGeom>
        </p:spPr>
      </p:pic>
      <p:sp>
        <p:nvSpPr>
          <p:cNvPr id="12" name="Text 7"/>
          <p:cNvSpPr txBox="1"/>
          <p:nvPr/>
        </p:nvSpPr>
        <p:spPr>
          <a:xfrm>
            <a:off x="457200" y="2267712"/>
            <a:ext cx="7589520" cy="475488"/>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وصية عقارية</a:t>
            </a:r>
            <a:endParaRPr lang="ar-AE" sz="1300" dirty="0"/>
          </a:p>
          <a:p>
            <a:pPr algn="r" indent="0" marL="0">
              <a:spcAft>
                <a:spcPts val="200"/>
              </a:spcAft>
              <a:buNone/>
            </a:pPr>
            <a:r>
              <a:rPr lang="ar-AE" altLang="en-US" sz="1100" dirty="0">
                <a:solidFill>
                  <a:schemeClr val="accent3"/>
                </a:solidFill>
              </a:rPr>
              <a:t>تقتصر على العقارات داخل الإمارات، مناسبة للمستثمر العقاري.</a:t>
            </a:r>
            <a:endParaRPr lang="ar-AE" sz="1300" dirty="0"/>
          </a:p>
        </p:txBody>
      </p:sp>
      <p:sp>
        <p:nvSpPr>
          <p:cNvPr id="13" name="Shape 8"/>
          <p:cNvSpPr/>
          <p:nvPr/>
        </p:nvSpPr>
        <p:spPr>
          <a:xfrm>
            <a:off x="8229600" y="2834640"/>
            <a:ext cx="457200" cy="457200"/>
          </a:xfrm>
          <a:prstGeom prst="ellipse">
            <a:avLst/>
          </a:prstGeom>
          <a:solidFill>
            <a:srgbClr val="F4F1EA"/>
          </a:solidFill>
          <a:ln w="12700">
            <a:solidFill>
              <a:srgbClr val="F4F1EA"/>
            </a:solidFill>
            <a:prstDash val="solid"/>
          </a:ln>
        </p:spPr>
      </p:sp>
      <p:pic>
        <p:nvPicPr>
          <p:cNvPr id="14" name="icon FaBriefcase" descr="preencoded.png">    </p:cNvPr>
          <p:cNvPicPr>
            <a:picLocks noChangeAspect="1"/>
          </p:cNvPicPr>
          <p:nvPr/>
        </p:nvPicPr>
        <p:blipFill>
          <a:blip r:embed="rId4"/>
          <a:stretch>
            <a:fillRect/>
          </a:stretch>
        </p:blipFill>
        <p:spPr>
          <a:xfrm>
            <a:off x="8321040" y="2926080"/>
            <a:ext cx="274320" cy="274320"/>
          </a:xfrm>
          <a:prstGeom prst="rect">
            <a:avLst/>
          </a:prstGeom>
        </p:spPr>
      </p:pic>
      <p:sp>
        <p:nvSpPr>
          <p:cNvPr id="15" name="Text 9"/>
          <p:cNvSpPr txBox="1"/>
          <p:nvPr/>
        </p:nvSpPr>
        <p:spPr>
          <a:xfrm>
            <a:off x="457200" y="2816352"/>
            <a:ext cx="7589520" cy="475488"/>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وصية أعمال</a:t>
            </a:r>
            <a:endParaRPr lang="ar-AE" sz="1300" dirty="0"/>
          </a:p>
          <a:p>
            <a:pPr algn="r" indent="0" marL="0">
              <a:spcAft>
                <a:spcPts val="200"/>
              </a:spcAft>
              <a:buNone/>
            </a:pPr>
            <a:r>
              <a:rPr lang="ar-AE" altLang="en-US" sz="1100" dirty="0">
                <a:solidFill>
                  <a:schemeClr val="accent3"/>
                </a:solidFill>
              </a:rPr>
              <a:t>تغطي حصص الشركات وتضمن استمرارية الأعمال.</a:t>
            </a:r>
            <a:endParaRPr lang="ar-AE" sz="1300" dirty="0"/>
          </a:p>
        </p:txBody>
      </p:sp>
      <p:sp>
        <p:nvSpPr>
          <p:cNvPr id="16" name="Shape 10"/>
          <p:cNvSpPr/>
          <p:nvPr/>
        </p:nvSpPr>
        <p:spPr>
          <a:xfrm>
            <a:off x="8229600" y="3383280"/>
            <a:ext cx="457200" cy="457200"/>
          </a:xfrm>
          <a:prstGeom prst="ellipse">
            <a:avLst/>
          </a:prstGeom>
          <a:solidFill>
            <a:srgbClr val="F4F1EA"/>
          </a:solidFill>
          <a:ln w="12700">
            <a:solidFill>
              <a:srgbClr val="F4F1EA"/>
            </a:solidFill>
            <a:prstDash val="solid"/>
          </a:ln>
        </p:spPr>
      </p:sp>
      <p:pic>
        <p:nvPicPr>
          <p:cNvPr id="17" name="icon FaSitemap" descr="preencoded.png">    </p:cNvPr>
          <p:cNvPicPr>
            <a:picLocks noChangeAspect="1"/>
          </p:cNvPicPr>
          <p:nvPr/>
        </p:nvPicPr>
        <p:blipFill>
          <a:blip r:embed="rId5"/>
          <a:stretch>
            <a:fillRect/>
          </a:stretch>
        </p:blipFill>
        <p:spPr>
          <a:xfrm>
            <a:off x="8321040" y="3474720"/>
            <a:ext cx="274320" cy="274320"/>
          </a:xfrm>
          <a:prstGeom prst="rect">
            <a:avLst/>
          </a:prstGeom>
        </p:spPr>
      </p:pic>
      <p:sp>
        <p:nvSpPr>
          <p:cNvPr id="18" name="Text 11"/>
          <p:cNvSpPr txBox="1"/>
          <p:nvPr/>
        </p:nvSpPr>
        <p:spPr>
          <a:xfrm>
            <a:off x="457200" y="3364992"/>
            <a:ext cx="7589520" cy="475488"/>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هيكلة شركات / Holding / SPV</a:t>
            </a:r>
            <a:endParaRPr lang="ar-AE" sz="1300" dirty="0"/>
          </a:p>
          <a:p>
            <a:pPr algn="r" indent="0" marL="0">
              <a:spcAft>
                <a:spcPts val="200"/>
              </a:spcAft>
              <a:buNone/>
            </a:pPr>
            <a:r>
              <a:rPr lang="ar-AE" altLang="en-US" sz="1100" dirty="0">
                <a:solidFill>
                  <a:schemeClr val="accent3"/>
                </a:solidFill>
              </a:rPr>
              <a:t>للمحافظ الكبيرة والأصول متعددة الدول.</a:t>
            </a:r>
            <a:endParaRPr lang="ar-AE" sz="1300" dirty="0"/>
          </a:p>
        </p:txBody>
      </p:sp>
      <p:sp>
        <p:nvSpPr>
          <p:cNvPr id="19" name="Shape 12"/>
          <p:cNvSpPr/>
          <p:nvPr/>
        </p:nvSpPr>
        <p:spPr>
          <a:xfrm>
            <a:off x="8229600" y="3931920"/>
            <a:ext cx="457200" cy="457200"/>
          </a:xfrm>
          <a:prstGeom prst="ellipse">
            <a:avLst/>
          </a:prstGeom>
          <a:solidFill>
            <a:srgbClr val="F4F1EA"/>
          </a:solidFill>
          <a:ln w="12700">
            <a:solidFill>
              <a:srgbClr val="F4F1EA"/>
            </a:solidFill>
            <a:prstDash val="solid"/>
          </a:ln>
        </p:spPr>
      </p:sp>
      <p:pic>
        <p:nvPicPr>
          <p:cNvPr id="20" name="icon FaLandmark" descr="preencoded.png">    </p:cNvPr>
          <p:cNvPicPr>
            <a:picLocks noChangeAspect="1"/>
          </p:cNvPicPr>
          <p:nvPr/>
        </p:nvPicPr>
        <p:blipFill>
          <a:blip r:embed="rId6"/>
          <a:stretch>
            <a:fillRect/>
          </a:stretch>
        </p:blipFill>
        <p:spPr>
          <a:xfrm>
            <a:off x="8321040" y="4023360"/>
            <a:ext cx="274320" cy="274320"/>
          </a:xfrm>
          <a:prstGeom prst="rect">
            <a:avLst/>
          </a:prstGeom>
        </p:spPr>
      </p:pic>
      <p:sp>
        <p:nvSpPr>
          <p:cNvPr id="21" name="Text 13"/>
          <p:cNvSpPr txBox="1"/>
          <p:nvPr/>
        </p:nvSpPr>
        <p:spPr>
          <a:xfrm>
            <a:off x="457200" y="3913632"/>
            <a:ext cx="7589520" cy="475488"/>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مؤسسة أو صندوق ائتماني</a:t>
            </a:r>
            <a:endParaRPr lang="ar-AE" sz="1300" dirty="0"/>
          </a:p>
          <a:p>
            <a:pPr algn="r" indent="0" marL="0">
              <a:spcAft>
                <a:spcPts val="200"/>
              </a:spcAft>
              <a:buNone/>
            </a:pPr>
            <a:r>
              <a:rPr lang="ar-AE" altLang="en-US" sz="1100" dirty="0">
                <a:solidFill>
                  <a:schemeClr val="accent3"/>
                </a:solidFill>
              </a:rPr>
              <a:t>لحوكمة العائلة وحماية الثروة عبر الأجيال.</a:t>
            </a:r>
            <a:endParaRPr lang="ar-AE" sz="13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خدمة قانونية بمستوى Concierge</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التجربة المميزة</a:t>
            </a:r>
            <a:endParaRPr lang="ar-AE" sz="1000" dirty="0"/>
          </a:p>
        </p:txBody>
      </p:sp>
      <p:sp>
        <p:nvSpPr>
          <p:cNvPr id="4" name="Shape 2"/>
          <p:cNvSpPr/>
          <p:nvPr/>
        </p:nvSpPr>
        <p:spPr>
          <a:xfrm>
            <a:off x="7223760" y="1188720"/>
            <a:ext cx="1463040" cy="3246120"/>
          </a:xfrm>
          <a:prstGeom prst="rect">
            <a:avLst/>
          </a:prstGeom>
          <a:solidFill>
            <a:srgbClr val="F4F1EA"/>
          </a:solidFill>
          <a:ln w="12700">
            <a:solidFill>
              <a:srgbClr val="F4F1EA"/>
            </a:solidFill>
            <a:prstDash val="solid"/>
          </a:ln>
        </p:spPr>
      </p:sp>
      <p:pic>
        <p:nvPicPr>
          <p:cNvPr id="5" name="icon FaHouseUser" descr="preencoded.png">    </p:cNvPr>
          <p:cNvPicPr>
            <a:picLocks noChangeAspect="1"/>
          </p:cNvPicPr>
          <p:nvPr/>
        </p:nvPicPr>
        <p:blipFill>
          <a:blip r:embed="rId1"/>
          <a:stretch>
            <a:fillRect/>
          </a:stretch>
        </p:blipFill>
        <p:spPr>
          <a:xfrm>
            <a:off x="8174736" y="1389888"/>
            <a:ext cx="310896" cy="310896"/>
          </a:xfrm>
          <a:prstGeom prst="rect">
            <a:avLst/>
          </a:prstGeom>
        </p:spPr>
      </p:pic>
      <p:sp>
        <p:nvSpPr>
          <p:cNvPr id="6" name="Text 3"/>
          <p:cNvSpPr txBox="1"/>
          <p:nvPr/>
        </p:nvSpPr>
        <p:spPr>
          <a:xfrm>
            <a:off x="7424928" y="1828800"/>
            <a:ext cx="1060704" cy="2450592"/>
          </a:xfrm>
          <a:prstGeom prst="rect">
            <a:avLst/>
          </a:prstGeom>
          <a:noFill/>
          <a:ln/>
        </p:spPr>
        <p:txBody>
          <a:bodyPr wrap="square" lIns="0" tIns="0" rIns="0" bIns="0" rtlCol="0" anchor="t"/>
          <a:lstStyle/>
          <a:p>
            <a:pPr algn="r" indent="0" marL="0">
              <a:spcAft>
                <a:spcPts val="300"/>
              </a:spcAft>
              <a:buNone/>
            </a:pPr>
            <a:r>
              <a:rPr lang="ar-AE" altLang="en-US" sz="1400" b="1" dirty="0">
                <a:solidFill>
                  <a:schemeClr val="tx1"/>
                </a:solidFill>
              </a:rPr>
              <a:t>الاجتماع عندكم</a:t>
            </a:r>
            <a:endParaRPr lang="ar-AE" sz="1400" dirty="0"/>
          </a:p>
          <a:p>
            <a:pPr algn="r" indent="0" marL="0">
              <a:spcAft>
                <a:spcPts val="300"/>
              </a:spcAft>
              <a:buNone/>
            </a:pPr>
            <a:r>
              <a:rPr lang="ar-AE" altLang="en-US" sz="1150" dirty="0">
                <a:solidFill>
                  <a:schemeClr val="accent3"/>
                </a:solidFill>
              </a:rPr>
              <a:t>في مكتب الموكل أو منزله.</a:t>
            </a:r>
            <a:endParaRPr lang="ar-AE" sz="1400" dirty="0"/>
          </a:p>
        </p:txBody>
      </p:sp>
      <p:sp>
        <p:nvSpPr>
          <p:cNvPr id="7" name="Shape 4"/>
          <p:cNvSpPr/>
          <p:nvPr/>
        </p:nvSpPr>
        <p:spPr>
          <a:xfrm>
            <a:off x="5532120" y="1188720"/>
            <a:ext cx="1463040" cy="3246120"/>
          </a:xfrm>
          <a:prstGeom prst="rect">
            <a:avLst/>
          </a:prstGeom>
          <a:solidFill>
            <a:srgbClr val="F4F1EA"/>
          </a:solidFill>
          <a:ln w="12700">
            <a:solidFill>
              <a:srgbClr val="F4F1EA"/>
            </a:solidFill>
            <a:prstDash val="solid"/>
          </a:ln>
        </p:spPr>
      </p:sp>
      <p:pic>
        <p:nvPicPr>
          <p:cNvPr id="8" name="icon FaCrown" descr="preencoded.png">    </p:cNvPr>
          <p:cNvPicPr>
            <a:picLocks noChangeAspect="1"/>
          </p:cNvPicPr>
          <p:nvPr/>
        </p:nvPicPr>
        <p:blipFill>
          <a:blip r:embed="rId2"/>
          <a:stretch>
            <a:fillRect/>
          </a:stretch>
        </p:blipFill>
        <p:spPr>
          <a:xfrm>
            <a:off x="6483096" y="1389888"/>
            <a:ext cx="310896" cy="310896"/>
          </a:xfrm>
          <a:prstGeom prst="rect">
            <a:avLst/>
          </a:prstGeom>
        </p:spPr>
      </p:pic>
      <p:sp>
        <p:nvSpPr>
          <p:cNvPr id="9" name="Text 5"/>
          <p:cNvSpPr txBox="1"/>
          <p:nvPr/>
        </p:nvSpPr>
        <p:spPr>
          <a:xfrm>
            <a:off x="5733288" y="1828800"/>
            <a:ext cx="1060704" cy="2450592"/>
          </a:xfrm>
          <a:prstGeom prst="rect">
            <a:avLst/>
          </a:prstGeom>
          <a:noFill/>
          <a:ln/>
        </p:spPr>
        <p:txBody>
          <a:bodyPr wrap="square" lIns="0" tIns="0" rIns="0" bIns="0" rtlCol="0" anchor="t"/>
          <a:lstStyle/>
          <a:p>
            <a:pPr algn="r" indent="0" marL="0">
              <a:spcAft>
                <a:spcPts val="300"/>
              </a:spcAft>
              <a:buNone/>
            </a:pPr>
            <a:r>
              <a:rPr lang="ar-AE" altLang="en-US" sz="1400" b="1" dirty="0">
                <a:solidFill>
                  <a:schemeClr val="tx1"/>
                </a:solidFill>
              </a:rPr>
              <a:t>تعامل VIP</a:t>
            </a:r>
            <a:endParaRPr lang="ar-AE" sz="1400" dirty="0"/>
          </a:p>
          <a:p>
            <a:pPr algn="r" indent="0" marL="0">
              <a:spcAft>
                <a:spcPts val="300"/>
              </a:spcAft>
              <a:buNone/>
            </a:pPr>
            <a:r>
              <a:rPr lang="ar-AE" altLang="en-US" sz="1150" dirty="0">
                <a:solidFill>
                  <a:schemeClr val="accent3"/>
                </a:solidFill>
              </a:rPr>
              <a:t>مستشار مخصص لكل موكل.</a:t>
            </a:r>
            <a:endParaRPr lang="ar-AE" sz="1400" dirty="0"/>
          </a:p>
        </p:txBody>
      </p:sp>
      <p:sp>
        <p:nvSpPr>
          <p:cNvPr id="10" name="Shape 6"/>
          <p:cNvSpPr/>
          <p:nvPr/>
        </p:nvSpPr>
        <p:spPr>
          <a:xfrm>
            <a:off x="3840480" y="1188720"/>
            <a:ext cx="1463040" cy="3246120"/>
          </a:xfrm>
          <a:prstGeom prst="rect">
            <a:avLst/>
          </a:prstGeom>
          <a:solidFill>
            <a:srgbClr val="F4F1EA"/>
          </a:solidFill>
          <a:ln w="12700">
            <a:solidFill>
              <a:srgbClr val="F4F1EA"/>
            </a:solidFill>
            <a:prstDash val="solid"/>
          </a:ln>
        </p:spPr>
      </p:sp>
      <p:pic>
        <p:nvPicPr>
          <p:cNvPr id="11" name="icon FaLanguage" descr="preencoded.png">    </p:cNvPr>
          <p:cNvPicPr>
            <a:picLocks noChangeAspect="1"/>
          </p:cNvPicPr>
          <p:nvPr/>
        </p:nvPicPr>
        <p:blipFill>
          <a:blip r:embed="rId3"/>
          <a:stretch>
            <a:fillRect/>
          </a:stretch>
        </p:blipFill>
        <p:spPr>
          <a:xfrm>
            <a:off x="4791456" y="1389888"/>
            <a:ext cx="310896" cy="310896"/>
          </a:xfrm>
          <a:prstGeom prst="rect">
            <a:avLst/>
          </a:prstGeom>
        </p:spPr>
      </p:pic>
      <p:sp>
        <p:nvSpPr>
          <p:cNvPr id="12" name="Text 7"/>
          <p:cNvSpPr txBox="1"/>
          <p:nvPr/>
        </p:nvSpPr>
        <p:spPr>
          <a:xfrm>
            <a:off x="4041648" y="1828800"/>
            <a:ext cx="1060704" cy="2450592"/>
          </a:xfrm>
          <a:prstGeom prst="rect">
            <a:avLst/>
          </a:prstGeom>
          <a:noFill/>
          <a:ln/>
        </p:spPr>
        <p:txBody>
          <a:bodyPr wrap="square" lIns="0" tIns="0" rIns="0" bIns="0" rtlCol="0" anchor="t"/>
          <a:lstStyle/>
          <a:p>
            <a:pPr algn="r" indent="0" marL="0">
              <a:spcAft>
                <a:spcPts val="300"/>
              </a:spcAft>
              <a:buNone/>
            </a:pPr>
            <a:r>
              <a:rPr lang="ar-AE" altLang="en-US" sz="1400" b="1" dirty="0">
                <a:solidFill>
                  <a:schemeClr val="tx1"/>
                </a:solidFill>
              </a:rPr>
              <a:t>أربع لغات</a:t>
            </a:r>
            <a:endParaRPr lang="ar-AE" sz="1400" dirty="0"/>
          </a:p>
          <a:p>
            <a:pPr algn="r" indent="0" marL="0">
              <a:spcAft>
                <a:spcPts val="300"/>
              </a:spcAft>
              <a:buNone/>
            </a:pPr>
            <a:r>
              <a:rPr lang="ar-AE" altLang="en-US" sz="1150" dirty="0">
                <a:solidFill>
                  <a:schemeClr val="accent3"/>
                </a:solidFill>
              </a:rPr>
              <a:t>العربية، الإنجليزية، الصينية، الروسية.</a:t>
            </a:r>
            <a:endParaRPr lang="ar-AE" sz="1400" dirty="0"/>
          </a:p>
        </p:txBody>
      </p:sp>
      <p:sp>
        <p:nvSpPr>
          <p:cNvPr id="13" name="Shape 8"/>
          <p:cNvSpPr/>
          <p:nvPr/>
        </p:nvSpPr>
        <p:spPr>
          <a:xfrm>
            <a:off x="2148840" y="1188720"/>
            <a:ext cx="1463040" cy="3246120"/>
          </a:xfrm>
          <a:prstGeom prst="rect">
            <a:avLst/>
          </a:prstGeom>
          <a:solidFill>
            <a:srgbClr val="F4F1EA"/>
          </a:solidFill>
          <a:ln w="12700">
            <a:solidFill>
              <a:srgbClr val="F4F1EA"/>
            </a:solidFill>
            <a:prstDash val="solid"/>
          </a:ln>
        </p:spPr>
      </p:sp>
      <p:pic>
        <p:nvPicPr>
          <p:cNvPr id="14" name="icon FaListCheck" descr="preencoded.png">    </p:cNvPr>
          <p:cNvPicPr>
            <a:picLocks noChangeAspect="1"/>
          </p:cNvPicPr>
          <p:nvPr/>
        </p:nvPicPr>
        <p:blipFill>
          <a:blip r:embed="rId4"/>
          <a:stretch>
            <a:fillRect/>
          </a:stretch>
        </p:blipFill>
        <p:spPr>
          <a:xfrm>
            <a:off x="3099816" y="1389888"/>
            <a:ext cx="310896" cy="310896"/>
          </a:xfrm>
          <a:prstGeom prst="rect">
            <a:avLst/>
          </a:prstGeom>
        </p:spPr>
      </p:pic>
      <p:sp>
        <p:nvSpPr>
          <p:cNvPr id="15" name="Text 9"/>
          <p:cNvSpPr txBox="1"/>
          <p:nvPr/>
        </p:nvSpPr>
        <p:spPr>
          <a:xfrm>
            <a:off x="2350008" y="1828800"/>
            <a:ext cx="1060704" cy="2450592"/>
          </a:xfrm>
          <a:prstGeom prst="rect">
            <a:avLst/>
          </a:prstGeom>
          <a:noFill/>
          <a:ln/>
        </p:spPr>
        <p:txBody>
          <a:bodyPr wrap="square" lIns="0" tIns="0" rIns="0" bIns="0" rtlCol="0" anchor="t"/>
          <a:lstStyle/>
          <a:p>
            <a:pPr algn="r" indent="0" marL="0">
              <a:spcAft>
                <a:spcPts val="300"/>
              </a:spcAft>
              <a:buNone/>
            </a:pPr>
            <a:r>
              <a:rPr lang="ar-AE" altLang="en-US" sz="1400" b="1" dirty="0">
                <a:solidFill>
                  <a:schemeClr val="tx1"/>
                </a:solidFill>
              </a:rPr>
              <a:t>تنسيق كامل</a:t>
            </a:r>
            <a:endParaRPr lang="ar-AE" sz="1400" dirty="0"/>
          </a:p>
          <a:p>
            <a:pPr algn="r" indent="0" marL="0">
              <a:spcAft>
                <a:spcPts val="300"/>
              </a:spcAft>
              <a:buNone/>
            </a:pPr>
            <a:r>
              <a:rPr lang="ar-AE" altLang="en-US" sz="1150" dirty="0">
                <a:solidFill>
                  <a:schemeClr val="accent3"/>
                </a:solidFill>
              </a:rPr>
              <a:t>الترجمة، الشهود، التوثيق، التسجيل.</a:t>
            </a:r>
            <a:endParaRPr lang="ar-AE" sz="1400" dirty="0"/>
          </a:p>
        </p:txBody>
      </p:sp>
      <p:sp>
        <p:nvSpPr>
          <p:cNvPr id="16" name="Shape 10"/>
          <p:cNvSpPr/>
          <p:nvPr/>
        </p:nvSpPr>
        <p:spPr>
          <a:xfrm>
            <a:off x="457200" y="1188720"/>
            <a:ext cx="1463040" cy="3246120"/>
          </a:xfrm>
          <a:prstGeom prst="rect">
            <a:avLst/>
          </a:prstGeom>
          <a:solidFill>
            <a:srgbClr val="F4F1EA"/>
          </a:solidFill>
          <a:ln w="12700">
            <a:solidFill>
              <a:srgbClr val="F4F1EA"/>
            </a:solidFill>
            <a:prstDash val="solid"/>
          </a:ln>
        </p:spPr>
      </p:sp>
      <p:pic>
        <p:nvPicPr>
          <p:cNvPr id="17" name="icon FaBolt" descr="preencoded.png">    </p:cNvPr>
          <p:cNvPicPr>
            <a:picLocks noChangeAspect="1"/>
          </p:cNvPicPr>
          <p:nvPr/>
        </p:nvPicPr>
        <p:blipFill>
          <a:blip r:embed="rId5"/>
          <a:stretch>
            <a:fillRect/>
          </a:stretch>
        </p:blipFill>
        <p:spPr>
          <a:xfrm>
            <a:off x="1408176" y="1389888"/>
            <a:ext cx="310896" cy="310896"/>
          </a:xfrm>
          <a:prstGeom prst="rect">
            <a:avLst/>
          </a:prstGeom>
        </p:spPr>
      </p:pic>
      <p:sp>
        <p:nvSpPr>
          <p:cNvPr id="18" name="Text 11"/>
          <p:cNvSpPr txBox="1"/>
          <p:nvPr/>
        </p:nvSpPr>
        <p:spPr>
          <a:xfrm>
            <a:off x="658368" y="1828800"/>
            <a:ext cx="1060704" cy="2450592"/>
          </a:xfrm>
          <a:prstGeom prst="rect">
            <a:avLst/>
          </a:prstGeom>
          <a:noFill/>
          <a:ln/>
        </p:spPr>
        <p:txBody>
          <a:bodyPr wrap="square" lIns="0" tIns="0" rIns="0" bIns="0" rtlCol="0" anchor="t"/>
          <a:lstStyle/>
          <a:p>
            <a:pPr algn="r" indent="0" marL="0">
              <a:spcAft>
                <a:spcPts val="300"/>
              </a:spcAft>
              <a:buNone/>
            </a:pPr>
            <a:r>
              <a:rPr lang="ar-AE" altLang="en-US" sz="1400" b="1" dirty="0">
                <a:solidFill>
                  <a:schemeClr val="tx1"/>
                </a:solidFill>
              </a:rPr>
              <a:t>تسجيل سريع</a:t>
            </a:r>
            <a:endParaRPr lang="ar-AE" sz="1400" dirty="0"/>
          </a:p>
          <a:p>
            <a:pPr algn="r" indent="0" marL="0">
              <a:spcAft>
                <a:spcPts val="300"/>
              </a:spcAft>
              <a:buNone/>
            </a:pPr>
            <a:r>
              <a:rPr lang="ar-AE" altLang="en-US" sz="1150" dirty="0">
                <a:solidFill>
                  <a:schemeClr val="accent3"/>
                </a:solidFill>
              </a:rPr>
              <a:t>متابعة مباشرة مع الجهات الرسمية.</a:t>
            </a:r>
            <a:endParaRPr lang="ar-AE" sz="14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0" y="1463040"/>
            <a:ext cx="1828800" cy="1463040"/>
          </a:xfrm>
          <a:prstGeom prst="rect">
            <a:avLst/>
          </a:prstGeom>
          <a:noFill/>
          <a:ln/>
        </p:spPr>
        <p:txBody>
          <a:bodyPr wrap="square" lIns="0" tIns="0" rIns="0" bIns="0" rtlCol="0" anchor="ctr"/>
          <a:lstStyle/>
          <a:p>
            <a:pPr algn="r" indent="0" marL="0">
              <a:buNone/>
            </a:pPr>
            <a:r>
              <a:rPr lang="en-US" sz="7200" dirty="0">
                <a:solidFill>
                  <a:schemeClr val="accent1"/>
                </a:solidFill>
                <a:latin typeface="Cambria" pitchFamily="34" charset="0"/>
                <a:ea typeface="Cambria" pitchFamily="34" charset="-122"/>
                <a:cs typeface="Cambria" pitchFamily="34" charset="-120"/>
              </a:rPr>
              <a:t>03</a:t>
            </a:r>
            <a:endParaRPr lang="en-US" sz="7200" dirty="0"/>
          </a:p>
        </p:txBody>
      </p:sp>
      <p:sp>
        <p:nvSpPr>
          <p:cNvPr id="3" name="Text 1"/>
          <p:cNvSpPr txBox="1"/>
          <p:nvPr/>
        </p:nvSpPr>
        <p:spPr>
          <a:xfrm>
            <a:off x="914400" y="2834640"/>
            <a:ext cx="7772400" cy="731520"/>
          </a:xfrm>
          <a:prstGeom prst="rect">
            <a:avLst/>
          </a:prstGeom>
          <a:noFill/>
          <a:ln/>
        </p:spPr>
        <p:txBody>
          <a:bodyPr wrap="square" lIns="0" tIns="0" rIns="0" bIns="0" rtlCol="0" anchor="t"/>
          <a:lstStyle/>
          <a:p>
            <a:pPr rtl="1" algn="r" indent="0" marL="0">
              <a:buNone/>
            </a:pPr>
            <a:r>
              <a:rPr lang="ar-AE" altLang="en-US" sz="3000" b="1" dirty="0">
                <a:solidFill>
                  <a:schemeClr val="bg1"/>
                </a:solidFill>
                <a:latin typeface="Cambria" pitchFamily="34" charset="0"/>
                <a:ea typeface="Cambria" pitchFamily="34" charset="-122"/>
                <a:cs typeface="Cambria" pitchFamily="34" charset="-120"/>
              </a:rPr>
              <a:t>نموذج الشراكة</a:t>
            </a:r>
            <a:endParaRPr lang="ar-AE" sz="3000" dirty="0"/>
          </a:p>
        </p:txBody>
      </p:sp>
      <p:sp>
        <p:nvSpPr>
          <p:cNvPr id="4" name="Text 2"/>
          <p:cNvSpPr txBox="1"/>
          <p:nvPr/>
        </p:nvSpPr>
        <p:spPr>
          <a:xfrm>
            <a:off x="914400" y="3566160"/>
            <a:ext cx="7772400" cy="548640"/>
          </a:xfrm>
          <a:prstGeom prst="rect">
            <a:avLst/>
          </a:prstGeom>
          <a:noFill/>
          <a:ln/>
        </p:spPr>
        <p:txBody>
          <a:bodyPr wrap="square" lIns="0" tIns="0" rIns="0" bIns="0" rtlCol="0" anchor="ctr"/>
          <a:lstStyle/>
          <a:p>
            <a:pPr rtl="1" algn="r" indent="0" marL="0">
              <a:buNone/>
            </a:pPr>
            <a:r>
              <a:rPr lang="ar-AE" altLang="en-US" sz="1400" dirty="0">
                <a:solidFill>
                  <a:schemeClr val="accent2"/>
                </a:solidFill>
              </a:rPr>
              <a:t>أنتم تفتحون الباب، ونحن نتولى الجانب القانوني كاملاً</a:t>
            </a:r>
            <a:endParaRPr lang="ar-AE" sz="14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8C39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توزيع الأدوار</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النموذج الأفضل عملياً</a:t>
            </a:r>
            <a:endParaRPr lang="ar-AE" sz="1000" dirty="0"/>
          </a:p>
        </p:txBody>
      </p:sp>
      <p:sp>
        <p:nvSpPr>
          <p:cNvPr id="4" name="Shape 2"/>
          <p:cNvSpPr/>
          <p:nvPr/>
        </p:nvSpPr>
        <p:spPr>
          <a:xfrm>
            <a:off x="4686300" y="1188720"/>
            <a:ext cx="4000500" cy="548640"/>
          </a:xfrm>
          <a:prstGeom prst="rect">
            <a:avLst/>
          </a:prstGeom>
          <a:solidFill>
            <a:srgbClr val="0B0B0B"/>
          </a:solidFill>
          <a:ln w="12700">
            <a:solidFill>
              <a:srgbClr val="0B0B0B"/>
            </a:solidFill>
            <a:prstDash val="solid"/>
          </a:ln>
        </p:spPr>
      </p:sp>
      <p:sp>
        <p:nvSpPr>
          <p:cNvPr id="5" name="Text 3"/>
          <p:cNvSpPr txBox="1"/>
          <p:nvPr/>
        </p:nvSpPr>
        <p:spPr>
          <a:xfrm>
            <a:off x="4823460" y="1188720"/>
            <a:ext cx="3726180" cy="548640"/>
          </a:xfrm>
          <a:prstGeom prst="rect">
            <a:avLst/>
          </a:prstGeom>
          <a:noFill/>
          <a:ln/>
        </p:spPr>
        <p:txBody>
          <a:bodyPr wrap="square" lIns="0" tIns="0" rIns="0" bIns="0" rtlCol="0" anchor="ctr"/>
          <a:lstStyle/>
          <a:p>
            <a:pPr rtl="1" algn="r" indent="0" marL="0">
              <a:buNone/>
            </a:pPr>
            <a:r>
              <a:rPr lang="ar-AE" altLang="en-US" sz="1300" b="1" dirty="0">
                <a:solidFill>
                  <a:schemeClr val="accent2"/>
                </a:solidFill>
              </a:rPr>
              <a:t>الشريك العقاري</a:t>
            </a:r>
            <a:endParaRPr lang="ar-AE" sz="1300" dirty="0"/>
          </a:p>
        </p:txBody>
      </p:sp>
      <p:sp>
        <p:nvSpPr>
          <p:cNvPr id="6" name="Shape 4"/>
          <p:cNvSpPr/>
          <p:nvPr/>
        </p:nvSpPr>
        <p:spPr>
          <a:xfrm>
            <a:off x="4686300" y="1737360"/>
            <a:ext cx="4000500" cy="2697480"/>
          </a:xfrm>
          <a:prstGeom prst="rect">
            <a:avLst/>
          </a:prstGeom>
          <a:solidFill>
            <a:srgbClr val="F4F1EA"/>
          </a:solidFill>
          <a:ln w="12700">
            <a:solidFill>
              <a:srgbClr val="F4F1EA"/>
            </a:solidFill>
            <a:prstDash val="solid"/>
          </a:ln>
        </p:spPr>
      </p:sp>
      <p:sp>
        <p:nvSpPr>
          <p:cNvPr id="7" name="Text 5"/>
          <p:cNvSpPr txBox="1"/>
          <p:nvPr/>
        </p:nvSpPr>
        <p:spPr>
          <a:xfrm>
            <a:off x="4823460" y="1874520"/>
            <a:ext cx="3726180" cy="2468880"/>
          </a:xfrm>
          <a:prstGeom prst="rect">
            <a:avLst/>
          </a:prstGeom>
          <a:noFill/>
          <a:ln/>
        </p:spPr>
        <p:txBody>
          <a:bodyPr wrap="square" lIns="0" tIns="0" rIns="0" bIns="0" rtlCol="0" anchor="t"/>
          <a:lstStyle/>
          <a:p>
            <a:pPr algn="r" marL="152400" indent="-152400">
              <a:spcAft>
                <a:spcPts val="500"/>
              </a:spcAft>
              <a:buSzPct val="100000"/>
              <a:buChar char="•"/>
            </a:pPr>
            <a:r>
              <a:rPr lang="ar-AE" altLang="en-US" sz="1100" dirty="0">
                <a:solidFill>
                  <a:schemeClr val="tx2"/>
                </a:solidFill>
              </a:rPr>
              <a:t>يعرّف العميل بالخدمة في التوقيت الصحيح</a:t>
            </a:r>
            <a:endParaRPr lang="ar-AE" sz="1100" dirty="0"/>
          </a:p>
          <a:p>
            <a:pPr algn="r" marL="152400" indent="-152400">
              <a:spcAft>
                <a:spcPts val="500"/>
              </a:spcAft>
              <a:buSzPct val="100000"/>
              <a:buChar char="•"/>
            </a:pPr>
            <a:r>
              <a:rPr lang="ar-AE" altLang="en-US" sz="1100" dirty="0">
                <a:solidFill>
                  <a:schemeClr val="tx2"/>
                </a:solidFill>
              </a:rPr>
              <a:t>يرسل رسالة تعريف موحّدة ويحوّل العميل</a:t>
            </a:r>
            <a:endParaRPr lang="ar-AE" sz="1100" dirty="0"/>
          </a:p>
          <a:p>
            <a:pPr algn="r" marL="152400" indent="-152400">
              <a:spcAft>
                <a:spcPts val="500"/>
              </a:spcAft>
              <a:buSzPct val="100000"/>
              <a:buChar char="•"/>
            </a:pPr>
            <a:r>
              <a:rPr lang="ar-AE" altLang="en-US" sz="1100" dirty="0">
                <a:solidFill>
                  <a:schemeClr val="tx2"/>
                </a:solidFill>
              </a:rPr>
              <a:t>يقدّم الخدمة كقيمة مضافة ضمن عرضه</a:t>
            </a:r>
            <a:endParaRPr lang="ar-AE" sz="1100" dirty="0"/>
          </a:p>
          <a:p>
            <a:pPr algn="r" marL="152400" indent="-152400">
              <a:spcAft>
                <a:spcPts val="500"/>
              </a:spcAft>
              <a:buSzPct val="100000"/>
              <a:buChar char="•"/>
            </a:pPr>
            <a:r>
              <a:rPr lang="ar-AE" altLang="en-US" sz="1100" dirty="0">
                <a:solidFill>
                  <a:schemeClr val="tx2"/>
                </a:solidFill>
              </a:rPr>
              <a:t>لا يقدّم أي استشارة قانونية ولا يضمن نتائج</a:t>
            </a:r>
            <a:endParaRPr lang="ar-AE" sz="1100" dirty="0"/>
          </a:p>
          <a:p>
            <a:pPr algn="r" marL="152400" indent="-152400">
              <a:spcAft>
                <a:spcPts val="500"/>
              </a:spcAft>
              <a:buSzPct val="100000"/>
              <a:buChar char="•"/>
            </a:pPr>
            <a:r>
              <a:rPr lang="ar-AE" altLang="en-US" sz="1100" dirty="0">
                <a:solidFill>
                  <a:schemeClr val="tx2"/>
                </a:solidFill>
              </a:rPr>
              <a:t>يحصل على عمولة الإحالة وفق الاتفاقية</a:t>
            </a:r>
            <a:endParaRPr lang="ar-AE" sz="1100" dirty="0"/>
          </a:p>
        </p:txBody>
      </p:sp>
      <p:sp>
        <p:nvSpPr>
          <p:cNvPr id="8" name="Shape 6"/>
          <p:cNvSpPr/>
          <p:nvPr/>
        </p:nvSpPr>
        <p:spPr>
          <a:xfrm>
            <a:off x="457200" y="1188720"/>
            <a:ext cx="4000500" cy="548640"/>
          </a:xfrm>
          <a:prstGeom prst="rect">
            <a:avLst/>
          </a:prstGeom>
          <a:solidFill>
            <a:srgbClr val="B08D57"/>
          </a:solidFill>
          <a:ln w="12700">
            <a:solidFill>
              <a:srgbClr val="B08D57"/>
            </a:solidFill>
            <a:prstDash val="solid"/>
          </a:ln>
        </p:spPr>
      </p:sp>
      <p:sp>
        <p:nvSpPr>
          <p:cNvPr id="9" name="Text 7"/>
          <p:cNvSpPr txBox="1"/>
          <p:nvPr/>
        </p:nvSpPr>
        <p:spPr>
          <a:xfrm>
            <a:off x="594360" y="1188720"/>
            <a:ext cx="3726180" cy="548640"/>
          </a:xfrm>
          <a:prstGeom prst="rect">
            <a:avLst/>
          </a:prstGeom>
          <a:noFill/>
          <a:ln/>
        </p:spPr>
        <p:txBody>
          <a:bodyPr wrap="square" lIns="0" tIns="0" rIns="0" bIns="0" rtlCol="0" anchor="ctr"/>
          <a:lstStyle/>
          <a:p>
            <a:pPr rtl="1" algn="r" indent="0" marL="0">
              <a:buNone/>
            </a:pPr>
            <a:r>
              <a:rPr lang="ar-AE" altLang="en-US" sz="1300" b="1" dirty="0">
                <a:solidFill>
                  <a:schemeClr val="tx1"/>
                </a:solidFill>
              </a:rPr>
              <a:t>مكتب راشد الكيتوب</a:t>
            </a:r>
            <a:endParaRPr lang="ar-AE" sz="1300" dirty="0"/>
          </a:p>
        </p:txBody>
      </p:sp>
      <p:sp>
        <p:nvSpPr>
          <p:cNvPr id="10" name="Shape 8"/>
          <p:cNvSpPr/>
          <p:nvPr/>
        </p:nvSpPr>
        <p:spPr>
          <a:xfrm>
            <a:off x="457200" y="1737360"/>
            <a:ext cx="4000500" cy="2697480"/>
          </a:xfrm>
          <a:prstGeom prst="rect">
            <a:avLst/>
          </a:prstGeom>
          <a:solidFill>
            <a:srgbClr val="F4F1EA"/>
          </a:solidFill>
          <a:ln w="12700">
            <a:solidFill>
              <a:srgbClr val="F4F1EA"/>
            </a:solidFill>
            <a:prstDash val="solid"/>
          </a:ln>
        </p:spPr>
      </p:sp>
      <p:sp>
        <p:nvSpPr>
          <p:cNvPr id="11" name="Text 9"/>
          <p:cNvSpPr txBox="1"/>
          <p:nvPr/>
        </p:nvSpPr>
        <p:spPr>
          <a:xfrm>
            <a:off x="594360" y="1874520"/>
            <a:ext cx="3726180" cy="2468880"/>
          </a:xfrm>
          <a:prstGeom prst="rect">
            <a:avLst/>
          </a:prstGeom>
          <a:noFill/>
          <a:ln/>
        </p:spPr>
        <p:txBody>
          <a:bodyPr wrap="square" lIns="0" tIns="0" rIns="0" bIns="0" rtlCol="0" anchor="t"/>
          <a:lstStyle/>
          <a:p>
            <a:pPr algn="r" marL="152400" indent="-152400">
              <a:spcAft>
                <a:spcPts val="500"/>
              </a:spcAft>
              <a:buSzPct val="100000"/>
              <a:buChar char="•"/>
            </a:pPr>
            <a:r>
              <a:rPr lang="ar-AE" altLang="en-US" sz="1100" dirty="0">
                <a:solidFill>
                  <a:schemeClr val="tx2"/>
                </a:solidFill>
              </a:rPr>
              <a:t>التواصل مع العميل خلال يوم عمل</a:t>
            </a:r>
            <a:endParaRPr lang="ar-AE" sz="1100" dirty="0"/>
          </a:p>
          <a:p>
            <a:pPr algn="r" marL="152400" indent="-152400">
              <a:spcAft>
                <a:spcPts val="500"/>
              </a:spcAft>
              <a:buSzPct val="100000"/>
              <a:buChar char="•"/>
            </a:pPr>
            <a:r>
              <a:rPr lang="ar-AE" altLang="en-US" sz="1100" dirty="0">
                <a:solidFill>
                  <a:schemeClr val="tx2"/>
                </a:solidFill>
              </a:rPr>
              <a:t>الاستشارة، تقييم المخاطر، والعرض</a:t>
            </a:r>
            <a:endParaRPr lang="ar-AE" sz="1100" dirty="0"/>
          </a:p>
          <a:p>
            <a:pPr algn="r" marL="152400" indent="-152400">
              <a:spcAft>
                <a:spcPts val="500"/>
              </a:spcAft>
              <a:buSzPct val="100000"/>
              <a:buChar char="•"/>
            </a:pPr>
            <a:r>
              <a:rPr lang="ar-AE" altLang="en-US" sz="1100" dirty="0">
                <a:solidFill>
                  <a:schemeClr val="tx2"/>
                </a:solidFill>
              </a:rPr>
              <a:t>الصياغة، الترجمة، الشهود، التوثيق</a:t>
            </a:r>
            <a:endParaRPr lang="ar-AE" sz="1100" dirty="0"/>
          </a:p>
          <a:p>
            <a:pPr algn="r" marL="152400" indent="-152400">
              <a:spcAft>
                <a:spcPts val="500"/>
              </a:spcAft>
              <a:buSzPct val="100000"/>
              <a:buChar char="•"/>
            </a:pPr>
            <a:r>
              <a:rPr lang="ar-AE" altLang="en-US" sz="1100" dirty="0">
                <a:solidFill>
                  <a:schemeClr val="tx2"/>
                </a:solidFill>
              </a:rPr>
              <a:t>التسجيل والمتابعة مع الجهات الرسمية</a:t>
            </a:r>
            <a:endParaRPr lang="ar-AE" sz="1100" dirty="0"/>
          </a:p>
          <a:p>
            <a:pPr algn="r" marL="152400" indent="-152400">
              <a:spcAft>
                <a:spcPts val="500"/>
              </a:spcAft>
              <a:buSzPct val="100000"/>
              <a:buChar char="•"/>
            </a:pPr>
            <a:r>
              <a:rPr lang="ar-AE" altLang="en-US" sz="1100" dirty="0">
                <a:solidFill>
                  <a:schemeClr val="tx2"/>
                </a:solidFill>
              </a:rPr>
              <a:t>حماية الشريك من أي مسؤولية قانونية</a:t>
            </a:r>
            <a:endParaRPr lang="ar-AE" sz="11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اتفاقية الإحالة والتعاون</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ما تتضمنه</a:t>
            </a:r>
            <a:endParaRPr lang="ar-AE" sz="1000" dirty="0"/>
          </a:p>
        </p:txBody>
      </p:sp>
      <p:sp>
        <p:nvSpPr>
          <p:cNvPr id="4" name="Shape 2"/>
          <p:cNvSpPr/>
          <p:nvPr/>
        </p:nvSpPr>
        <p:spPr>
          <a:xfrm>
            <a:off x="8229600" y="1188720"/>
            <a:ext cx="457200" cy="457200"/>
          </a:xfrm>
          <a:prstGeom prst="ellipse">
            <a:avLst/>
          </a:prstGeom>
          <a:solidFill>
            <a:srgbClr val="F4F1EA"/>
          </a:solidFill>
          <a:ln w="12700">
            <a:solidFill>
              <a:srgbClr val="F4F1EA"/>
            </a:solidFill>
            <a:prstDash val="solid"/>
          </a:ln>
        </p:spPr>
      </p:sp>
      <p:pic>
        <p:nvPicPr>
          <p:cNvPr id="5" name="icon FaArrowRightArrowLeft" descr="preencoded.png">    </p:cNvPr>
          <p:cNvPicPr>
            <a:picLocks noChangeAspect="1"/>
          </p:cNvPicPr>
          <p:nvPr/>
        </p:nvPicPr>
        <p:blipFill>
          <a:blip r:embed="rId1"/>
          <a:stretch>
            <a:fillRect/>
          </a:stretch>
        </p:blipFill>
        <p:spPr>
          <a:xfrm>
            <a:off x="8321040" y="1280160"/>
            <a:ext cx="274320" cy="274320"/>
          </a:xfrm>
          <a:prstGeom prst="rect">
            <a:avLst/>
          </a:prstGeom>
        </p:spPr>
      </p:pic>
      <p:sp>
        <p:nvSpPr>
          <p:cNvPr id="6" name="Text 3"/>
          <p:cNvSpPr txBox="1"/>
          <p:nvPr/>
        </p:nvSpPr>
        <p:spPr>
          <a:xfrm>
            <a:off x="457200" y="1170432"/>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آلية تحويل العملاء</a:t>
            </a:r>
            <a:endParaRPr lang="ar-AE" sz="1300" dirty="0"/>
          </a:p>
          <a:p>
            <a:pPr algn="r" indent="0" marL="0">
              <a:spcAft>
                <a:spcPts val="200"/>
              </a:spcAft>
              <a:buNone/>
            </a:pPr>
            <a:r>
              <a:rPr lang="ar-AE" altLang="en-US" sz="1100" dirty="0">
                <a:solidFill>
                  <a:schemeClr val="accent3"/>
                </a:solidFill>
              </a:rPr>
              <a:t>نموذج رسالة التعريف، وقناة التواصل، وتوقيت الرد.</a:t>
            </a:r>
            <a:endParaRPr lang="ar-AE" sz="1300" dirty="0"/>
          </a:p>
        </p:txBody>
      </p:sp>
      <p:sp>
        <p:nvSpPr>
          <p:cNvPr id="7" name="Shape 4"/>
          <p:cNvSpPr/>
          <p:nvPr/>
        </p:nvSpPr>
        <p:spPr>
          <a:xfrm>
            <a:off x="8229600" y="1847088"/>
            <a:ext cx="457200" cy="457200"/>
          </a:xfrm>
          <a:prstGeom prst="ellipse">
            <a:avLst/>
          </a:prstGeom>
          <a:solidFill>
            <a:srgbClr val="F4F1EA"/>
          </a:solidFill>
          <a:ln w="12700">
            <a:solidFill>
              <a:srgbClr val="F4F1EA"/>
            </a:solidFill>
            <a:prstDash val="solid"/>
          </a:ln>
        </p:spPr>
      </p:sp>
      <p:pic>
        <p:nvPicPr>
          <p:cNvPr id="8" name="icon FaPercent" descr="preencoded.png">    </p:cNvPr>
          <p:cNvPicPr>
            <a:picLocks noChangeAspect="1"/>
          </p:cNvPicPr>
          <p:nvPr/>
        </p:nvPicPr>
        <p:blipFill>
          <a:blip r:embed="rId2"/>
          <a:stretch>
            <a:fillRect/>
          </a:stretch>
        </p:blipFill>
        <p:spPr>
          <a:xfrm>
            <a:off x="8321040" y="1938528"/>
            <a:ext cx="274320" cy="274320"/>
          </a:xfrm>
          <a:prstGeom prst="rect">
            <a:avLst/>
          </a:prstGeom>
        </p:spPr>
      </p:pic>
      <p:sp>
        <p:nvSpPr>
          <p:cNvPr id="9" name="Text 5"/>
          <p:cNvSpPr txBox="1"/>
          <p:nvPr/>
        </p:nvSpPr>
        <p:spPr>
          <a:xfrm>
            <a:off x="457200" y="1828800"/>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نسبة العمولة وآلية الدفع</a:t>
            </a:r>
            <a:endParaRPr lang="ar-AE" sz="1300" dirty="0"/>
          </a:p>
          <a:p>
            <a:pPr algn="r" indent="0" marL="0">
              <a:spcAft>
                <a:spcPts val="200"/>
              </a:spcAft>
              <a:buNone/>
            </a:pPr>
            <a:r>
              <a:rPr lang="ar-AE" altLang="en-US" sz="1100" dirty="0">
                <a:solidFill>
                  <a:schemeClr val="accent3"/>
                </a:solidFill>
              </a:rPr>
              <a:t>نسبة ثابتة أو مبلغ ثابت لكل عميل، مع مراعاة تنظيمات المهنة والقوانين المحلية.</a:t>
            </a:r>
            <a:endParaRPr lang="ar-AE" sz="1300" dirty="0"/>
          </a:p>
        </p:txBody>
      </p:sp>
      <p:sp>
        <p:nvSpPr>
          <p:cNvPr id="10" name="Shape 6"/>
          <p:cNvSpPr/>
          <p:nvPr/>
        </p:nvSpPr>
        <p:spPr>
          <a:xfrm>
            <a:off x="8229600" y="2505456"/>
            <a:ext cx="457200" cy="457200"/>
          </a:xfrm>
          <a:prstGeom prst="ellipse">
            <a:avLst/>
          </a:prstGeom>
          <a:solidFill>
            <a:srgbClr val="F4F1EA"/>
          </a:solidFill>
          <a:ln w="12700">
            <a:solidFill>
              <a:srgbClr val="F4F1EA"/>
            </a:solidFill>
            <a:prstDash val="solid"/>
          </a:ln>
        </p:spPr>
      </p:sp>
      <p:pic>
        <p:nvPicPr>
          <p:cNvPr id="11" name="icon FaLock" descr="preencoded.png">    </p:cNvPr>
          <p:cNvPicPr>
            <a:picLocks noChangeAspect="1"/>
          </p:cNvPicPr>
          <p:nvPr/>
        </p:nvPicPr>
        <p:blipFill>
          <a:blip r:embed="rId3"/>
          <a:stretch>
            <a:fillRect/>
          </a:stretch>
        </p:blipFill>
        <p:spPr>
          <a:xfrm>
            <a:off x="8321040" y="2596896"/>
            <a:ext cx="274320" cy="274320"/>
          </a:xfrm>
          <a:prstGeom prst="rect">
            <a:avLst/>
          </a:prstGeom>
        </p:spPr>
      </p:pic>
      <p:sp>
        <p:nvSpPr>
          <p:cNvPr id="12" name="Text 7"/>
          <p:cNvSpPr txBox="1"/>
          <p:nvPr/>
        </p:nvSpPr>
        <p:spPr>
          <a:xfrm>
            <a:off x="457200" y="2487168"/>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السرية وحماية البيانات</a:t>
            </a:r>
            <a:endParaRPr lang="ar-AE" sz="1300" dirty="0"/>
          </a:p>
          <a:p>
            <a:pPr algn="r" indent="0" marL="0">
              <a:spcAft>
                <a:spcPts val="200"/>
              </a:spcAft>
              <a:buNone/>
            </a:pPr>
            <a:r>
              <a:rPr lang="ar-AE" altLang="en-US" sz="1100" dirty="0">
                <a:solidFill>
                  <a:schemeClr val="accent3"/>
                </a:solidFill>
              </a:rPr>
              <a:t>اتفاقية عدم إفشاء، وبيانات العملاء محمية وفق القانون.</a:t>
            </a:r>
            <a:endParaRPr lang="ar-AE" sz="1300" dirty="0"/>
          </a:p>
        </p:txBody>
      </p:sp>
      <p:sp>
        <p:nvSpPr>
          <p:cNvPr id="13" name="Shape 8"/>
          <p:cNvSpPr/>
          <p:nvPr/>
        </p:nvSpPr>
        <p:spPr>
          <a:xfrm>
            <a:off x="8229600" y="3163824"/>
            <a:ext cx="457200" cy="457200"/>
          </a:xfrm>
          <a:prstGeom prst="ellipse">
            <a:avLst/>
          </a:prstGeom>
          <a:solidFill>
            <a:srgbClr val="F4F1EA"/>
          </a:solidFill>
          <a:ln w="12700">
            <a:solidFill>
              <a:srgbClr val="F4F1EA"/>
            </a:solidFill>
            <a:prstDash val="solid"/>
          </a:ln>
        </p:spPr>
      </p:sp>
      <p:pic>
        <p:nvPicPr>
          <p:cNvPr id="14" name="icon FaUserShield" descr="preencoded.png">    </p:cNvPr>
          <p:cNvPicPr>
            <a:picLocks noChangeAspect="1"/>
          </p:cNvPicPr>
          <p:nvPr/>
        </p:nvPicPr>
        <p:blipFill>
          <a:blip r:embed="rId4"/>
          <a:stretch>
            <a:fillRect/>
          </a:stretch>
        </p:blipFill>
        <p:spPr>
          <a:xfrm>
            <a:off x="8321040" y="3255264"/>
            <a:ext cx="274320" cy="274320"/>
          </a:xfrm>
          <a:prstGeom prst="rect">
            <a:avLst/>
          </a:prstGeom>
        </p:spPr>
      </p:pic>
      <p:sp>
        <p:nvSpPr>
          <p:cNvPr id="15" name="Text 9"/>
          <p:cNvSpPr txBox="1"/>
          <p:nvPr/>
        </p:nvSpPr>
        <p:spPr>
          <a:xfrm>
            <a:off x="457200" y="3145536"/>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عدم تحمّل الشريك أي مسؤولية قانونية</a:t>
            </a:r>
            <a:endParaRPr lang="ar-AE" sz="1300" dirty="0"/>
          </a:p>
          <a:p>
            <a:pPr algn="r" indent="0" marL="0">
              <a:spcAft>
                <a:spcPts val="200"/>
              </a:spcAft>
              <a:buNone/>
            </a:pPr>
            <a:r>
              <a:rPr lang="ar-AE" altLang="en-US" sz="1100" dirty="0">
                <a:solidFill>
                  <a:schemeClr val="accent3"/>
                </a:solidFill>
              </a:rPr>
              <a:t>الشريك لا يقدّم استشارات قانونية؛ المسؤولية المهنية علينا.</a:t>
            </a:r>
            <a:endParaRPr lang="ar-AE" sz="1300" dirty="0"/>
          </a:p>
        </p:txBody>
      </p:sp>
      <p:sp>
        <p:nvSpPr>
          <p:cNvPr id="16" name="Shape 10"/>
          <p:cNvSpPr/>
          <p:nvPr/>
        </p:nvSpPr>
        <p:spPr>
          <a:xfrm>
            <a:off x="8229600" y="3822192"/>
            <a:ext cx="457200" cy="457200"/>
          </a:xfrm>
          <a:prstGeom prst="ellipse">
            <a:avLst/>
          </a:prstGeom>
          <a:solidFill>
            <a:srgbClr val="F4F1EA"/>
          </a:solidFill>
          <a:ln w="12700">
            <a:solidFill>
              <a:srgbClr val="F4F1EA"/>
            </a:solidFill>
            <a:prstDash val="solid"/>
          </a:ln>
        </p:spPr>
      </p:sp>
      <p:pic>
        <p:nvPicPr>
          <p:cNvPr id="17" name="icon FaBan" descr="preencoded.png">    </p:cNvPr>
          <p:cNvPicPr>
            <a:picLocks noChangeAspect="1"/>
          </p:cNvPicPr>
          <p:nvPr/>
        </p:nvPicPr>
        <p:blipFill>
          <a:blip r:embed="rId5"/>
          <a:stretch>
            <a:fillRect/>
          </a:stretch>
        </p:blipFill>
        <p:spPr>
          <a:xfrm>
            <a:off x="8321040" y="3913632"/>
            <a:ext cx="274320" cy="274320"/>
          </a:xfrm>
          <a:prstGeom prst="rect">
            <a:avLst/>
          </a:prstGeom>
        </p:spPr>
      </p:pic>
      <p:sp>
        <p:nvSpPr>
          <p:cNvPr id="18" name="Text 11"/>
          <p:cNvSpPr txBox="1"/>
          <p:nvPr/>
        </p:nvSpPr>
        <p:spPr>
          <a:xfrm>
            <a:off x="457200" y="3803904"/>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عدم التجاوز</a:t>
            </a:r>
            <a:endParaRPr lang="ar-AE" sz="1300" dirty="0"/>
          </a:p>
          <a:p>
            <a:pPr algn="r" indent="0" marL="0">
              <a:spcAft>
                <a:spcPts val="200"/>
              </a:spcAft>
              <a:buNone/>
            </a:pPr>
            <a:r>
              <a:rPr lang="ar-AE" altLang="en-US" sz="1100" dirty="0">
                <a:solidFill>
                  <a:schemeClr val="accent3"/>
                </a:solidFill>
              </a:rPr>
              <a:t>حماية علاقة كل طرف بعملائه طوال مدة الاتفاقية.</a:t>
            </a:r>
            <a:endParaRPr lang="ar-AE" sz="13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النموذج التجاري</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كيف يكسب الجميع</a:t>
            </a:r>
            <a:endParaRPr lang="ar-AE" sz="1000" dirty="0"/>
          </a:p>
        </p:txBody>
      </p:sp>
      <p:sp>
        <p:nvSpPr>
          <p:cNvPr id="4" name="Shape 2"/>
          <p:cNvSpPr/>
          <p:nvPr/>
        </p:nvSpPr>
        <p:spPr>
          <a:xfrm>
            <a:off x="6096000" y="1188720"/>
            <a:ext cx="2590800" cy="3246120"/>
          </a:xfrm>
          <a:prstGeom prst="rect">
            <a:avLst/>
          </a:prstGeom>
          <a:solidFill>
            <a:srgbClr val="F4F1EA"/>
          </a:solidFill>
          <a:ln w="12700">
            <a:solidFill>
              <a:srgbClr val="F4F1EA"/>
            </a:solidFill>
            <a:prstDash val="solid"/>
          </a:ln>
        </p:spPr>
      </p:sp>
      <p:sp>
        <p:nvSpPr>
          <p:cNvPr id="5" name="Text 3"/>
          <p:cNvSpPr txBox="1"/>
          <p:nvPr/>
        </p:nvSpPr>
        <p:spPr>
          <a:xfrm>
            <a:off x="6297168" y="1344168"/>
            <a:ext cx="2188464" cy="457200"/>
          </a:xfrm>
          <a:prstGeom prst="rect">
            <a:avLst/>
          </a:prstGeom>
          <a:noFill/>
          <a:ln/>
        </p:spPr>
        <p:txBody>
          <a:bodyPr wrap="square" lIns="0" tIns="0" rIns="0" bIns="0" rtlCol="0" anchor="ctr"/>
          <a:lstStyle/>
          <a:p>
            <a:pPr rtl="1" algn="r" indent="0" marL="0">
              <a:buNone/>
            </a:pPr>
            <a:r>
              <a:rPr lang="ar-AE" altLang="en-US" sz="2600" b="1" dirty="0">
                <a:solidFill>
                  <a:schemeClr val="accent1"/>
                </a:solidFill>
                <a:latin typeface="Cambria" pitchFamily="34" charset="0"/>
                <a:ea typeface="Cambria" pitchFamily="34" charset="-122"/>
                <a:cs typeface="Cambria" pitchFamily="34" charset="-120"/>
              </a:rPr>
              <a:t>1</a:t>
            </a:r>
            <a:endParaRPr lang="ar-AE" sz="2600" dirty="0"/>
          </a:p>
        </p:txBody>
      </p:sp>
      <p:sp>
        <p:nvSpPr>
          <p:cNvPr id="6" name="Text 4"/>
          <p:cNvSpPr txBox="1"/>
          <p:nvPr/>
        </p:nvSpPr>
        <p:spPr>
          <a:xfrm>
            <a:off x="6297168" y="1847088"/>
            <a:ext cx="2188464" cy="2432304"/>
          </a:xfrm>
          <a:prstGeom prst="rect">
            <a:avLst/>
          </a:prstGeom>
          <a:noFill/>
          <a:ln/>
        </p:spPr>
        <p:txBody>
          <a:bodyPr wrap="square" lIns="0" tIns="0" rIns="0" bIns="0" rtlCol="0" anchor="t"/>
          <a:lstStyle/>
          <a:p>
            <a:pPr algn="r" indent="0" marL="0">
              <a:spcAft>
                <a:spcPts val="300"/>
              </a:spcAft>
              <a:buNone/>
            </a:pPr>
            <a:r>
              <a:rPr lang="ar-AE" altLang="en-US" sz="1400" b="1" dirty="0">
                <a:solidFill>
                  <a:schemeClr val="tx1"/>
                </a:solidFill>
              </a:rPr>
              <a:t>أتعاب ثابتة لكل موكل</a:t>
            </a:r>
            <a:endParaRPr lang="ar-AE" sz="1400" dirty="0"/>
          </a:p>
          <a:p>
            <a:pPr algn="r" indent="0" marL="0">
              <a:spcAft>
                <a:spcPts val="300"/>
              </a:spcAft>
              <a:buNone/>
            </a:pPr>
            <a:r>
              <a:rPr lang="ar-AE" altLang="en-US" sz="1150" dirty="0">
                <a:solidFill>
                  <a:schemeClr val="accent3"/>
                </a:solidFill>
              </a:rPr>
              <a:t>وصية فردية، زوجية، عقارية، أو أعمال. يعرف العميل التكلفة كاملة من عرض واحد يشمل الأتعاب ورسوم التسجيل.</a:t>
            </a:r>
            <a:endParaRPr lang="ar-AE" sz="1400" dirty="0"/>
          </a:p>
        </p:txBody>
      </p:sp>
      <p:sp>
        <p:nvSpPr>
          <p:cNvPr id="7" name="Shape 5"/>
          <p:cNvSpPr/>
          <p:nvPr/>
        </p:nvSpPr>
        <p:spPr>
          <a:xfrm>
            <a:off x="3276600" y="1188720"/>
            <a:ext cx="2590800" cy="3246120"/>
          </a:xfrm>
          <a:prstGeom prst="rect">
            <a:avLst/>
          </a:prstGeom>
          <a:solidFill>
            <a:srgbClr val="F4F1EA"/>
          </a:solidFill>
          <a:ln w="12700">
            <a:solidFill>
              <a:srgbClr val="F4F1EA"/>
            </a:solidFill>
            <a:prstDash val="solid"/>
          </a:ln>
        </p:spPr>
      </p:sp>
      <p:sp>
        <p:nvSpPr>
          <p:cNvPr id="8" name="Text 6"/>
          <p:cNvSpPr txBox="1"/>
          <p:nvPr/>
        </p:nvSpPr>
        <p:spPr>
          <a:xfrm>
            <a:off x="3477768" y="1344168"/>
            <a:ext cx="2188464" cy="457200"/>
          </a:xfrm>
          <a:prstGeom prst="rect">
            <a:avLst/>
          </a:prstGeom>
          <a:noFill/>
          <a:ln/>
        </p:spPr>
        <p:txBody>
          <a:bodyPr wrap="square" lIns="0" tIns="0" rIns="0" bIns="0" rtlCol="0" anchor="ctr"/>
          <a:lstStyle/>
          <a:p>
            <a:pPr rtl="1" algn="r" indent="0" marL="0">
              <a:buNone/>
            </a:pPr>
            <a:r>
              <a:rPr lang="ar-AE" altLang="en-US" sz="2600" b="1" dirty="0">
                <a:solidFill>
                  <a:schemeClr val="accent1"/>
                </a:solidFill>
                <a:latin typeface="Cambria" pitchFamily="34" charset="0"/>
                <a:ea typeface="Cambria" pitchFamily="34" charset="-122"/>
                <a:cs typeface="Cambria" pitchFamily="34" charset="-120"/>
              </a:rPr>
              <a:t>2</a:t>
            </a:r>
            <a:endParaRPr lang="ar-AE" sz="2600" dirty="0"/>
          </a:p>
        </p:txBody>
      </p:sp>
      <p:sp>
        <p:nvSpPr>
          <p:cNvPr id="9" name="Text 7"/>
          <p:cNvSpPr txBox="1"/>
          <p:nvPr/>
        </p:nvSpPr>
        <p:spPr>
          <a:xfrm>
            <a:off x="3477768" y="1847088"/>
            <a:ext cx="2188464" cy="2432304"/>
          </a:xfrm>
          <a:prstGeom prst="rect">
            <a:avLst/>
          </a:prstGeom>
          <a:noFill/>
          <a:ln/>
        </p:spPr>
        <p:txBody>
          <a:bodyPr wrap="square" lIns="0" tIns="0" rIns="0" bIns="0" rtlCol="0" anchor="t"/>
          <a:lstStyle/>
          <a:p>
            <a:pPr algn="r" indent="0" marL="0">
              <a:spcAft>
                <a:spcPts val="300"/>
              </a:spcAft>
              <a:buNone/>
            </a:pPr>
            <a:r>
              <a:rPr lang="ar-AE" altLang="en-US" sz="1400" b="1" dirty="0">
                <a:solidFill>
                  <a:schemeClr val="tx1"/>
                </a:solidFill>
              </a:rPr>
              <a:t>عمولة إحالة للشريك</a:t>
            </a:r>
            <a:endParaRPr lang="ar-AE" sz="1400" dirty="0"/>
          </a:p>
          <a:p>
            <a:pPr algn="r" indent="0" marL="0">
              <a:spcAft>
                <a:spcPts val="300"/>
              </a:spcAft>
              <a:buNone/>
            </a:pPr>
            <a:r>
              <a:rPr lang="ar-AE" altLang="en-US" sz="1150" dirty="0">
                <a:solidFill>
                  <a:schemeClr val="accent3"/>
                </a:solidFill>
              </a:rPr>
              <a:t>نسبة ثابتة أو مبلغ ثابت لكل عميل مُحال، تُسوّى شهرياً مع تقرير مفصّل.</a:t>
            </a:r>
            <a:endParaRPr lang="ar-AE" sz="1400" dirty="0"/>
          </a:p>
        </p:txBody>
      </p:sp>
      <p:sp>
        <p:nvSpPr>
          <p:cNvPr id="10" name="Shape 8"/>
          <p:cNvSpPr/>
          <p:nvPr/>
        </p:nvSpPr>
        <p:spPr>
          <a:xfrm>
            <a:off x="457200" y="1188720"/>
            <a:ext cx="2590800" cy="3246120"/>
          </a:xfrm>
          <a:prstGeom prst="rect">
            <a:avLst/>
          </a:prstGeom>
          <a:solidFill>
            <a:srgbClr val="F4F1EA"/>
          </a:solidFill>
          <a:ln w="12700">
            <a:solidFill>
              <a:srgbClr val="F4F1EA"/>
            </a:solidFill>
            <a:prstDash val="solid"/>
          </a:ln>
        </p:spPr>
      </p:sp>
      <p:sp>
        <p:nvSpPr>
          <p:cNvPr id="11" name="Text 9"/>
          <p:cNvSpPr txBox="1"/>
          <p:nvPr/>
        </p:nvSpPr>
        <p:spPr>
          <a:xfrm>
            <a:off x="658368" y="1344168"/>
            <a:ext cx="2188464" cy="457200"/>
          </a:xfrm>
          <a:prstGeom prst="rect">
            <a:avLst/>
          </a:prstGeom>
          <a:noFill/>
          <a:ln/>
        </p:spPr>
        <p:txBody>
          <a:bodyPr wrap="square" lIns="0" tIns="0" rIns="0" bIns="0" rtlCol="0" anchor="ctr"/>
          <a:lstStyle/>
          <a:p>
            <a:pPr rtl="1" algn="r" indent="0" marL="0">
              <a:buNone/>
            </a:pPr>
            <a:r>
              <a:rPr lang="ar-AE" altLang="en-US" sz="2600" b="1" dirty="0">
                <a:solidFill>
                  <a:schemeClr val="accent1"/>
                </a:solidFill>
                <a:latin typeface="Cambria" pitchFamily="34" charset="0"/>
                <a:ea typeface="Cambria" pitchFamily="34" charset="-122"/>
                <a:cs typeface="Cambria" pitchFamily="34" charset="-120"/>
              </a:rPr>
              <a:t>3</a:t>
            </a:r>
            <a:endParaRPr lang="ar-AE" sz="2600" dirty="0"/>
          </a:p>
        </p:txBody>
      </p:sp>
      <p:sp>
        <p:nvSpPr>
          <p:cNvPr id="12" name="Text 10"/>
          <p:cNvSpPr txBox="1"/>
          <p:nvPr/>
        </p:nvSpPr>
        <p:spPr>
          <a:xfrm>
            <a:off x="658368" y="1847088"/>
            <a:ext cx="2188464" cy="2432304"/>
          </a:xfrm>
          <a:prstGeom prst="rect">
            <a:avLst/>
          </a:prstGeom>
          <a:noFill/>
          <a:ln/>
        </p:spPr>
        <p:txBody>
          <a:bodyPr wrap="square" lIns="0" tIns="0" rIns="0" bIns="0" rtlCol="0" anchor="t"/>
          <a:lstStyle/>
          <a:p>
            <a:pPr algn="r" indent="0" marL="0">
              <a:spcAft>
                <a:spcPts val="300"/>
              </a:spcAft>
              <a:buNone/>
            </a:pPr>
            <a:r>
              <a:rPr lang="ar-AE" altLang="en-US" sz="1400" b="1" dirty="0">
                <a:solidFill>
                  <a:schemeClr val="tx1"/>
                </a:solidFill>
              </a:rPr>
              <a:t>علاقة مدى الحياة</a:t>
            </a:r>
            <a:endParaRPr lang="ar-AE" sz="1400" dirty="0"/>
          </a:p>
          <a:p>
            <a:pPr algn="r" indent="0" marL="0">
              <a:spcAft>
                <a:spcPts val="300"/>
              </a:spcAft>
              <a:buNone/>
            </a:pPr>
            <a:r>
              <a:rPr lang="ar-AE" altLang="en-US" sz="1150" dirty="0">
                <a:solidFill>
                  <a:schemeClr val="accent3"/>
                </a:solidFill>
              </a:rPr>
              <a:t>بعد الوصية: تأسيس شركات، نقل ملكية، هيكلة ضريبية، مكتب عائلي، عقود، نزاعات. يبقى الشريك مصدر الإحالة الأول.</a:t>
            </a:r>
            <a:endParaRPr lang="ar-AE" sz="14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858000" y="1463040"/>
            <a:ext cx="1828800" cy="1463040"/>
          </a:xfrm>
          <a:prstGeom prst="rect">
            <a:avLst/>
          </a:prstGeom>
          <a:noFill/>
          <a:ln/>
        </p:spPr>
        <p:txBody>
          <a:bodyPr wrap="square" lIns="0" tIns="0" rIns="0" bIns="0" rtlCol="0" anchor="ctr"/>
          <a:lstStyle/>
          <a:p>
            <a:pPr algn="r" indent="0" marL="0">
              <a:buNone/>
            </a:pPr>
            <a:r>
              <a:rPr lang="en-US" sz="7200" dirty="0">
                <a:solidFill>
                  <a:schemeClr val="accent1"/>
                </a:solidFill>
                <a:latin typeface="Cambria" pitchFamily="34" charset="0"/>
                <a:ea typeface="Cambria" pitchFamily="34" charset="-122"/>
                <a:cs typeface="Cambria" pitchFamily="34" charset="-120"/>
              </a:rPr>
              <a:t>04</a:t>
            </a:r>
            <a:endParaRPr lang="en-US" sz="7200" dirty="0"/>
          </a:p>
        </p:txBody>
      </p:sp>
      <p:sp>
        <p:nvSpPr>
          <p:cNvPr id="3" name="Text 1"/>
          <p:cNvSpPr txBox="1"/>
          <p:nvPr/>
        </p:nvSpPr>
        <p:spPr>
          <a:xfrm>
            <a:off x="914400" y="2834640"/>
            <a:ext cx="7772400" cy="731520"/>
          </a:xfrm>
          <a:prstGeom prst="rect">
            <a:avLst/>
          </a:prstGeom>
          <a:noFill/>
          <a:ln/>
        </p:spPr>
        <p:txBody>
          <a:bodyPr wrap="square" lIns="0" tIns="0" rIns="0" bIns="0" rtlCol="0" anchor="t"/>
          <a:lstStyle/>
          <a:p>
            <a:pPr rtl="1" algn="r" indent="0" marL="0">
              <a:buNone/>
            </a:pPr>
            <a:r>
              <a:rPr lang="ar-AE" altLang="en-US" sz="3000" b="1" dirty="0">
                <a:solidFill>
                  <a:schemeClr val="bg1"/>
                </a:solidFill>
                <a:latin typeface="Cambria" pitchFamily="34" charset="0"/>
                <a:ea typeface="Cambria" pitchFamily="34" charset="-122"/>
                <a:cs typeface="Cambria" pitchFamily="34" charset="-120"/>
              </a:rPr>
              <a:t>كيف تقدّمون الخدمة للعميل</a:t>
            </a:r>
            <a:endParaRPr lang="ar-AE" sz="3000" dirty="0"/>
          </a:p>
        </p:txBody>
      </p:sp>
      <p:sp>
        <p:nvSpPr>
          <p:cNvPr id="4" name="Text 2"/>
          <p:cNvSpPr txBox="1"/>
          <p:nvPr/>
        </p:nvSpPr>
        <p:spPr>
          <a:xfrm>
            <a:off x="914400" y="3566160"/>
            <a:ext cx="7772400" cy="548640"/>
          </a:xfrm>
          <a:prstGeom prst="rect">
            <a:avLst/>
          </a:prstGeom>
          <a:noFill/>
          <a:ln/>
        </p:spPr>
        <p:txBody>
          <a:bodyPr wrap="square" lIns="0" tIns="0" rIns="0" bIns="0" rtlCol="0" anchor="ctr"/>
          <a:lstStyle/>
          <a:p>
            <a:pPr rtl="1" algn="r" indent="0" marL="0">
              <a:buNone/>
            </a:pPr>
            <a:r>
              <a:rPr lang="ar-AE" altLang="en-US" sz="1400" dirty="0">
                <a:solidFill>
                  <a:schemeClr val="accent2"/>
                </a:solidFill>
              </a:rPr>
              <a:t>التوقيت الصحيح وجملة واحدة بسيطة</a:t>
            </a:r>
            <a:endParaRPr lang="ar-AE" sz="14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8C39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أفضل توقيت لفتح الموضوع</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التوقيت</a:t>
            </a:r>
            <a:endParaRPr lang="ar-AE" sz="1000" dirty="0"/>
          </a:p>
        </p:txBody>
      </p:sp>
      <p:sp>
        <p:nvSpPr>
          <p:cNvPr id="4" name="Shape 2"/>
          <p:cNvSpPr/>
          <p:nvPr/>
        </p:nvSpPr>
        <p:spPr>
          <a:xfrm>
            <a:off x="731520" y="1600200"/>
            <a:ext cx="7680960" cy="0"/>
          </a:xfrm>
          <a:prstGeom prst="line">
            <a:avLst/>
          </a:prstGeom>
          <a:noFill/>
          <a:ln w="9525">
            <a:solidFill>
              <a:srgbClr val="D8C39A"/>
            </a:solidFill>
            <a:prstDash val="solid"/>
          </a:ln>
        </p:spPr>
      </p:sp>
      <p:sp>
        <p:nvSpPr>
          <p:cNvPr id="5" name="Shape 3"/>
          <p:cNvSpPr/>
          <p:nvPr/>
        </p:nvSpPr>
        <p:spPr>
          <a:xfrm>
            <a:off x="8138160" y="1325880"/>
            <a:ext cx="548640" cy="548640"/>
          </a:xfrm>
          <a:prstGeom prst="ellipse">
            <a:avLst/>
          </a:prstGeom>
          <a:solidFill>
            <a:srgbClr val="0B0B0B"/>
          </a:solidFill>
          <a:ln w="12700">
            <a:solidFill>
              <a:srgbClr val="B08D57"/>
            </a:solidFill>
            <a:prstDash val="solid"/>
          </a:ln>
        </p:spPr>
      </p:sp>
      <p:sp>
        <p:nvSpPr>
          <p:cNvPr id="6" name="Text 4"/>
          <p:cNvSpPr txBox="1"/>
          <p:nvPr/>
        </p:nvSpPr>
        <p:spPr>
          <a:xfrm>
            <a:off x="8138160"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6752844" y="2057400"/>
            <a:ext cx="1933956" cy="548640"/>
          </a:xfrm>
          <a:prstGeom prst="rect">
            <a:avLst/>
          </a:prstGeom>
          <a:noFill/>
          <a:ln/>
        </p:spPr>
        <p:txBody>
          <a:bodyPr wrap="square" lIns="0" tIns="0" rIns="0" bIns="0" rtlCol="0" anchor="t"/>
          <a:lstStyle/>
          <a:p>
            <a:pPr rtl="1" algn="r" indent="0" marL="0">
              <a:buNone/>
            </a:pPr>
            <a:r>
              <a:rPr lang="ar-AE" altLang="en-US" sz="1300" b="1" dirty="0">
                <a:solidFill>
                  <a:schemeClr val="tx1"/>
                </a:solidFill>
              </a:rPr>
              <a:t>بعد الحجز</a:t>
            </a:r>
            <a:endParaRPr lang="ar-AE" sz="1300" dirty="0"/>
          </a:p>
        </p:txBody>
      </p:sp>
      <p:sp>
        <p:nvSpPr>
          <p:cNvPr id="8" name="Text 6"/>
          <p:cNvSpPr txBox="1"/>
          <p:nvPr/>
        </p:nvSpPr>
        <p:spPr>
          <a:xfrm>
            <a:off x="6752844" y="2606040"/>
            <a:ext cx="1933956" cy="1828800"/>
          </a:xfrm>
          <a:prstGeom prst="rect">
            <a:avLst/>
          </a:prstGeom>
          <a:noFill/>
          <a:ln/>
        </p:spPr>
        <p:txBody>
          <a:bodyPr wrap="square" lIns="0" tIns="0" rIns="0" bIns="0" rtlCol="0" anchor="t"/>
          <a:lstStyle/>
          <a:p>
            <a:pPr rtl="1" algn="r" indent="0" marL="0">
              <a:buNone/>
            </a:pPr>
            <a:r>
              <a:rPr lang="ar-AE" altLang="en-US" sz="1050" dirty="0">
                <a:solidFill>
                  <a:schemeClr val="accent3"/>
                </a:solidFill>
              </a:rPr>
              <a:t>العميل اتخذ قرار الاستثمار، وأصبح يفكر في حماية ما اشتراه.</a:t>
            </a:r>
            <a:endParaRPr lang="ar-AE" sz="1050" dirty="0"/>
          </a:p>
        </p:txBody>
      </p:sp>
      <p:sp>
        <p:nvSpPr>
          <p:cNvPr id="9" name="Shape 7"/>
          <p:cNvSpPr/>
          <p:nvPr/>
        </p:nvSpPr>
        <p:spPr>
          <a:xfrm>
            <a:off x="6039612" y="1325880"/>
            <a:ext cx="548640" cy="548640"/>
          </a:xfrm>
          <a:prstGeom prst="ellipse">
            <a:avLst/>
          </a:prstGeom>
          <a:solidFill>
            <a:srgbClr val="0B0B0B"/>
          </a:solidFill>
          <a:ln w="12700">
            <a:solidFill>
              <a:srgbClr val="B08D57"/>
            </a:solidFill>
            <a:prstDash val="solid"/>
          </a:ln>
        </p:spPr>
      </p:sp>
      <p:sp>
        <p:nvSpPr>
          <p:cNvPr id="10" name="Text 8"/>
          <p:cNvSpPr txBox="1"/>
          <p:nvPr/>
        </p:nvSpPr>
        <p:spPr>
          <a:xfrm>
            <a:off x="6039612"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4654296" y="2057400"/>
            <a:ext cx="1933956" cy="548640"/>
          </a:xfrm>
          <a:prstGeom prst="rect">
            <a:avLst/>
          </a:prstGeom>
          <a:noFill/>
          <a:ln/>
        </p:spPr>
        <p:txBody>
          <a:bodyPr wrap="square" lIns="0" tIns="0" rIns="0" bIns="0" rtlCol="0" anchor="t"/>
          <a:lstStyle/>
          <a:p>
            <a:pPr rtl="1" algn="r" indent="0" marL="0">
              <a:buNone/>
            </a:pPr>
            <a:r>
              <a:rPr lang="ar-AE" altLang="en-US" sz="1300" b="1" dirty="0">
                <a:solidFill>
                  <a:schemeClr val="tx1"/>
                </a:solidFill>
              </a:rPr>
              <a:t>أثناء توقيع عقد البيع (SPA)</a:t>
            </a:r>
            <a:endParaRPr lang="ar-AE" sz="1300" dirty="0"/>
          </a:p>
        </p:txBody>
      </p:sp>
      <p:sp>
        <p:nvSpPr>
          <p:cNvPr id="12" name="Text 10"/>
          <p:cNvSpPr txBox="1"/>
          <p:nvPr/>
        </p:nvSpPr>
        <p:spPr>
          <a:xfrm>
            <a:off x="4654296" y="2606040"/>
            <a:ext cx="1933956" cy="1828800"/>
          </a:xfrm>
          <a:prstGeom prst="rect">
            <a:avLst/>
          </a:prstGeom>
          <a:noFill/>
          <a:ln/>
        </p:spPr>
        <p:txBody>
          <a:bodyPr wrap="square" lIns="0" tIns="0" rIns="0" bIns="0" rtlCol="0" anchor="t"/>
          <a:lstStyle/>
          <a:p>
            <a:pPr rtl="1" algn="r" indent="0" marL="0">
              <a:buNone/>
            </a:pPr>
            <a:r>
              <a:rPr lang="ar-AE" altLang="en-US" sz="1050" dirty="0">
                <a:solidFill>
                  <a:schemeClr val="accent3"/>
                </a:solidFill>
              </a:rPr>
              <a:t>لحظة طبيعية للحديث عن الملكية وما يحدث لها مستقبلاً.</a:t>
            </a:r>
            <a:endParaRPr lang="ar-AE" sz="1050" dirty="0"/>
          </a:p>
        </p:txBody>
      </p:sp>
      <p:sp>
        <p:nvSpPr>
          <p:cNvPr id="13" name="Shape 11"/>
          <p:cNvSpPr/>
          <p:nvPr/>
        </p:nvSpPr>
        <p:spPr>
          <a:xfrm>
            <a:off x="3941064" y="1325880"/>
            <a:ext cx="548640" cy="548640"/>
          </a:xfrm>
          <a:prstGeom prst="ellipse">
            <a:avLst/>
          </a:prstGeom>
          <a:solidFill>
            <a:srgbClr val="0B0B0B"/>
          </a:solidFill>
          <a:ln w="12700">
            <a:solidFill>
              <a:srgbClr val="B08D57"/>
            </a:solidFill>
            <a:prstDash val="solid"/>
          </a:ln>
        </p:spPr>
      </p:sp>
      <p:sp>
        <p:nvSpPr>
          <p:cNvPr id="14" name="Text 12"/>
          <p:cNvSpPr txBox="1"/>
          <p:nvPr/>
        </p:nvSpPr>
        <p:spPr>
          <a:xfrm>
            <a:off x="3941064"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2555748" y="2057400"/>
            <a:ext cx="1933956" cy="548640"/>
          </a:xfrm>
          <a:prstGeom prst="rect">
            <a:avLst/>
          </a:prstGeom>
          <a:noFill/>
          <a:ln/>
        </p:spPr>
        <p:txBody>
          <a:bodyPr wrap="square" lIns="0" tIns="0" rIns="0" bIns="0" rtlCol="0" anchor="t"/>
          <a:lstStyle/>
          <a:p>
            <a:pPr rtl="1" algn="r" indent="0" marL="0">
              <a:buNone/>
            </a:pPr>
            <a:r>
              <a:rPr lang="ar-AE" altLang="en-US" sz="1300" b="1" dirty="0">
                <a:solidFill>
                  <a:schemeClr val="tx1"/>
                </a:solidFill>
              </a:rPr>
              <a:t>بعد التملك</a:t>
            </a:r>
            <a:endParaRPr lang="ar-AE" sz="1300" dirty="0"/>
          </a:p>
        </p:txBody>
      </p:sp>
      <p:sp>
        <p:nvSpPr>
          <p:cNvPr id="16" name="Text 14"/>
          <p:cNvSpPr txBox="1"/>
          <p:nvPr/>
        </p:nvSpPr>
        <p:spPr>
          <a:xfrm>
            <a:off x="2555748" y="2606040"/>
            <a:ext cx="1933956" cy="1828800"/>
          </a:xfrm>
          <a:prstGeom prst="rect">
            <a:avLst/>
          </a:prstGeom>
          <a:noFill/>
          <a:ln/>
        </p:spPr>
        <p:txBody>
          <a:bodyPr wrap="square" lIns="0" tIns="0" rIns="0" bIns="0" rtlCol="0" anchor="t"/>
          <a:lstStyle/>
          <a:p>
            <a:pPr rtl="1" algn="r" indent="0" marL="0">
              <a:buNone/>
            </a:pPr>
            <a:r>
              <a:rPr lang="ar-AE" altLang="en-US" sz="1050" dirty="0">
                <a:solidFill>
                  <a:schemeClr val="accent3"/>
                </a:solidFill>
              </a:rPr>
              <a:t>الملكية أصبحت حقيقة، والحماية القانونية خطوة مكمّلة.</a:t>
            </a:r>
            <a:endParaRPr lang="ar-AE" sz="1050" dirty="0"/>
          </a:p>
        </p:txBody>
      </p:sp>
      <p:sp>
        <p:nvSpPr>
          <p:cNvPr id="17" name="Shape 15"/>
          <p:cNvSpPr/>
          <p:nvPr/>
        </p:nvSpPr>
        <p:spPr>
          <a:xfrm>
            <a:off x="1842516" y="1325880"/>
            <a:ext cx="548640" cy="548640"/>
          </a:xfrm>
          <a:prstGeom prst="ellipse">
            <a:avLst/>
          </a:prstGeom>
          <a:solidFill>
            <a:srgbClr val="0B0B0B"/>
          </a:solidFill>
          <a:ln w="12700">
            <a:solidFill>
              <a:srgbClr val="B08D57"/>
            </a:solidFill>
            <a:prstDash val="solid"/>
          </a:ln>
        </p:spPr>
      </p:sp>
      <p:sp>
        <p:nvSpPr>
          <p:cNvPr id="18" name="Text 16"/>
          <p:cNvSpPr txBox="1"/>
          <p:nvPr/>
        </p:nvSpPr>
        <p:spPr>
          <a:xfrm>
            <a:off x="1842516"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4</a:t>
            </a:r>
            <a:endParaRPr lang="en-US" sz="1600" dirty="0"/>
          </a:p>
        </p:txBody>
      </p:sp>
      <p:sp>
        <p:nvSpPr>
          <p:cNvPr id="19" name="Text 17"/>
          <p:cNvSpPr txBox="1"/>
          <p:nvPr/>
        </p:nvSpPr>
        <p:spPr>
          <a:xfrm>
            <a:off x="457200" y="2057400"/>
            <a:ext cx="1933956" cy="548640"/>
          </a:xfrm>
          <a:prstGeom prst="rect">
            <a:avLst/>
          </a:prstGeom>
          <a:noFill/>
          <a:ln/>
        </p:spPr>
        <p:txBody>
          <a:bodyPr wrap="square" lIns="0" tIns="0" rIns="0" bIns="0" rtlCol="0" anchor="t"/>
          <a:lstStyle/>
          <a:p>
            <a:pPr rtl="1" algn="r" indent="0" marL="0">
              <a:buNone/>
            </a:pPr>
            <a:r>
              <a:rPr lang="ar-AE" altLang="en-US" sz="1300" b="1" dirty="0">
                <a:solidFill>
                  <a:schemeClr val="tx1"/>
                </a:solidFill>
              </a:rPr>
              <a:t>عند الحديث عن الاستثمار طويل الأجل</a:t>
            </a:r>
            <a:endParaRPr lang="ar-AE" sz="1300" dirty="0"/>
          </a:p>
        </p:txBody>
      </p:sp>
      <p:sp>
        <p:nvSpPr>
          <p:cNvPr id="20" name="Text 18"/>
          <p:cNvSpPr txBox="1"/>
          <p:nvPr/>
        </p:nvSpPr>
        <p:spPr>
          <a:xfrm>
            <a:off x="457200" y="2606040"/>
            <a:ext cx="1933956" cy="1828800"/>
          </a:xfrm>
          <a:prstGeom prst="rect">
            <a:avLst/>
          </a:prstGeom>
          <a:noFill/>
          <a:ln/>
        </p:spPr>
        <p:txBody>
          <a:bodyPr wrap="square" lIns="0" tIns="0" rIns="0" bIns="0" rtlCol="0" anchor="t"/>
          <a:lstStyle/>
          <a:p>
            <a:pPr rtl="1" algn="r" indent="0" marL="0">
              <a:buNone/>
            </a:pPr>
            <a:r>
              <a:rPr lang="ar-AE" altLang="en-US" sz="1050" dirty="0">
                <a:solidFill>
                  <a:schemeClr val="accent3"/>
                </a:solidFill>
              </a:rPr>
              <a:t>الحماية جزء من التخطيط للاستثمار وليس من التفكير في الوفاة.</a:t>
            </a:r>
            <a:endParaRPr lang="ar-AE" sz="105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سكربت الوسيط مع العميل</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بسيط جداً</a:t>
            </a:r>
            <a:endParaRPr lang="ar-AE" sz="1000" dirty="0"/>
          </a:p>
        </p:txBody>
      </p:sp>
      <p:sp>
        <p:nvSpPr>
          <p:cNvPr id="4" name="Shape 2"/>
          <p:cNvSpPr/>
          <p:nvPr/>
        </p:nvSpPr>
        <p:spPr>
          <a:xfrm>
            <a:off x="5394960" y="1188720"/>
            <a:ext cx="3291840" cy="3246120"/>
          </a:xfrm>
          <a:prstGeom prst="rect">
            <a:avLst/>
          </a:prstGeom>
          <a:solidFill>
            <a:srgbClr val="0B0B0B"/>
          </a:solidFill>
          <a:ln w="12700">
            <a:solidFill>
              <a:srgbClr val="0B0B0B"/>
            </a:solidFill>
            <a:prstDash val="solid"/>
          </a:ln>
        </p:spPr>
      </p:sp>
      <p:pic>
        <p:nvPicPr>
          <p:cNvPr id="5" name="icon FaComment" descr="preencoded.png">    </p:cNvPr>
          <p:cNvPicPr>
            <a:picLocks noChangeAspect="1"/>
          </p:cNvPicPr>
          <p:nvPr/>
        </p:nvPicPr>
        <p:blipFill>
          <a:blip r:embed="rId1"/>
          <a:stretch>
            <a:fillRect/>
          </a:stretch>
        </p:blipFill>
        <p:spPr>
          <a:xfrm>
            <a:off x="7909560" y="1508760"/>
            <a:ext cx="457200" cy="457200"/>
          </a:xfrm>
          <a:prstGeom prst="rect">
            <a:avLst/>
          </a:prstGeom>
        </p:spPr>
      </p:pic>
      <p:sp>
        <p:nvSpPr>
          <p:cNvPr id="6" name="Text 3"/>
          <p:cNvSpPr txBox="1"/>
          <p:nvPr/>
        </p:nvSpPr>
        <p:spPr>
          <a:xfrm>
            <a:off x="5715000" y="2103120"/>
            <a:ext cx="2651760" cy="914400"/>
          </a:xfrm>
          <a:prstGeom prst="rect">
            <a:avLst/>
          </a:prstGeom>
          <a:noFill/>
          <a:ln/>
        </p:spPr>
        <p:txBody>
          <a:bodyPr wrap="square" lIns="0" tIns="0" rIns="0" bIns="0" rtlCol="0" anchor="t"/>
          <a:lstStyle/>
          <a:p>
            <a:pPr rtl="1" algn="r" indent="0" marL="0">
              <a:buNone/>
            </a:pPr>
            <a:r>
              <a:rPr lang="ar-AE" altLang="en-US" sz="1800" b="1" dirty="0">
                <a:solidFill>
                  <a:schemeClr val="accent1"/>
                </a:solidFill>
                <a:latin typeface="Cambria" pitchFamily="34" charset="0"/>
                <a:ea typeface="Cambria" pitchFamily="34" charset="-122"/>
                <a:cs typeface="Cambria" pitchFamily="34" charset="-120"/>
              </a:rPr>
              <a:t>الجملة التعريفية</a:t>
            </a:r>
            <a:endParaRPr lang="ar-AE" sz="1800" dirty="0"/>
          </a:p>
        </p:txBody>
      </p:sp>
      <p:sp>
        <p:nvSpPr>
          <p:cNvPr id="7" name="Text 4"/>
          <p:cNvSpPr txBox="1"/>
          <p:nvPr/>
        </p:nvSpPr>
        <p:spPr>
          <a:xfrm>
            <a:off x="5715000" y="3017520"/>
            <a:ext cx="2651760" cy="1280160"/>
          </a:xfrm>
          <a:prstGeom prst="rect">
            <a:avLst/>
          </a:prstGeom>
          <a:noFill/>
          <a:ln/>
        </p:spPr>
        <p:txBody>
          <a:bodyPr wrap="square" lIns="0" tIns="0" rIns="0" bIns="0" rtlCol="0" anchor="t"/>
          <a:lstStyle/>
          <a:p>
            <a:pPr rtl="1" algn="r" indent="0" marL="0">
              <a:buNone/>
            </a:pPr>
            <a:r>
              <a:rPr lang="ar-AE" altLang="en-US" sz="1150" dirty="0">
                <a:solidFill>
                  <a:schemeClr val="bg2"/>
                </a:solidFill>
              </a:rPr>
              <a:t>«بما أنك تملك عقاراً في الإمارات، من المهم جداً حماية أصولك وعائلتك قانونياً. نحن نتعاون مع مكتب محاماة متخصص يمكنه مساعدتك بإعداد وصية متوافقة مع قوانين الإمارات.»</a:t>
            </a:r>
            <a:endParaRPr lang="ar-AE" sz="1150" dirty="0"/>
          </a:p>
        </p:txBody>
      </p:sp>
      <p:sp>
        <p:nvSpPr>
          <p:cNvPr id="8" name="Text 5"/>
          <p:cNvSpPr txBox="1"/>
          <p:nvPr/>
        </p:nvSpPr>
        <p:spPr>
          <a:xfrm>
            <a:off x="457200" y="1188720"/>
            <a:ext cx="4663440" cy="3246120"/>
          </a:xfrm>
          <a:prstGeom prst="rect">
            <a:avLst/>
          </a:prstGeom>
          <a:noFill/>
          <a:ln/>
        </p:spPr>
        <p:txBody>
          <a:bodyPr wrap="square" lIns="0" tIns="0" rIns="0" bIns="0" rtlCol="0" anchor="t"/>
          <a:lstStyle/>
          <a:p>
            <a:pPr algn="r" marL="177800" indent="-177800">
              <a:buSzPct val="100000"/>
              <a:buChar char="•"/>
            </a:pPr>
            <a:r>
              <a:rPr lang="ar-AE" altLang="en-US" sz="1300" b="1" dirty="0">
                <a:solidFill>
                  <a:schemeClr val="tx1"/>
                </a:solidFill>
              </a:rPr>
              <a:t>الوسيط يفتح الباب فقط</a:t>
            </a:r>
            <a:endParaRPr lang="ar-AE" sz="1300" dirty="0"/>
          </a:p>
          <a:p>
            <a:pPr algn="r" indent="0" marL="0">
              <a:spcAft>
                <a:spcPts val="200"/>
              </a:spcAft>
              <a:buNone/>
            </a:pPr>
            <a:r>
              <a:rPr lang="ar-AE" altLang="en-US" sz="1100" dirty="0">
                <a:solidFill>
                  <a:schemeClr val="accent3"/>
                </a:solidFill>
              </a:rPr>
              <a:t>التوقيت الصحيح، جملة واحدة، ثم التحويل إلينا. لا تفاصيل قانونية.</a:t>
            </a:r>
            <a:endParaRPr lang="ar-AE" sz="1300" dirty="0"/>
          </a:p>
          <a:p>
            <a:pPr algn="r" marL="177800" indent="-177800">
              <a:spcBef>
                <a:spcPts val="600"/>
              </a:spcBef>
              <a:buSzPct val="100000"/>
              <a:buChar char="•"/>
            </a:pPr>
            <a:r>
              <a:rPr lang="ar-AE" altLang="en-US" sz="1300" b="1" dirty="0">
                <a:solidFill>
                  <a:schemeClr val="tx1"/>
                </a:solidFill>
              </a:rPr>
              <a:t>اعرض الاستشارة المجانية</a:t>
            </a:r>
            <a:endParaRPr lang="ar-AE" sz="1300" dirty="0"/>
          </a:p>
          <a:p>
            <a:pPr algn="r" indent="0" marL="0">
              <a:spcAft>
                <a:spcPts val="200"/>
              </a:spcAft>
              <a:buNone/>
            </a:pPr>
            <a:r>
              <a:rPr lang="ar-AE" altLang="en-US" sz="1100" dirty="0">
                <a:solidFill>
                  <a:schemeClr val="accent3"/>
                </a:solidFill>
              </a:rPr>
              <a:t>«إذا أحببت، أستطيع ترتيب استشارة أولية مجانية معهم لشرح الخيارات المناسبة لك.»</a:t>
            </a:r>
            <a:endParaRPr lang="ar-AE" sz="1300" dirty="0"/>
          </a:p>
          <a:p>
            <a:pPr algn="r" marL="177800" indent="-177800">
              <a:spcBef>
                <a:spcPts val="600"/>
              </a:spcBef>
              <a:buSzPct val="100000"/>
              <a:buChar char="•"/>
            </a:pPr>
            <a:r>
              <a:rPr lang="ar-AE" altLang="en-US" sz="1300" b="1" dirty="0">
                <a:solidFill>
                  <a:schemeClr val="tx1"/>
                </a:solidFill>
              </a:rPr>
              <a:t>إذا سأل: لماذا أحتاج وصية؟</a:t>
            </a:r>
            <a:endParaRPr lang="ar-AE" sz="1300" dirty="0"/>
          </a:p>
          <a:p>
            <a:pPr algn="r" indent="0" marL="0">
              <a:spcAft>
                <a:spcPts val="200"/>
              </a:spcAft>
              <a:buNone/>
            </a:pPr>
            <a:r>
              <a:rPr lang="ar-AE" altLang="en-US" sz="1100" dirty="0">
                <a:solidFill>
                  <a:schemeClr val="accent3"/>
                </a:solidFill>
              </a:rPr>
              <a:t>«بدون وصية قد تُطبَّق إجراءات قانونية مختلفة حسب الحالة والجنسية، وقد يؤدي ذلك إلى تأخير أو تعقيدات تتعلق بالعقار أو الحسابات أو حقوق الورثة. لذلك يفضّل كثير من المستثمرين ترتيب الأمور مسبقاً.»</a:t>
            </a:r>
            <a:endParaRPr lang="ar-AE" sz="1300" dirty="0"/>
          </a:p>
          <a:p>
            <a:pPr algn="r" marL="177800" indent="-177800">
              <a:spcBef>
                <a:spcPts val="600"/>
              </a:spcBef>
              <a:buSzPct val="100000"/>
              <a:buChar char="•"/>
            </a:pPr>
            <a:r>
              <a:rPr lang="ar-AE" altLang="en-US" sz="1300" b="1" dirty="0">
                <a:solidFill>
                  <a:schemeClr val="tx1"/>
                </a:solidFill>
              </a:rPr>
              <a:t>إذا قال: لاحقاً</a:t>
            </a:r>
            <a:endParaRPr lang="ar-AE" sz="1300" dirty="0"/>
          </a:p>
          <a:p>
            <a:pPr algn="r" indent="0" marL="0">
              <a:spcAft>
                <a:spcPts val="200"/>
              </a:spcAft>
              <a:buNone/>
            </a:pPr>
            <a:r>
              <a:rPr lang="ar-AE" altLang="en-US" sz="1100" dirty="0">
                <a:solidFill>
                  <a:schemeClr val="accent3"/>
                </a:solidFill>
              </a:rPr>
              <a:t>«أكيد، لكن أغلب العملاء يفضّلون ترتيب الموضوع مباشرة بعد الشراء لأن الإجراءات تكون أسهل والملفات جاهزة.»</a:t>
            </a:r>
            <a:endParaRPr lang="ar-AE" sz="13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ما يُقال وما لا يُقال أبداً</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حماية الوسيط من ممارسة المحاماة</a:t>
            </a:r>
            <a:endParaRPr lang="ar-AE" sz="1000" dirty="0"/>
          </a:p>
        </p:txBody>
      </p:sp>
      <p:sp>
        <p:nvSpPr>
          <p:cNvPr id="4" name="Shape 2"/>
          <p:cNvSpPr/>
          <p:nvPr/>
        </p:nvSpPr>
        <p:spPr>
          <a:xfrm>
            <a:off x="4686300" y="1188720"/>
            <a:ext cx="4000500" cy="548640"/>
          </a:xfrm>
          <a:prstGeom prst="rect">
            <a:avLst/>
          </a:prstGeom>
          <a:solidFill>
            <a:srgbClr val="B08D57"/>
          </a:solidFill>
          <a:ln w="12700">
            <a:solidFill>
              <a:srgbClr val="B08D57"/>
            </a:solidFill>
            <a:prstDash val="solid"/>
          </a:ln>
        </p:spPr>
      </p:sp>
      <p:sp>
        <p:nvSpPr>
          <p:cNvPr id="5" name="Text 3"/>
          <p:cNvSpPr txBox="1"/>
          <p:nvPr/>
        </p:nvSpPr>
        <p:spPr>
          <a:xfrm>
            <a:off x="4823460" y="1188720"/>
            <a:ext cx="3726180" cy="548640"/>
          </a:xfrm>
          <a:prstGeom prst="rect">
            <a:avLst/>
          </a:prstGeom>
          <a:noFill/>
          <a:ln/>
        </p:spPr>
        <p:txBody>
          <a:bodyPr wrap="square" lIns="0" tIns="0" rIns="0" bIns="0" rtlCol="0" anchor="ctr"/>
          <a:lstStyle/>
          <a:p>
            <a:pPr rtl="1" algn="r" indent="0" marL="0">
              <a:buNone/>
            </a:pPr>
            <a:r>
              <a:rPr lang="ar-AE" altLang="en-US" sz="1300" b="1" dirty="0">
                <a:solidFill>
                  <a:schemeClr val="tx1"/>
                </a:solidFill>
              </a:rPr>
              <a:t>قولوا</a:t>
            </a:r>
            <a:endParaRPr lang="ar-AE" sz="1300" dirty="0"/>
          </a:p>
        </p:txBody>
      </p:sp>
      <p:sp>
        <p:nvSpPr>
          <p:cNvPr id="6" name="Shape 4"/>
          <p:cNvSpPr/>
          <p:nvPr/>
        </p:nvSpPr>
        <p:spPr>
          <a:xfrm>
            <a:off x="4686300" y="1737360"/>
            <a:ext cx="4000500" cy="2697480"/>
          </a:xfrm>
          <a:prstGeom prst="rect">
            <a:avLst/>
          </a:prstGeom>
          <a:solidFill>
            <a:srgbClr val="F4F1EA"/>
          </a:solidFill>
          <a:ln w="12700">
            <a:solidFill>
              <a:srgbClr val="F4F1EA"/>
            </a:solidFill>
            <a:prstDash val="solid"/>
          </a:ln>
        </p:spPr>
      </p:sp>
      <p:sp>
        <p:nvSpPr>
          <p:cNvPr id="7" name="Text 5"/>
          <p:cNvSpPr txBox="1"/>
          <p:nvPr/>
        </p:nvSpPr>
        <p:spPr>
          <a:xfrm>
            <a:off x="4823460" y="1874520"/>
            <a:ext cx="3726180" cy="2468880"/>
          </a:xfrm>
          <a:prstGeom prst="rect">
            <a:avLst/>
          </a:prstGeom>
          <a:noFill/>
          <a:ln/>
        </p:spPr>
        <p:txBody>
          <a:bodyPr wrap="square" lIns="0" tIns="0" rIns="0" bIns="0" rtlCol="0" anchor="t"/>
          <a:lstStyle/>
          <a:p>
            <a:pPr algn="r" marL="152400" indent="-152400">
              <a:spcAft>
                <a:spcPts val="500"/>
              </a:spcAft>
              <a:buSzPct val="100000"/>
              <a:buChar char="•"/>
            </a:pPr>
            <a:r>
              <a:rPr lang="ar-AE" altLang="en-US" sz="1100" dirty="0">
                <a:solidFill>
                  <a:schemeClr val="tx2"/>
                </a:solidFill>
              </a:rPr>
              <a:t>«من المهم حماية أصولك وعائلتك قانونياً»</a:t>
            </a:r>
            <a:endParaRPr lang="ar-AE" sz="1100" dirty="0"/>
          </a:p>
          <a:p>
            <a:pPr algn="r" marL="152400" indent="-152400">
              <a:spcAft>
                <a:spcPts val="500"/>
              </a:spcAft>
              <a:buSzPct val="100000"/>
              <a:buChar char="•"/>
            </a:pPr>
            <a:r>
              <a:rPr lang="ar-AE" altLang="en-US" sz="1100" dirty="0">
                <a:solidFill>
                  <a:schemeClr val="tx2"/>
                </a:solidFill>
              </a:rPr>
              <a:t>«نتعاون مع مكتب محاماة متخصص»</a:t>
            </a:r>
            <a:endParaRPr lang="ar-AE" sz="1100" dirty="0"/>
          </a:p>
          <a:p>
            <a:pPr algn="r" marL="152400" indent="-152400">
              <a:spcAft>
                <a:spcPts val="500"/>
              </a:spcAft>
              <a:buSzPct val="100000"/>
              <a:buChar char="•"/>
            </a:pPr>
            <a:r>
              <a:rPr lang="ar-AE" altLang="en-US" sz="1100" dirty="0">
                <a:solidFill>
                  <a:schemeClr val="tx2"/>
                </a:solidFill>
              </a:rPr>
              <a:t>«أستطيع ترتيب استشارة أولية مجانية»</a:t>
            </a:r>
            <a:endParaRPr lang="ar-AE" sz="1100" dirty="0"/>
          </a:p>
          <a:p>
            <a:pPr algn="r" marL="152400" indent="-152400">
              <a:spcAft>
                <a:spcPts val="500"/>
              </a:spcAft>
              <a:buSzPct val="100000"/>
              <a:buChar char="•"/>
            </a:pPr>
            <a:r>
              <a:rPr lang="ar-AE" altLang="en-US" sz="1100" dirty="0">
                <a:solidFill>
                  <a:schemeClr val="tx2"/>
                </a:solidFill>
              </a:rPr>
              <a:t>«كثير من المستثمرين يفضّلون ترتيب الأمور مسبقاً»</a:t>
            </a:r>
            <a:endParaRPr lang="ar-AE" sz="1100" dirty="0"/>
          </a:p>
          <a:p>
            <a:pPr algn="r" marL="152400" indent="-152400">
              <a:spcAft>
                <a:spcPts val="500"/>
              </a:spcAft>
              <a:buSzPct val="100000"/>
              <a:buChar char="•"/>
            </a:pPr>
            <a:r>
              <a:rPr lang="ar-AE" altLang="en-US" sz="1100" dirty="0">
                <a:solidFill>
                  <a:schemeClr val="tx2"/>
                </a:solidFill>
              </a:rPr>
              <a:t>«المكتب سيشرح لك الخيارات المناسبة لحالتك»</a:t>
            </a:r>
            <a:endParaRPr lang="ar-AE" sz="1100" dirty="0"/>
          </a:p>
        </p:txBody>
      </p:sp>
      <p:sp>
        <p:nvSpPr>
          <p:cNvPr id="8" name="Shape 6"/>
          <p:cNvSpPr/>
          <p:nvPr/>
        </p:nvSpPr>
        <p:spPr>
          <a:xfrm>
            <a:off x="457200" y="1188720"/>
            <a:ext cx="4000500" cy="548640"/>
          </a:xfrm>
          <a:prstGeom prst="rect">
            <a:avLst/>
          </a:prstGeom>
          <a:solidFill>
            <a:srgbClr val="0B0B0B"/>
          </a:solidFill>
          <a:ln w="12700">
            <a:solidFill>
              <a:srgbClr val="0B0B0B"/>
            </a:solidFill>
            <a:prstDash val="solid"/>
          </a:ln>
        </p:spPr>
      </p:sp>
      <p:sp>
        <p:nvSpPr>
          <p:cNvPr id="9" name="Text 7"/>
          <p:cNvSpPr txBox="1"/>
          <p:nvPr/>
        </p:nvSpPr>
        <p:spPr>
          <a:xfrm>
            <a:off x="594360" y="1188720"/>
            <a:ext cx="3726180" cy="548640"/>
          </a:xfrm>
          <a:prstGeom prst="rect">
            <a:avLst/>
          </a:prstGeom>
          <a:noFill/>
          <a:ln/>
        </p:spPr>
        <p:txBody>
          <a:bodyPr wrap="square" lIns="0" tIns="0" rIns="0" bIns="0" rtlCol="0" anchor="ctr"/>
          <a:lstStyle/>
          <a:p>
            <a:pPr rtl="1" algn="r" indent="0" marL="0">
              <a:buNone/>
            </a:pPr>
            <a:r>
              <a:rPr lang="ar-AE" altLang="en-US" sz="1300" b="1" dirty="0">
                <a:solidFill>
                  <a:schemeClr val="accent2"/>
                </a:solidFill>
              </a:rPr>
              <a:t>لا تقولوا أبداً</a:t>
            </a:r>
            <a:endParaRPr lang="ar-AE" sz="1300" dirty="0"/>
          </a:p>
        </p:txBody>
      </p:sp>
      <p:sp>
        <p:nvSpPr>
          <p:cNvPr id="10" name="Shape 8"/>
          <p:cNvSpPr/>
          <p:nvPr/>
        </p:nvSpPr>
        <p:spPr>
          <a:xfrm>
            <a:off x="457200" y="1737360"/>
            <a:ext cx="4000500" cy="2697480"/>
          </a:xfrm>
          <a:prstGeom prst="rect">
            <a:avLst/>
          </a:prstGeom>
          <a:solidFill>
            <a:srgbClr val="F4F1EA"/>
          </a:solidFill>
          <a:ln w="12700">
            <a:solidFill>
              <a:srgbClr val="F4F1EA"/>
            </a:solidFill>
            <a:prstDash val="solid"/>
          </a:ln>
        </p:spPr>
      </p:sp>
      <p:sp>
        <p:nvSpPr>
          <p:cNvPr id="11" name="Text 9"/>
          <p:cNvSpPr txBox="1"/>
          <p:nvPr/>
        </p:nvSpPr>
        <p:spPr>
          <a:xfrm>
            <a:off x="594360" y="1874520"/>
            <a:ext cx="3726180" cy="2468880"/>
          </a:xfrm>
          <a:prstGeom prst="rect">
            <a:avLst/>
          </a:prstGeom>
          <a:noFill/>
          <a:ln/>
        </p:spPr>
        <p:txBody>
          <a:bodyPr wrap="square" lIns="0" tIns="0" rIns="0" bIns="0" rtlCol="0" anchor="t"/>
          <a:lstStyle/>
          <a:p>
            <a:pPr algn="r" marL="152400" indent="-152400">
              <a:spcAft>
                <a:spcPts val="500"/>
              </a:spcAft>
              <a:buSzPct val="100000"/>
              <a:buChar char="•"/>
            </a:pPr>
            <a:r>
              <a:rPr lang="ar-AE" altLang="en-US" sz="1100" dirty="0">
                <a:solidFill>
                  <a:schemeClr val="tx2"/>
                </a:solidFill>
              </a:rPr>
              <a:t>«القانون يقول كذا»</a:t>
            </a:r>
            <a:endParaRPr lang="ar-AE" sz="1100" dirty="0"/>
          </a:p>
          <a:p>
            <a:pPr algn="r" marL="152400" indent="-152400">
              <a:spcAft>
                <a:spcPts val="500"/>
              </a:spcAft>
              <a:buSzPct val="100000"/>
              <a:buChar char="•"/>
            </a:pPr>
            <a:r>
              <a:rPr lang="ar-AE" altLang="en-US" sz="1100" dirty="0">
                <a:solidFill>
                  <a:schemeClr val="tx2"/>
                </a:solidFill>
              </a:rPr>
              <a:t>«أكيد سيحدث كذا»</a:t>
            </a:r>
            <a:endParaRPr lang="ar-AE" sz="1100" dirty="0"/>
          </a:p>
          <a:p>
            <a:pPr algn="r" marL="152400" indent="-152400">
              <a:spcAft>
                <a:spcPts val="500"/>
              </a:spcAft>
              <a:buSzPct val="100000"/>
              <a:buChar char="•"/>
            </a:pPr>
            <a:r>
              <a:rPr lang="ar-AE" altLang="en-US" sz="1100" dirty="0">
                <a:solidFill>
                  <a:schemeClr val="tx2"/>
                </a:solidFill>
              </a:rPr>
              <a:t>«نضمن لك كذا»</a:t>
            </a:r>
            <a:endParaRPr lang="ar-AE" sz="1100" dirty="0"/>
          </a:p>
          <a:p>
            <a:pPr algn="r" marL="152400" indent="-152400">
              <a:spcAft>
                <a:spcPts val="500"/>
              </a:spcAft>
              <a:buSzPct val="100000"/>
              <a:buChar char="•"/>
            </a:pPr>
            <a:r>
              <a:rPr lang="ar-AE" altLang="en-US" sz="1100" dirty="0">
                <a:solidFill>
                  <a:schemeClr val="tx2"/>
                </a:solidFill>
              </a:rPr>
              <a:t>«أي نوع وصية تريد؟»</a:t>
            </a:r>
            <a:endParaRPr lang="ar-AE" sz="1100" dirty="0"/>
          </a:p>
          <a:p>
            <a:pPr algn="r" marL="152400" indent="-152400">
              <a:spcAft>
                <a:spcPts val="500"/>
              </a:spcAft>
              <a:buSzPct val="100000"/>
              <a:buChar char="•"/>
            </a:pPr>
            <a:r>
              <a:rPr lang="ar-AE" altLang="en-US" sz="1100" dirty="0">
                <a:solidFill>
                  <a:schemeClr val="tx2"/>
                </a:solidFill>
              </a:rPr>
              <a:t>أي رأي عن الشريعة أو القانون الأجنبي أو الرسوم</a:t>
            </a:r>
            <a:endParaRPr lang="ar-AE" sz="11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الأسئلة الشائعة التي ستسمعونها</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FAQ للوسطاء</a:t>
            </a:r>
            <a:endParaRPr lang="ar-AE" sz="1000" dirty="0"/>
          </a:p>
        </p:txBody>
      </p:sp>
      <p:sp>
        <p:nvSpPr>
          <p:cNvPr id="4" name="Shape 2"/>
          <p:cNvSpPr/>
          <p:nvPr/>
        </p:nvSpPr>
        <p:spPr>
          <a:xfrm>
            <a:off x="8229600" y="1188720"/>
            <a:ext cx="457200" cy="457200"/>
          </a:xfrm>
          <a:prstGeom prst="ellipse">
            <a:avLst/>
          </a:prstGeom>
          <a:solidFill>
            <a:srgbClr val="F4F1EA"/>
          </a:solidFill>
          <a:ln w="12700">
            <a:solidFill>
              <a:srgbClr val="F4F1EA"/>
            </a:solidFill>
            <a:prstDash val="solid"/>
          </a:ln>
        </p:spPr>
      </p:sp>
      <p:pic>
        <p:nvPicPr>
          <p:cNvPr id="5" name="icon FaCircleQuestion" descr="preencoded.png">    </p:cNvPr>
          <p:cNvPicPr>
            <a:picLocks noChangeAspect="1"/>
          </p:cNvPicPr>
          <p:nvPr/>
        </p:nvPicPr>
        <p:blipFill>
          <a:blip r:embed="rId1"/>
          <a:stretch>
            <a:fillRect/>
          </a:stretch>
        </p:blipFill>
        <p:spPr>
          <a:xfrm>
            <a:off x="8321040" y="1280160"/>
            <a:ext cx="274320" cy="274320"/>
          </a:xfrm>
          <a:prstGeom prst="rect">
            <a:avLst/>
          </a:prstGeom>
        </p:spPr>
      </p:pic>
      <p:sp>
        <p:nvSpPr>
          <p:cNvPr id="6" name="Text 3"/>
          <p:cNvSpPr txBox="1"/>
          <p:nvPr/>
        </p:nvSpPr>
        <p:spPr>
          <a:xfrm>
            <a:off x="457200" y="1170432"/>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ماذا يحدث للعقار بعد الوفاة؟</a:t>
            </a:r>
            <a:endParaRPr lang="ar-AE" sz="1300" dirty="0"/>
          </a:p>
          <a:p>
            <a:pPr algn="r" indent="0" marL="0">
              <a:spcAft>
                <a:spcPts val="200"/>
              </a:spcAft>
              <a:buNone/>
            </a:pPr>
            <a:r>
              <a:rPr lang="ar-AE" altLang="en-US" sz="1100" dirty="0">
                <a:solidFill>
                  <a:schemeClr val="accent3"/>
                </a:solidFill>
              </a:rPr>
              <a:t>تُطبَّق إجراءات قانونية تختلف حسب الحالة؛ الوصية المسجلة تحدد المسار مسبقاً. حوّل السؤال إلينا.</a:t>
            </a:r>
            <a:endParaRPr lang="ar-AE" sz="1300" dirty="0"/>
          </a:p>
        </p:txBody>
      </p:sp>
      <p:sp>
        <p:nvSpPr>
          <p:cNvPr id="7" name="Shape 4"/>
          <p:cNvSpPr/>
          <p:nvPr/>
        </p:nvSpPr>
        <p:spPr>
          <a:xfrm>
            <a:off x="8229600" y="1847088"/>
            <a:ext cx="457200" cy="457200"/>
          </a:xfrm>
          <a:prstGeom prst="ellipse">
            <a:avLst/>
          </a:prstGeom>
          <a:solidFill>
            <a:srgbClr val="F4F1EA"/>
          </a:solidFill>
          <a:ln w="12700">
            <a:solidFill>
              <a:srgbClr val="F4F1EA"/>
            </a:solidFill>
            <a:prstDash val="solid"/>
          </a:ln>
        </p:spPr>
      </p:sp>
      <p:pic>
        <p:nvPicPr>
          <p:cNvPr id="8" name="icon FaCircleQuestion" descr="preencoded.png">    </p:cNvPr>
          <p:cNvPicPr>
            <a:picLocks noChangeAspect="1"/>
          </p:cNvPicPr>
          <p:nvPr/>
        </p:nvPicPr>
        <p:blipFill>
          <a:blip r:embed="rId2"/>
          <a:stretch>
            <a:fillRect/>
          </a:stretch>
        </p:blipFill>
        <p:spPr>
          <a:xfrm>
            <a:off x="8321040" y="1938528"/>
            <a:ext cx="274320" cy="274320"/>
          </a:xfrm>
          <a:prstGeom prst="rect">
            <a:avLst/>
          </a:prstGeom>
        </p:spPr>
      </p:pic>
      <p:sp>
        <p:nvSpPr>
          <p:cNvPr id="9" name="Text 5"/>
          <p:cNvSpPr txBox="1"/>
          <p:nvPr/>
        </p:nvSpPr>
        <p:spPr>
          <a:xfrm>
            <a:off x="457200" y="1828800"/>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هل تُجمّد الحسابات؟</a:t>
            </a:r>
            <a:endParaRPr lang="ar-AE" sz="1300" dirty="0"/>
          </a:p>
          <a:p>
            <a:pPr algn="r" indent="0" marL="0">
              <a:spcAft>
                <a:spcPts val="200"/>
              </a:spcAft>
              <a:buNone/>
            </a:pPr>
            <a:r>
              <a:rPr lang="ar-AE" altLang="en-US" sz="1100" dirty="0">
                <a:solidFill>
                  <a:schemeClr val="accent3"/>
                </a:solidFill>
              </a:rPr>
              <a:t>قد تُجمّد مؤقتاً حتى صدور قرار التوزيع. التخطيط المسبق يقلل هذا الخطر.</a:t>
            </a:r>
            <a:endParaRPr lang="ar-AE" sz="1300" dirty="0"/>
          </a:p>
        </p:txBody>
      </p:sp>
      <p:sp>
        <p:nvSpPr>
          <p:cNvPr id="10" name="Shape 6"/>
          <p:cNvSpPr/>
          <p:nvPr/>
        </p:nvSpPr>
        <p:spPr>
          <a:xfrm>
            <a:off x="8229600" y="2505456"/>
            <a:ext cx="457200" cy="457200"/>
          </a:xfrm>
          <a:prstGeom prst="ellipse">
            <a:avLst/>
          </a:prstGeom>
          <a:solidFill>
            <a:srgbClr val="F4F1EA"/>
          </a:solidFill>
          <a:ln w="12700">
            <a:solidFill>
              <a:srgbClr val="F4F1EA"/>
            </a:solidFill>
            <a:prstDash val="solid"/>
          </a:ln>
        </p:spPr>
      </p:sp>
      <p:pic>
        <p:nvPicPr>
          <p:cNvPr id="11" name="icon FaCircleQuestion" descr="preencoded.png">    </p:cNvPr>
          <p:cNvPicPr>
            <a:picLocks noChangeAspect="1"/>
          </p:cNvPicPr>
          <p:nvPr/>
        </p:nvPicPr>
        <p:blipFill>
          <a:blip r:embed="rId3"/>
          <a:stretch>
            <a:fillRect/>
          </a:stretch>
        </p:blipFill>
        <p:spPr>
          <a:xfrm>
            <a:off x="8321040" y="2596896"/>
            <a:ext cx="274320" cy="274320"/>
          </a:xfrm>
          <a:prstGeom prst="rect">
            <a:avLst/>
          </a:prstGeom>
        </p:spPr>
      </p:pic>
      <p:sp>
        <p:nvSpPr>
          <p:cNvPr id="12" name="Text 7"/>
          <p:cNvSpPr txBox="1"/>
          <p:nvPr/>
        </p:nvSpPr>
        <p:spPr>
          <a:xfrm>
            <a:off x="457200" y="2487168"/>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كيف نحمي الأطفال؟</a:t>
            </a:r>
            <a:endParaRPr lang="ar-AE" sz="1300" dirty="0"/>
          </a:p>
          <a:p>
            <a:pPr algn="r" indent="0" marL="0">
              <a:spcAft>
                <a:spcPts val="200"/>
              </a:spcAft>
              <a:buNone/>
            </a:pPr>
            <a:r>
              <a:rPr lang="ar-AE" altLang="en-US" sz="1100" dirty="0">
                <a:solidFill>
                  <a:schemeClr val="accent3"/>
                </a:solidFill>
              </a:rPr>
              <a:t>بتعيين وصي عليهم وتحديد حصصهم في الوصية.</a:t>
            </a:r>
            <a:endParaRPr lang="ar-AE" sz="1300" dirty="0"/>
          </a:p>
        </p:txBody>
      </p:sp>
      <p:sp>
        <p:nvSpPr>
          <p:cNvPr id="13" name="Shape 8"/>
          <p:cNvSpPr/>
          <p:nvPr/>
        </p:nvSpPr>
        <p:spPr>
          <a:xfrm>
            <a:off x="8229600" y="3163824"/>
            <a:ext cx="457200" cy="457200"/>
          </a:xfrm>
          <a:prstGeom prst="ellipse">
            <a:avLst/>
          </a:prstGeom>
          <a:solidFill>
            <a:srgbClr val="F4F1EA"/>
          </a:solidFill>
          <a:ln w="12700">
            <a:solidFill>
              <a:srgbClr val="F4F1EA"/>
            </a:solidFill>
            <a:prstDash val="solid"/>
          </a:ln>
        </p:spPr>
      </p:sp>
      <p:pic>
        <p:nvPicPr>
          <p:cNvPr id="14" name="icon FaCircleQuestion" descr="preencoded.png">    </p:cNvPr>
          <p:cNvPicPr>
            <a:picLocks noChangeAspect="1"/>
          </p:cNvPicPr>
          <p:nvPr/>
        </p:nvPicPr>
        <p:blipFill>
          <a:blip r:embed="rId4"/>
          <a:stretch>
            <a:fillRect/>
          </a:stretch>
        </p:blipFill>
        <p:spPr>
          <a:xfrm>
            <a:off x="8321040" y="3255264"/>
            <a:ext cx="274320" cy="274320"/>
          </a:xfrm>
          <a:prstGeom prst="rect">
            <a:avLst/>
          </a:prstGeom>
        </p:spPr>
      </p:pic>
      <p:sp>
        <p:nvSpPr>
          <p:cNvPr id="15" name="Text 9"/>
          <p:cNvSpPr txBox="1"/>
          <p:nvPr/>
        </p:nvSpPr>
        <p:spPr>
          <a:xfrm>
            <a:off x="457200" y="3145536"/>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ما الفرق بين DIFC وADGM والمحاكم المحلية؟</a:t>
            </a:r>
            <a:endParaRPr lang="ar-AE" sz="1300" dirty="0"/>
          </a:p>
          <a:p>
            <a:pPr algn="r" indent="0" marL="0">
              <a:spcAft>
                <a:spcPts val="200"/>
              </a:spcAft>
              <a:buNone/>
            </a:pPr>
            <a:r>
              <a:rPr lang="ar-AE" altLang="en-US" sz="1100" dirty="0">
                <a:solidFill>
                  <a:schemeClr val="accent3"/>
                </a:solidFill>
              </a:rPr>
              <a:t>مسارات تسجيل مختلفة تناسب حالات مختلفة؛ المكتب يحدد الأنسب بعد جلسة الاكتشاف.</a:t>
            </a:r>
            <a:endParaRPr lang="ar-AE" sz="1300" dirty="0"/>
          </a:p>
        </p:txBody>
      </p:sp>
      <p:sp>
        <p:nvSpPr>
          <p:cNvPr id="16" name="Shape 10"/>
          <p:cNvSpPr/>
          <p:nvPr/>
        </p:nvSpPr>
        <p:spPr>
          <a:xfrm>
            <a:off x="8229600" y="3822192"/>
            <a:ext cx="457200" cy="457200"/>
          </a:xfrm>
          <a:prstGeom prst="ellipse">
            <a:avLst/>
          </a:prstGeom>
          <a:solidFill>
            <a:srgbClr val="F4F1EA"/>
          </a:solidFill>
          <a:ln w="12700">
            <a:solidFill>
              <a:srgbClr val="F4F1EA"/>
            </a:solidFill>
            <a:prstDash val="solid"/>
          </a:ln>
        </p:spPr>
      </p:sp>
      <p:pic>
        <p:nvPicPr>
          <p:cNvPr id="17" name="icon FaCircleQuestion" descr="preencoded.png">    </p:cNvPr>
          <p:cNvPicPr>
            <a:picLocks noChangeAspect="1"/>
          </p:cNvPicPr>
          <p:nvPr/>
        </p:nvPicPr>
        <p:blipFill>
          <a:blip r:embed="rId5"/>
          <a:stretch>
            <a:fillRect/>
          </a:stretch>
        </p:blipFill>
        <p:spPr>
          <a:xfrm>
            <a:off x="8321040" y="3913632"/>
            <a:ext cx="274320" cy="274320"/>
          </a:xfrm>
          <a:prstGeom prst="rect">
            <a:avLst/>
          </a:prstGeom>
        </p:spPr>
      </p:pic>
      <p:sp>
        <p:nvSpPr>
          <p:cNvPr id="18" name="Text 11"/>
          <p:cNvSpPr txBox="1"/>
          <p:nvPr/>
        </p:nvSpPr>
        <p:spPr>
          <a:xfrm>
            <a:off x="457200" y="3803904"/>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كم التكلفة وكم المدة؟</a:t>
            </a:r>
            <a:endParaRPr lang="ar-AE" sz="1300" dirty="0"/>
          </a:p>
          <a:p>
            <a:pPr algn="r" indent="0" marL="0">
              <a:spcAft>
                <a:spcPts val="200"/>
              </a:spcAft>
              <a:buNone/>
            </a:pPr>
            <a:r>
              <a:rPr lang="ar-AE" altLang="en-US" sz="1100" dirty="0">
                <a:solidFill>
                  <a:schemeClr val="accent3"/>
                </a:solidFill>
              </a:rPr>
              <a:t>يستلم العميل عرضاً واحداً يشمل الأتعاب ورسوم التسجيل والجدول الزمني بعد الاستشارة المجانية.</a:t>
            </a:r>
            <a:endParaRPr lang="ar-AE" sz="13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0" y="1463040"/>
            <a:ext cx="1828800" cy="1463040"/>
          </a:xfrm>
          <a:prstGeom prst="rect">
            <a:avLst/>
          </a:prstGeom>
          <a:noFill/>
          <a:ln/>
        </p:spPr>
        <p:txBody>
          <a:bodyPr wrap="square" lIns="0" tIns="0" rIns="0" bIns="0" rtlCol="0" anchor="ctr"/>
          <a:lstStyle/>
          <a:p>
            <a:pPr algn="r" indent="0" marL="0">
              <a:buNone/>
            </a:pPr>
            <a:r>
              <a:rPr lang="en-US" sz="7200" dirty="0">
                <a:solidFill>
                  <a:schemeClr val="accent1"/>
                </a:solidFill>
                <a:latin typeface="Cambria" pitchFamily="34" charset="0"/>
                <a:ea typeface="Cambria" pitchFamily="34" charset="-122"/>
                <a:cs typeface="Cambria" pitchFamily="34" charset="-120"/>
              </a:rPr>
              <a:t>05</a:t>
            </a:r>
            <a:endParaRPr lang="en-US" sz="7200" dirty="0"/>
          </a:p>
        </p:txBody>
      </p:sp>
      <p:sp>
        <p:nvSpPr>
          <p:cNvPr id="3" name="Text 1"/>
          <p:cNvSpPr txBox="1"/>
          <p:nvPr/>
        </p:nvSpPr>
        <p:spPr>
          <a:xfrm>
            <a:off x="914400" y="2834640"/>
            <a:ext cx="7772400" cy="731520"/>
          </a:xfrm>
          <a:prstGeom prst="rect">
            <a:avLst/>
          </a:prstGeom>
          <a:noFill/>
          <a:ln/>
        </p:spPr>
        <p:txBody>
          <a:bodyPr wrap="square" lIns="0" tIns="0" rIns="0" bIns="0" rtlCol="0" anchor="t"/>
          <a:lstStyle/>
          <a:p>
            <a:pPr rtl="1" algn="r" indent="0" marL="0">
              <a:buNone/>
            </a:pPr>
            <a:r>
              <a:rPr lang="ar-AE" altLang="en-US" sz="3000" b="1" dirty="0">
                <a:solidFill>
                  <a:schemeClr val="bg1"/>
                </a:solidFill>
                <a:latin typeface="Cambria" pitchFamily="34" charset="0"/>
                <a:ea typeface="Cambria" pitchFamily="34" charset="-122"/>
                <a:cs typeface="Cambria" pitchFamily="34" charset="-120"/>
              </a:rPr>
              <a:t>مسار الإحالة ومستوى الخدمة</a:t>
            </a:r>
            <a:endParaRPr lang="ar-AE" sz="3000" dirty="0"/>
          </a:p>
        </p:txBody>
      </p:sp>
      <p:sp>
        <p:nvSpPr>
          <p:cNvPr id="4" name="Text 2"/>
          <p:cNvSpPr txBox="1"/>
          <p:nvPr/>
        </p:nvSpPr>
        <p:spPr>
          <a:xfrm>
            <a:off x="914400" y="3566160"/>
            <a:ext cx="7772400" cy="548640"/>
          </a:xfrm>
          <a:prstGeom prst="rect">
            <a:avLst/>
          </a:prstGeom>
          <a:noFill/>
          <a:ln/>
        </p:spPr>
        <p:txBody>
          <a:bodyPr wrap="square" lIns="0" tIns="0" rIns="0" bIns="0" rtlCol="0" anchor="ctr"/>
          <a:lstStyle/>
          <a:p>
            <a:pPr rtl="1" algn="r" indent="0" marL="0">
              <a:buNone/>
            </a:pPr>
            <a:r>
              <a:rPr lang="ar-AE" altLang="en-US" sz="1400" dirty="0">
                <a:solidFill>
                  <a:schemeClr val="accent2"/>
                </a:solidFill>
              </a:rPr>
              <a:t>ما يحدث بعد أن تحوّلوا العميل إلينا</a:t>
            </a:r>
            <a:endParaRPr lang="ar-AE" sz="14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8C39A"/>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مسار الإحالة خطوة بخطوة</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من الوسيط إلى التسجيل</a:t>
            </a:r>
            <a:endParaRPr lang="ar-AE" sz="1000" dirty="0"/>
          </a:p>
        </p:txBody>
      </p:sp>
      <p:sp>
        <p:nvSpPr>
          <p:cNvPr id="4" name="Shape 2"/>
          <p:cNvSpPr/>
          <p:nvPr/>
        </p:nvSpPr>
        <p:spPr>
          <a:xfrm>
            <a:off x="731520" y="1600200"/>
            <a:ext cx="7680960" cy="0"/>
          </a:xfrm>
          <a:prstGeom prst="line">
            <a:avLst/>
          </a:prstGeom>
          <a:noFill/>
          <a:ln w="9525">
            <a:solidFill>
              <a:srgbClr val="D8C39A"/>
            </a:solidFill>
            <a:prstDash val="solid"/>
          </a:ln>
        </p:spPr>
      </p:sp>
      <p:sp>
        <p:nvSpPr>
          <p:cNvPr id="5" name="Shape 3"/>
          <p:cNvSpPr/>
          <p:nvPr/>
        </p:nvSpPr>
        <p:spPr>
          <a:xfrm>
            <a:off x="8138160" y="1325880"/>
            <a:ext cx="548640" cy="548640"/>
          </a:xfrm>
          <a:prstGeom prst="ellipse">
            <a:avLst/>
          </a:prstGeom>
          <a:solidFill>
            <a:srgbClr val="0B0B0B"/>
          </a:solidFill>
          <a:ln w="12700">
            <a:solidFill>
              <a:srgbClr val="B08D57"/>
            </a:solidFill>
            <a:prstDash val="solid"/>
          </a:ln>
        </p:spPr>
      </p:sp>
      <p:sp>
        <p:nvSpPr>
          <p:cNvPr id="6" name="Text 4"/>
          <p:cNvSpPr txBox="1"/>
          <p:nvPr/>
        </p:nvSpPr>
        <p:spPr>
          <a:xfrm>
            <a:off x="8138160"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452360" y="2057400"/>
            <a:ext cx="1234440" cy="548640"/>
          </a:xfrm>
          <a:prstGeom prst="rect">
            <a:avLst/>
          </a:prstGeom>
          <a:noFill/>
          <a:ln/>
        </p:spPr>
        <p:txBody>
          <a:bodyPr wrap="square" lIns="0" tIns="0" rIns="0" bIns="0" rtlCol="0" anchor="t"/>
          <a:lstStyle/>
          <a:p>
            <a:pPr rtl="1" algn="r" indent="0" marL="0">
              <a:buNone/>
            </a:pPr>
            <a:r>
              <a:rPr lang="ar-AE" altLang="en-US" sz="1300" b="1" dirty="0">
                <a:solidFill>
                  <a:schemeClr val="tx1"/>
                </a:solidFill>
              </a:rPr>
              <a:t>رسالة التعريف</a:t>
            </a:r>
            <a:endParaRPr lang="ar-AE" sz="1300" dirty="0"/>
          </a:p>
        </p:txBody>
      </p:sp>
      <p:sp>
        <p:nvSpPr>
          <p:cNvPr id="8" name="Text 6"/>
          <p:cNvSpPr txBox="1"/>
          <p:nvPr/>
        </p:nvSpPr>
        <p:spPr>
          <a:xfrm>
            <a:off x="7452360" y="2606040"/>
            <a:ext cx="1234440" cy="1828800"/>
          </a:xfrm>
          <a:prstGeom prst="rect">
            <a:avLst/>
          </a:prstGeom>
          <a:noFill/>
          <a:ln/>
        </p:spPr>
        <p:txBody>
          <a:bodyPr wrap="square" lIns="0" tIns="0" rIns="0" bIns="0" rtlCol="0" anchor="t"/>
          <a:lstStyle/>
          <a:p>
            <a:pPr rtl="1" algn="r" indent="0" marL="0">
              <a:buNone/>
            </a:pPr>
            <a:r>
              <a:rPr lang="ar-AE" altLang="en-US" sz="1050" dirty="0">
                <a:solidFill>
                  <a:schemeClr val="accent3"/>
                </a:solidFill>
              </a:rPr>
              <a:t>يرسل الوسيط رسالة التعريف الموحّدة (بريد أو واتساب) مع نسخة لنا.</a:t>
            </a:r>
            <a:endParaRPr lang="ar-AE" sz="1050" dirty="0"/>
          </a:p>
        </p:txBody>
      </p:sp>
      <p:sp>
        <p:nvSpPr>
          <p:cNvPr id="9" name="Shape 7"/>
          <p:cNvSpPr/>
          <p:nvPr/>
        </p:nvSpPr>
        <p:spPr>
          <a:xfrm>
            <a:off x="6739128" y="1325880"/>
            <a:ext cx="548640" cy="548640"/>
          </a:xfrm>
          <a:prstGeom prst="ellipse">
            <a:avLst/>
          </a:prstGeom>
          <a:solidFill>
            <a:srgbClr val="0B0B0B"/>
          </a:solidFill>
          <a:ln w="12700">
            <a:solidFill>
              <a:srgbClr val="B08D57"/>
            </a:solidFill>
            <a:prstDash val="solid"/>
          </a:ln>
        </p:spPr>
      </p:sp>
      <p:sp>
        <p:nvSpPr>
          <p:cNvPr id="10" name="Text 8"/>
          <p:cNvSpPr txBox="1"/>
          <p:nvPr/>
        </p:nvSpPr>
        <p:spPr>
          <a:xfrm>
            <a:off x="6739128"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6053328" y="2057400"/>
            <a:ext cx="1234440" cy="548640"/>
          </a:xfrm>
          <a:prstGeom prst="rect">
            <a:avLst/>
          </a:prstGeom>
          <a:noFill/>
          <a:ln/>
        </p:spPr>
        <p:txBody>
          <a:bodyPr wrap="square" lIns="0" tIns="0" rIns="0" bIns="0" rtlCol="0" anchor="t"/>
          <a:lstStyle/>
          <a:p>
            <a:pPr rtl="1" algn="r" indent="0" marL="0">
              <a:buNone/>
            </a:pPr>
            <a:r>
              <a:rPr lang="ar-AE" altLang="en-US" sz="1300" b="1" dirty="0">
                <a:solidFill>
                  <a:schemeClr val="tx1"/>
                </a:solidFill>
              </a:rPr>
              <a:t>تواصلنا الأول</a:t>
            </a:r>
            <a:endParaRPr lang="ar-AE" sz="1300" dirty="0"/>
          </a:p>
        </p:txBody>
      </p:sp>
      <p:sp>
        <p:nvSpPr>
          <p:cNvPr id="12" name="Text 10"/>
          <p:cNvSpPr txBox="1"/>
          <p:nvPr/>
        </p:nvSpPr>
        <p:spPr>
          <a:xfrm>
            <a:off x="6053328" y="2606040"/>
            <a:ext cx="1234440" cy="1828800"/>
          </a:xfrm>
          <a:prstGeom prst="rect">
            <a:avLst/>
          </a:prstGeom>
          <a:noFill/>
          <a:ln/>
        </p:spPr>
        <p:txBody>
          <a:bodyPr wrap="square" lIns="0" tIns="0" rIns="0" bIns="0" rtlCol="0" anchor="t"/>
          <a:lstStyle/>
          <a:p>
            <a:pPr rtl="1" algn="r" indent="0" marL="0">
              <a:buNone/>
            </a:pPr>
            <a:r>
              <a:rPr lang="ar-AE" altLang="en-US" sz="1050" dirty="0">
                <a:solidFill>
                  <a:schemeClr val="accent3"/>
                </a:solidFill>
              </a:rPr>
              <a:t>خلال يوم عمل: شكر، تعريف بالفريق، وعرض موعد للاستشارة.</a:t>
            </a:r>
            <a:endParaRPr lang="ar-AE" sz="1050" dirty="0"/>
          </a:p>
        </p:txBody>
      </p:sp>
      <p:sp>
        <p:nvSpPr>
          <p:cNvPr id="13" name="Shape 11"/>
          <p:cNvSpPr/>
          <p:nvPr/>
        </p:nvSpPr>
        <p:spPr>
          <a:xfrm>
            <a:off x="5340096" y="1325880"/>
            <a:ext cx="548640" cy="548640"/>
          </a:xfrm>
          <a:prstGeom prst="ellipse">
            <a:avLst/>
          </a:prstGeom>
          <a:solidFill>
            <a:srgbClr val="0B0B0B"/>
          </a:solidFill>
          <a:ln w="12700">
            <a:solidFill>
              <a:srgbClr val="B08D57"/>
            </a:solidFill>
            <a:prstDash val="solid"/>
          </a:ln>
        </p:spPr>
      </p:sp>
      <p:sp>
        <p:nvSpPr>
          <p:cNvPr id="14" name="Text 12"/>
          <p:cNvSpPr txBox="1"/>
          <p:nvPr/>
        </p:nvSpPr>
        <p:spPr>
          <a:xfrm>
            <a:off x="5340096"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4654296" y="2057400"/>
            <a:ext cx="1234440" cy="548640"/>
          </a:xfrm>
          <a:prstGeom prst="rect">
            <a:avLst/>
          </a:prstGeom>
          <a:noFill/>
          <a:ln/>
        </p:spPr>
        <p:txBody>
          <a:bodyPr wrap="square" lIns="0" tIns="0" rIns="0" bIns="0" rtlCol="0" anchor="t"/>
          <a:lstStyle/>
          <a:p>
            <a:pPr rtl="1" algn="r" indent="0" marL="0">
              <a:buNone/>
            </a:pPr>
            <a:r>
              <a:rPr lang="ar-AE" altLang="en-US" sz="1300" b="1" dirty="0">
                <a:solidFill>
                  <a:schemeClr val="tx1"/>
                </a:solidFill>
              </a:rPr>
              <a:t>اجتماع الاكتشاف</a:t>
            </a:r>
            <a:endParaRPr lang="ar-AE" sz="1300" dirty="0"/>
          </a:p>
        </p:txBody>
      </p:sp>
      <p:sp>
        <p:nvSpPr>
          <p:cNvPr id="16" name="Text 14"/>
          <p:cNvSpPr txBox="1"/>
          <p:nvPr/>
        </p:nvSpPr>
        <p:spPr>
          <a:xfrm>
            <a:off x="4654296" y="2606040"/>
            <a:ext cx="1234440" cy="1828800"/>
          </a:xfrm>
          <a:prstGeom prst="rect">
            <a:avLst/>
          </a:prstGeom>
          <a:noFill/>
          <a:ln/>
        </p:spPr>
        <p:txBody>
          <a:bodyPr wrap="square" lIns="0" tIns="0" rIns="0" bIns="0" rtlCol="0" anchor="t"/>
          <a:lstStyle/>
          <a:p>
            <a:pPr rtl="1" algn="r" indent="0" marL="0">
              <a:buNone/>
            </a:pPr>
            <a:r>
              <a:rPr lang="ar-AE" altLang="en-US" sz="1050" dirty="0">
                <a:solidFill>
                  <a:schemeClr val="accent3"/>
                </a:solidFill>
              </a:rPr>
              <a:t>أسئلة اكتشاف حول العقارات والشركات والأطفال والورثة والحسابات.</a:t>
            </a:r>
            <a:endParaRPr lang="ar-AE" sz="1050" dirty="0"/>
          </a:p>
        </p:txBody>
      </p:sp>
      <p:sp>
        <p:nvSpPr>
          <p:cNvPr id="17" name="Shape 15"/>
          <p:cNvSpPr/>
          <p:nvPr/>
        </p:nvSpPr>
        <p:spPr>
          <a:xfrm>
            <a:off x="3941064" y="1325880"/>
            <a:ext cx="548640" cy="548640"/>
          </a:xfrm>
          <a:prstGeom prst="ellipse">
            <a:avLst/>
          </a:prstGeom>
          <a:solidFill>
            <a:srgbClr val="0B0B0B"/>
          </a:solidFill>
          <a:ln w="12700">
            <a:solidFill>
              <a:srgbClr val="B08D57"/>
            </a:solidFill>
            <a:prstDash val="solid"/>
          </a:ln>
        </p:spPr>
      </p:sp>
      <p:sp>
        <p:nvSpPr>
          <p:cNvPr id="18" name="Text 16"/>
          <p:cNvSpPr txBox="1"/>
          <p:nvPr/>
        </p:nvSpPr>
        <p:spPr>
          <a:xfrm>
            <a:off x="3941064"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4</a:t>
            </a:r>
            <a:endParaRPr lang="en-US" sz="1600" dirty="0"/>
          </a:p>
        </p:txBody>
      </p:sp>
      <p:sp>
        <p:nvSpPr>
          <p:cNvPr id="19" name="Text 17"/>
          <p:cNvSpPr txBox="1"/>
          <p:nvPr/>
        </p:nvSpPr>
        <p:spPr>
          <a:xfrm>
            <a:off x="3255264" y="2057400"/>
            <a:ext cx="1234440" cy="548640"/>
          </a:xfrm>
          <a:prstGeom prst="rect">
            <a:avLst/>
          </a:prstGeom>
          <a:noFill/>
          <a:ln/>
        </p:spPr>
        <p:txBody>
          <a:bodyPr wrap="square" lIns="0" tIns="0" rIns="0" bIns="0" rtlCol="0" anchor="t"/>
          <a:lstStyle/>
          <a:p>
            <a:pPr rtl="1" algn="r" indent="0" marL="0">
              <a:buNone/>
            </a:pPr>
            <a:r>
              <a:rPr lang="ar-AE" altLang="en-US" sz="1300" b="1" dirty="0">
                <a:solidFill>
                  <a:schemeClr val="tx1"/>
                </a:solidFill>
              </a:rPr>
              <a:t>العرض</a:t>
            </a:r>
            <a:endParaRPr lang="ar-AE" sz="1300" dirty="0"/>
          </a:p>
        </p:txBody>
      </p:sp>
      <p:sp>
        <p:nvSpPr>
          <p:cNvPr id="20" name="Text 18"/>
          <p:cNvSpPr txBox="1"/>
          <p:nvPr/>
        </p:nvSpPr>
        <p:spPr>
          <a:xfrm>
            <a:off x="3255264" y="2606040"/>
            <a:ext cx="1234440" cy="1828800"/>
          </a:xfrm>
          <a:prstGeom prst="rect">
            <a:avLst/>
          </a:prstGeom>
          <a:noFill/>
          <a:ln/>
        </p:spPr>
        <p:txBody>
          <a:bodyPr wrap="square" lIns="0" tIns="0" rIns="0" bIns="0" rtlCol="0" anchor="t"/>
          <a:lstStyle/>
          <a:p>
            <a:pPr rtl="1" algn="r" indent="0" marL="0">
              <a:buNone/>
            </a:pPr>
            <a:r>
              <a:rPr lang="ar-AE" altLang="en-US" sz="1050" dirty="0">
                <a:solidFill>
                  <a:schemeClr val="accent3"/>
                </a:solidFill>
              </a:rPr>
              <a:t>خلال 48 ساعة: النطاق، الأتعاب، الجدول الزمني، رسوم التسجيل.</a:t>
            </a:r>
            <a:endParaRPr lang="ar-AE" sz="1050" dirty="0"/>
          </a:p>
        </p:txBody>
      </p:sp>
      <p:sp>
        <p:nvSpPr>
          <p:cNvPr id="21" name="Shape 19"/>
          <p:cNvSpPr/>
          <p:nvPr/>
        </p:nvSpPr>
        <p:spPr>
          <a:xfrm>
            <a:off x="2542032" y="1325880"/>
            <a:ext cx="548640" cy="548640"/>
          </a:xfrm>
          <a:prstGeom prst="ellipse">
            <a:avLst/>
          </a:prstGeom>
          <a:solidFill>
            <a:srgbClr val="0B0B0B"/>
          </a:solidFill>
          <a:ln w="12700">
            <a:solidFill>
              <a:srgbClr val="B08D57"/>
            </a:solidFill>
            <a:prstDash val="solid"/>
          </a:ln>
        </p:spPr>
      </p:sp>
      <p:sp>
        <p:nvSpPr>
          <p:cNvPr id="22" name="Text 20"/>
          <p:cNvSpPr txBox="1"/>
          <p:nvPr/>
        </p:nvSpPr>
        <p:spPr>
          <a:xfrm>
            <a:off x="2542032"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5</a:t>
            </a:r>
            <a:endParaRPr lang="en-US" sz="1600" dirty="0"/>
          </a:p>
        </p:txBody>
      </p:sp>
      <p:sp>
        <p:nvSpPr>
          <p:cNvPr id="23" name="Text 21"/>
          <p:cNvSpPr txBox="1"/>
          <p:nvPr/>
        </p:nvSpPr>
        <p:spPr>
          <a:xfrm>
            <a:off x="1856232" y="2057400"/>
            <a:ext cx="1234440" cy="548640"/>
          </a:xfrm>
          <a:prstGeom prst="rect">
            <a:avLst/>
          </a:prstGeom>
          <a:noFill/>
          <a:ln/>
        </p:spPr>
        <p:txBody>
          <a:bodyPr wrap="square" lIns="0" tIns="0" rIns="0" bIns="0" rtlCol="0" anchor="t"/>
          <a:lstStyle/>
          <a:p>
            <a:pPr rtl="1" algn="r" indent="0" marL="0">
              <a:buNone/>
            </a:pPr>
            <a:r>
              <a:rPr lang="ar-AE" altLang="en-US" sz="1300" b="1" dirty="0">
                <a:solidFill>
                  <a:schemeClr val="tx1"/>
                </a:solidFill>
              </a:rPr>
              <a:t>الصياغة والتسجيل</a:t>
            </a:r>
            <a:endParaRPr lang="ar-AE" sz="1300" dirty="0"/>
          </a:p>
        </p:txBody>
      </p:sp>
      <p:sp>
        <p:nvSpPr>
          <p:cNvPr id="24" name="Text 22"/>
          <p:cNvSpPr txBox="1"/>
          <p:nvPr/>
        </p:nvSpPr>
        <p:spPr>
          <a:xfrm>
            <a:off x="1856232" y="2606040"/>
            <a:ext cx="1234440" cy="1828800"/>
          </a:xfrm>
          <a:prstGeom prst="rect">
            <a:avLst/>
          </a:prstGeom>
          <a:noFill/>
          <a:ln/>
        </p:spPr>
        <p:txBody>
          <a:bodyPr wrap="square" lIns="0" tIns="0" rIns="0" bIns="0" rtlCol="0" anchor="t"/>
          <a:lstStyle/>
          <a:p>
            <a:pPr rtl="1" algn="r" indent="0" marL="0">
              <a:buNone/>
            </a:pPr>
            <a:r>
              <a:rPr lang="ar-AE" altLang="en-US" sz="1050" dirty="0">
                <a:solidFill>
                  <a:schemeClr val="accent3"/>
                </a:solidFill>
              </a:rPr>
              <a:t>الوصية، الترجمة، الشهود، التوثيق، ثم التسجيل لدى الجهة المختارة.</a:t>
            </a:r>
            <a:endParaRPr lang="ar-AE" sz="1050" dirty="0"/>
          </a:p>
        </p:txBody>
      </p:sp>
      <p:sp>
        <p:nvSpPr>
          <p:cNvPr id="25" name="Shape 23"/>
          <p:cNvSpPr/>
          <p:nvPr/>
        </p:nvSpPr>
        <p:spPr>
          <a:xfrm>
            <a:off x="1143000" y="1325880"/>
            <a:ext cx="548640" cy="548640"/>
          </a:xfrm>
          <a:prstGeom prst="ellipse">
            <a:avLst/>
          </a:prstGeom>
          <a:solidFill>
            <a:srgbClr val="0B0B0B"/>
          </a:solidFill>
          <a:ln w="12700">
            <a:solidFill>
              <a:srgbClr val="B08D57"/>
            </a:solidFill>
            <a:prstDash val="solid"/>
          </a:ln>
        </p:spPr>
      </p:sp>
      <p:sp>
        <p:nvSpPr>
          <p:cNvPr id="26" name="Text 24"/>
          <p:cNvSpPr txBox="1"/>
          <p:nvPr/>
        </p:nvSpPr>
        <p:spPr>
          <a:xfrm>
            <a:off x="1143000" y="13258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latin typeface="Cambria" pitchFamily="34" charset="0"/>
                <a:ea typeface="Cambria" pitchFamily="34" charset="-122"/>
                <a:cs typeface="Cambria" pitchFamily="34" charset="-120"/>
              </a:rPr>
              <a:t>6</a:t>
            </a:r>
            <a:endParaRPr lang="en-US" sz="1600" dirty="0"/>
          </a:p>
        </p:txBody>
      </p:sp>
      <p:sp>
        <p:nvSpPr>
          <p:cNvPr id="27" name="Text 25"/>
          <p:cNvSpPr txBox="1"/>
          <p:nvPr/>
        </p:nvSpPr>
        <p:spPr>
          <a:xfrm>
            <a:off x="457200" y="2057400"/>
            <a:ext cx="1234440" cy="548640"/>
          </a:xfrm>
          <a:prstGeom prst="rect">
            <a:avLst/>
          </a:prstGeom>
          <a:noFill/>
          <a:ln/>
        </p:spPr>
        <p:txBody>
          <a:bodyPr wrap="square" lIns="0" tIns="0" rIns="0" bIns="0" rtlCol="0" anchor="t"/>
          <a:lstStyle/>
          <a:p>
            <a:pPr rtl="1" algn="r" indent="0" marL="0">
              <a:buNone/>
            </a:pPr>
            <a:r>
              <a:rPr lang="ar-AE" altLang="en-US" sz="1300" b="1" dirty="0">
                <a:solidFill>
                  <a:schemeClr val="tx1"/>
                </a:solidFill>
              </a:rPr>
              <a:t>التقرير للشريك</a:t>
            </a:r>
            <a:endParaRPr lang="ar-AE" sz="1300" dirty="0"/>
          </a:p>
        </p:txBody>
      </p:sp>
      <p:sp>
        <p:nvSpPr>
          <p:cNvPr id="28" name="Text 26"/>
          <p:cNvSpPr txBox="1"/>
          <p:nvPr/>
        </p:nvSpPr>
        <p:spPr>
          <a:xfrm>
            <a:off x="457200" y="2606040"/>
            <a:ext cx="1234440" cy="1828800"/>
          </a:xfrm>
          <a:prstGeom prst="rect">
            <a:avLst/>
          </a:prstGeom>
          <a:noFill/>
          <a:ln/>
        </p:spPr>
        <p:txBody>
          <a:bodyPr wrap="square" lIns="0" tIns="0" rIns="0" bIns="0" rtlCol="0" anchor="t"/>
          <a:lstStyle/>
          <a:p>
            <a:pPr rtl="1" algn="r" indent="0" marL="0">
              <a:buNone/>
            </a:pPr>
            <a:r>
              <a:rPr lang="ar-AE" altLang="en-US" sz="1050" dirty="0">
                <a:solidFill>
                  <a:schemeClr val="accent3"/>
                </a:solidFill>
              </a:rPr>
              <a:t>تحديث عند كل مرحلة، وتقرير شهري مع تسوية العمولة.</a:t>
            </a:r>
            <a:endParaRPr lang="ar-AE" sz="105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مستوى الخدمة الذي نلتزم به</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SLA</a:t>
            </a:r>
            <a:endParaRPr lang="ar-AE"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029200"/>
                <a:gridCol w="3200400"/>
              </a:tblGrid>
              <a:tr h="438912">
                <a:tc>
                  <a:txBody>
                    <a:bodyPr/>
                    <a:lstStyle/>
                    <a:p>
                      <a:pPr algn="r" indent="0" marL="0">
                        <a:buNone/>
                      </a:pPr>
                      <a:r>
                        <a:rPr lang="en-US" sz="1100" b="1" dirty="0">
                          <a:solidFill>
                            <a:srgbClr val="D8C39A"/>
                          </a:solidFill>
                          <a:latin typeface="+mn-lt" pitchFamily="34" charset="0"/>
                          <a:ea typeface="+mn-lt" pitchFamily="34" charset="-122"/>
                          <a:cs typeface="+mn-lt" pitchFamily="34" charset="-120"/>
                        </a:rPr>
                        <a:t>التزامنا</a:t>
                      </a:r>
                      <a:endParaRPr lang="en-US" sz="110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0B0B0B"/>
                    </a:solidFill>
                  </a:tcPr>
                </a:tc>
                <a:tc>
                  <a:txBody>
                    <a:bodyPr/>
                    <a:lstStyle/>
                    <a:p>
                      <a:pPr algn="r" indent="0" marL="0">
                        <a:buNone/>
                      </a:pPr>
                      <a:r>
                        <a:rPr lang="en-US" sz="1100" b="1" dirty="0">
                          <a:solidFill>
                            <a:srgbClr val="D8C39A"/>
                          </a:solidFill>
                          <a:latin typeface="+mn-lt" pitchFamily="34" charset="0"/>
                          <a:ea typeface="+mn-lt" pitchFamily="34" charset="-122"/>
                          <a:cs typeface="+mn-lt" pitchFamily="34" charset="-120"/>
                        </a:rPr>
                        <a:t>البند</a:t>
                      </a:r>
                      <a:endParaRPr lang="en-US" sz="110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0B0B0B"/>
                    </a:solidFill>
                  </a:tcPr>
                </a:tc>
              </a:tr>
              <a:tr h="438912">
                <a:tc>
                  <a:txBody>
                    <a:bodyPr/>
                    <a:lstStyle/>
                    <a:p>
                      <a:pPr algn="r" indent="0" marL="0">
                        <a:buNone/>
                      </a:pPr>
                      <a:r>
                        <a:rPr lang="en-US" sz="1050" dirty="0">
                          <a:solidFill>
                            <a:srgbClr val="2A2D33"/>
                          </a:solidFill>
                          <a:latin typeface="+mn-lt" pitchFamily="34" charset="0"/>
                          <a:ea typeface="+mn-lt" pitchFamily="34" charset="-122"/>
                          <a:cs typeface="+mn-lt" pitchFamily="34" charset="-120"/>
                        </a:rPr>
                        <a:t>خلال يوم عمل واحد</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الرد على الإحالة</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r>
              <a:tr h="438912">
                <a:tc>
                  <a:txBody>
                    <a:bodyPr/>
                    <a:lstStyle/>
                    <a:p>
                      <a:pPr algn="r" indent="0" marL="0">
                        <a:buNone/>
                      </a:pPr>
                      <a:r>
                        <a:rPr lang="en-US" sz="1050" dirty="0">
                          <a:solidFill>
                            <a:srgbClr val="2A2D33"/>
                          </a:solidFill>
                          <a:latin typeface="+mn-lt" pitchFamily="34" charset="0"/>
                          <a:ea typeface="+mn-lt" pitchFamily="34" charset="-122"/>
                          <a:cs typeface="+mn-lt" pitchFamily="34" charset="-120"/>
                        </a:rPr>
                        <a:t>مجانية، في مكتبنا أو عند العميل أو عن بُعد، بلغة العميل</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الاستشارة الأولى</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r>
              <a:tr h="438912">
                <a:tc>
                  <a:txBody>
                    <a:bodyPr/>
                    <a:lstStyle/>
                    <a:p>
                      <a:pPr algn="r" indent="0" marL="0">
                        <a:buNone/>
                      </a:pPr>
                      <a:r>
                        <a:rPr lang="en-US" sz="1050" dirty="0">
                          <a:solidFill>
                            <a:srgbClr val="2A2D33"/>
                          </a:solidFill>
                          <a:latin typeface="+mn-lt" pitchFamily="34" charset="0"/>
                          <a:ea typeface="+mn-lt" pitchFamily="34" charset="-122"/>
                          <a:cs typeface="+mn-lt" pitchFamily="34" charset="-120"/>
                        </a:rPr>
                        <a:t>خلال 48 ساعة من اجتماع الاكتشاف</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العرض</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r>
              <a:tr h="438912">
                <a:tc>
                  <a:txBody>
                    <a:bodyPr/>
                    <a:lstStyle/>
                    <a:p>
                      <a:pPr algn="r" indent="0" marL="0">
                        <a:buNone/>
                      </a:pPr>
                      <a:r>
                        <a:rPr lang="en-US" sz="1050" dirty="0">
                          <a:solidFill>
                            <a:srgbClr val="2A2D33"/>
                          </a:solidFill>
                          <a:latin typeface="+mn-lt" pitchFamily="34" charset="0"/>
                          <a:ea typeface="+mn-lt" pitchFamily="34" charset="-122"/>
                          <a:cs typeface="+mn-lt" pitchFamily="34" charset="-120"/>
                        </a:rPr>
                        <a:t>للعميل والشريك عند كل مرحلة</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التحديثات</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r>
              <a:tr h="438912">
                <a:tc>
                  <a:txBody>
                    <a:bodyPr/>
                    <a:lstStyle/>
                    <a:p>
                      <a:pPr algn="r" indent="0" marL="0">
                        <a:buNone/>
                      </a:pPr>
                      <a:r>
                        <a:rPr lang="en-US" sz="1050" dirty="0">
                          <a:solidFill>
                            <a:srgbClr val="2A2D33"/>
                          </a:solidFill>
                          <a:latin typeface="+mn-lt" pitchFamily="34" charset="0"/>
                          <a:ea typeface="+mn-lt" pitchFamily="34" charset="-122"/>
                          <a:cs typeface="+mn-lt" pitchFamily="34" charset="-120"/>
                        </a:rPr>
                        <a:t>عدد الإحالات، الحالة، الوصايا المسجلة، العمولات المستحقة</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التقرير الشهري</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r>
              <a:tr h="438912">
                <a:tc>
                  <a:txBody>
                    <a:bodyPr/>
                    <a:lstStyle/>
                    <a:p>
                      <a:pPr algn="r" indent="0" marL="0">
                        <a:buNone/>
                      </a:pPr>
                      <a:r>
                        <a:rPr lang="en-US" sz="1050" dirty="0">
                          <a:solidFill>
                            <a:srgbClr val="2A2D33"/>
                          </a:solidFill>
                          <a:latin typeface="+mn-lt" pitchFamily="34" charset="0"/>
                          <a:ea typeface="+mn-lt" pitchFamily="34" charset="-122"/>
                          <a:cs typeface="+mn-lt" pitchFamily="34" charset="-120"/>
                        </a:rPr>
                        <a:t>شهرياً وفق الاتفاقية</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تسوية العمولة</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FFFFF"/>
                    </a:solidFill>
                  </a:tcPr>
                </a:tc>
              </a:tr>
              <a:tr h="438912">
                <a:tc>
                  <a:txBody>
                    <a:bodyPr/>
                    <a:lstStyle/>
                    <a:p>
                      <a:pPr algn="r" indent="0" marL="0">
                        <a:buNone/>
                      </a:pPr>
                      <a:r>
                        <a:rPr lang="en-US" sz="1050" dirty="0">
                          <a:solidFill>
                            <a:srgbClr val="2A2D33"/>
                          </a:solidFill>
                          <a:latin typeface="+mn-lt" pitchFamily="34" charset="0"/>
                          <a:ea typeface="+mn-lt" pitchFamily="34" charset="-122"/>
                          <a:cs typeface="+mn-lt" pitchFamily="34" charset="-120"/>
                        </a:rPr>
                        <a:t>لا تُستخدم بيانات العميل لأي غرض آخر</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c>
                  <a:txBody>
                    <a:bodyPr/>
                    <a:lstStyle/>
                    <a:p>
                      <a:pPr algn="r" indent="0" marL="0">
                        <a:buNone/>
                      </a:pPr>
                      <a:r>
                        <a:rPr lang="en-US" sz="1050" b="1" dirty="0">
                          <a:solidFill>
                            <a:srgbClr val="0B0B0B"/>
                          </a:solidFill>
                          <a:latin typeface="+mn-lt" pitchFamily="34" charset="0"/>
                          <a:ea typeface="+mn-lt" pitchFamily="34" charset="-122"/>
                          <a:cs typeface="+mn-lt" pitchFamily="34" charset="-120"/>
                        </a:rPr>
                        <a:t>السرية</a:t>
                      </a:r>
                      <a:endParaRPr lang="en-US" sz="1050" dirty="0">
                        <a:latin typeface="+mn-lt" charset="0"/>
                        <a:ea typeface="+mn-lt" charset="0"/>
                        <a:cs typeface="+mn-lt" charset="0"/>
                      </a:endParaRPr>
                    </a:p>
                  </a:txBody>
                  <a:tcPr marL="91440" marR="91440" marT="45720" marB="45720" anchor="ctr">
                    <a:lnL w="6350" cap="flat" cmpd="sng" algn="ctr">
                      <a:solidFill>
                        <a:srgbClr val="E9E4DA"/>
                      </a:solidFill>
                      <a:prstDash val="solid"/>
                      <a:round/>
                      <a:headEnd type="none" w="med" len="med"/>
                      <a:tailEnd type="none" w="med" len="med"/>
                    </a:lnL>
                    <a:lnR w="6350" cap="flat" cmpd="sng" algn="ctr">
                      <a:solidFill>
                        <a:srgbClr val="E9E4DA"/>
                      </a:solidFill>
                      <a:prstDash val="solid"/>
                      <a:round/>
                      <a:headEnd type="none" w="med" len="med"/>
                      <a:tailEnd type="none" w="med" len="med"/>
                    </a:lnR>
                    <a:lnT w="6350" cap="flat" cmpd="sng" algn="ctr">
                      <a:solidFill>
                        <a:srgbClr val="E9E4DA"/>
                      </a:solidFill>
                      <a:prstDash val="solid"/>
                      <a:round/>
                      <a:headEnd type="none" w="med" len="med"/>
                      <a:tailEnd type="none" w="med" len="med"/>
                    </a:lnT>
                    <a:lnB w="6350" cap="flat" cmpd="sng" algn="ctr">
                      <a:solidFill>
                        <a:srgbClr val="E9E4DA"/>
                      </a:solidFill>
                      <a:prstDash val="solid"/>
                      <a:round/>
                      <a:headEnd type="none" w="med" len="med"/>
                      <a:tailEnd type="none" w="med" len="med"/>
                    </a:lnB>
                    <a:solidFill>
                      <a:srgbClr val="F4F1EA"/>
                    </a:solidFill>
                  </a:tcPr>
                </a:tc>
              </a:tr>
            </a:tbl>
          </a:graphicData>
        </a:graphic>
      </p:graphicFrame>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الامتثال وحماية الطرفين</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الخطوط الحمراء</a:t>
            </a:r>
            <a:endParaRPr lang="ar-AE" sz="1000" dirty="0"/>
          </a:p>
        </p:txBody>
      </p:sp>
      <p:sp>
        <p:nvSpPr>
          <p:cNvPr id="4" name="Shape 2"/>
          <p:cNvSpPr/>
          <p:nvPr/>
        </p:nvSpPr>
        <p:spPr>
          <a:xfrm>
            <a:off x="8229600" y="1188720"/>
            <a:ext cx="457200" cy="457200"/>
          </a:xfrm>
          <a:prstGeom prst="ellipse">
            <a:avLst/>
          </a:prstGeom>
          <a:solidFill>
            <a:srgbClr val="F4F1EA"/>
          </a:solidFill>
          <a:ln w="12700">
            <a:solidFill>
              <a:srgbClr val="F4F1EA"/>
            </a:solidFill>
            <a:prstDash val="solid"/>
          </a:ln>
        </p:spPr>
      </p:sp>
      <p:pic>
        <p:nvPicPr>
          <p:cNvPr id="5" name="icon FaGavel" descr="preencoded.png">    </p:cNvPr>
          <p:cNvPicPr>
            <a:picLocks noChangeAspect="1"/>
          </p:cNvPicPr>
          <p:nvPr/>
        </p:nvPicPr>
        <p:blipFill>
          <a:blip r:embed="rId1"/>
          <a:stretch>
            <a:fillRect/>
          </a:stretch>
        </p:blipFill>
        <p:spPr>
          <a:xfrm>
            <a:off x="8321040" y="1280160"/>
            <a:ext cx="274320" cy="274320"/>
          </a:xfrm>
          <a:prstGeom prst="rect">
            <a:avLst/>
          </a:prstGeom>
        </p:spPr>
      </p:pic>
      <p:sp>
        <p:nvSpPr>
          <p:cNvPr id="6" name="Text 3"/>
          <p:cNvSpPr txBox="1"/>
          <p:nvPr/>
        </p:nvSpPr>
        <p:spPr>
          <a:xfrm>
            <a:off x="457200" y="1170432"/>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الوسيط لا يمارس المحاماة</a:t>
            </a:r>
            <a:endParaRPr lang="ar-AE" sz="1300" dirty="0"/>
          </a:p>
          <a:p>
            <a:pPr algn="r" indent="0" marL="0">
              <a:spcAft>
                <a:spcPts val="200"/>
              </a:spcAft>
              <a:buNone/>
            </a:pPr>
            <a:r>
              <a:rPr lang="ar-AE" altLang="en-US" sz="1100" dirty="0">
                <a:solidFill>
                  <a:schemeClr val="accent3"/>
                </a:solidFill>
              </a:rPr>
              <a:t>لا استشارات، لا آراء قانونية، لا وعود بنتائج.</a:t>
            </a:r>
            <a:endParaRPr lang="ar-AE" sz="1300" dirty="0"/>
          </a:p>
        </p:txBody>
      </p:sp>
      <p:sp>
        <p:nvSpPr>
          <p:cNvPr id="7" name="Shape 4"/>
          <p:cNvSpPr/>
          <p:nvPr/>
        </p:nvSpPr>
        <p:spPr>
          <a:xfrm>
            <a:off x="8229600" y="1847088"/>
            <a:ext cx="457200" cy="457200"/>
          </a:xfrm>
          <a:prstGeom prst="ellipse">
            <a:avLst/>
          </a:prstGeom>
          <a:solidFill>
            <a:srgbClr val="F4F1EA"/>
          </a:solidFill>
          <a:ln w="12700">
            <a:solidFill>
              <a:srgbClr val="F4F1EA"/>
            </a:solidFill>
            <a:prstDash val="solid"/>
          </a:ln>
        </p:spPr>
      </p:sp>
      <p:pic>
        <p:nvPicPr>
          <p:cNvPr id="8" name="icon FaLock" descr="preencoded.png">    </p:cNvPr>
          <p:cNvPicPr>
            <a:picLocks noChangeAspect="1"/>
          </p:cNvPicPr>
          <p:nvPr/>
        </p:nvPicPr>
        <p:blipFill>
          <a:blip r:embed="rId2"/>
          <a:stretch>
            <a:fillRect/>
          </a:stretch>
        </p:blipFill>
        <p:spPr>
          <a:xfrm>
            <a:off x="8321040" y="1938528"/>
            <a:ext cx="274320" cy="274320"/>
          </a:xfrm>
          <a:prstGeom prst="rect">
            <a:avLst/>
          </a:prstGeom>
        </p:spPr>
      </p:pic>
      <p:sp>
        <p:nvSpPr>
          <p:cNvPr id="9" name="Text 5"/>
          <p:cNvSpPr txBox="1"/>
          <p:nvPr/>
        </p:nvSpPr>
        <p:spPr>
          <a:xfrm>
            <a:off x="457200" y="1828800"/>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السرية وحماية البيانات</a:t>
            </a:r>
            <a:endParaRPr lang="ar-AE" sz="1300" dirty="0"/>
          </a:p>
          <a:p>
            <a:pPr algn="r" indent="0" marL="0">
              <a:spcAft>
                <a:spcPts val="200"/>
              </a:spcAft>
              <a:buNone/>
            </a:pPr>
            <a:r>
              <a:rPr lang="ar-AE" altLang="en-US" sz="1100" dirty="0">
                <a:solidFill>
                  <a:schemeClr val="accent3"/>
                </a:solidFill>
              </a:rPr>
              <a:t>بيانات العميل تُنقل بقناة محددة وتُستخدم للخدمة فقط.</a:t>
            </a:r>
            <a:endParaRPr lang="ar-AE" sz="1300" dirty="0"/>
          </a:p>
        </p:txBody>
      </p:sp>
      <p:sp>
        <p:nvSpPr>
          <p:cNvPr id="10" name="Shape 6"/>
          <p:cNvSpPr/>
          <p:nvPr/>
        </p:nvSpPr>
        <p:spPr>
          <a:xfrm>
            <a:off x="8229600" y="2505456"/>
            <a:ext cx="457200" cy="457200"/>
          </a:xfrm>
          <a:prstGeom prst="ellipse">
            <a:avLst/>
          </a:prstGeom>
          <a:solidFill>
            <a:srgbClr val="F4F1EA"/>
          </a:solidFill>
          <a:ln w="12700">
            <a:solidFill>
              <a:srgbClr val="F4F1EA"/>
            </a:solidFill>
            <a:prstDash val="solid"/>
          </a:ln>
        </p:spPr>
      </p:sp>
      <p:pic>
        <p:nvPicPr>
          <p:cNvPr id="11" name="icon FaIdCard" descr="preencoded.png">    </p:cNvPr>
          <p:cNvPicPr>
            <a:picLocks noChangeAspect="1"/>
          </p:cNvPicPr>
          <p:nvPr/>
        </p:nvPicPr>
        <p:blipFill>
          <a:blip r:embed="rId3"/>
          <a:stretch>
            <a:fillRect/>
          </a:stretch>
        </p:blipFill>
        <p:spPr>
          <a:xfrm>
            <a:off x="8321040" y="2596896"/>
            <a:ext cx="274320" cy="274320"/>
          </a:xfrm>
          <a:prstGeom prst="rect">
            <a:avLst/>
          </a:prstGeom>
        </p:spPr>
      </p:pic>
      <p:sp>
        <p:nvSpPr>
          <p:cNvPr id="12" name="Text 7"/>
          <p:cNvSpPr txBox="1"/>
          <p:nvPr/>
        </p:nvSpPr>
        <p:spPr>
          <a:xfrm>
            <a:off x="457200" y="2487168"/>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التحقق من العملاء (KYC) ومكافحة غسل الأموال</a:t>
            </a:r>
            <a:endParaRPr lang="ar-AE" sz="1300" dirty="0"/>
          </a:p>
          <a:p>
            <a:pPr algn="r" indent="0" marL="0">
              <a:spcAft>
                <a:spcPts val="200"/>
              </a:spcAft>
              <a:buNone/>
            </a:pPr>
            <a:r>
              <a:rPr lang="ar-AE" altLang="en-US" sz="1100" dirty="0">
                <a:solidFill>
                  <a:schemeClr val="accent3"/>
                </a:solidFill>
              </a:rPr>
              <a:t>يتولاها المكتب وفق القانون الاتحادي.</a:t>
            </a:r>
            <a:endParaRPr lang="ar-AE" sz="1300" dirty="0"/>
          </a:p>
        </p:txBody>
      </p:sp>
      <p:sp>
        <p:nvSpPr>
          <p:cNvPr id="13" name="Shape 8"/>
          <p:cNvSpPr/>
          <p:nvPr/>
        </p:nvSpPr>
        <p:spPr>
          <a:xfrm>
            <a:off x="8229600" y="3163824"/>
            <a:ext cx="457200" cy="457200"/>
          </a:xfrm>
          <a:prstGeom prst="ellipse">
            <a:avLst/>
          </a:prstGeom>
          <a:solidFill>
            <a:srgbClr val="F4F1EA"/>
          </a:solidFill>
          <a:ln w="12700">
            <a:solidFill>
              <a:srgbClr val="F4F1EA"/>
            </a:solidFill>
            <a:prstDash val="solid"/>
          </a:ln>
        </p:spPr>
      </p:sp>
      <p:pic>
        <p:nvPicPr>
          <p:cNvPr id="14" name="icon FaBan" descr="preencoded.png">    </p:cNvPr>
          <p:cNvPicPr>
            <a:picLocks noChangeAspect="1"/>
          </p:cNvPicPr>
          <p:nvPr/>
        </p:nvPicPr>
        <p:blipFill>
          <a:blip r:embed="rId4"/>
          <a:stretch>
            <a:fillRect/>
          </a:stretch>
        </p:blipFill>
        <p:spPr>
          <a:xfrm>
            <a:off x="8321040" y="3255264"/>
            <a:ext cx="274320" cy="274320"/>
          </a:xfrm>
          <a:prstGeom prst="rect">
            <a:avLst/>
          </a:prstGeom>
        </p:spPr>
      </p:pic>
      <p:sp>
        <p:nvSpPr>
          <p:cNvPr id="15" name="Text 9"/>
          <p:cNvSpPr txBox="1"/>
          <p:nvPr/>
        </p:nvSpPr>
        <p:spPr>
          <a:xfrm>
            <a:off x="457200" y="3145536"/>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عدم التجاوز</a:t>
            </a:r>
            <a:endParaRPr lang="ar-AE" sz="1300" dirty="0"/>
          </a:p>
          <a:p>
            <a:pPr algn="r" indent="0" marL="0">
              <a:spcAft>
                <a:spcPts val="200"/>
              </a:spcAft>
              <a:buNone/>
            </a:pPr>
            <a:r>
              <a:rPr lang="ar-AE" altLang="en-US" sz="1100" dirty="0">
                <a:solidFill>
                  <a:schemeClr val="accent3"/>
                </a:solidFill>
              </a:rPr>
              <a:t>لا يتجاوز أي طرف الآخر في علاقته بعملائه.</a:t>
            </a:r>
            <a:endParaRPr lang="ar-AE" sz="1300" dirty="0"/>
          </a:p>
        </p:txBody>
      </p:sp>
      <p:sp>
        <p:nvSpPr>
          <p:cNvPr id="16" name="Shape 10"/>
          <p:cNvSpPr/>
          <p:nvPr/>
        </p:nvSpPr>
        <p:spPr>
          <a:xfrm>
            <a:off x="8229600" y="3822192"/>
            <a:ext cx="457200" cy="457200"/>
          </a:xfrm>
          <a:prstGeom prst="ellipse">
            <a:avLst/>
          </a:prstGeom>
          <a:solidFill>
            <a:srgbClr val="F4F1EA"/>
          </a:solidFill>
          <a:ln w="12700">
            <a:solidFill>
              <a:srgbClr val="F4F1EA"/>
            </a:solidFill>
            <a:prstDash val="solid"/>
          </a:ln>
        </p:spPr>
      </p:sp>
      <p:pic>
        <p:nvPicPr>
          <p:cNvPr id="17" name="icon FaFileContract" descr="preencoded.png">    </p:cNvPr>
          <p:cNvPicPr>
            <a:picLocks noChangeAspect="1"/>
          </p:cNvPicPr>
          <p:nvPr/>
        </p:nvPicPr>
        <p:blipFill>
          <a:blip r:embed="rId5"/>
          <a:stretch>
            <a:fillRect/>
          </a:stretch>
        </p:blipFill>
        <p:spPr>
          <a:xfrm>
            <a:off x="8321040" y="3913632"/>
            <a:ext cx="274320" cy="274320"/>
          </a:xfrm>
          <a:prstGeom prst="rect">
            <a:avLst/>
          </a:prstGeom>
        </p:spPr>
      </p:pic>
      <p:sp>
        <p:nvSpPr>
          <p:cNvPr id="18" name="Text 11"/>
          <p:cNvSpPr txBox="1"/>
          <p:nvPr/>
        </p:nvSpPr>
        <p:spPr>
          <a:xfrm>
            <a:off x="457200" y="3803904"/>
            <a:ext cx="7589520" cy="585216"/>
          </a:xfrm>
          <a:prstGeom prst="rect">
            <a:avLst/>
          </a:prstGeom>
          <a:noFill/>
          <a:ln/>
        </p:spPr>
        <p:txBody>
          <a:bodyPr wrap="square" lIns="0" tIns="0" rIns="0" bIns="0" rtlCol="0" anchor="t"/>
          <a:lstStyle/>
          <a:p>
            <a:pPr algn="r" indent="0" marL="0">
              <a:spcAft>
                <a:spcPts val="200"/>
              </a:spcAft>
              <a:buNone/>
            </a:pPr>
            <a:r>
              <a:rPr lang="ar-AE" altLang="en-US" sz="1300" b="1" dirty="0">
                <a:solidFill>
                  <a:schemeClr val="tx1"/>
                </a:solidFill>
              </a:rPr>
              <a:t>الشفافية في الأتعاب</a:t>
            </a:r>
            <a:endParaRPr lang="ar-AE" sz="1300" dirty="0"/>
          </a:p>
          <a:p>
            <a:pPr algn="r" indent="0" marL="0">
              <a:spcAft>
                <a:spcPts val="200"/>
              </a:spcAft>
              <a:buNone/>
            </a:pPr>
            <a:r>
              <a:rPr lang="ar-AE" altLang="en-US" sz="1100" dirty="0">
                <a:solidFill>
                  <a:schemeClr val="accent3"/>
                </a:solidFill>
              </a:rPr>
              <a:t>عرض مكتوب واحد للعميل، والعمولة مذكورة في الاتفاقية مع مراعاة تنظيمات المهنة.</a:t>
            </a:r>
            <a:endParaRPr lang="ar-AE" sz="13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858000" y="1463040"/>
            <a:ext cx="1828800" cy="1463040"/>
          </a:xfrm>
          <a:prstGeom prst="rect">
            <a:avLst/>
          </a:prstGeom>
          <a:noFill/>
          <a:ln/>
        </p:spPr>
        <p:txBody>
          <a:bodyPr wrap="square" lIns="0" tIns="0" rIns="0" bIns="0" rtlCol="0" anchor="ctr"/>
          <a:lstStyle/>
          <a:p>
            <a:pPr algn="r" indent="0" marL="0">
              <a:buNone/>
            </a:pPr>
            <a:r>
              <a:rPr lang="en-US" sz="7200" dirty="0">
                <a:solidFill>
                  <a:schemeClr val="accent1"/>
                </a:solidFill>
                <a:latin typeface="Cambria" pitchFamily="34" charset="0"/>
                <a:ea typeface="Cambria" pitchFamily="34" charset="-122"/>
                <a:cs typeface="Cambria" pitchFamily="34" charset="-120"/>
              </a:rPr>
              <a:t>06</a:t>
            </a:r>
            <a:endParaRPr lang="en-US" sz="7200" dirty="0"/>
          </a:p>
        </p:txBody>
      </p:sp>
      <p:sp>
        <p:nvSpPr>
          <p:cNvPr id="3" name="Text 1"/>
          <p:cNvSpPr txBox="1"/>
          <p:nvPr/>
        </p:nvSpPr>
        <p:spPr>
          <a:xfrm>
            <a:off x="914400" y="2834640"/>
            <a:ext cx="7772400" cy="731520"/>
          </a:xfrm>
          <a:prstGeom prst="rect">
            <a:avLst/>
          </a:prstGeom>
          <a:noFill/>
          <a:ln/>
        </p:spPr>
        <p:txBody>
          <a:bodyPr wrap="square" lIns="0" tIns="0" rIns="0" bIns="0" rtlCol="0" anchor="t"/>
          <a:lstStyle/>
          <a:p>
            <a:pPr rtl="1" algn="r" indent="0" marL="0">
              <a:buNone/>
            </a:pPr>
            <a:r>
              <a:rPr lang="ar-AE" altLang="en-US" sz="3000" b="1" dirty="0">
                <a:solidFill>
                  <a:schemeClr val="bg1"/>
                </a:solidFill>
                <a:latin typeface="Cambria" pitchFamily="34" charset="0"/>
                <a:ea typeface="Cambria" pitchFamily="34" charset="-122"/>
                <a:cs typeface="Cambria" pitchFamily="34" charset="-120"/>
              </a:rPr>
              <a:t>التسويق المشترك والانطلاق</a:t>
            </a:r>
            <a:endParaRPr lang="ar-AE" sz="3000" dirty="0"/>
          </a:p>
        </p:txBody>
      </p:sp>
      <p:sp>
        <p:nvSpPr>
          <p:cNvPr id="4" name="Text 2"/>
          <p:cNvSpPr txBox="1"/>
          <p:nvPr/>
        </p:nvSpPr>
        <p:spPr>
          <a:xfrm>
            <a:off x="914400" y="3566160"/>
            <a:ext cx="7772400" cy="548640"/>
          </a:xfrm>
          <a:prstGeom prst="rect">
            <a:avLst/>
          </a:prstGeom>
          <a:noFill/>
          <a:ln/>
        </p:spPr>
        <p:txBody>
          <a:bodyPr wrap="square" lIns="0" tIns="0" rIns="0" bIns="0" rtlCol="0" anchor="ctr"/>
          <a:lstStyle/>
          <a:p>
            <a:pPr rtl="1" algn="r" indent="0" marL="0">
              <a:buNone/>
            </a:pPr>
            <a:r>
              <a:rPr lang="ar-AE" altLang="en-US" sz="1400" dirty="0">
                <a:solidFill>
                  <a:schemeClr val="accent2"/>
                </a:solidFill>
              </a:rPr>
              <a:t>نساعدكم على تقديم الخدمة لعملائكم بثقة</a:t>
            </a:r>
            <a:endParaRPr lang="ar-AE" sz="14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8C39A"/>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ما نفعله معكم</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التسويق المشترك</a:t>
            </a:r>
            <a:endParaRPr lang="ar-AE" sz="1000" dirty="0"/>
          </a:p>
        </p:txBody>
      </p:sp>
      <p:sp>
        <p:nvSpPr>
          <p:cNvPr id="4" name="Shape 2"/>
          <p:cNvSpPr/>
          <p:nvPr/>
        </p:nvSpPr>
        <p:spPr>
          <a:xfrm>
            <a:off x="6096000" y="1188720"/>
            <a:ext cx="2590800" cy="1508760"/>
          </a:xfrm>
          <a:prstGeom prst="rect">
            <a:avLst/>
          </a:prstGeom>
          <a:solidFill>
            <a:srgbClr val="F4F1EA"/>
          </a:solidFill>
          <a:ln w="12700">
            <a:solidFill>
              <a:srgbClr val="F4F1EA"/>
            </a:solidFill>
            <a:prstDash val="solid"/>
          </a:ln>
        </p:spPr>
      </p:sp>
      <p:pic>
        <p:nvPicPr>
          <p:cNvPr id="5" name="icon FaChalkboardUser" descr="preencoded.png">    </p:cNvPr>
          <p:cNvPicPr>
            <a:picLocks noChangeAspect="1"/>
          </p:cNvPicPr>
          <p:nvPr/>
        </p:nvPicPr>
        <p:blipFill>
          <a:blip r:embed="rId1"/>
          <a:stretch>
            <a:fillRect/>
          </a:stretch>
        </p:blipFill>
        <p:spPr>
          <a:xfrm>
            <a:off x="8174736" y="1389888"/>
            <a:ext cx="310896" cy="310896"/>
          </a:xfrm>
          <a:prstGeom prst="rect">
            <a:avLst/>
          </a:prstGeom>
        </p:spPr>
      </p:pic>
      <p:sp>
        <p:nvSpPr>
          <p:cNvPr id="6" name="Text 3"/>
          <p:cNvSpPr txBox="1"/>
          <p:nvPr/>
        </p:nvSpPr>
        <p:spPr>
          <a:xfrm>
            <a:off x="6297168" y="182880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ندوة مجانية لفريق المبيعات</a:t>
            </a:r>
            <a:endParaRPr lang="ar-AE" sz="1250" dirty="0"/>
          </a:p>
          <a:p>
            <a:pPr algn="r" indent="0" marL="0">
              <a:spcAft>
                <a:spcPts val="300"/>
              </a:spcAft>
              <a:buNone/>
            </a:pPr>
            <a:r>
              <a:rPr lang="ar-AE" altLang="en-US" sz="1050" dirty="0">
                <a:solidFill>
                  <a:schemeClr val="accent3"/>
                </a:solidFill>
              </a:rPr>
              <a:t>«كيف تحمي المستثمر الأجنبي في الإمارات» خلال ساعة واحدة في مكتبكم.</a:t>
            </a:r>
            <a:endParaRPr lang="ar-AE" sz="1250" dirty="0"/>
          </a:p>
        </p:txBody>
      </p:sp>
      <p:sp>
        <p:nvSpPr>
          <p:cNvPr id="7" name="Shape 4"/>
          <p:cNvSpPr/>
          <p:nvPr/>
        </p:nvSpPr>
        <p:spPr>
          <a:xfrm>
            <a:off x="3276600" y="1188720"/>
            <a:ext cx="2590800" cy="1508760"/>
          </a:xfrm>
          <a:prstGeom prst="rect">
            <a:avLst/>
          </a:prstGeom>
          <a:solidFill>
            <a:srgbClr val="F4F1EA"/>
          </a:solidFill>
          <a:ln w="12700">
            <a:solidFill>
              <a:srgbClr val="F4F1EA"/>
            </a:solidFill>
            <a:prstDash val="solid"/>
          </a:ln>
        </p:spPr>
      </p:sp>
      <p:pic>
        <p:nvPicPr>
          <p:cNvPr id="8" name="icon FaVideo" descr="preencoded.png">    </p:cNvPr>
          <p:cNvPicPr>
            <a:picLocks noChangeAspect="1"/>
          </p:cNvPicPr>
          <p:nvPr/>
        </p:nvPicPr>
        <p:blipFill>
          <a:blip r:embed="rId2"/>
          <a:stretch>
            <a:fillRect/>
          </a:stretch>
        </p:blipFill>
        <p:spPr>
          <a:xfrm>
            <a:off x="5355336" y="1389888"/>
            <a:ext cx="310896" cy="310896"/>
          </a:xfrm>
          <a:prstGeom prst="rect">
            <a:avLst/>
          </a:prstGeom>
        </p:spPr>
      </p:pic>
      <p:sp>
        <p:nvSpPr>
          <p:cNvPr id="9" name="Text 5"/>
          <p:cNvSpPr txBox="1"/>
          <p:nvPr/>
        </p:nvSpPr>
        <p:spPr>
          <a:xfrm>
            <a:off x="3477768" y="182880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ويبينارات لعملائكم</a:t>
            </a:r>
            <a:endParaRPr lang="ar-AE" sz="1250" dirty="0"/>
          </a:p>
          <a:p>
            <a:pPr algn="r" indent="0" marL="0">
              <a:spcAft>
                <a:spcPts val="300"/>
              </a:spcAft>
              <a:buNone/>
            </a:pPr>
            <a:r>
              <a:rPr lang="ar-AE" altLang="en-US" sz="1050" dirty="0">
                <a:solidFill>
                  <a:schemeClr val="accent3"/>
                </a:solidFill>
              </a:rPr>
              <a:t>بالإنجليزية أو الروسية أو الصينية، تحت اسمكم واسمنا.</a:t>
            </a:r>
            <a:endParaRPr lang="ar-AE" sz="1250" dirty="0"/>
          </a:p>
        </p:txBody>
      </p:sp>
      <p:sp>
        <p:nvSpPr>
          <p:cNvPr id="10" name="Shape 6"/>
          <p:cNvSpPr/>
          <p:nvPr/>
        </p:nvSpPr>
        <p:spPr>
          <a:xfrm>
            <a:off x="457200" y="1188720"/>
            <a:ext cx="2590800" cy="1508760"/>
          </a:xfrm>
          <a:prstGeom prst="rect">
            <a:avLst/>
          </a:prstGeom>
          <a:solidFill>
            <a:srgbClr val="F4F1EA"/>
          </a:solidFill>
          <a:ln w="12700">
            <a:solidFill>
              <a:srgbClr val="F4F1EA"/>
            </a:solidFill>
            <a:prstDash val="solid"/>
          </a:ln>
        </p:spPr>
      </p:sp>
      <p:pic>
        <p:nvPicPr>
          <p:cNvPr id="11" name="icon FaUsers" descr="preencoded.png">    </p:cNvPr>
          <p:cNvPicPr>
            <a:picLocks noChangeAspect="1"/>
          </p:cNvPicPr>
          <p:nvPr/>
        </p:nvPicPr>
        <p:blipFill>
          <a:blip r:embed="rId3"/>
          <a:stretch>
            <a:fillRect/>
          </a:stretch>
        </p:blipFill>
        <p:spPr>
          <a:xfrm>
            <a:off x="2535936" y="1389888"/>
            <a:ext cx="310896" cy="310896"/>
          </a:xfrm>
          <a:prstGeom prst="rect">
            <a:avLst/>
          </a:prstGeom>
        </p:spPr>
      </p:pic>
      <p:sp>
        <p:nvSpPr>
          <p:cNvPr id="12" name="Text 7"/>
          <p:cNvSpPr txBox="1"/>
          <p:nvPr/>
        </p:nvSpPr>
        <p:spPr>
          <a:xfrm>
            <a:off x="658368" y="182880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فعاليات المستثمرين وإطلاق المشاريع</a:t>
            </a:r>
            <a:endParaRPr lang="ar-AE" sz="1250" dirty="0"/>
          </a:p>
          <a:p>
            <a:pPr algn="r" indent="0" marL="0">
              <a:spcAft>
                <a:spcPts val="300"/>
              </a:spcAft>
              <a:buNone/>
            </a:pPr>
            <a:r>
              <a:rPr lang="ar-AE" altLang="en-US" sz="1050" dirty="0">
                <a:solidFill>
                  <a:schemeClr val="accent3"/>
                </a:solidFill>
              </a:rPr>
              <a:t>مستشار من المكتب حاضر لإجابة الأسئلة في مكان الحدث.</a:t>
            </a:r>
            <a:endParaRPr lang="ar-AE" sz="1250" dirty="0"/>
          </a:p>
        </p:txBody>
      </p:sp>
      <p:sp>
        <p:nvSpPr>
          <p:cNvPr id="13" name="Shape 8"/>
          <p:cNvSpPr/>
          <p:nvPr/>
        </p:nvSpPr>
        <p:spPr>
          <a:xfrm>
            <a:off x="6096000" y="2926080"/>
            <a:ext cx="2590800" cy="1508760"/>
          </a:xfrm>
          <a:prstGeom prst="rect">
            <a:avLst/>
          </a:prstGeom>
          <a:solidFill>
            <a:srgbClr val="F4F1EA"/>
          </a:solidFill>
          <a:ln w="12700">
            <a:solidFill>
              <a:srgbClr val="F4F1EA"/>
            </a:solidFill>
            <a:prstDash val="solid"/>
          </a:ln>
        </p:spPr>
      </p:sp>
      <p:pic>
        <p:nvPicPr>
          <p:cNvPr id="14" name="icon FaFolderOpen" descr="preencoded.png">    </p:cNvPr>
          <p:cNvPicPr>
            <a:picLocks noChangeAspect="1"/>
          </p:cNvPicPr>
          <p:nvPr/>
        </p:nvPicPr>
        <p:blipFill>
          <a:blip r:embed="rId4"/>
          <a:stretch>
            <a:fillRect/>
          </a:stretch>
        </p:blipFill>
        <p:spPr>
          <a:xfrm>
            <a:off x="8174736" y="3127248"/>
            <a:ext cx="310896" cy="310896"/>
          </a:xfrm>
          <a:prstGeom prst="rect">
            <a:avLst/>
          </a:prstGeom>
        </p:spPr>
      </p:pic>
      <p:sp>
        <p:nvSpPr>
          <p:cNvPr id="15" name="Text 9"/>
          <p:cNvSpPr txBox="1"/>
          <p:nvPr/>
        </p:nvSpPr>
        <p:spPr>
          <a:xfrm>
            <a:off x="6297168" y="356616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مواد جاهزة</a:t>
            </a:r>
            <a:endParaRPr lang="ar-AE" sz="1250" dirty="0"/>
          </a:p>
          <a:p>
            <a:pPr algn="r" indent="0" marL="0">
              <a:spcAft>
                <a:spcPts val="300"/>
              </a:spcAft>
              <a:buNone/>
            </a:pPr>
            <a:r>
              <a:rPr lang="ar-AE" altLang="en-US" sz="1050" dirty="0">
                <a:solidFill>
                  <a:schemeClr val="accent3"/>
                </a:solidFill>
              </a:rPr>
              <a:t>كتيّب، نص واتساب، أسئلة شائعة، وعرض تقديمي بلغتين.</a:t>
            </a:r>
            <a:endParaRPr lang="ar-AE" sz="1250" dirty="0"/>
          </a:p>
        </p:txBody>
      </p:sp>
      <p:sp>
        <p:nvSpPr>
          <p:cNvPr id="16" name="Shape 10"/>
          <p:cNvSpPr/>
          <p:nvPr/>
        </p:nvSpPr>
        <p:spPr>
          <a:xfrm>
            <a:off x="3276600" y="2926080"/>
            <a:ext cx="2590800" cy="1508760"/>
          </a:xfrm>
          <a:prstGeom prst="rect">
            <a:avLst/>
          </a:prstGeom>
          <a:solidFill>
            <a:srgbClr val="F4F1EA"/>
          </a:solidFill>
          <a:ln w="12700">
            <a:solidFill>
              <a:srgbClr val="F4F1EA"/>
            </a:solidFill>
            <a:prstDash val="solid"/>
          </a:ln>
        </p:spPr>
      </p:sp>
      <p:pic>
        <p:nvPicPr>
          <p:cNvPr id="17" name="icon FaHashtag" descr="preencoded.png">    </p:cNvPr>
          <p:cNvPicPr>
            <a:picLocks noChangeAspect="1"/>
          </p:cNvPicPr>
          <p:nvPr/>
        </p:nvPicPr>
        <p:blipFill>
          <a:blip r:embed="rId5"/>
          <a:stretch>
            <a:fillRect/>
          </a:stretch>
        </p:blipFill>
        <p:spPr>
          <a:xfrm>
            <a:off x="5355336" y="3127248"/>
            <a:ext cx="310896" cy="310896"/>
          </a:xfrm>
          <a:prstGeom prst="rect">
            <a:avLst/>
          </a:prstGeom>
        </p:spPr>
      </p:pic>
      <p:sp>
        <p:nvSpPr>
          <p:cNvPr id="18" name="Text 11"/>
          <p:cNvSpPr txBox="1"/>
          <p:nvPr/>
        </p:nvSpPr>
        <p:spPr>
          <a:xfrm>
            <a:off x="3477768" y="356616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محتوى التواصل الاجتماعي</a:t>
            </a:r>
            <a:endParaRPr lang="ar-AE" sz="1250" dirty="0"/>
          </a:p>
          <a:p>
            <a:pPr algn="r" indent="0" marL="0">
              <a:spcAft>
                <a:spcPts val="300"/>
              </a:spcAft>
              <a:buNone/>
            </a:pPr>
            <a:r>
              <a:rPr lang="ar-AE" altLang="en-US" sz="1050" dirty="0">
                <a:solidFill>
                  <a:schemeClr val="accent3"/>
                </a:solidFill>
              </a:rPr>
              <a:t>ماذا يحدث لعقارك بدون وصية؟ هل تُجمّد الحسابات؟ DIFC أم ADGM؟</a:t>
            </a:r>
            <a:endParaRPr lang="ar-AE" sz="1250" dirty="0"/>
          </a:p>
        </p:txBody>
      </p:sp>
      <p:sp>
        <p:nvSpPr>
          <p:cNvPr id="19" name="Shape 12"/>
          <p:cNvSpPr/>
          <p:nvPr/>
        </p:nvSpPr>
        <p:spPr>
          <a:xfrm>
            <a:off x="457200" y="2926080"/>
            <a:ext cx="2590800" cy="1508760"/>
          </a:xfrm>
          <a:prstGeom prst="rect">
            <a:avLst/>
          </a:prstGeom>
          <a:solidFill>
            <a:srgbClr val="F4F1EA"/>
          </a:solidFill>
          <a:ln w="12700">
            <a:solidFill>
              <a:srgbClr val="F4F1EA"/>
            </a:solidFill>
            <a:prstDash val="solid"/>
          </a:ln>
        </p:spPr>
      </p:sp>
      <p:pic>
        <p:nvPicPr>
          <p:cNvPr id="20" name="icon FaComments" descr="preencoded.png">    </p:cNvPr>
          <p:cNvPicPr>
            <a:picLocks noChangeAspect="1"/>
          </p:cNvPicPr>
          <p:nvPr/>
        </p:nvPicPr>
        <p:blipFill>
          <a:blip r:embed="rId6"/>
          <a:stretch>
            <a:fillRect/>
          </a:stretch>
        </p:blipFill>
        <p:spPr>
          <a:xfrm>
            <a:off x="2535936" y="3127248"/>
            <a:ext cx="310896" cy="310896"/>
          </a:xfrm>
          <a:prstGeom prst="rect">
            <a:avLst/>
          </a:prstGeom>
        </p:spPr>
      </p:pic>
      <p:sp>
        <p:nvSpPr>
          <p:cNvPr id="21" name="Text 13"/>
          <p:cNvSpPr txBox="1"/>
          <p:nvPr/>
        </p:nvSpPr>
        <p:spPr>
          <a:xfrm>
            <a:off x="658368" y="3566160"/>
            <a:ext cx="2188464" cy="713232"/>
          </a:xfrm>
          <a:prstGeom prst="rect">
            <a:avLst/>
          </a:prstGeom>
          <a:noFill/>
          <a:ln/>
        </p:spPr>
        <p:txBody>
          <a:bodyPr wrap="square" lIns="0" tIns="0" rIns="0" bIns="0" rtlCol="0" anchor="t"/>
          <a:lstStyle/>
          <a:p>
            <a:pPr algn="r" indent="0" marL="0">
              <a:spcAft>
                <a:spcPts val="300"/>
              </a:spcAft>
              <a:buNone/>
            </a:pPr>
            <a:r>
              <a:rPr lang="ar-AE" altLang="en-US" sz="1250" b="1" dirty="0">
                <a:solidFill>
                  <a:schemeClr val="tx1"/>
                </a:solidFill>
              </a:rPr>
              <a:t>استشارة مجانية أولى</a:t>
            </a:r>
            <a:endParaRPr lang="ar-AE" sz="1250" dirty="0"/>
          </a:p>
          <a:p>
            <a:pPr algn="r" indent="0" marL="0">
              <a:spcAft>
                <a:spcPts val="300"/>
              </a:spcAft>
              <a:buNone/>
            </a:pPr>
            <a:r>
              <a:rPr lang="ar-AE" altLang="en-US" sz="1050" dirty="0">
                <a:solidFill>
                  <a:schemeClr val="accent3"/>
                </a:solidFill>
              </a:rPr>
              <a:t>لكل عميل تحوّلونه، بلغته، في المكان الذي يناسبه.</a:t>
            </a:r>
            <a:endParaRPr lang="ar-AE" sz="125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3" type="title" hasCustomPrompt="1"/>
          </p:nvPr>
        </p:nvSpPr>
        <p:spPr>
          <a:xfrm>
            <a:off x="457200" y="347472"/>
            <a:ext cx="8229600" cy="685800"/>
          </a:xfrm>
          <a:prstGeom prst="rect">
            <a:avLst/>
          </a:prstGeom>
          <a:noFill/>
          <a:ln/>
        </p:spPr>
        <p:txBody>
          <a:bodyPr wrap="square" lIns="0" tIns="0" rIns="0" bIns="0" rtlCol="0" anchor="ctr"/>
          <a:lstStyle/>
          <a:p>
            <a:pPr rtl="1" algn="r" indent="0" marL="0">
              <a:buNone/>
            </a:pPr>
            <a:r>
              <a:rPr lang="en-US" sz="2600" b="1" dirty="0">
                <a:solidFill>
                  <a:srgbClr val="0B0B0B"/>
                </a:solidFill>
              </a:rPr>
              <a:t>الانطلاق في ثلاثة أسابيع</a:t>
            </a:r>
            <a:endParaRPr lang="en-US" sz="2600" dirty="0"/>
          </a:p>
        </p:txBody>
      </p:sp>
      <p:sp>
        <p:nvSpPr>
          <p:cNvPr id="3" name="Text 1"/>
          <p:cNvSpPr txBox="1"/>
          <p:nvPr/>
        </p:nvSpPr>
        <p:spPr>
          <a:xfrm>
            <a:off x="457200" y="146304"/>
            <a:ext cx="8229600" cy="237744"/>
          </a:xfrm>
          <a:prstGeom prst="rect">
            <a:avLst/>
          </a:prstGeom>
          <a:noFill/>
          <a:ln/>
        </p:spPr>
        <p:txBody>
          <a:bodyPr wrap="square" lIns="0" tIns="0" rIns="0" bIns="0" rtlCol="0" anchor="ctr"/>
          <a:lstStyle/>
          <a:p>
            <a:pPr rtl="1" algn="r" indent="0" marL="0">
              <a:buNone/>
            </a:pPr>
            <a:r>
              <a:rPr lang="ar-AE" altLang="en-US" sz="1000" b="1" dirty="0">
                <a:solidFill>
                  <a:schemeClr val="accent1"/>
                </a:solidFill>
              </a:rPr>
              <a:t>خطة الانطلاق</a:t>
            </a:r>
            <a:endParaRPr lang="ar-AE" sz="1000" dirty="0"/>
          </a:p>
        </p:txBody>
      </p:sp>
      <p:sp>
        <p:nvSpPr>
          <p:cNvPr id="4" name="Shape 2"/>
          <p:cNvSpPr/>
          <p:nvPr/>
        </p:nvSpPr>
        <p:spPr>
          <a:xfrm>
            <a:off x="6065520" y="1188720"/>
            <a:ext cx="2621280" cy="502920"/>
          </a:xfrm>
          <a:prstGeom prst="rect">
            <a:avLst/>
          </a:prstGeom>
          <a:solidFill>
            <a:srgbClr val="0B0B0B"/>
          </a:solidFill>
          <a:ln w="12700">
            <a:solidFill>
              <a:srgbClr val="0B0B0B"/>
            </a:solidFill>
            <a:prstDash val="solid"/>
          </a:ln>
        </p:spPr>
      </p:sp>
      <p:sp>
        <p:nvSpPr>
          <p:cNvPr id="5" name="Text 3"/>
          <p:cNvSpPr txBox="1"/>
          <p:nvPr/>
        </p:nvSpPr>
        <p:spPr>
          <a:xfrm>
            <a:off x="6202680" y="1188720"/>
            <a:ext cx="2346960" cy="502920"/>
          </a:xfrm>
          <a:prstGeom prst="rect">
            <a:avLst/>
          </a:prstGeom>
          <a:noFill/>
          <a:ln/>
        </p:spPr>
        <p:txBody>
          <a:bodyPr wrap="square" lIns="0" tIns="0" rIns="0" bIns="0" rtlCol="0" anchor="ctr"/>
          <a:lstStyle/>
          <a:p>
            <a:pPr rtl="1" algn="r" indent="0" marL="0">
              <a:buNone/>
            </a:pPr>
            <a:r>
              <a:rPr lang="ar-AE" altLang="en-US" sz="1200" b="1" dirty="0">
                <a:solidFill>
                  <a:schemeClr val="accent1"/>
                </a:solidFill>
              </a:rPr>
              <a:t>الأسبوع الأول</a:t>
            </a:r>
            <a:endParaRPr lang="ar-AE" sz="1200" dirty="0"/>
          </a:p>
        </p:txBody>
      </p:sp>
      <p:sp>
        <p:nvSpPr>
          <p:cNvPr id="6" name="Shape 4"/>
          <p:cNvSpPr/>
          <p:nvPr/>
        </p:nvSpPr>
        <p:spPr>
          <a:xfrm>
            <a:off x="6065520" y="1691640"/>
            <a:ext cx="2621280" cy="2743200"/>
          </a:xfrm>
          <a:prstGeom prst="rect">
            <a:avLst/>
          </a:prstGeom>
          <a:solidFill>
            <a:srgbClr val="F4F1EA"/>
          </a:solidFill>
          <a:ln w="12700">
            <a:solidFill>
              <a:srgbClr val="F4F1EA"/>
            </a:solidFill>
            <a:prstDash val="solid"/>
          </a:ln>
        </p:spPr>
      </p:sp>
      <p:sp>
        <p:nvSpPr>
          <p:cNvPr id="7" name="Text 5"/>
          <p:cNvSpPr txBox="1"/>
          <p:nvPr/>
        </p:nvSpPr>
        <p:spPr>
          <a:xfrm>
            <a:off x="6202680" y="1828800"/>
            <a:ext cx="2346960" cy="457200"/>
          </a:xfrm>
          <a:prstGeom prst="rect">
            <a:avLst/>
          </a:prstGeom>
          <a:noFill/>
          <a:ln/>
        </p:spPr>
        <p:txBody>
          <a:bodyPr wrap="square" lIns="0" tIns="0" rIns="0" bIns="0" rtlCol="0" anchor="t"/>
          <a:lstStyle/>
          <a:p>
            <a:pPr rtl="1" algn="r" indent="0" marL="0">
              <a:buNone/>
            </a:pPr>
            <a:r>
              <a:rPr lang="ar-AE" altLang="en-US" sz="1300" b="1" dirty="0">
                <a:solidFill>
                  <a:schemeClr val="tx1"/>
                </a:solidFill>
              </a:rPr>
              <a:t>الاتفاقية</a:t>
            </a:r>
            <a:endParaRPr lang="ar-AE" sz="1300" dirty="0"/>
          </a:p>
        </p:txBody>
      </p:sp>
      <p:sp>
        <p:nvSpPr>
          <p:cNvPr id="8" name="Text 6"/>
          <p:cNvSpPr txBox="1"/>
          <p:nvPr/>
        </p:nvSpPr>
        <p:spPr>
          <a:xfrm>
            <a:off x="6202680" y="2286000"/>
            <a:ext cx="2346960" cy="2057400"/>
          </a:xfrm>
          <a:prstGeom prst="rect">
            <a:avLst/>
          </a:prstGeom>
          <a:noFill/>
          <a:ln/>
        </p:spPr>
        <p:txBody>
          <a:bodyPr wrap="square" lIns="0" tIns="0" rIns="0" bIns="0" rtlCol="0" anchor="t"/>
          <a:lstStyle/>
          <a:p>
            <a:pPr algn="r" marL="152400" indent="-152400">
              <a:spcAft>
                <a:spcPts val="400"/>
              </a:spcAft>
              <a:buSzPct val="100000"/>
              <a:buChar char="•"/>
            </a:pPr>
            <a:r>
              <a:rPr lang="ar-AE" altLang="en-US" sz="1050" dirty="0">
                <a:solidFill>
                  <a:schemeClr val="accent3"/>
                </a:solidFill>
              </a:rPr>
              <a:t>اجتماع مع الإدارة</a:t>
            </a:r>
            <a:endParaRPr lang="ar-AE" sz="1050" dirty="0"/>
          </a:p>
          <a:p>
            <a:pPr algn="r" marL="152400" indent="-152400">
              <a:spcAft>
                <a:spcPts val="400"/>
              </a:spcAft>
              <a:buSzPct val="100000"/>
              <a:buChar char="•"/>
            </a:pPr>
            <a:r>
              <a:rPr lang="ar-AE" altLang="en-US" sz="1050" dirty="0">
                <a:solidFill>
                  <a:schemeClr val="accent3"/>
                </a:solidFill>
              </a:rPr>
              <a:t>توقيع اتفاقية الإحالة والتعاون</a:t>
            </a:r>
            <a:endParaRPr lang="ar-AE" sz="1050" dirty="0"/>
          </a:p>
          <a:p>
            <a:pPr algn="r" marL="152400" indent="-152400">
              <a:spcAft>
                <a:spcPts val="400"/>
              </a:spcAft>
              <a:buSzPct val="100000"/>
              <a:buChar char="•"/>
            </a:pPr>
            <a:r>
              <a:rPr lang="ar-AE" altLang="en-US" sz="1050" dirty="0">
                <a:solidFill>
                  <a:schemeClr val="accent3"/>
                </a:solidFill>
              </a:rPr>
              <a:t>تحديد قناة التواصل وجهة الاتصال</a:t>
            </a:r>
            <a:endParaRPr lang="ar-AE" sz="1050" dirty="0"/>
          </a:p>
        </p:txBody>
      </p:sp>
      <p:sp>
        <p:nvSpPr>
          <p:cNvPr id="9" name="Shape 7"/>
          <p:cNvSpPr/>
          <p:nvPr/>
        </p:nvSpPr>
        <p:spPr>
          <a:xfrm>
            <a:off x="3261360" y="1188720"/>
            <a:ext cx="2621280" cy="502920"/>
          </a:xfrm>
          <a:prstGeom prst="rect">
            <a:avLst/>
          </a:prstGeom>
          <a:solidFill>
            <a:srgbClr val="0B0B0B"/>
          </a:solidFill>
          <a:ln w="12700">
            <a:solidFill>
              <a:srgbClr val="0B0B0B"/>
            </a:solidFill>
            <a:prstDash val="solid"/>
          </a:ln>
        </p:spPr>
      </p:sp>
      <p:sp>
        <p:nvSpPr>
          <p:cNvPr id="10" name="Text 8"/>
          <p:cNvSpPr txBox="1"/>
          <p:nvPr/>
        </p:nvSpPr>
        <p:spPr>
          <a:xfrm>
            <a:off x="3398520" y="1188720"/>
            <a:ext cx="2346960" cy="502920"/>
          </a:xfrm>
          <a:prstGeom prst="rect">
            <a:avLst/>
          </a:prstGeom>
          <a:noFill/>
          <a:ln/>
        </p:spPr>
        <p:txBody>
          <a:bodyPr wrap="square" lIns="0" tIns="0" rIns="0" bIns="0" rtlCol="0" anchor="ctr"/>
          <a:lstStyle/>
          <a:p>
            <a:pPr rtl="1" algn="r" indent="0" marL="0">
              <a:buNone/>
            </a:pPr>
            <a:r>
              <a:rPr lang="ar-AE" altLang="en-US" sz="1200" b="1" dirty="0">
                <a:solidFill>
                  <a:schemeClr val="accent1"/>
                </a:solidFill>
              </a:rPr>
              <a:t>الأسبوع الثاني</a:t>
            </a:r>
            <a:endParaRPr lang="ar-AE" sz="1200" dirty="0"/>
          </a:p>
        </p:txBody>
      </p:sp>
      <p:sp>
        <p:nvSpPr>
          <p:cNvPr id="11" name="Shape 9"/>
          <p:cNvSpPr/>
          <p:nvPr/>
        </p:nvSpPr>
        <p:spPr>
          <a:xfrm>
            <a:off x="3261360" y="1691640"/>
            <a:ext cx="2621280" cy="2743200"/>
          </a:xfrm>
          <a:prstGeom prst="rect">
            <a:avLst/>
          </a:prstGeom>
          <a:solidFill>
            <a:srgbClr val="F4F1EA"/>
          </a:solidFill>
          <a:ln w="12700">
            <a:solidFill>
              <a:srgbClr val="F4F1EA"/>
            </a:solidFill>
            <a:prstDash val="solid"/>
          </a:ln>
        </p:spPr>
      </p:sp>
      <p:sp>
        <p:nvSpPr>
          <p:cNvPr id="12" name="Text 10"/>
          <p:cNvSpPr txBox="1"/>
          <p:nvPr/>
        </p:nvSpPr>
        <p:spPr>
          <a:xfrm>
            <a:off x="3398520" y="1828800"/>
            <a:ext cx="2346960" cy="457200"/>
          </a:xfrm>
          <a:prstGeom prst="rect">
            <a:avLst/>
          </a:prstGeom>
          <a:noFill/>
          <a:ln/>
        </p:spPr>
        <p:txBody>
          <a:bodyPr wrap="square" lIns="0" tIns="0" rIns="0" bIns="0" rtlCol="0" anchor="t"/>
          <a:lstStyle/>
          <a:p>
            <a:pPr rtl="1" algn="r" indent="0" marL="0">
              <a:buNone/>
            </a:pPr>
            <a:r>
              <a:rPr lang="ar-AE" altLang="en-US" sz="1300" b="1" dirty="0">
                <a:solidFill>
                  <a:schemeClr val="tx1"/>
                </a:solidFill>
              </a:rPr>
              <a:t>التدريب</a:t>
            </a:r>
            <a:endParaRPr lang="ar-AE" sz="1300" dirty="0"/>
          </a:p>
        </p:txBody>
      </p:sp>
      <p:sp>
        <p:nvSpPr>
          <p:cNvPr id="13" name="Text 11"/>
          <p:cNvSpPr txBox="1"/>
          <p:nvPr/>
        </p:nvSpPr>
        <p:spPr>
          <a:xfrm>
            <a:off x="3398520" y="2286000"/>
            <a:ext cx="2346960" cy="2057400"/>
          </a:xfrm>
          <a:prstGeom prst="rect">
            <a:avLst/>
          </a:prstGeom>
          <a:noFill/>
          <a:ln/>
        </p:spPr>
        <p:txBody>
          <a:bodyPr wrap="square" lIns="0" tIns="0" rIns="0" bIns="0" rtlCol="0" anchor="t"/>
          <a:lstStyle/>
          <a:p>
            <a:pPr algn="r" marL="152400" indent="-152400">
              <a:spcAft>
                <a:spcPts val="400"/>
              </a:spcAft>
              <a:buSzPct val="100000"/>
              <a:buChar char="•"/>
            </a:pPr>
            <a:r>
              <a:rPr lang="ar-AE" altLang="en-US" sz="1050" dirty="0">
                <a:solidFill>
                  <a:schemeClr val="accent3"/>
                </a:solidFill>
              </a:rPr>
              <a:t>ندوة فريق المبيعات</a:t>
            </a:r>
            <a:endParaRPr lang="ar-AE" sz="1050" dirty="0"/>
          </a:p>
          <a:p>
            <a:pPr algn="r" marL="152400" indent="-152400">
              <a:spcAft>
                <a:spcPts val="400"/>
              </a:spcAft>
              <a:buSzPct val="100000"/>
              <a:buChar char="•"/>
            </a:pPr>
            <a:r>
              <a:rPr lang="ar-AE" altLang="en-US" sz="1050" dirty="0">
                <a:solidFill>
                  <a:schemeClr val="accent3"/>
                </a:solidFill>
              </a:rPr>
              <a:t>تسليم المواد: PDF، عرض، أسئلة شائعة، سكربت</a:t>
            </a:r>
            <a:endParaRPr lang="ar-AE" sz="1050" dirty="0"/>
          </a:p>
          <a:p>
            <a:pPr algn="r" marL="152400" indent="-152400">
              <a:spcAft>
                <a:spcPts val="400"/>
              </a:spcAft>
              <a:buSzPct val="100000"/>
              <a:buChar char="•"/>
            </a:pPr>
            <a:r>
              <a:rPr lang="ar-AE" altLang="en-US" sz="1050" dirty="0">
                <a:solidFill>
                  <a:schemeClr val="accent3"/>
                </a:solidFill>
              </a:rPr>
              <a:t>تجربة أول رسالة تعريف</a:t>
            </a:r>
            <a:endParaRPr lang="ar-AE" sz="1050" dirty="0"/>
          </a:p>
        </p:txBody>
      </p:sp>
      <p:sp>
        <p:nvSpPr>
          <p:cNvPr id="14" name="Shape 12"/>
          <p:cNvSpPr/>
          <p:nvPr/>
        </p:nvSpPr>
        <p:spPr>
          <a:xfrm>
            <a:off x="457200" y="1188720"/>
            <a:ext cx="2621280" cy="502920"/>
          </a:xfrm>
          <a:prstGeom prst="rect">
            <a:avLst/>
          </a:prstGeom>
          <a:solidFill>
            <a:srgbClr val="0B0B0B"/>
          </a:solidFill>
          <a:ln w="12700">
            <a:solidFill>
              <a:srgbClr val="0B0B0B"/>
            </a:solidFill>
            <a:prstDash val="solid"/>
          </a:ln>
        </p:spPr>
      </p:sp>
      <p:sp>
        <p:nvSpPr>
          <p:cNvPr id="15" name="Text 13"/>
          <p:cNvSpPr txBox="1"/>
          <p:nvPr/>
        </p:nvSpPr>
        <p:spPr>
          <a:xfrm>
            <a:off x="594360" y="1188720"/>
            <a:ext cx="2346960" cy="502920"/>
          </a:xfrm>
          <a:prstGeom prst="rect">
            <a:avLst/>
          </a:prstGeom>
          <a:noFill/>
          <a:ln/>
        </p:spPr>
        <p:txBody>
          <a:bodyPr wrap="square" lIns="0" tIns="0" rIns="0" bIns="0" rtlCol="0" anchor="ctr"/>
          <a:lstStyle/>
          <a:p>
            <a:pPr rtl="1" algn="r" indent="0" marL="0">
              <a:buNone/>
            </a:pPr>
            <a:r>
              <a:rPr lang="ar-AE" altLang="en-US" sz="1200" b="1" dirty="0">
                <a:solidFill>
                  <a:schemeClr val="accent1"/>
                </a:solidFill>
              </a:rPr>
              <a:t>الأسبوع الثالث</a:t>
            </a:r>
            <a:endParaRPr lang="ar-AE" sz="1200" dirty="0"/>
          </a:p>
        </p:txBody>
      </p:sp>
      <p:sp>
        <p:nvSpPr>
          <p:cNvPr id="16" name="Shape 14"/>
          <p:cNvSpPr/>
          <p:nvPr/>
        </p:nvSpPr>
        <p:spPr>
          <a:xfrm>
            <a:off x="457200" y="1691640"/>
            <a:ext cx="2621280" cy="2743200"/>
          </a:xfrm>
          <a:prstGeom prst="rect">
            <a:avLst/>
          </a:prstGeom>
          <a:solidFill>
            <a:srgbClr val="F4F1EA"/>
          </a:solidFill>
          <a:ln w="12700">
            <a:solidFill>
              <a:srgbClr val="F4F1EA"/>
            </a:solidFill>
            <a:prstDash val="solid"/>
          </a:ln>
        </p:spPr>
      </p:sp>
      <p:sp>
        <p:nvSpPr>
          <p:cNvPr id="17" name="Text 15"/>
          <p:cNvSpPr txBox="1"/>
          <p:nvPr/>
        </p:nvSpPr>
        <p:spPr>
          <a:xfrm>
            <a:off x="594360" y="1828800"/>
            <a:ext cx="2346960" cy="457200"/>
          </a:xfrm>
          <a:prstGeom prst="rect">
            <a:avLst/>
          </a:prstGeom>
          <a:noFill/>
          <a:ln/>
        </p:spPr>
        <p:txBody>
          <a:bodyPr wrap="square" lIns="0" tIns="0" rIns="0" bIns="0" rtlCol="0" anchor="t"/>
          <a:lstStyle/>
          <a:p>
            <a:pPr rtl="1" algn="r" indent="0" marL="0">
              <a:buNone/>
            </a:pPr>
            <a:r>
              <a:rPr lang="ar-AE" altLang="en-US" sz="1300" b="1" dirty="0">
                <a:solidFill>
                  <a:schemeClr val="tx1"/>
                </a:solidFill>
              </a:rPr>
              <a:t>الانطلاق</a:t>
            </a:r>
            <a:endParaRPr lang="ar-AE" sz="1300" dirty="0"/>
          </a:p>
        </p:txBody>
      </p:sp>
      <p:sp>
        <p:nvSpPr>
          <p:cNvPr id="18" name="Text 16"/>
          <p:cNvSpPr txBox="1"/>
          <p:nvPr/>
        </p:nvSpPr>
        <p:spPr>
          <a:xfrm>
            <a:off x="594360" y="2286000"/>
            <a:ext cx="2346960" cy="2057400"/>
          </a:xfrm>
          <a:prstGeom prst="rect">
            <a:avLst/>
          </a:prstGeom>
          <a:noFill/>
          <a:ln/>
        </p:spPr>
        <p:txBody>
          <a:bodyPr wrap="square" lIns="0" tIns="0" rIns="0" bIns="0" rtlCol="0" anchor="t"/>
          <a:lstStyle/>
          <a:p>
            <a:pPr algn="r" marL="152400" indent="-152400">
              <a:spcAft>
                <a:spcPts val="400"/>
              </a:spcAft>
              <a:buSzPct val="100000"/>
              <a:buChar char="•"/>
            </a:pPr>
            <a:r>
              <a:rPr lang="ar-AE" altLang="en-US" sz="1050" dirty="0">
                <a:solidFill>
                  <a:schemeClr val="accent3"/>
                </a:solidFill>
              </a:rPr>
              <a:t>أول الإحالات</a:t>
            </a:r>
            <a:endParaRPr lang="ar-AE" sz="1050" dirty="0"/>
          </a:p>
          <a:p>
            <a:pPr algn="r" marL="152400" indent="-152400">
              <a:spcAft>
                <a:spcPts val="400"/>
              </a:spcAft>
              <a:buSzPct val="100000"/>
              <a:buChar char="•"/>
            </a:pPr>
            <a:r>
              <a:rPr lang="ar-AE" altLang="en-US" sz="1050" dirty="0">
                <a:solidFill>
                  <a:schemeClr val="accent3"/>
                </a:solidFill>
              </a:rPr>
              <a:t>أول استشارات مجانية</a:t>
            </a:r>
            <a:endParaRPr lang="ar-AE" sz="1050" dirty="0"/>
          </a:p>
          <a:p>
            <a:pPr algn="r" marL="152400" indent="-152400">
              <a:spcAft>
                <a:spcPts val="400"/>
              </a:spcAft>
              <a:buSzPct val="100000"/>
              <a:buChar char="•"/>
            </a:pPr>
            <a:r>
              <a:rPr lang="ar-AE" altLang="en-US" sz="1050" dirty="0">
                <a:solidFill>
                  <a:schemeClr val="accent3"/>
                </a:solidFill>
              </a:rPr>
              <a:t>مراجعة أسبوعية في الشهر الأول</a:t>
            </a:r>
            <a:endParaRPr lang="ar-AE" sz="105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6B6F7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457200"/>
            <a:ext cx="8229600" cy="4023360"/>
          </a:xfrm>
          <a:prstGeom prst="rect">
            <a:avLst/>
          </a:prstGeom>
          <a:ln w="9525">
            <a:solidFill>
              <a:srgbClr val="B08D57"/>
            </a:solidFill>
            <a:prstDash val="solid"/>
          </a:ln>
        </p:spPr>
      </p:sp>
      <p:sp>
        <p:nvSpPr>
          <p:cNvPr id="3" name="Text 1"/>
          <p:cNvSpPr txBox="1"/>
          <p:nvPr/>
        </p:nvSpPr>
        <p:spPr>
          <a:xfrm>
            <a:off x="7406640" y="640080"/>
            <a:ext cx="914400" cy="1005840"/>
          </a:xfrm>
          <a:prstGeom prst="rect">
            <a:avLst/>
          </a:prstGeom>
          <a:noFill/>
          <a:ln/>
        </p:spPr>
        <p:txBody>
          <a:bodyPr wrap="square" lIns="0" tIns="0" rIns="0" bIns="0" rtlCol="0" anchor="t"/>
          <a:lstStyle/>
          <a:p>
            <a:pPr algn="r" indent="0" marL="0">
              <a:buNone/>
            </a:pPr>
            <a:r>
              <a:rPr lang="en-US" sz="7200" dirty="0">
                <a:solidFill>
                  <a:schemeClr val="accent1"/>
                </a:solidFill>
                <a:latin typeface="Cambria" pitchFamily="34" charset="0"/>
                <a:ea typeface="Cambria" pitchFamily="34" charset="-122"/>
                <a:cs typeface="Cambria" pitchFamily="34" charset="-120"/>
              </a:rPr>
              <a:t>“</a:t>
            </a:r>
            <a:endParaRPr lang="en-US" sz="7200" dirty="0"/>
          </a:p>
        </p:txBody>
      </p:sp>
      <p:sp>
        <p:nvSpPr>
          <p:cNvPr id="4" name="Text 2"/>
          <p:cNvSpPr txBox="1"/>
          <p:nvPr/>
        </p:nvSpPr>
        <p:spPr>
          <a:xfrm>
            <a:off x="914400" y="1463040"/>
            <a:ext cx="7315200" cy="2011680"/>
          </a:xfrm>
          <a:prstGeom prst="rect">
            <a:avLst/>
          </a:prstGeom>
          <a:noFill/>
          <a:ln/>
        </p:spPr>
        <p:txBody>
          <a:bodyPr wrap="square" lIns="0" tIns="0" rIns="0" bIns="0" rtlCol="0" anchor="ctr"/>
          <a:lstStyle/>
          <a:p>
            <a:pPr rtl="1" algn="r" indent="0" marL="0">
              <a:buNone/>
            </a:pPr>
            <a:r>
              <a:rPr lang="ar-AE" altLang="en-US" sz="2200" i="1" dirty="0">
                <a:solidFill>
                  <a:schemeClr val="bg1"/>
                </a:solidFill>
                <a:latin typeface="Cambria" pitchFamily="34" charset="0"/>
                <a:ea typeface="Cambria" pitchFamily="34" charset="-122"/>
                <a:cs typeface="Cambria" pitchFamily="34" charset="-120"/>
              </a:rPr>
              <a:t>أفضل كلمة تسويقية ليست «وصية» بل «حماية الأصول». الوصية مرتبطة بالموت، أما حماية الأصول فمرتبطة بالاستثمار والأمان.</a:t>
            </a:r>
            <a:endParaRPr lang="ar-AE" sz="2200" dirty="0"/>
          </a:p>
        </p:txBody>
      </p:sp>
      <p:sp>
        <p:nvSpPr>
          <p:cNvPr id="5" name="Text 3"/>
          <p:cNvSpPr txBox="1"/>
          <p:nvPr/>
        </p:nvSpPr>
        <p:spPr>
          <a:xfrm>
            <a:off x="914400" y="3566160"/>
            <a:ext cx="7315200" cy="457200"/>
          </a:xfrm>
          <a:prstGeom prst="rect">
            <a:avLst/>
          </a:prstGeom>
          <a:noFill/>
          <a:ln/>
        </p:spPr>
        <p:txBody>
          <a:bodyPr wrap="square" lIns="0" tIns="0" rIns="0" bIns="0" rtlCol="0" anchor="ctr"/>
          <a:lstStyle/>
          <a:p>
            <a:pPr rtl="1" algn="r" indent="0" marL="0">
              <a:buNone/>
            </a:pPr>
            <a:r>
              <a:rPr lang="ar-AE" altLang="en-US" sz="1200" dirty="0">
                <a:solidFill>
                  <a:schemeClr val="accent2"/>
                </a:solidFill>
              </a:rPr>
              <a:t>نقطة مهمة جداً في التسويق</a:t>
            </a:r>
            <a:endParaRPr lang="ar-AE" sz="12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8C39A"/>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457200"/>
            <a:ext cx="8229600" cy="4229100"/>
          </a:xfrm>
          <a:prstGeom prst="rect">
            <a:avLst/>
          </a:prstGeom>
          <a:ln w="9525">
            <a:solidFill>
              <a:srgbClr val="B08D57"/>
            </a:solidFill>
            <a:prstDash val="solid"/>
          </a:ln>
        </p:spPr>
      </p:sp>
      <p:sp>
        <p:nvSpPr>
          <p:cNvPr id="3" name="Text 1"/>
          <p:cNvSpPr txBox="1"/>
          <p:nvPr/>
        </p:nvSpPr>
        <p:spPr>
          <a:xfrm>
            <a:off x="868680" y="777240"/>
            <a:ext cx="7406640" cy="822960"/>
          </a:xfrm>
          <a:prstGeom prst="rect">
            <a:avLst/>
          </a:prstGeom>
          <a:noFill/>
          <a:ln/>
        </p:spPr>
        <p:txBody>
          <a:bodyPr wrap="square" lIns="0" tIns="0" rIns="0" bIns="0" rtlCol="0" anchor="ctr"/>
          <a:lstStyle/>
          <a:p>
            <a:pPr rtl="1" algn="r" indent="0" marL="0">
              <a:buNone/>
            </a:pPr>
            <a:r>
              <a:rPr lang="ar-AE" altLang="en-US" sz="2800" b="1" dirty="0">
                <a:solidFill>
                  <a:schemeClr val="bg1"/>
                </a:solidFill>
                <a:latin typeface="Cambria" pitchFamily="34" charset="0"/>
                <a:ea typeface="Cambria" pitchFamily="34" charset="-122"/>
                <a:cs typeface="Cambria" pitchFamily="34" charset="-120"/>
              </a:rPr>
              <a:t>جهة الاتصال للشركاء</a:t>
            </a:r>
            <a:endParaRPr lang="ar-AE" sz="2800" dirty="0"/>
          </a:p>
        </p:txBody>
      </p:sp>
      <p:sp>
        <p:nvSpPr>
          <p:cNvPr id="4" name="Text 2"/>
          <p:cNvSpPr txBox="1"/>
          <p:nvPr/>
        </p:nvSpPr>
        <p:spPr>
          <a:xfrm>
            <a:off x="868680" y="1554480"/>
            <a:ext cx="7406640" cy="457200"/>
          </a:xfrm>
          <a:prstGeom prst="rect">
            <a:avLst/>
          </a:prstGeom>
          <a:noFill/>
          <a:ln/>
        </p:spPr>
        <p:txBody>
          <a:bodyPr wrap="square" lIns="0" tIns="0" rIns="0" bIns="0" rtlCol="0" anchor="ctr"/>
          <a:lstStyle/>
          <a:p>
            <a:pPr rtl="1" algn="r" indent="0" marL="0">
              <a:buNone/>
            </a:pPr>
            <a:r>
              <a:rPr lang="ar-AE" altLang="en-US" sz="1300" dirty="0">
                <a:solidFill>
                  <a:schemeClr val="accent2"/>
                </a:solidFill>
              </a:rPr>
              <a:t>د. ورد شعيبي — مدير تطوير الأعمال والعلاقات الدولية</a:t>
            </a:r>
            <a:endParaRPr lang="ar-AE" sz="1300" dirty="0"/>
          </a:p>
        </p:txBody>
      </p:sp>
      <p:pic>
        <p:nvPicPr>
          <p:cNvPr id="5" name="icon FaLocationDot" descr="preencoded.png">    </p:cNvPr>
          <p:cNvPicPr>
            <a:picLocks noChangeAspect="1"/>
          </p:cNvPicPr>
          <p:nvPr/>
        </p:nvPicPr>
        <p:blipFill>
          <a:blip r:embed="rId1"/>
          <a:stretch>
            <a:fillRect/>
          </a:stretch>
        </p:blipFill>
        <p:spPr>
          <a:xfrm>
            <a:off x="8001000" y="2286000"/>
            <a:ext cx="274320" cy="274320"/>
          </a:xfrm>
          <a:prstGeom prst="rect">
            <a:avLst/>
          </a:prstGeom>
        </p:spPr>
      </p:pic>
      <p:sp>
        <p:nvSpPr>
          <p:cNvPr id="6" name="Text 3"/>
          <p:cNvSpPr txBox="1"/>
          <p:nvPr/>
        </p:nvSpPr>
        <p:spPr>
          <a:xfrm>
            <a:off x="868680" y="2240280"/>
            <a:ext cx="6949440" cy="365760"/>
          </a:xfrm>
          <a:prstGeom prst="rect">
            <a:avLst/>
          </a:prstGeom>
          <a:noFill/>
          <a:ln/>
        </p:spPr>
        <p:txBody>
          <a:bodyPr wrap="square" lIns="0" tIns="0" rIns="0" bIns="0" rtlCol="0" anchor="ctr"/>
          <a:lstStyle/>
          <a:p>
            <a:pPr rtl="1" algn="r" indent="0" marL="0">
              <a:buNone/>
            </a:pPr>
            <a:r>
              <a:rPr lang="ar-AE" altLang="en-US" sz="1200" dirty="0">
                <a:solidFill>
                  <a:schemeClr val="bg2"/>
                </a:solidFill>
              </a:rPr>
              <a:t>شارع الشيخ زايد، برج سعيد 2، مكتب 501، دبي، الإمارات العربية المتحدة</a:t>
            </a:r>
            <a:endParaRPr lang="ar-AE" sz="1200" dirty="0"/>
          </a:p>
        </p:txBody>
      </p:sp>
      <p:pic>
        <p:nvPicPr>
          <p:cNvPr id="7" name="icon FaPhone" descr="preencoded.png">    </p:cNvPr>
          <p:cNvPicPr>
            <a:picLocks noChangeAspect="1"/>
          </p:cNvPicPr>
          <p:nvPr/>
        </p:nvPicPr>
        <p:blipFill>
          <a:blip r:embed="rId2"/>
          <a:stretch>
            <a:fillRect/>
          </a:stretch>
        </p:blipFill>
        <p:spPr>
          <a:xfrm>
            <a:off x="8001000" y="2788920"/>
            <a:ext cx="274320" cy="274320"/>
          </a:xfrm>
          <a:prstGeom prst="rect">
            <a:avLst/>
          </a:prstGeom>
        </p:spPr>
      </p:pic>
      <p:sp>
        <p:nvSpPr>
          <p:cNvPr id="8" name="Text 4"/>
          <p:cNvSpPr txBox="1"/>
          <p:nvPr/>
        </p:nvSpPr>
        <p:spPr>
          <a:xfrm>
            <a:off x="868680" y="2743200"/>
            <a:ext cx="6949440" cy="365760"/>
          </a:xfrm>
          <a:prstGeom prst="rect">
            <a:avLst/>
          </a:prstGeom>
          <a:noFill/>
          <a:ln/>
        </p:spPr>
        <p:txBody>
          <a:bodyPr wrap="square" lIns="0" tIns="0" rIns="0" bIns="0" rtlCol="0" anchor="ctr"/>
          <a:lstStyle/>
          <a:p>
            <a:pPr rtl="1" algn="r" indent="0" marL="0">
              <a:buNone/>
            </a:pPr>
            <a:r>
              <a:rPr lang="ar-AE" altLang="en-US" sz="1200" dirty="0">
                <a:solidFill>
                  <a:schemeClr val="bg2"/>
                </a:solidFill>
              </a:rPr>
              <a:t>+971 4 359 5552  |  جوال وواتساب: +971 52 107 4972</a:t>
            </a:r>
            <a:endParaRPr lang="ar-AE" sz="1200" dirty="0"/>
          </a:p>
        </p:txBody>
      </p:sp>
      <p:pic>
        <p:nvPicPr>
          <p:cNvPr id="9" name="icon FaEnvelope" descr="preencoded.png">    </p:cNvPr>
          <p:cNvPicPr>
            <a:picLocks noChangeAspect="1"/>
          </p:cNvPicPr>
          <p:nvPr/>
        </p:nvPicPr>
        <p:blipFill>
          <a:blip r:embed="rId3"/>
          <a:stretch>
            <a:fillRect/>
          </a:stretch>
        </p:blipFill>
        <p:spPr>
          <a:xfrm>
            <a:off x="8001000" y="3291840"/>
            <a:ext cx="274320" cy="274320"/>
          </a:xfrm>
          <a:prstGeom prst="rect">
            <a:avLst/>
          </a:prstGeom>
        </p:spPr>
      </p:pic>
      <p:sp>
        <p:nvSpPr>
          <p:cNvPr id="10" name="Text 5"/>
          <p:cNvSpPr txBox="1"/>
          <p:nvPr/>
        </p:nvSpPr>
        <p:spPr>
          <a:xfrm>
            <a:off x="868680" y="3246120"/>
            <a:ext cx="6949440" cy="365760"/>
          </a:xfrm>
          <a:prstGeom prst="rect">
            <a:avLst/>
          </a:prstGeom>
          <a:noFill/>
          <a:ln/>
        </p:spPr>
        <p:txBody>
          <a:bodyPr wrap="square" lIns="0" tIns="0" rIns="0" bIns="0" rtlCol="0" anchor="ctr"/>
          <a:lstStyle/>
          <a:p>
            <a:pPr rtl="1" algn="r" indent="0" marL="0">
              <a:buNone/>
            </a:pPr>
            <a:r>
              <a:rPr lang="ar-AE" altLang="en-US" sz="1200" dirty="0">
                <a:solidFill>
                  <a:schemeClr val="bg2"/>
                </a:solidFill>
              </a:rPr>
              <a:t>ward.shueibi@rk-advocates.com  |  rk-advocates.com</a:t>
            </a:r>
            <a:endParaRPr lang="ar-AE" sz="1200" dirty="0"/>
          </a:p>
        </p:txBody>
      </p:sp>
      <p:pic>
        <p:nvPicPr>
          <p:cNvPr id="11" name="icon FaClock" descr="preencoded.png">    </p:cNvPr>
          <p:cNvPicPr>
            <a:picLocks noChangeAspect="1"/>
          </p:cNvPicPr>
          <p:nvPr/>
        </p:nvPicPr>
        <p:blipFill>
          <a:blip r:embed="rId4"/>
          <a:stretch>
            <a:fillRect/>
          </a:stretch>
        </p:blipFill>
        <p:spPr>
          <a:xfrm>
            <a:off x="8001000" y="3794760"/>
            <a:ext cx="274320" cy="274320"/>
          </a:xfrm>
          <a:prstGeom prst="rect">
            <a:avLst/>
          </a:prstGeom>
        </p:spPr>
      </p:pic>
      <p:sp>
        <p:nvSpPr>
          <p:cNvPr id="12" name="Text 6"/>
          <p:cNvSpPr txBox="1"/>
          <p:nvPr/>
        </p:nvSpPr>
        <p:spPr>
          <a:xfrm>
            <a:off x="868680" y="3749040"/>
            <a:ext cx="6949440" cy="365760"/>
          </a:xfrm>
          <a:prstGeom prst="rect">
            <a:avLst/>
          </a:prstGeom>
          <a:noFill/>
          <a:ln/>
        </p:spPr>
        <p:txBody>
          <a:bodyPr wrap="square" lIns="0" tIns="0" rIns="0" bIns="0" rtlCol="0" anchor="ctr"/>
          <a:lstStyle/>
          <a:p>
            <a:pPr rtl="1" algn="r" indent="0" marL="0">
              <a:buNone/>
            </a:pPr>
            <a:r>
              <a:rPr lang="ar-AE" altLang="en-US" sz="1200" dirty="0">
                <a:solidFill>
                  <a:schemeClr val="bg2"/>
                </a:solidFill>
              </a:rPr>
              <a:t>الاثنين – الجمعة، 8:30 – 17:30  |  العربية · English · 中文 · Русский</a:t>
            </a:r>
            <a:endParaRPr lang="ar-AE" sz="1200" dirty="0"/>
          </a:p>
        </p:txBody>
      </p:sp>
      <p:sp>
        <p:nvSpPr>
          <p:cNvPr id="13" name="Text 7"/>
          <p:cNvSpPr txBox="1"/>
          <p:nvPr/>
        </p:nvSpPr>
        <p:spPr>
          <a:xfrm>
            <a:off x="868680" y="4206240"/>
            <a:ext cx="7406640" cy="365760"/>
          </a:xfrm>
          <a:prstGeom prst="rect">
            <a:avLst/>
          </a:prstGeom>
          <a:noFill/>
          <a:ln/>
        </p:spPr>
        <p:txBody>
          <a:bodyPr wrap="square" lIns="0" tIns="0" rIns="0" bIns="0" rtlCol="0" anchor="ctr"/>
          <a:lstStyle/>
          <a:p>
            <a:pPr rtl="1" algn="r" indent="0" marL="0">
              <a:buNone/>
            </a:pPr>
            <a:r>
              <a:rPr lang="ar-AE" altLang="en-US" sz="1000" dirty="0">
                <a:solidFill>
                  <a:schemeClr val="accent1"/>
                </a:solidFill>
              </a:rPr>
              <a:t>راشد الكيتوب للمحاماة والاستشارات القانونية</a:t>
            </a:r>
            <a:endParaRPr lang="ar-AE" sz="1000" dirty="0"/>
          </a:p>
        </p:txBody>
      </p:sp>
      <p:sp>
        <p:nvSpPr>
          <p:cNvPr id="25" name="Slide Number Placeholder 0"/>
          <p:cNvSpPr>
            <a:spLocks noGrp="1"/>
          </p:cNvSpPr>
          <p:nvPr>
            <p:ph type="sldNum" sz="quarter" idx="4294967295"/>
          </p:nvPr>
        </p:nvSpPr>
        <p:spPr>
          <a:xfrm>
            <a:off x="365760" y="4626864"/>
            <a:ext cx="548640" cy="384048"/>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D8C39A"/>
                </a:solidFill>
              </a:defRPr>
            </a:lvl1pPr>
          </a:lstStyle>
          <a:p>
            <a:pPr algn="l"/>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RK Advocates">
  <a:themeElements>
    <a:clrScheme name="RK Advocates">
      <a:dk1>
        <a:srgbClr val="0B0B0B"/>
      </a:dk1>
      <a:lt1>
        <a:srgbClr val="FFFFFF"/>
      </a:lt1>
      <a:dk2>
        <a:srgbClr val="2A2D33"/>
      </a:dk2>
      <a:lt2>
        <a:srgbClr val="F4F1EA"/>
      </a:lt2>
      <a:accent1>
        <a:srgbClr val="B08D57"/>
      </a:accent1>
      <a:accent2>
        <a:srgbClr val="D8C39A"/>
      </a:accent2>
      <a:accent3>
        <a:srgbClr val="6B6F76"/>
      </a:accent3>
      <a:accent4>
        <a:srgbClr val="8A6D3B"/>
      </a:accent4>
      <a:accent5>
        <a:srgbClr val="E9E4DA"/>
      </a:accent5>
      <a:accent6>
        <a:srgbClr val="15171B"/>
      </a:accent6>
      <a:hlink>
        <a:srgbClr val="B08D57"/>
      </a:hlink>
      <a:folHlink>
        <a:srgbClr val="8A6D3B"/>
      </a:folHlink>
    </a:clrScheme>
    <a:fontScheme name="RK Advocat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Rashid Alkaitoob Advocates &amp; Legal Consultants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برنامج الحماية القانونية للمستثمرين — دليل الشريك العقاري</dc:title>
  <dc:subject>PptxGenJS Presentation</dc:subject>
  <dc:creator>Rashid Alkaitoob Advocates &amp; Legal Consultants</dc:creator>
  <cp:lastModifiedBy>Rashid Alkaitoob Advocates &amp; Legal Consultants</cp:lastModifiedBy>
  <cp:revision>1</cp:revision>
  <dcterms:created xsi:type="dcterms:W3CDTF">2026-10-26T11:14:59Z</dcterms:created>
  <dcterms:modified xsi:type="dcterms:W3CDTF">2026-10-26T11:14:59Z</dcterms:modified>
</cp:coreProperties>
</file>