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مقدمة" id="{2c9cfcab-8e85-7277-f829-8f32b05afbf5}">
          <p14:sldIdLst>
            <p14:sldId id="256"/>
            <p14:sldId id="257"/>
          </p14:sldIdLst>
        </p14:section>
        <p14:section name="من نحن" id="{1933f56d-44b9-705e-2eaa-c6801c5f63ee}">
          <p14:sldIdLst>
            <p14:sldId id="258"/>
            <p14:sldId id="259"/>
            <p14:sldId id="260"/>
            <p14:sldId id="261"/>
            <p14:sldId id="262"/>
            <p14:sldId id="263"/>
            <p14:sldId id="264"/>
            <p14:sldId id="265"/>
          </p14:sldIdLst>
        </p14:section>
        <p14:section name="الخدمة" id="{a6b139d6-b0ac-bbdd-5ae5-0ef104dccee3}">
          <p14:sldIdLst>
            <p14:sldId id="266"/>
            <p14:sldId id="267"/>
            <p14:sldId id="268"/>
            <p14:sldId id="269"/>
            <p14:sldId id="270"/>
          </p14:sldIdLst>
        </p14:section>
        <p14:section name="الشراكة" id="{b8d81b26-fc0d-adc7-5cdf-dcd3f58579db}">
          <p14:sldIdLst>
            <p14:sldId id="271"/>
            <p14:sldId id="272"/>
            <p14:sldId id="273"/>
            <p14:sldId id="274"/>
          </p14:sldIdLst>
        </p14:section>
        <p14:section name="التقديم" id="{bb9870d8-a43d-a4d9-53ad-8e6b2852254c}">
          <p14:sldIdLst>
            <p14:sldId id="275"/>
            <p14:sldId id="276"/>
            <p14:sldId id="277"/>
            <p14:sldId id="278"/>
            <p14:sldId id="279"/>
          </p14:sldIdLst>
        </p14:section>
        <p14:section name="المسار" id="{34da5ae2-985d-beb6-ddd6-232ac1622f79}">
          <p14:sldIdLst>
            <p14:sldId id="280"/>
            <p14:sldId id="281"/>
            <p14:sldId id="282"/>
            <p14:sldId id="283"/>
          </p14:sldIdLst>
        </p14:section>
        <p14:section name="التسويق" id="{0903f993-f6e0-d9cc-cbd5-e2c3f6fa6a1b}">
          <p14:sldIdLst>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E2238"/>
                </a:solidFill>
                <a:latin typeface="+mj-lt"/>
              </a:defRPr>
            </a:pPr>
            <a:r>
              <a:rPr sz="1200" b="0" i="0" u="none" strike="noStrike">
                <a:solidFill>
                  <a:srgbClr val="0E2238"/>
                </a:solidFill>
                <a:latin typeface="+mj-lt"/>
              </a:rPr>
              <a:t>عدد الوصايا المسجلة</a:t>
            </a:r>
          </a:p>
        </c:rich>
      </c:tx>
      <c:layout/>
      <c:overlay val="0"/>
    </c:title>
    <c:autoTitleDeleted val="0"/>
    <c:plotArea>
      <c:layout/>
      <c:barChart>
        <c:barDir val="col"/>
        <c:grouping val="clustered"/>
        <c:varyColors val="0"/>
        <c:ser>
          <c:idx val="0"/>
          <c:order val="0"/>
          <c:tx>
            <c:strRef>
              <c:f>Sheet1!$B$1</c:f>
              <c:strCache>
                <c:ptCount val="1"/>
                <c:pt idx="0">
                  <c:v>وصايا مسجلة</c:v>
                </c:pt>
              </c:strCache>
            </c:strRef>
          </c:tx>
          <c:spPr>
            <a:solidFill>
              <a:srgbClr val="B5723B"/>
            </a:solidFill>
            <a:effectLst/>
          </c:spPr>
          <c:invertIfNegative val="0"/>
          <c:dLbls>
            <c:numFmt formatCode="#,##0" sourceLinked="0"/>
            <c:txPr>
              <a:bodyPr/>
              <a:lstStyle/>
              <a:p>
                <a:pPr>
                  <a:defRPr b="1" i="0" strike="noStrike" sz="1000" u="none">
                    <a:solidFill>
                      <a:srgbClr val="0E2238"/>
                    </a:solidFill>
                    <a:latin typeface="+mn-lt"/>
                  </a:defRPr>
                </a:pPr>
              </a:p>
            </c:txPr>
            <c:showLegendKey val="0"/>
            <c:showVal val="1"/>
            <c:showCatName val="0"/>
            <c:showSerName val="0"/>
            <c:showPercent val="0"/>
            <c:showBubbleSize val="0"/>
            <c:showLeaderLines val="0"/>
          </c:dLbls>
          <c:cat>
            <c:multiLvlStrRef>
              <c:f>Sheet1!$A$2:$A$7</c:f>
              <c:multiLvlStrCache>
                <c:ptCount val="6"/>
                <c:lvl>
                  <c:pt idx="0">
                    <c:v>النصف الأول 2023*</c:v>
                  </c:pt>
                  <c:pt idx="1">
                    <c:v>النصف الأول 2024</c:v>
                  </c:pt>
                  <c:pt idx="2">
                    <c:v>النصف الأول 2025</c:v>
                  </c:pt>
                  <c:pt idx="3">
                    <c:v>سنة 2024*</c:v>
                  </c:pt>
                  <c:pt idx="4">
                    <c:v>سنة 2025</c:v>
                  </c:pt>
                  <c:pt idx="5">
                    <c:v>الربع الأول 2026</c:v>
                  </c:pt>
                </c:lvl>
              </c:multiLvlStrCache>
            </c:multiLvlStrRef>
          </c:cat>
          <c:val>
            <c:numRef>
              <c:f>Sheet1!$B$2:$B$7</c:f>
              <c:numCache>
                <c:formatCode>General</c:formatCode>
                <c:ptCount val="6"/>
                <c:pt idx="0">
                  <c:v>764</c:v>
                </c:pt>
                <c:pt idx="1">
                  <c:v>810</c:v>
                </c:pt>
                <c:pt idx="2">
                  <c:v>922</c:v>
                </c:pt>
                <c:pt idx="3">
                  <c:v>1820</c:v>
                </c:pt>
                <c:pt idx="4">
                  <c:v>2220</c:v>
                </c:pt>
                <c:pt idx="5">
                  <c:v>883</c:v>
                </c:pt>
              </c:numCache>
            </c:numRef>
          </c:val>
        </c:ser>
        <c:dLbls>
          <c:numFmt formatCode="#,##0" sourceLinked="0"/>
          <c:txPr>
            <a:bodyPr/>
            <a:lstStyle/>
            <a:p>
              <a:pPr>
                <a:defRPr b="1" i="0" strike="noStrike" sz="1000" u="none">
                  <a:solidFill>
                    <a:srgbClr val="0E22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E2238"/>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1D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E22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E2238"/>
                </a:solidFill>
                <a:latin typeface="+mj-lt"/>
              </a:defRPr>
            </a:pPr>
            <a:r>
              <a:rPr sz="1200" b="0" i="0" u="none" strike="noStrike">
                <a:solidFill>
                  <a:srgbClr val="0E2238"/>
                </a:solidFill>
                <a:latin typeface="+mj-lt"/>
              </a:rPr>
              <a:t>متوسط الزمن بالأيام</a:t>
            </a:r>
          </a:p>
        </c:rich>
      </c:tx>
      <c:layout/>
      <c:overlay val="0"/>
    </c:title>
    <c:autoTitleDeleted val="0"/>
    <c:plotArea>
      <c:layout/>
      <c:barChart>
        <c:barDir val="col"/>
        <c:grouping val="clustered"/>
        <c:varyColors val="0"/>
        <c:ser>
          <c:idx val="0"/>
          <c:order val="0"/>
          <c:tx>
            <c:strRef>
              <c:f>Sheet1!$B$1</c:f>
              <c:strCache>
                <c:ptCount val="1"/>
                <c:pt idx="0">
                  <c:v>أيام</c:v>
                </c:pt>
              </c:strCache>
            </c:strRef>
          </c:tx>
          <c:spPr>
            <a:solidFill>
              <a:srgbClr val="B5723B"/>
            </a:solidFill>
            <a:effectLst/>
          </c:spPr>
          <c:invertIfNegative val="0"/>
          <c:dLbls>
            <c:numFmt formatCode="0.0" sourceLinked="0"/>
            <c:txPr>
              <a:bodyPr/>
              <a:lstStyle/>
              <a:p>
                <a:pPr>
                  <a:defRPr b="1" i="0" strike="noStrike" sz="1000" u="none">
                    <a:solidFill>
                      <a:srgbClr val="0E2238"/>
                    </a:solidFill>
                    <a:latin typeface="+mn-lt"/>
                  </a:defRPr>
                </a:pPr>
              </a:p>
            </c:txPr>
            <c:showLegendKey val="0"/>
            <c:showVal val="1"/>
            <c:showCatName val="0"/>
            <c:showSerName val="0"/>
            <c:showPercent val="0"/>
            <c:showBubbleSize val="0"/>
            <c:showLeaderLines val="0"/>
          </c:dLbls>
          <c:cat>
            <c:multiLvlStrRef>
              <c:f>Sheet1!$A$2:$A$5</c:f>
              <c:multiLvlStrCache>
                <c:ptCount val="4"/>
                <c:lvl>
                  <c:pt idx="0">
                    <c:v>2023: تقاضٍ، من التسجيل للحكم</c:v>
                  </c:pt>
                  <c:pt idx="1">
                    <c:v>2023–24: أول 11 شهراً، تسوية ودية</c:v>
                  </c:pt>
                  <c:pt idx="2">
                    <c:v>2024: تسوية ودية</c:v>
                  </c:pt>
                  <c:pt idx="3">
                    <c:v>2025: تسوية ودية (أيام عمل)</c:v>
                  </c:pt>
                </c:lvl>
              </c:multiLvlStrCache>
            </c:multiLvlStrRef>
          </c:cat>
          <c:val>
            <c:numRef>
              <c:f>Sheet1!$B$2:$B$5</c:f>
              <c:numCache>
                <c:formatCode>General</c:formatCode>
                <c:ptCount val="4"/>
                <c:pt idx="0">
                  <c:v>81</c:v>
                </c:pt>
                <c:pt idx="1">
                  <c:v>40</c:v>
                </c:pt>
                <c:pt idx="2">
                  <c:v>24</c:v>
                </c:pt>
                <c:pt idx="3">
                  <c:v>13.8</c:v>
                </c:pt>
              </c:numCache>
            </c:numRef>
          </c:val>
        </c:ser>
        <c:dLbls>
          <c:numFmt formatCode="0.0" sourceLinked="0"/>
          <c:txPr>
            <a:bodyPr/>
            <a:lstStyle/>
            <a:p>
              <a:pPr>
                <a:defRPr b="1" i="0" strike="noStrike" sz="1000" u="none">
                  <a:solidFill>
                    <a:srgbClr val="0E22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E2238"/>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1D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E223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المصادر: Caunsel (أكتوبر 2026)، Dubai Wills Center (يناير 2026)، جلف نيوز (نوفمبر 2018). كلها تقديرات مكاتب خدمات وليست إحصاءات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E2238"/>
        </a:solidFill>
      </p:bgPr>
    </p:bg>
    <p:spTree>
      <p:nvGrpSpPr>
        <p:cNvPr id="1" name=""/>
        <p:cNvGrpSpPr/>
        <p:nvPr/>
      </p:nvGrpSpPr>
      <p:grpSpPr>
        <a:xfrm>
          <a:off x="0" y="0"/>
          <a:ext cx="0" cy="0"/>
          <a:chOff x="0" y="0"/>
          <a:chExt cx="0" cy="0"/>
        </a:xfrm>
      </p:grpSpPr>
      <p:pic>
        <p:nvPicPr>
          <p:cNvPr id="2" name="Image 0" descr="/tmp/claude-0/-home-user-aa/b81485da-2e22-5d10-878f-01904e6d5dc6/scratchpad/rk/logo_dark.png">    </p:cNvPr>
          <p:cNvPicPr>
            <a:picLocks noChangeAspect="1"/>
          </p:cNvPicPr>
          <p:nvPr/>
        </p:nvPicPr>
        <p:blipFill>
          <a:blip r:embed="rId1"/>
          <a:stretch>
            <a:fillRect/>
          </a:stretch>
        </p:blipFill>
        <p:spPr>
          <a:xfrm>
            <a:off x="7102823" y="4681728"/>
            <a:ext cx="1675417" cy="274320"/>
          </a:xfrm>
          <a:prstGeom prst="rect">
            <a:avLst/>
          </a:prstGeom>
        </p:spPr>
      </p:pic>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tmp/claude-0/-home-user-aa/b81485da-2e22-5d10-878f-01904e6d5dc6/scratchpad/rk/logo_light.png">    </p:cNvPr>
          <p:cNvPicPr>
            <a:picLocks noChangeAspect="1"/>
          </p:cNvPicPr>
          <p:nvPr/>
        </p:nvPicPr>
        <p:blipFill>
          <a:blip r:embed="rId1"/>
          <a:stretch>
            <a:fillRect/>
          </a:stretch>
        </p:blipFill>
        <p:spPr>
          <a:xfrm>
            <a:off x="7102823" y="4681728"/>
            <a:ext cx="1675417" cy="274320"/>
          </a:xfrm>
          <a:prstGeom prst="rect">
            <a:avLst/>
          </a:prstGeom>
        </p:spPr>
      </p:pic>
      <p:sp>
        <p:nvSpPr>
          <p:cNvPr id="3" name="Text 0"/>
          <p:cNvSpPr/>
          <p:nvPr>
            <p:ph idx="101" type="title" hasCustomPrompt="1"/>
          </p:nvPr>
        </p:nvSpPr>
        <p:spPr>
          <a:xfrm>
            <a:off x="457200" y="420624"/>
            <a:ext cx="8229600" cy="731520"/>
          </a:xfrm>
          <a:prstGeom prst="rect">
            <a:avLst/>
          </a:prstGeom>
          <a:noFill/>
          <a:ln/>
        </p:spPr>
        <p:txBody>
          <a:bodyPr wrap="square" rtlCol="0"/>
          <a:lstStyle>
            <a:lvl1pPr rtl="1" algn="r" indent="0" marL="0">
              <a:buNone/>
              <a:defRPr lang="en-US" sz="2600" b="1" dirty="0">
                <a:solidFill>
                  <a:srgbClr val="0E2238"/>
                </a:solidFill>
              </a:defRPr>
            </a:lvl1pPr>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_DARK">
    <p:bg>
      <p:bgPr>
        <a:solidFill>
          <a:srgbClr val="0E223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3.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3.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457200"/>
            <a:ext cx="8229600" cy="4229100"/>
          </a:xfrm>
          <a:prstGeom prst="rect">
            <a:avLst/>
          </a:prstGeom>
          <a:ln w="9525">
            <a:solidFill>
              <a:srgbClr val="B5723B"/>
            </a:solidFill>
            <a:prstDash val="solid"/>
          </a:ln>
        </p:spPr>
      </p:sp>
      <p:pic>
        <p:nvPicPr>
          <p:cNvPr id="3" name="Image 0" descr="/tmp/claude-0/-home-user-aa/b81485da-2e22-5d10-878f-01904e6d5dc6/scratchpad/rk/logo_dark.png">    </p:cNvPr>
          <p:cNvPicPr>
            <a:picLocks noChangeAspect="1"/>
          </p:cNvPicPr>
          <p:nvPr/>
        </p:nvPicPr>
        <p:blipFill>
          <a:blip r:embed="rId1"/>
          <a:stretch>
            <a:fillRect/>
          </a:stretch>
        </p:blipFill>
        <p:spPr>
          <a:xfrm>
            <a:off x="4254320" y="868680"/>
            <a:ext cx="4021000" cy="658368"/>
          </a:xfrm>
          <a:prstGeom prst="rect">
            <a:avLst/>
          </a:prstGeom>
        </p:spPr>
      </p:pic>
      <p:sp>
        <p:nvSpPr>
          <p:cNvPr id="4" name="Text 1"/>
          <p:cNvSpPr txBox="1"/>
          <p:nvPr/>
        </p:nvSpPr>
        <p:spPr>
          <a:xfrm>
            <a:off x="868680" y="1965960"/>
            <a:ext cx="7406640" cy="1371600"/>
          </a:xfrm>
          <a:prstGeom prst="rect">
            <a:avLst/>
          </a:prstGeom>
          <a:noFill/>
          <a:ln/>
        </p:spPr>
        <p:txBody>
          <a:bodyPr wrap="square" lIns="0" tIns="0" rIns="0" bIns="0" rtlCol="0" anchor="ctr"/>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برنامج الحماية القانونية للمستثمرين</a:t>
            </a:r>
            <a:endParaRPr lang="ar-AE" sz="3000" dirty="0"/>
          </a:p>
        </p:txBody>
      </p:sp>
      <p:sp>
        <p:nvSpPr>
          <p:cNvPr id="5" name="Text 2"/>
          <p:cNvSpPr txBox="1"/>
          <p:nvPr/>
        </p:nvSpPr>
        <p:spPr>
          <a:xfrm>
            <a:off x="868680" y="3383280"/>
            <a:ext cx="7406640" cy="548640"/>
          </a:xfrm>
          <a:prstGeom prst="rect">
            <a:avLst/>
          </a:prstGeom>
          <a:noFill/>
          <a:ln/>
        </p:spPr>
        <p:txBody>
          <a:bodyPr wrap="square" lIns="0" tIns="0" rIns="0" bIns="0" rtlCol="0" anchor="t"/>
          <a:lstStyle/>
          <a:p>
            <a:pPr rtl="1" algn="r" indent="0" marL="0">
              <a:buNone/>
            </a:pPr>
            <a:r>
              <a:rPr lang="ar-AE" altLang="en-US" sz="1500" dirty="0">
                <a:solidFill>
                  <a:schemeClr val="accent2"/>
                </a:solidFill>
              </a:rPr>
              <a:t>الدليل التفصيلي لشركات الوساطة العقارية الشريكة: الخدمة، نموذج التعاون، وكيفية تقديمها للعملاء</a:t>
            </a:r>
            <a:endParaRPr lang="ar-AE" sz="1500" dirty="0"/>
          </a:p>
        </p:txBody>
      </p:sp>
      <p:sp>
        <p:nvSpPr>
          <p:cNvPr id="6" name="Text 3"/>
          <p:cNvSpPr txBox="1"/>
          <p:nvPr/>
        </p:nvSpPr>
        <p:spPr>
          <a:xfrm>
            <a:off x="868680" y="4023360"/>
            <a:ext cx="7406640" cy="365760"/>
          </a:xfrm>
          <a:prstGeom prst="rect">
            <a:avLst/>
          </a:prstGeom>
          <a:noFill/>
          <a:ln/>
        </p:spPr>
        <p:txBody>
          <a:bodyPr wrap="square" lIns="0" tIns="0" rIns="0" bIns="0" rtlCol="0" anchor="ctr"/>
          <a:lstStyle/>
          <a:p>
            <a:pPr rtl="1" algn="r" indent="0" marL="0">
              <a:buNone/>
            </a:pPr>
            <a:r>
              <a:rPr lang="ar-AE" altLang="en-US" sz="1000" dirty="0">
                <a:solidFill>
                  <a:schemeClr val="accent3"/>
                </a:solidFill>
              </a:rPr>
              <a:t>راشد الكيتوب للمحاماة والاستشارات القانونية · دبي</a:t>
            </a:r>
            <a:endParaRPr lang="ar-AE" sz="10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محتويات الدليل</a:t>
            </a:r>
            <a:endParaRPr lang="ar-AE" sz="2600" dirty="0"/>
          </a:p>
        </p:txBody>
      </p:sp>
      <p:sp>
        <p:nvSpPr>
          <p:cNvPr id="3" name="Text 1"/>
          <p:cNvSpPr txBox="1"/>
          <p:nvPr/>
        </p:nvSpPr>
        <p:spPr>
          <a:xfrm>
            <a:off x="8229600" y="1234440"/>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01</a:t>
            </a:r>
            <a:endParaRPr lang="en-US" sz="1800" dirty="0"/>
          </a:p>
        </p:txBody>
      </p:sp>
      <p:sp>
        <p:nvSpPr>
          <p:cNvPr id="4" name="Text 2"/>
          <p:cNvSpPr txBox="1"/>
          <p:nvPr/>
        </p:nvSpPr>
        <p:spPr>
          <a:xfrm>
            <a:off x="4663440" y="1234440"/>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من نحن ولماذا هذه الخدمة مهمة لعملائكم</a:t>
            </a:r>
            <a:endParaRPr lang="ar-AE" sz="1350" dirty="0"/>
          </a:p>
        </p:txBody>
      </p:sp>
      <p:sp>
        <p:nvSpPr>
          <p:cNvPr id="5" name="Shape 3"/>
          <p:cNvSpPr/>
          <p:nvPr/>
        </p:nvSpPr>
        <p:spPr>
          <a:xfrm>
            <a:off x="457200" y="1801368"/>
            <a:ext cx="4023360" cy="0"/>
          </a:xfrm>
          <a:prstGeom prst="line">
            <a:avLst/>
          </a:prstGeom>
          <a:noFill/>
          <a:ln w="6350">
            <a:solidFill>
              <a:srgbClr val="E6E1D8"/>
            </a:solidFill>
            <a:prstDash val="solid"/>
          </a:ln>
        </p:spPr>
      </p:sp>
      <p:sp>
        <p:nvSpPr>
          <p:cNvPr id="6" name="Text 4"/>
          <p:cNvSpPr txBox="1"/>
          <p:nvPr/>
        </p:nvSpPr>
        <p:spPr>
          <a:xfrm>
            <a:off x="8229600" y="1856232"/>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02</a:t>
            </a:r>
            <a:endParaRPr lang="en-US" sz="1800" dirty="0"/>
          </a:p>
        </p:txBody>
      </p:sp>
      <p:sp>
        <p:nvSpPr>
          <p:cNvPr id="7" name="Text 5"/>
          <p:cNvSpPr txBox="1"/>
          <p:nvPr/>
        </p:nvSpPr>
        <p:spPr>
          <a:xfrm>
            <a:off x="4663440" y="1856232"/>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الخدمة بالتفصيل: الأنواع والجهات</a:t>
            </a:r>
            <a:endParaRPr lang="ar-AE" sz="1350" dirty="0"/>
          </a:p>
        </p:txBody>
      </p:sp>
      <p:sp>
        <p:nvSpPr>
          <p:cNvPr id="8" name="Shape 6"/>
          <p:cNvSpPr/>
          <p:nvPr/>
        </p:nvSpPr>
        <p:spPr>
          <a:xfrm>
            <a:off x="457200" y="2423160"/>
            <a:ext cx="4023360" cy="0"/>
          </a:xfrm>
          <a:prstGeom prst="line">
            <a:avLst/>
          </a:prstGeom>
          <a:noFill/>
          <a:ln w="6350">
            <a:solidFill>
              <a:srgbClr val="E6E1D8"/>
            </a:solidFill>
            <a:prstDash val="solid"/>
          </a:ln>
        </p:spPr>
      </p:sp>
      <p:sp>
        <p:nvSpPr>
          <p:cNvPr id="9" name="Text 7"/>
          <p:cNvSpPr txBox="1"/>
          <p:nvPr/>
        </p:nvSpPr>
        <p:spPr>
          <a:xfrm>
            <a:off x="8229600" y="2478024"/>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4663440" y="2478024"/>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نموذج الشراكة والاتفاقية والنموذج التجاري</a:t>
            </a:r>
            <a:endParaRPr lang="ar-AE" sz="1350" dirty="0"/>
          </a:p>
        </p:txBody>
      </p:sp>
      <p:sp>
        <p:nvSpPr>
          <p:cNvPr id="11" name="Shape 9"/>
          <p:cNvSpPr/>
          <p:nvPr/>
        </p:nvSpPr>
        <p:spPr>
          <a:xfrm>
            <a:off x="457200" y="3044952"/>
            <a:ext cx="4023360" cy="0"/>
          </a:xfrm>
          <a:prstGeom prst="line">
            <a:avLst/>
          </a:prstGeom>
          <a:noFill/>
          <a:ln w="6350">
            <a:solidFill>
              <a:srgbClr val="E6E1D8"/>
            </a:solidFill>
            <a:prstDash val="solid"/>
          </a:ln>
        </p:spPr>
      </p:sp>
      <p:sp>
        <p:nvSpPr>
          <p:cNvPr id="12" name="Text 10"/>
          <p:cNvSpPr txBox="1"/>
          <p:nvPr/>
        </p:nvSpPr>
        <p:spPr>
          <a:xfrm>
            <a:off x="8229600" y="3099816"/>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04</a:t>
            </a:r>
            <a:endParaRPr lang="en-US" sz="1800" dirty="0"/>
          </a:p>
        </p:txBody>
      </p:sp>
      <p:sp>
        <p:nvSpPr>
          <p:cNvPr id="13" name="Text 11"/>
          <p:cNvSpPr txBox="1"/>
          <p:nvPr/>
        </p:nvSpPr>
        <p:spPr>
          <a:xfrm>
            <a:off x="4663440" y="3099816"/>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كيف تقدّمون الخدمة للعميل: التوقيت والسكربت</a:t>
            </a:r>
            <a:endParaRPr lang="ar-AE" sz="1350" dirty="0"/>
          </a:p>
        </p:txBody>
      </p:sp>
      <p:sp>
        <p:nvSpPr>
          <p:cNvPr id="14" name="Shape 12"/>
          <p:cNvSpPr/>
          <p:nvPr/>
        </p:nvSpPr>
        <p:spPr>
          <a:xfrm>
            <a:off x="457200" y="3666744"/>
            <a:ext cx="4023360" cy="0"/>
          </a:xfrm>
          <a:prstGeom prst="line">
            <a:avLst/>
          </a:prstGeom>
          <a:noFill/>
          <a:ln w="6350">
            <a:solidFill>
              <a:srgbClr val="E6E1D8"/>
            </a:solidFill>
            <a:prstDash val="solid"/>
          </a:ln>
        </p:spPr>
      </p:sp>
      <p:sp>
        <p:nvSpPr>
          <p:cNvPr id="15" name="Text 13"/>
          <p:cNvSpPr txBox="1"/>
          <p:nvPr/>
        </p:nvSpPr>
        <p:spPr>
          <a:xfrm>
            <a:off x="4023360" y="1234440"/>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05</a:t>
            </a:r>
            <a:endParaRPr lang="en-US" sz="1800" dirty="0"/>
          </a:p>
        </p:txBody>
      </p:sp>
      <p:sp>
        <p:nvSpPr>
          <p:cNvPr id="16" name="Text 14"/>
          <p:cNvSpPr txBox="1"/>
          <p:nvPr/>
        </p:nvSpPr>
        <p:spPr>
          <a:xfrm>
            <a:off x="457200" y="1234440"/>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ما يُقال وما لا يُقال، والأسئلة الشائعة</a:t>
            </a:r>
            <a:endParaRPr lang="ar-AE" sz="1350" dirty="0"/>
          </a:p>
        </p:txBody>
      </p:sp>
      <p:sp>
        <p:nvSpPr>
          <p:cNvPr id="17" name="Shape 15"/>
          <p:cNvSpPr/>
          <p:nvPr/>
        </p:nvSpPr>
        <p:spPr>
          <a:xfrm>
            <a:off x="4663440" y="1801368"/>
            <a:ext cx="4023360" cy="0"/>
          </a:xfrm>
          <a:prstGeom prst="line">
            <a:avLst/>
          </a:prstGeom>
          <a:noFill/>
          <a:ln w="6350">
            <a:solidFill>
              <a:srgbClr val="E6E1D8"/>
            </a:solidFill>
            <a:prstDash val="solid"/>
          </a:ln>
        </p:spPr>
      </p:sp>
      <p:sp>
        <p:nvSpPr>
          <p:cNvPr id="18" name="Text 16"/>
          <p:cNvSpPr txBox="1"/>
          <p:nvPr/>
        </p:nvSpPr>
        <p:spPr>
          <a:xfrm>
            <a:off x="4023360" y="1856232"/>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06</a:t>
            </a:r>
            <a:endParaRPr lang="en-US" sz="1800" dirty="0"/>
          </a:p>
        </p:txBody>
      </p:sp>
      <p:sp>
        <p:nvSpPr>
          <p:cNvPr id="19" name="Text 17"/>
          <p:cNvSpPr txBox="1"/>
          <p:nvPr/>
        </p:nvSpPr>
        <p:spPr>
          <a:xfrm>
            <a:off x="457200" y="1856232"/>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مسار الإحالة، مستوى الخدمة، والامتثال</a:t>
            </a:r>
            <a:endParaRPr lang="ar-AE" sz="1350" dirty="0"/>
          </a:p>
        </p:txBody>
      </p:sp>
      <p:sp>
        <p:nvSpPr>
          <p:cNvPr id="20" name="Shape 18"/>
          <p:cNvSpPr/>
          <p:nvPr/>
        </p:nvSpPr>
        <p:spPr>
          <a:xfrm>
            <a:off x="4663440" y="2423160"/>
            <a:ext cx="4023360" cy="0"/>
          </a:xfrm>
          <a:prstGeom prst="line">
            <a:avLst/>
          </a:prstGeom>
          <a:noFill/>
          <a:ln w="6350">
            <a:solidFill>
              <a:srgbClr val="E6E1D8"/>
            </a:solidFill>
            <a:prstDash val="solid"/>
          </a:ln>
        </p:spPr>
      </p:sp>
      <p:sp>
        <p:nvSpPr>
          <p:cNvPr id="21" name="Text 19"/>
          <p:cNvSpPr txBox="1"/>
          <p:nvPr/>
        </p:nvSpPr>
        <p:spPr>
          <a:xfrm>
            <a:off x="4023360" y="2478024"/>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07</a:t>
            </a:r>
            <a:endParaRPr lang="en-US" sz="1800" dirty="0"/>
          </a:p>
        </p:txBody>
      </p:sp>
      <p:sp>
        <p:nvSpPr>
          <p:cNvPr id="22" name="Text 20"/>
          <p:cNvSpPr txBox="1"/>
          <p:nvPr/>
        </p:nvSpPr>
        <p:spPr>
          <a:xfrm>
            <a:off x="457200" y="2478024"/>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التسويق المشترك وخطة الانطلاق</a:t>
            </a:r>
            <a:endParaRPr lang="ar-AE" sz="1350" dirty="0"/>
          </a:p>
        </p:txBody>
      </p:sp>
      <p:sp>
        <p:nvSpPr>
          <p:cNvPr id="23" name="Shape 21"/>
          <p:cNvSpPr/>
          <p:nvPr/>
        </p:nvSpPr>
        <p:spPr>
          <a:xfrm>
            <a:off x="4663440" y="3044952"/>
            <a:ext cx="4023360" cy="0"/>
          </a:xfrm>
          <a:prstGeom prst="line">
            <a:avLst/>
          </a:prstGeom>
          <a:noFill/>
          <a:ln w="6350">
            <a:solidFill>
              <a:srgbClr val="E6E1D8"/>
            </a:solidFill>
            <a:prstDash val="solid"/>
          </a:ln>
        </p:spPr>
      </p:sp>
      <p:sp>
        <p:nvSpPr>
          <p:cNvPr id="24"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01</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من نحن ولماذا هذه الخدمة</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شريك قانوني يحمي عملاءكم ويرفع قيمة ما تبيعونه</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من نحن</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راشد الكيتوب للمحاماة والاستشارات القانونية</a:t>
            </a:r>
            <a:endParaRPr lang="ar-AE" sz="1000" dirty="0"/>
          </a:p>
        </p:txBody>
      </p:sp>
      <p:sp>
        <p:nvSpPr>
          <p:cNvPr id="4" name="Shape 2"/>
          <p:cNvSpPr/>
          <p:nvPr/>
        </p:nvSpPr>
        <p:spPr>
          <a:xfrm>
            <a:off x="6096000" y="1188720"/>
            <a:ext cx="2590800" cy="1508760"/>
          </a:xfrm>
          <a:prstGeom prst="rect">
            <a:avLst/>
          </a:prstGeom>
          <a:solidFill>
            <a:srgbClr val="F4F1EB"/>
          </a:solidFill>
          <a:ln w="12700">
            <a:solidFill>
              <a:srgbClr val="F4F1EB"/>
            </a:solidFill>
            <a:prstDash val="solid"/>
          </a:ln>
        </p:spPr>
      </p:sp>
      <p:pic>
        <p:nvPicPr>
          <p:cNvPr id="5" name="icon FaBuildingColumns" descr="preencoded.png">    </p:cNvPr>
          <p:cNvPicPr>
            <a:picLocks noChangeAspect="1"/>
          </p:cNvPicPr>
          <p:nvPr/>
        </p:nvPicPr>
        <p:blipFill>
          <a:blip r:embed="rId1"/>
          <a:stretch>
            <a:fillRect/>
          </a:stretch>
        </p:blipFill>
        <p:spPr>
          <a:xfrm>
            <a:off x="8174736" y="1389888"/>
            <a:ext cx="310896" cy="310896"/>
          </a:xfrm>
          <a:prstGeom prst="rect">
            <a:avLst/>
          </a:prstGeom>
        </p:spPr>
      </p:pic>
      <p:sp>
        <p:nvSpPr>
          <p:cNvPr id="6" name="Text 3"/>
          <p:cNvSpPr txBox="1"/>
          <p:nvPr/>
        </p:nvSpPr>
        <p:spPr>
          <a:xfrm>
            <a:off x="62971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مكتب مرخّص منذ 2014</a:t>
            </a:r>
            <a:endParaRPr lang="ar-AE" sz="1250" dirty="0"/>
          </a:p>
          <a:p>
            <a:pPr algn="r" indent="0" marL="0">
              <a:spcAft>
                <a:spcPts val="300"/>
              </a:spcAft>
              <a:buNone/>
            </a:pPr>
            <a:r>
              <a:rPr lang="ar-AE" altLang="en-US" sz="1050" dirty="0">
                <a:solidFill>
                  <a:schemeClr val="accent3"/>
                </a:solidFill>
              </a:rPr>
              <a:t>مكتب محاماة مرخّص في دولة الإمارات، مقره شارع الشيخ زايد في دبي، يمثّل الأفراد والشركات أمام محاكم الدولة بجميع درجاتها.</a:t>
            </a:r>
            <a:endParaRPr lang="ar-AE" sz="1250" dirty="0"/>
          </a:p>
        </p:txBody>
      </p:sp>
      <p:sp>
        <p:nvSpPr>
          <p:cNvPr id="7" name="Shape 4"/>
          <p:cNvSpPr/>
          <p:nvPr/>
        </p:nvSpPr>
        <p:spPr>
          <a:xfrm>
            <a:off x="3276600" y="1188720"/>
            <a:ext cx="2590800" cy="1508760"/>
          </a:xfrm>
          <a:prstGeom prst="rect">
            <a:avLst/>
          </a:prstGeom>
          <a:solidFill>
            <a:srgbClr val="F4F1EB"/>
          </a:solidFill>
          <a:ln w="12700">
            <a:solidFill>
              <a:srgbClr val="F4F1EB"/>
            </a:solidFill>
            <a:prstDash val="solid"/>
          </a:ln>
        </p:spPr>
      </p:sp>
      <p:pic>
        <p:nvPicPr>
          <p:cNvPr id="8" name="icon FaScaleBalanced" descr="preencoded.png">    </p:cNvPr>
          <p:cNvPicPr>
            <a:picLocks noChangeAspect="1"/>
          </p:cNvPicPr>
          <p:nvPr/>
        </p:nvPicPr>
        <p:blipFill>
          <a:blip r:embed="rId2"/>
          <a:stretch>
            <a:fillRect/>
          </a:stretch>
        </p:blipFill>
        <p:spPr>
          <a:xfrm>
            <a:off x="5355336" y="1389888"/>
            <a:ext cx="310896" cy="310896"/>
          </a:xfrm>
          <a:prstGeom prst="rect">
            <a:avLst/>
          </a:prstGeom>
        </p:spPr>
      </p:pic>
      <p:sp>
        <p:nvSpPr>
          <p:cNvPr id="9" name="Text 5"/>
          <p:cNvSpPr txBox="1"/>
          <p:nvPr/>
        </p:nvSpPr>
        <p:spPr>
          <a:xfrm>
            <a:off x="34777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أكثر من 10 مجالات قانونية</a:t>
            </a:r>
            <a:endParaRPr lang="ar-AE" sz="1250" dirty="0"/>
          </a:p>
          <a:p>
            <a:pPr algn="r" indent="0" marL="0">
              <a:spcAft>
                <a:spcPts val="300"/>
              </a:spcAft>
              <a:buNone/>
            </a:pPr>
            <a:r>
              <a:rPr lang="ar-AE" altLang="en-US" sz="1050" dirty="0">
                <a:solidFill>
                  <a:schemeClr val="accent3"/>
                </a:solidFill>
              </a:rPr>
              <a:t>العقاري، التجاري والشركات، التحكيم، الأحوال الشخصية والتركات، الامتثال ومكافحة غسل الأموال، الملكية الفكرية وغيرها.</a:t>
            </a:r>
            <a:endParaRPr lang="ar-AE" sz="1250" dirty="0"/>
          </a:p>
        </p:txBody>
      </p:sp>
      <p:sp>
        <p:nvSpPr>
          <p:cNvPr id="10" name="Shape 6"/>
          <p:cNvSpPr/>
          <p:nvPr/>
        </p:nvSpPr>
        <p:spPr>
          <a:xfrm>
            <a:off x="457200" y="1188720"/>
            <a:ext cx="2590800" cy="1508760"/>
          </a:xfrm>
          <a:prstGeom prst="rect">
            <a:avLst/>
          </a:prstGeom>
          <a:solidFill>
            <a:srgbClr val="F4F1EB"/>
          </a:solidFill>
          <a:ln w="12700">
            <a:solidFill>
              <a:srgbClr val="F4F1EB"/>
            </a:solidFill>
            <a:prstDash val="solid"/>
          </a:ln>
        </p:spPr>
      </p:sp>
      <p:pic>
        <p:nvPicPr>
          <p:cNvPr id="11" name="icon FaGlobe" descr="preencoded.png">    </p:cNvPr>
          <p:cNvPicPr>
            <a:picLocks noChangeAspect="1"/>
          </p:cNvPicPr>
          <p:nvPr/>
        </p:nvPicPr>
        <p:blipFill>
          <a:blip r:embed="rId3"/>
          <a:stretch>
            <a:fillRect/>
          </a:stretch>
        </p:blipFill>
        <p:spPr>
          <a:xfrm>
            <a:off x="2535936" y="1389888"/>
            <a:ext cx="310896" cy="310896"/>
          </a:xfrm>
          <a:prstGeom prst="rect">
            <a:avLst/>
          </a:prstGeom>
        </p:spPr>
      </p:pic>
      <p:sp>
        <p:nvSpPr>
          <p:cNvPr id="12" name="Text 7"/>
          <p:cNvSpPr txBox="1"/>
          <p:nvPr/>
        </p:nvSpPr>
        <p:spPr>
          <a:xfrm>
            <a:off x="6583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حضور إقليمي ودولي</a:t>
            </a:r>
            <a:endParaRPr lang="ar-AE" sz="1250" dirty="0"/>
          </a:p>
          <a:p>
            <a:pPr algn="r" indent="0" marL="0">
              <a:spcAft>
                <a:spcPts val="300"/>
              </a:spcAft>
              <a:buNone/>
            </a:pPr>
            <a:r>
              <a:rPr lang="ar-AE" altLang="en-US" sz="1050" dirty="0">
                <a:solidFill>
                  <a:schemeClr val="accent3"/>
                </a:solidFill>
              </a:rPr>
              <a:t>حضور راسخ في دول مجلس التعاون وآسيا، مع مكتب صيني متخصص للمستثمرين.</a:t>
            </a:r>
            <a:endParaRPr lang="ar-AE" sz="1250" dirty="0"/>
          </a:p>
        </p:txBody>
      </p:sp>
      <p:sp>
        <p:nvSpPr>
          <p:cNvPr id="13" name="Shape 8"/>
          <p:cNvSpPr/>
          <p:nvPr/>
        </p:nvSpPr>
        <p:spPr>
          <a:xfrm>
            <a:off x="6096000" y="2926080"/>
            <a:ext cx="2590800" cy="1508760"/>
          </a:xfrm>
          <a:prstGeom prst="rect">
            <a:avLst/>
          </a:prstGeom>
          <a:solidFill>
            <a:srgbClr val="F4F1EB"/>
          </a:solidFill>
          <a:ln w="12700">
            <a:solidFill>
              <a:srgbClr val="F4F1EB"/>
            </a:solidFill>
            <a:prstDash val="solid"/>
          </a:ln>
        </p:spPr>
      </p:sp>
      <p:pic>
        <p:nvPicPr>
          <p:cNvPr id="14" name="icon FaLanguage" descr="preencoded.png">    </p:cNvPr>
          <p:cNvPicPr>
            <a:picLocks noChangeAspect="1"/>
          </p:cNvPicPr>
          <p:nvPr/>
        </p:nvPicPr>
        <p:blipFill>
          <a:blip r:embed="rId4"/>
          <a:stretch>
            <a:fillRect/>
          </a:stretch>
        </p:blipFill>
        <p:spPr>
          <a:xfrm>
            <a:off x="8174736" y="3127248"/>
            <a:ext cx="310896" cy="310896"/>
          </a:xfrm>
          <a:prstGeom prst="rect">
            <a:avLst/>
          </a:prstGeom>
        </p:spPr>
      </p:pic>
      <p:sp>
        <p:nvSpPr>
          <p:cNvPr id="15" name="Text 9"/>
          <p:cNvSpPr txBox="1"/>
          <p:nvPr/>
        </p:nvSpPr>
        <p:spPr>
          <a:xfrm>
            <a:off x="62971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أربع لغات عمل</a:t>
            </a:r>
            <a:endParaRPr lang="ar-AE" sz="1250" dirty="0"/>
          </a:p>
          <a:p>
            <a:pPr algn="r" indent="0" marL="0">
              <a:spcAft>
                <a:spcPts val="300"/>
              </a:spcAft>
              <a:buNone/>
            </a:pPr>
            <a:r>
              <a:rPr lang="ar-AE" altLang="en-US" sz="1050" dirty="0">
                <a:solidFill>
                  <a:schemeClr val="accent3"/>
                </a:solidFill>
              </a:rPr>
              <a:t>العربية والإنجليزية والصينية والروسية، ليتواصل الموكل مباشرة مع مستشاره القانوني.</a:t>
            </a:r>
            <a:endParaRPr lang="ar-AE" sz="1250" dirty="0"/>
          </a:p>
        </p:txBody>
      </p:sp>
      <p:sp>
        <p:nvSpPr>
          <p:cNvPr id="16" name="Shape 10"/>
          <p:cNvSpPr/>
          <p:nvPr/>
        </p:nvSpPr>
        <p:spPr>
          <a:xfrm>
            <a:off x="3276600" y="2926080"/>
            <a:ext cx="2590800" cy="1508760"/>
          </a:xfrm>
          <a:prstGeom prst="rect">
            <a:avLst/>
          </a:prstGeom>
          <a:solidFill>
            <a:srgbClr val="F4F1EB"/>
          </a:solidFill>
          <a:ln w="12700">
            <a:solidFill>
              <a:srgbClr val="F4F1EB"/>
            </a:solidFill>
            <a:prstDash val="solid"/>
          </a:ln>
        </p:spPr>
      </p:sp>
      <p:pic>
        <p:nvPicPr>
          <p:cNvPr id="17" name="icon FaHandshake" descr="preencoded.png">    </p:cNvPr>
          <p:cNvPicPr>
            <a:picLocks noChangeAspect="1"/>
          </p:cNvPicPr>
          <p:nvPr/>
        </p:nvPicPr>
        <p:blipFill>
          <a:blip r:embed="rId5"/>
          <a:stretch>
            <a:fillRect/>
          </a:stretch>
        </p:blipFill>
        <p:spPr>
          <a:xfrm>
            <a:off x="5355336" y="3127248"/>
            <a:ext cx="310896" cy="310896"/>
          </a:xfrm>
          <a:prstGeom prst="rect">
            <a:avLst/>
          </a:prstGeom>
        </p:spPr>
      </p:pic>
      <p:sp>
        <p:nvSpPr>
          <p:cNvPr id="18" name="Text 11"/>
          <p:cNvSpPr txBox="1"/>
          <p:nvPr/>
        </p:nvSpPr>
        <p:spPr>
          <a:xfrm>
            <a:off x="34777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أولوية التسوية الودية</a:t>
            </a:r>
            <a:endParaRPr lang="ar-AE" sz="1250" dirty="0"/>
          </a:p>
          <a:p>
            <a:pPr algn="r" indent="0" marL="0">
              <a:spcAft>
                <a:spcPts val="300"/>
              </a:spcAft>
              <a:buNone/>
            </a:pPr>
            <a:r>
              <a:rPr lang="ar-AE" altLang="en-US" sz="1050" dirty="0">
                <a:solidFill>
                  <a:schemeClr val="accent3"/>
                </a:solidFill>
              </a:rPr>
              <a:t>نسعى للتفاوض والوساطة قبل التقاضي حيثما أمكن، لتحقيق أفضل نتيجة بأقل كلفة ووقت.</a:t>
            </a:r>
            <a:endParaRPr lang="ar-AE" sz="1250" dirty="0"/>
          </a:p>
        </p:txBody>
      </p:sp>
      <p:sp>
        <p:nvSpPr>
          <p:cNvPr id="19" name="Shape 12"/>
          <p:cNvSpPr/>
          <p:nvPr/>
        </p:nvSpPr>
        <p:spPr>
          <a:xfrm>
            <a:off x="457200" y="2926080"/>
            <a:ext cx="2590800" cy="1508760"/>
          </a:xfrm>
          <a:prstGeom prst="rect">
            <a:avLst/>
          </a:prstGeom>
          <a:solidFill>
            <a:srgbClr val="F4F1EB"/>
          </a:solidFill>
          <a:ln w="12700">
            <a:solidFill>
              <a:srgbClr val="F4F1EB"/>
            </a:solidFill>
            <a:prstDash val="solid"/>
          </a:ln>
        </p:spPr>
      </p:sp>
      <p:pic>
        <p:nvPicPr>
          <p:cNvPr id="20" name="icon FaUserShield" descr="preencoded.png">    </p:cNvPr>
          <p:cNvPicPr>
            <a:picLocks noChangeAspect="1"/>
          </p:cNvPicPr>
          <p:nvPr/>
        </p:nvPicPr>
        <p:blipFill>
          <a:blip r:embed="rId6"/>
          <a:stretch>
            <a:fillRect/>
          </a:stretch>
        </p:blipFill>
        <p:spPr>
          <a:xfrm>
            <a:off x="2535936" y="3127248"/>
            <a:ext cx="310896" cy="310896"/>
          </a:xfrm>
          <a:prstGeom prst="rect">
            <a:avLst/>
          </a:prstGeom>
        </p:spPr>
      </p:pic>
      <p:sp>
        <p:nvSpPr>
          <p:cNvPr id="21" name="Text 13"/>
          <p:cNvSpPr txBox="1"/>
          <p:nvPr/>
        </p:nvSpPr>
        <p:spPr>
          <a:xfrm>
            <a:off x="6583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نهج يركّز على الموكل</a:t>
            </a:r>
            <a:endParaRPr lang="ar-AE" sz="1250" dirty="0"/>
          </a:p>
          <a:p>
            <a:pPr algn="r" indent="0" marL="0">
              <a:spcAft>
                <a:spcPts val="300"/>
              </a:spcAft>
              <a:buNone/>
            </a:pPr>
            <a:r>
              <a:rPr lang="ar-AE" altLang="en-US" sz="1050" dirty="0">
                <a:solidFill>
                  <a:schemeClr val="accent3"/>
                </a:solidFill>
              </a:rPr>
              <a:t>تواصل واضح، تحديثات منتظمة، وحلول عملية تُصاغ وفق طبيعة كل مسألة.</a:t>
            </a:r>
            <a:endParaRPr lang="ar-AE" sz="1250" dirty="0"/>
          </a:p>
        </p:txBody>
      </p:sp>
      <p:sp>
        <p:nvSpPr>
          <p:cNvPr id="2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ماذا يحدث لعميلكم بدون تخطيط قانوني</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نقاط الألم</a:t>
            </a:r>
            <a:endParaRPr lang="ar-AE" sz="1000" dirty="0"/>
          </a:p>
        </p:txBody>
      </p:sp>
      <p:sp>
        <p:nvSpPr>
          <p:cNvPr id="4" name="Shape 2"/>
          <p:cNvSpPr/>
          <p:nvPr/>
        </p:nvSpPr>
        <p:spPr>
          <a:xfrm>
            <a:off x="8229600" y="1188720"/>
            <a:ext cx="457200" cy="457200"/>
          </a:xfrm>
          <a:prstGeom prst="ellipse">
            <a:avLst/>
          </a:prstGeom>
          <a:solidFill>
            <a:srgbClr val="F4F1EB"/>
          </a:solidFill>
          <a:ln w="12700">
            <a:solidFill>
              <a:srgbClr val="F4F1EB"/>
            </a:solidFill>
            <a:prstDash val="solid"/>
          </a:ln>
        </p:spPr>
      </p:sp>
      <p:pic>
        <p:nvPicPr>
          <p:cNvPr id="5" name="icon FaLock" descr="preencoded.png">    </p:cNvPr>
          <p:cNvPicPr>
            <a:picLocks noChangeAspect="1"/>
          </p:cNvPicPr>
          <p:nvPr/>
        </p:nvPicPr>
        <p:blipFill>
          <a:blip r:embed="rId1"/>
          <a:stretch>
            <a:fillRect/>
          </a:stretch>
        </p:blipFill>
        <p:spPr>
          <a:xfrm>
            <a:off x="8321040" y="1280160"/>
            <a:ext cx="274320" cy="274320"/>
          </a:xfrm>
          <a:prstGeom prst="rect">
            <a:avLst/>
          </a:prstGeom>
        </p:spPr>
      </p:pic>
      <p:sp>
        <p:nvSpPr>
          <p:cNvPr id="6" name="Text 3"/>
          <p:cNvSpPr txBox="1"/>
          <p:nvPr/>
        </p:nvSpPr>
        <p:spPr>
          <a:xfrm>
            <a:off x="3566160" y="1170432"/>
            <a:ext cx="4480560" cy="74980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تجميد الحسابات البنكية</a:t>
            </a:r>
            <a:endParaRPr lang="ar-AE" sz="1300" dirty="0"/>
          </a:p>
          <a:p>
            <a:pPr algn="r" indent="0" marL="0">
              <a:spcAft>
                <a:spcPts val="200"/>
              </a:spcAft>
              <a:buNone/>
            </a:pPr>
            <a:r>
              <a:rPr lang="ar-AE" altLang="en-US" sz="1100" dirty="0">
                <a:solidFill>
                  <a:schemeClr val="accent3"/>
                </a:solidFill>
              </a:rPr>
              <a:t>قد تُجمّد الحسابات حتى صدور قرار بتوزيع التركة، فتتوقف مصاريف العائلة.</a:t>
            </a:r>
            <a:endParaRPr lang="ar-AE" sz="1300" dirty="0"/>
          </a:p>
        </p:txBody>
      </p:sp>
      <p:sp>
        <p:nvSpPr>
          <p:cNvPr id="7" name="Shape 4"/>
          <p:cNvSpPr/>
          <p:nvPr/>
        </p:nvSpPr>
        <p:spPr>
          <a:xfrm>
            <a:off x="8229600" y="2011680"/>
            <a:ext cx="457200" cy="457200"/>
          </a:xfrm>
          <a:prstGeom prst="ellipse">
            <a:avLst/>
          </a:prstGeom>
          <a:solidFill>
            <a:srgbClr val="F4F1EB"/>
          </a:solidFill>
          <a:ln w="12700">
            <a:solidFill>
              <a:srgbClr val="F4F1EB"/>
            </a:solidFill>
            <a:prstDash val="solid"/>
          </a:ln>
        </p:spPr>
      </p:sp>
      <p:pic>
        <p:nvPicPr>
          <p:cNvPr id="8" name="icon FaHouseLock" descr="preencoded.png">    </p:cNvPr>
          <p:cNvPicPr>
            <a:picLocks noChangeAspect="1"/>
          </p:cNvPicPr>
          <p:nvPr/>
        </p:nvPicPr>
        <p:blipFill>
          <a:blip r:embed="rId2"/>
          <a:stretch>
            <a:fillRect/>
          </a:stretch>
        </p:blipFill>
        <p:spPr>
          <a:xfrm>
            <a:off x="8321040" y="2103120"/>
            <a:ext cx="274320" cy="274320"/>
          </a:xfrm>
          <a:prstGeom prst="rect">
            <a:avLst/>
          </a:prstGeom>
        </p:spPr>
      </p:pic>
      <p:sp>
        <p:nvSpPr>
          <p:cNvPr id="9" name="Text 5"/>
          <p:cNvSpPr txBox="1"/>
          <p:nvPr/>
        </p:nvSpPr>
        <p:spPr>
          <a:xfrm>
            <a:off x="3566160" y="1993392"/>
            <a:ext cx="4480560" cy="74980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تعطّل نقل ملكية العقار</a:t>
            </a:r>
            <a:endParaRPr lang="ar-AE" sz="1300" dirty="0"/>
          </a:p>
          <a:p>
            <a:pPr algn="r" indent="0" marL="0">
              <a:spcAft>
                <a:spcPts val="200"/>
              </a:spcAft>
              <a:buNone/>
            </a:pPr>
            <a:r>
              <a:rPr lang="ar-AE" altLang="en-US" sz="1100" dirty="0">
                <a:solidFill>
                  <a:schemeClr val="accent3"/>
                </a:solidFill>
              </a:rPr>
              <a:t>الإجراءات تطول وتختلف باختلاف الجنسية والديانة والحالة العائلية.</a:t>
            </a:r>
            <a:endParaRPr lang="ar-AE" sz="1300" dirty="0"/>
          </a:p>
        </p:txBody>
      </p:sp>
      <p:sp>
        <p:nvSpPr>
          <p:cNvPr id="10" name="Shape 6"/>
          <p:cNvSpPr/>
          <p:nvPr/>
        </p:nvSpPr>
        <p:spPr>
          <a:xfrm>
            <a:off x="8229600" y="2834640"/>
            <a:ext cx="457200" cy="457200"/>
          </a:xfrm>
          <a:prstGeom prst="ellipse">
            <a:avLst/>
          </a:prstGeom>
          <a:solidFill>
            <a:srgbClr val="F4F1EB"/>
          </a:solidFill>
          <a:ln w="12700">
            <a:solidFill>
              <a:srgbClr val="F4F1EB"/>
            </a:solidFill>
            <a:prstDash val="solid"/>
          </a:ln>
        </p:spPr>
      </p:sp>
      <p:pic>
        <p:nvPicPr>
          <p:cNvPr id="11" name="icon FaPeopleArrows" descr="preencoded.png">    </p:cNvPr>
          <p:cNvPicPr>
            <a:picLocks noChangeAspect="1"/>
          </p:cNvPicPr>
          <p:nvPr/>
        </p:nvPicPr>
        <p:blipFill>
          <a:blip r:embed="rId3"/>
          <a:stretch>
            <a:fillRect/>
          </a:stretch>
        </p:blipFill>
        <p:spPr>
          <a:xfrm>
            <a:off x="8321040" y="2926080"/>
            <a:ext cx="274320" cy="274320"/>
          </a:xfrm>
          <a:prstGeom prst="rect">
            <a:avLst/>
          </a:prstGeom>
        </p:spPr>
      </p:pic>
      <p:sp>
        <p:nvSpPr>
          <p:cNvPr id="12" name="Text 7"/>
          <p:cNvSpPr txBox="1"/>
          <p:nvPr/>
        </p:nvSpPr>
        <p:spPr>
          <a:xfrm>
            <a:off x="3566160" y="2816352"/>
            <a:ext cx="4480560" cy="74980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نزاعات عائلية</a:t>
            </a:r>
            <a:endParaRPr lang="ar-AE" sz="1300" dirty="0"/>
          </a:p>
          <a:p>
            <a:pPr algn="r" indent="0" marL="0">
              <a:spcAft>
                <a:spcPts val="200"/>
              </a:spcAft>
              <a:buNone/>
            </a:pPr>
            <a:r>
              <a:rPr lang="ar-AE" altLang="en-US" sz="1100" dirty="0">
                <a:solidFill>
                  <a:schemeClr val="accent3"/>
                </a:solidFill>
              </a:rPr>
              <a:t>غياب وثيقة واضحة يفتح الباب للخلاف بين الورثة داخل الدولة وخارجها.</a:t>
            </a:r>
            <a:endParaRPr lang="ar-AE" sz="1300" dirty="0"/>
          </a:p>
        </p:txBody>
      </p:sp>
      <p:sp>
        <p:nvSpPr>
          <p:cNvPr id="13" name="Shape 8"/>
          <p:cNvSpPr/>
          <p:nvPr/>
        </p:nvSpPr>
        <p:spPr>
          <a:xfrm>
            <a:off x="8229600" y="3657600"/>
            <a:ext cx="457200" cy="457200"/>
          </a:xfrm>
          <a:prstGeom prst="ellipse">
            <a:avLst/>
          </a:prstGeom>
          <a:solidFill>
            <a:srgbClr val="F4F1EB"/>
          </a:solidFill>
          <a:ln w="12700">
            <a:solidFill>
              <a:srgbClr val="F4F1EB"/>
            </a:solidFill>
            <a:prstDash val="solid"/>
          </a:ln>
        </p:spPr>
      </p:sp>
      <p:pic>
        <p:nvPicPr>
          <p:cNvPr id="14" name="icon FaChildren" descr="preencoded.png">    </p:cNvPr>
          <p:cNvPicPr>
            <a:picLocks noChangeAspect="1"/>
          </p:cNvPicPr>
          <p:nvPr/>
        </p:nvPicPr>
        <p:blipFill>
          <a:blip r:embed="rId4"/>
          <a:stretch>
            <a:fillRect/>
          </a:stretch>
        </p:blipFill>
        <p:spPr>
          <a:xfrm>
            <a:off x="8321040" y="3749040"/>
            <a:ext cx="274320" cy="274320"/>
          </a:xfrm>
          <a:prstGeom prst="rect">
            <a:avLst/>
          </a:prstGeom>
        </p:spPr>
      </p:pic>
      <p:sp>
        <p:nvSpPr>
          <p:cNvPr id="15" name="Text 9"/>
          <p:cNvSpPr txBox="1"/>
          <p:nvPr/>
        </p:nvSpPr>
        <p:spPr>
          <a:xfrm>
            <a:off x="3566160" y="3639312"/>
            <a:ext cx="4480560" cy="74980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مشاكل تتعلق بالأطفال والورثة</a:t>
            </a:r>
            <a:endParaRPr lang="ar-AE" sz="1300" dirty="0"/>
          </a:p>
          <a:p>
            <a:pPr algn="r" indent="0" marL="0">
              <a:spcAft>
                <a:spcPts val="200"/>
              </a:spcAft>
              <a:buNone/>
            </a:pPr>
            <a:r>
              <a:rPr lang="ar-AE" altLang="en-US" sz="1100" dirty="0">
                <a:solidFill>
                  <a:schemeClr val="accent3"/>
                </a:solidFill>
              </a:rPr>
              <a:t>لا وصي معيّن على القاصرين، ولا مسار واضح لحصصهم.</a:t>
            </a:r>
            <a:endParaRPr lang="ar-AE" sz="1300" dirty="0"/>
          </a:p>
        </p:txBody>
      </p:sp>
      <p:sp>
        <p:nvSpPr>
          <p:cNvPr id="16" name="Shape 10"/>
          <p:cNvSpPr/>
          <p:nvPr/>
        </p:nvSpPr>
        <p:spPr>
          <a:xfrm>
            <a:off x="457200" y="1188720"/>
            <a:ext cx="2743200" cy="3246120"/>
          </a:xfrm>
          <a:prstGeom prst="rect">
            <a:avLst/>
          </a:prstGeom>
          <a:solidFill>
            <a:srgbClr val="0E2238"/>
          </a:solidFill>
          <a:ln w="12700">
            <a:solidFill>
              <a:srgbClr val="0E2238"/>
            </a:solidFill>
            <a:prstDash val="solid"/>
          </a:ln>
        </p:spPr>
      </p:sp>
      <p:sp>
        <p:nvSpPr>
          <p:cNvPr id="17" name="Shape 11"/>
          <p:cNvSpPr/>
          <p:nvPr/>
        </p:nvSpPr>
        <p:spPr>
          <a:xfrm>
            <a:off x="566928" y="1298448"/>
            <a:ext cx="2523744" cy="3026664"/>
          </a:xfrm>
          <a:prstGeom prst="rect">
            <a:avLst/>
          </a:prstGeom>
          <a:ln w="9525">
            <a:solidFill>
              <a:srgbClr val="B5723B"/>
            </a:solidFill>
            <a:prstDash val="solid"/>
          </a:ln>
        </p:spPr>
      </p:sp>
      <p:sp>
        <p:nvSpPr>
          <p:cNvPr id="18" name="Text 12"/>
          <p:cNvSpPr txBox="1"/>
          <p:nvPr/>
        </p:nvSpPr>
        <p:spPr>
          <a:xfrm>
            <a:off x="777240" y="1508760"/>
            <a:ext cx="2103120" cy="640080"/>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Cambria" pitchFamily="34" charset="0"/>
                <a:ea typeface="Cambria" pitchFamily="34" charset="-122"/>
                <a:cs typeface="Cambria" pitchFamily="34" charset="-120"/>
              </a:rPr>
              <a:t>الحقيقة</a:t>
            </a:r>
            <a:endParaRPr lang="ar-AE" sz="1600" dirty="0"/>
          </a:p>
        </p:txBody>
      </p:sp>
      <p:sp>
        <p:nvSpPr>
          <p:cNvPr id="19" name="Text 13"/>
          <p:cNvSpPr txBox="1"/>
          <p:nvPr/>
        </p:nvSpPr>
        <p:spPr>
          <a:xfrm>
            <a:off x="777240" y="2194560"/>
            <a:ext cx="2103120" cy="2011680"/>
          </a:xfrm>
          <a:prstGeom prst="rect">
            <a:avLst/>
          </a:prstGeom>
          <a:noFill/>
          <a:ln/>
        </p:spPr>
        <p:txBody>
          <a:bodyPr wrap="square" lIns="0" tIns="0" rIns="0" bIns="0" rtlCol="0" anchor="t"/>
          <a:lstStyle/>
          <a:p>
            <a:pPr rtl="1" algn="r" indent="0" marL="0">
              <a:buNone/>
            </a:pPr>
            <a:r>
              <a:rPr lang="ar-AE" altLang="en-US" sz="1150" dirty="0">
                <a:solidFill>
                  <a:schemeClr val="bg2"/>
                </a:solidFill>
              </a:rPr>
              <a:t>أغلب المشترين الأجانب لا يعرفون قوانين الإرث في الإمارات، ويشترون بملايين الدراهم دون أي وصية أو هيكلة قانونية.</a:t>
            </a:r>
            <a:endParaRPr lang="ar-AE" sz="1150" dirty="0"/>
          </a:p>
        </p:txBody>
      </p:sp>
      <p:sp>
        <p:nvSpPr>
          <p:cNvPr id="20"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من لا يملك وصية: ما تقوله الاستطلاعات</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الأرقام</a:t>
            </a:r>
            <a:endParaRPr lang="ar-AE" sz="1000" dirty="0"/>
          </a:p>
        </p:txBody>
      </p:sp>
      <p:sp>
        <p:nvSpPr>
          <p:cNvPr id="4" name="Shape 2"/>
          <p:cNvSpPr/>
          <p:nvPr/>
        </p:nvSpPr>
        <p:spPr>
          <a:xfrm>
            <a:off x="6780276" y="1188720"/>
            <a:ext cx="1906524" cy="2926080"/>
          </a:xfrm>
          <a:prstGeom prst="rect">
            <a:avLst/>
          </a:prstGeom>
          <a:solidFill>
            <a:srgbClr val="F4F1EB"/>
          </a:solidFill>
          <a:ln w="12700">
            <a:solidFill>
              <a:srgbClr val="F4F1EB"/>
            </a:solidFill>
            <a:prstDash val="solid"/>
          </a:ln>
        </p:spPr>
      </p:sp>
      <p:sp>
        <p:nvSpPr>
          <p:cNvPr id="5" name="Text 3"/>
          <p:cNvSpPr txBox="1"/>
          <p:nvPr/>
        </p:nvSpPr>
        <p:spPr>
          <a:xfrm>
            <a:off x="6963156" y="1325880"/>
            <a:ext cx="1540764" cy="914400"/>
          </a:xfrm>
          <a:prstGeom prst="rect">
            <a:avLst/>
          </a:prstGeom>
          <a:noFill/>
          <a:ln/>
        </p:spPr>
        <p:txBody>
          <a:bodyPr wrap="square" lIns="0" tIns="0" rIns="0" bIns="0" rtlCol="0" anchor="ctr"/>
          <a:lstStyle/>
          <a:p>
            <a:pPr rtl="1" algn="r" indent="0" marL="0">
              <a:buNone/>
            </a:pPr>
            <a:r>
              <a:rPr lang="ar-AE" altLang="en-US" sz="3600" b="1" dirty="0">
                <a:solidFill>
                  <a:schemeClr val="accent1"/>
                </a:solidFill>
                <a:latin typeface="Cambria" pitchFamily="34" charset="0"/>
                <a:ea typeface="Cambria" pitchFamily="34" charset="-122"/>
                <a:cs typeface="Cambria" pitchFamily="34" charset="-120"/>
              </a:rPr>
              <a:t>49%</a:t>
            </a:r>
            <a:endParaRPr lang="ar-AE" sz="3600" dirty="0"/>
          </a:p>
        </p:txBody>
      </p:sp>
      <p:sp>
        <p:nvSpPr>
          <p:cNvPr id="6" name="Text 4"/>
          <p:cNvSpPr txBox="1"/>
          <p:nvPr/>
        </p:nvSpPr>
        <p:spPr>
          <a:xfrm>
            <a:off x="6963156" y="2286000"/>
            <a:ext cx="1540764" cy="1737360"/>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لم يبدأوا وصية</a:t>
            </a:r>
            <a:endParaRPr lang="ar-AE" sz="1250" dirty="0"/>
          </a:p>
          <a:p>
            <a:pPr algn="r" indent="0" marL="0">
              <a:spcAft>
                <a:spcPts val="300"/>
              </a:spcAft>
              <a:buNone/>
            </a:pPr>
            <a:r>
              <a:rPr lang="ar-AE" altLang="en-US" sz="1000" dirty="0">
                <a:solidFill>
                  <a:schemeClr val="accent3"/>
                </a:solidFill>
              </a:rPr>
              <a:t>من المقيمين الأجانب في الإمارات، 2026</a:t>
            </a:r>
            <a:endParaRPr lang="ar-AE" sz="1250" dirty="0"/>
          </a:p>
        </p:txBody>
      </p:sp>
      <p:sp>
        <p:nvSpPr>
          <p:cNvPr id="7" name="Shape 5"/>
          <p:cNvSpPr/>
          <p:nvPr/>
        </p:nvSpPr>
        <p:spPr>
          <a:xfrm>
            <a:off x="4672584" y="1188720"/>
            <a:ext cx="1906524" cy="2926080"/>
          </a:xfrm>
          <a:prstGeom prst="rect">
            <a:avLst/>
          </a:prstGeom>
          <a:solidFill>
            <a:srgbClr val="F4F1EB"/>
          </a:solidFill>
          <a:ln w="12700">
            <a:solidFill>
              <a:srgbClr val="F4F1EB"/>
            </a:solidFill>
            <a:prstDash val="solid"/>
          </a:ln>
        </p:spPr>
      </p:sp>
      <p:sp>
        <p:nvSpPr>
          <p:cNvPr id="8" name="Text 6"/>
          <p:cNvSpPr txBox="1"/>
          <p:nvPr/>
        </p:nvSpPr>
        <p:spPr>
          <a:xfrm>
            <a:off x="4855464" y="1325880"/>
            <a:ext cx="1540764" cy="914400"/>
          </a:xfrm>
          <a:prstGeom prst="rect">
            <a:avLst/>
          </a:prstGeom>
          <a:noFill/>
          <a:ln/>
        </p:spPr>
        <p:txBody>
          <a:bodyPr wrap="square" lIns="0" tIns="0" rIns="0" bIns="0" rtlCol="0" anchor="ctr"/>
          <a:lstStyle/>
          <a:p>
            <a:pPr rtl="1" algn="r" indent="0" marL="0">
              <a:buNone/>
            </a:pPr>
            <a:r>
              <a:rPr lang="ar-AE" altLang="en-US" sz="3600" b="1" dirty="0">
                <a:solidFill>
                  <a:schemeClr val="accent1"/>
                </a:solidFill>
                <a:latin typeface="Cambria" pitchFamily="34" charset="0"/>
                <a:ea typeface="Cambria" pitchFamily="34" charset="-122"/>
                <a:cs typeface="Cambria" pitchFamily="34" charset="-120"/>
              </a:rPr>
              <a:t>56%</a:t>
            </a:r>
            <a:endParaRPr lang="ar-AE" sz="3600" dirty="0"/>
          </a:p>
        </p:txBody>
      </p:sp>
      <p:sp>
        <p:nvSpPr>
          <p:cNvPr id="9" name="Text 7"/>
          <p:cNvSpPr txBox="1"/>
          <p:nvPr/>
        </p:nvSpPr>
        <p:spPr>
          <a:xfrm>
            <a:off x="4855464" y="2286000"/>
            <a:ext cx="1540764" cy="1737360"/>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يعتقدون أن الزوج/الزوجة يرث كل شيء تلقائياً</a:t>
            </a:r>
            <a:endParaRPr lang="ar-AE" sz="1250" dirty="0"/>
          </a:p>
          <a:p>
            <a:pPr algn="r" indent="0" marL="0">
              <a:spcAft>
                <a:spcPts val="300"/>
              </a:spcAft>
              <a:buNone/>
            </a:pPr>
            <a:r>
              <a:rPr lang="ar-AE" altLang="en-US" sz="1000" dirty="0">
                <a:solidFill>
                  <a:schemeClr val="accent3"/>
                </a:solidFill>
              </a:rPr>
              <a:t>وهو اعتقاد خاطئ قانونياً</a:t>
            </a:r>
            <a:endParaRPr lang="ar-AE" sz="1250" dirty="0"/>
          </a:p>
        </p:txBody>
      </p:sp>
      <p:sp>
        <p:nvSpPr>
          <p:cNvPr id="10" name="Shape 8"/>
          <p:cNvSpPr/>
          <p:nvPr/>
        </p:nvSpPr>
        <p:spPr>
          <a:xfrm>
            <a:off x="2564892" y="1188720"/>
            <a:ext cx="1906524" cy="2926080"/>
          </a:xfrm>
          <a:prstGeom prst="rect">
            <a:avLst/>
          </a:prstGeom>
          <a:solidFill>
            <a:srgbClr val="F4F1EB"/>
          </a:solidFill>
          <a:ln w="12700">
            <a:solidFill>
              <a:srgbClr val="F4F1EB"/>
            </a:solidFill>
            <a:prstDash val="solid"/>
          </a:ln>
        </p:spPr>
      </p:sp>
      <p:sp>
        <p:nvSpPr>
          <p:cNvPr id="11" name="Text 9"/>
          <p:cNvSpPr txBox="1"/>
          <p:nvPr/>
        </p:nvSpPr>
        <p:spPr>
          <a:xfrm>
            <a:off x="2747772" y="1325880"/>
            <a:ext cx="1540764" cy="914400"/>
          </a:xfrm>
          <a:prstGeom prst="rect">
            <a:avLst/>
          </a:prstGeom>
          <a:noFill/>
          <a:ln/>
        </p:spPr>
        <p:txBody>
          <a:bodyPr wrap="square" lIns="0" tIns="0" rIns="0" bIns="0" rtlCol="0" anchor="ctr"/>
          <a:lstStyle/>
          <a:p>
            <a:pPr rtl="1" algn="r" indent="0" marL="0">
              <a:buNone/>
            </a:pPr>
            <a:r>
              <a:rPr lang="ar-AE" altLang="en-US" sz="3600" b="1" dirty="0">
                <a:solidFill>
                  <a:schemeClr val="accent1"/>
                </a:solidFill>
                <a:latin typeface="Cambria" pitchFamily="34" charset="0"/>
                <a:ea typeface="Cambria" pitchFamily="34" charset="-122"/>
                <a:cs typeface="Cambria" pitchFamily="34" charset="-120"/>
              </a:rPr>
              <a:t>24%</a:t>
            </a:r>
            <a:endParaRPr lang="ar-AE" sz="3600" dirty="0"/>
          </a:p>
        </p:txBody>
      </p:sp>
      <p:sp>
        <p:nvSpPr>
          <p:cNvPr id="12" name="Text 10"/>
          <p:cNvSpPr txBox="1"/>
          <p:nvPr/>
        </p:nvSpPr>
        <p:spPr>
          <a:xfrm>
            <a:off x="2747772" y="2286000"/>
            <a:ext cx="1540764" cy="1737360"/>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فقط من الآباء وثّقوا الوصاية على أطفالهم</a:t>
            </a:r>
            <a:endParaRPr lang="ar-AE" sz="1250" dirty="0"/>
          </a:p>
          <a:p>
            <a:pPr algn="r" indent="0" marL="0">
              <a:spcAft>
                <a:spcPts val="300"/>
              </a:spcAft>
              <a:buNone/>
            </a:pPr>
            <a:r>
              <a:rPr lang="ar-AE" altLang="en-US" sz="1000" dirty="0">
                <a:solidFill>
                  <a:schemeClr val="accent3"/>
                </a:solidFill>
              </a:rPr>
              <a:t>مقابل 73% يظنون أن عائلاتهم ستعرف رغباتهم</a:t>
            </a:r>
            <a:endParaRPr lang="ar-AE" sz="1250" dirty="0"/>
          </a:p>
        </p:txBody>
      </p:sp>
      <p:sp>
        <p:nvSpPr>
          <p:cNvPr id="13" name="Shape 11"/>
          <p:cNvSpPr/>
          <p:nvPr/>
        </p:nvSpPr>
        <p:spPr>
          <a:xfrm>
            <a:off x="457200" y="1188720"/>
            <a:ext cx="1906524" cy="2926080"/>
          </a:xfrm>
          <a:prstGeom prst="rect">
            <a:avLst/>
          </a:prstGeom>
          <a:solidFill>
            <a:srgbClr val="F4F1EB"/>
          </a:solidFill>
          <a:ln w="12700">
            <a:solidFill>
              <a:srgbClr val="F4F1EB"/>
            </a:solidFill>
            <a:prstDash val="solid"/>
          </a:ln>
        </p:spPr>
      </p:sp>
      <p:sp>
        <p:nvSpPr>
          <p:cNvPr id="14" name="Text 12"/>
          <p:cNvSpPr txBox="1"/>
          <p:nvPr/>
        </p:nvSpPr>
        <p:spPr>
          <a:xfrm>
            <a:off x="640080" y="1325880"/>
            <a:ext cx="1540764" cy="914400"/>
          </a:xfrm>
          <a:prstGeom prst="rect">
            <a:avLst/>
          </a:prstGeom>
          <a:noFill/>
          <a:ln/>
        </p:spPr>
        <p:txBody>
          <a:bodyPr wrap="square" lIns="0" tIns="0" rIns="0" bIns="0" rtlCol="0" anchor="ctr"/>
          <a:lstStyle/>
          <a:p>
            <a:pPr rtl="1" algn="r" indent="0" marL="0">
              <a:buNone/>
            </a:pPr>
            <a:r>
              <a:rPr lang="ar-AE" altLang="en-US" sz="2400" b="1" dirty="0">
                <a:solidFill>
                  <a:schemeClr val="accent1"/>
                </a:solidFill>
                <a:latin typeface="Cambria" pitchFamily="34" charset="0"/>
                <a:ea typeface="Cambria" pitchFamily="34" charset="-122"/>
                <a:cs typeface="Cambria" pitchFamily="34" charset="-120"/>
              </a:rPr>
              <a:t>نحو 90%</a:t>
            </a:r>
            <a:endParaRPr lang="ar-AE" sz="2400" dirty="0"/>
          </a:p>
        </p:txBody>
      </p:sp>
      <p:sp>
        <p:nvSpPr>
          <p:cNvPr id="15" name="Text 13"/>
          <p:cNvSpPr txBox="1"/>
          <p:nvPr/>
        </p:nvSpPr>
        <p:spPr>
          <a:xfrm>
            <a:off x="640080" y="2286000"/>
            <a:ext cx="1540764" cy="1737360"/>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من مالكي الأصول في دبي لم يكن لديهم وصية مسجلة</a:t>
            </a:r>
            <a:endParaRPr lang="ar-AE" sz="1250" dirty="0"/>
          </a:p>
          <a:p>
            <a:pPr algn="r" indent="0" marL="0">
              <a:spcAft>
                <a:spcPts val="300"/>
              </a:spcAft>
              <a:buNone/>
            </a:pPr>
            <a:r>
              <a:rPr lang="ar-AE" altLang="en-US" sz="1000" dirty="0">
                <a:solidFill>
                  <a:schemeClr val="accent3"/>
                </a:solidFill>
              </a:rPr>
              <a:t>استطلاع سجل وصايا DIFC، 2017: «أكثر بقليل من 10%» لديهم وصية</a:t>
            </a:r>
            <a:endParaRPr lang="ar-AE" sz="1250" dirty="0"/>
          </a:p>
        </p:txBody>
      </p:sp>
      <p:sp>
        <p:nvSpPr>
          <p:cNvPr id="16" name="Text 14"/>
          <p:cNvSpPr txBox="1"/>
          <p:nvPr/>
        </p:nvSpPr>
        <p:spPr>
          <a:xfrm>
            <a:off x="457200" y="4187952"/>
            <a:ext cx="8229600" cy="384048"/>
          </a:xfrm>
          <a:prstGeom prst="rect">
            <a:avLst/>
          </a:prstGeom>
          <a:noFill/>
          <a:ln/>
        </p:spPr>
        <p:txBody>
          <a:bodyPr wrap="square" lIns="0" tIns="0" rIns="0" bIns="0" rtlCol="0" anchor="ctr"/>
          <a:lstStyle/>
          <a:p>
            <a:pPr rtl="1" algn="r" indent="0" marL="0">
              <a:buNone/>
            </a:pPr>
            <a:r>
              <a:rPr lang="ar-AE" altLang="en-US" sz="800" i="1" dirty="0">
                <a:solidFill>
                  <a:schemeClr val="accent3"/>
                </a:solidFill>
              </a:rPr>
              <a:t>المصدر: استطلاع YouGov لصالح Blanket، 1,014 مقيماً، سبتمبر 2026؛ واستطلاع سجل وصايا DIFC لعام 2017. أبرز أسباب عدم كتابة الوصية: 28% يرون أصولهم غير كافية، و21% لا يعرفون من أين يبدؤون.</a:t>
            </a:r>
            <a:endParaRPr lang="ar-AE" sz="800" dirty="0"/>
          </a:p>
        </p:txBody>
      </p:sp>
      <p:sp>
        <p:nvSpPr>
          <p:cNvPr id="17"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DIFC: تسارع واضح في التسجيل السنوي</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الأرقام</a:t>
            </a:r>
            <a:endParaRPr lang="ar-AE" sz="1000" dirty="0"/>
          </a:p>
        </p:txBody>
      </p:sp>
      <p:graphicFrame>
        <p:nvGraphicFramePr>
          <p:cNvPr id="4" name="Chart 0" descr=""/>
          <p:cNvGraphicFramePr/>
          <p:nvPr/>
        </p:nvGraphicFramePr>
        <p:xfrm>
          <a:off x="3474720" y="1188720"/>
          <a:ext cx="5212080" cy="3017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1188720"/>
            <a:ext cx="2788920" cy="3017520"/>
          </a:xfrm>
          <a:prstGeom prst="rect">
            <a:avLst/>
          </a:prstGeom>
          <a:solidFill>
            <a:srgbClr val="F4F1EB"/>
          </a:solidFill>
          <a:ln w="12700">
            <a:solidFill>
              <a:srgbClr val="F4F1EB"/>
            </a:solidFill>
            <a:prstDash val="solid"/>
          </a:ln>
        </p:spPr>
      </p:sp>
      <p:sp>
        <p:nvSpPr>
          <p:cNvPr id="6" name="Text 3"/>
          <p:cNvSpPr txBox="1"/>
          <p:nvPr/>
        </p:nvSpPr>
        <p:spPr>
          <a:xfrm>
            <a:off x="685800" y="1325880"/>
            <a:ext cx="2331720" cy="731520"/>
          </a:xfrm>
          <a:prstGeom prst="rect">
            <a:avLst/>
          </a:prstGeom>
          <a:noFill/>
          <a:ln/>
        </p:spPr>
        <p:txBody>
          <a:bodyPr wrap="square" lIns="0" tIns="0" rIns="0" bIns="0" rtlCol="0" anchor="ctr"/>
          <a:lstStyle/>
          <a:p>
            <a:pPr rtl="1" algn="r" indent="0" marL="0">
              <a:buNone/>
            </a:pPr>
            <a:r>
              <a:rPr lang="ar-AE" altLang="en-US" sz="3200" b="1" dirty="0">
                <a:solidFill>
                  <a:schemeClr val="accent1"/>
                </a:solidFill>
                <a:latin typeface="Cambria" pitchFamily="34" charset="0"/>
                <a:ea typeface="Cambria" pitchFamily="34" charset="-122"/>
                <a:cs typeface="Cambria" pitchFamily="34" charset="-120"/>
              </a:rPr>
              <a:t>+120%</a:t>
            </a:r>
            <a:endParaRPr lang="ar-AE" sz="3200" dirty="0"/>
          </a:p>
        </p:txBody>
      </p:sp>
      <p:sp>
        <p:nvSpPr>
          <p:cNvPr id="7" name="Text 4"/>
          <p:cNvSpPr txBox="1"/>
          <p:nvPr/>
        </p:nvSpPr>
        <p:spPr>
          <a:xfrm>
            <a:off x="685800" y="2057400"/>
            <a:ext cx="2331720" cy="512064"/>
          </a:xfrm>
          <a:prstGeom prst="rect">
            <a:avLst/>
          </a:prstGeom>
          <a:noFill/>
          <a:ln/>
        </p:spPr>
        <p:txBody>
          <a:bodyPr wrap="square" lIns="0" tIns="0" rIns="0" bIns="0" rtlCol="0" anchor="t"/>
          <a:lstStyle/>
          <a:p>
            <a:pPr rtl="1" algn="r" indent="0" marL="0">
              <a:buNone/>
            </a:pPr>
            <a:r>
              <a:rPr lang="ar-AE" altLang="en-US" sz="1250" b="1" dirty="0">
                <a:solidFill>
                  <a:schemeClr val="tx1"/>
                </a:solidFill>
              </a:rPr>
              <a:t>نمو الربع الأول 2026 مقارنة بالربع الأول 2025</a:t>
            </a:r>
            <a:endParaRPr lang="ar-AE" sz="1250" dirty="0"/>
          </a:p>
        </p:txBody>
      </p:sp>
      <p:sp>
        <p:nvSpPr>
          <p:cNvPr id="8" name="Text 5"/>
          <p:cNvSpPr txBox="1"/>
          <p:nvPr/>
        </p:nvSpPr>
        <p:spPr>
          <a:xfrm>
            <a:off x="685800" y="2615184"/>
            <a:ext cx="2331720" cy="1545336"/>
          </a:xfrm>
          <a:prstGeom prst="rect">
            <a:avLst/>
          </a:prstGeom>
          <a:noFill/>
          <a:ln/>
        </p:spPr>
        <p:txBody>
          <a:bodyPr wrap="square" lIns="0" tIns="0" rIns="0" bIns="0" rtlCol="0" anchor="t"/>
          <a:lstStyle/>
          <a:p>
            <a:pPr rtl="1" algn="r" indent="0" marL="0">
              <a:buNone/>
            </a:pPr>
            <a:r>
              <a:rPr lang="ar-AE" altLang="en-US" sz="1000" dirty="0">
                <a:solidFill>
                  <a:schemeClr val="accent3"/>
                </a:solidFill>
              </a:rPr>
              <a:t>2025: 2,220 وصية (+22%). طلبات تنفيذ الوصايا (Probate): 41 طلباً في 2025 (+37%)، و27 أمراً في النصف الأول 2025 وحده.</a:t>
            </a:r>
            <a:endParaRPr lang="ar-AE" sz="1000" dirty="0"/>
          </a:p>
          <a:p>
            <a:pPr rtl="1" algn="r" indent="0" marL="0">
              <a:buNone/>
            </a:pPr>
            <a:r>
              <a:rPr lang="ar-AE" altLang="en-US" sz="1000" dirty="0">
                <a:solidFill>
                  <a:schemeClr val="accent3"/>
                </a:solidFill>
              </a:rPr>
              <a:t>* أرقام محسوبة من نسب النمو المعلنة.</a:t>
            </a:r>
            <a:endParaRPr lang="ar-AE" sz="1000" dirty="0"/>
          </a:p>
        </p:txBody>
      </p:sp>
      <p:sp>
        <p:nvSpPr>
          <p:cNvPr id="9" name="Text 6"/>
          <p:cNvSpPr txBox="1"/>
          <p:nvPr/>
        </p:nvSpPr>
        <p:spPr>
          <a:xfrm>
            <a:off x="457200" y="4187952"/>
            <a:ext cx="8229600" cy="384048"/>
          </a:xfrm>
          <a:prstGeom prst="rect">
            <a:avLst/>
          </a:prstGeom>
          <a:noFill/>
          <a:ln/>
        </p:spPr>
        <p:txBody>
          <a:bodyPr wrap="square" lIns="0" tIns="0" rIns="0" bIns="0" rtlCol="0" anchor="ctr"/>
          <a:lstStyle/>
          <a:p>
            <a:pPr rtl="1" algn="r" indent="0" marL="0">
              <a:buNone/>
            </a:pPr>
            <a:r>
              <a:rPr lang="ar-AE" altLang="en-US" sz="800" i="1" dirty="0">
                <a:solidFill>
                  <a:schemeClr val="accent3"/>
                </a:solidFill>
              </a:rPr>
              <a:t>محاكم مركز دبي المالي العالمي، بيانات صحفية 2017–2026 وبوابة الإحصاءات</a:t>
            </a:r>
            <a:endParaRPr lang="ar-AE" sz="800" dirty="0"/>
          </a:p>
        </p:txBody>
      </p:sp>
      <p:sp>
        <p:nvSpPr>
          <p:cNvPr id="10"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100" b="1" dirty="0">
                <a:solidFill>
                  <a:schemeClr val="tx1"/>
                </a:solidFill>
                <a:latin typeface="Cambria" pitchFamily="34" charset="0"/>
                <a:ea typeface="Cambria" pitchFamily="34" charset="-122"/>
                <a:cs typeface="Cambria" pitchFamily="34" charset="-120"/>
              </a:rPr>
              <a:t>دبي تختصر زمن تسوية التركات من 81 يوماً إلى 13.8</a:t>
            </a:r>
            <a:endParaRPr lang="ar-AE" sz="21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الأرقام</a:t>
            </a:r>
            <a:endParaRPr lang="ar-AE" sz="1000" dirty="0"/>
          </a:p>
        </p:txBody>
      </p:sp>
      <p:graphicFrame>
        <p:nvGraphicFramePr>
          <p:cNvPr id="4" name="Chart 0" descr=""/>
          <p:cNvGraphicFramePr/>
          <p:nvPr/>
        </p:nvGraphicFramePr>
        <p:xfrm>
          <a:off x="3474720" y="1188720"/>
          <a:ext cx="5212080" cy="3017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1188720"/>
            <a:ext cx="2788920" cy="3017520"/>
          </a:xfrm>
          <a:prstGeom prst="rect">
            <a:avLst/>
          </a:prstGeom>
          <a:solidFill>
            <a:srgbClr val="F4F1EB"/>
          </a:solidFill>
          <a:ln w="12700">
            <a:solidFill>
              <a:srgbClr val="F4F1EB"/>
            </a:solidFill>
            <a:prstDash val="solid"/>
          </a:ln>
        </p:spPr>
      </p:sp>
      <p:sp>
        <p:nvSpPr>
          <p:cNvPr id="6" name="Text 3"/>
          <p:cNvSpPr txBox="1"/>
          <p:nvPr/>
        </p:nvSpPr>
        <p:spPr>
          <a:xfrm>
            <a:off x="685800" y="1325880"/>
            <a:ext cx="2331720" cy="731520"/>
          </a:xfrm>
          <a:prstGeom prst="rect">
            <a:avLst/>
          </a:prstGeom>
          <a:noFill/>
          <a:ln/>
        </p:spPr>
        <p:txBody>
          <a:bodyPr wrap="square" lIns="0" tIns="0" rIns="0" bIns="0" rtlCol="0" anchor="ctr"/>
          <a:lstStyle/>
          <a:p>
            <a:pPr rtl="1" algn="r" indent="0" marL="0">
              <a:buNone/>
            </a:pPr>
            <a:r>
              <a:rPr lang="ar-AE" altLang="en-US" sz="3200" b="1" dirty="0">
                <a:solidFill>
                  <a:schemeClr val="accent1"/>
                </a:solidFill>
                <a:latin typeface="Cambria" pitchFamily="34" charset="0"/>
                <a:ea typeface="Cambria" pitchFamily="34" charset="-122"/>
                <a:cs typeface="Cambria" pitchFamily="34" charset="-120"/>
              </a:rPr>
              <a:t>96 → 3</a:t>
            </a:r>
            <a:endParaRPr lang="ar-AE" sz="3200" dirty="0"/>
          </a:p>
        </p:txBody>
      </p:sp>
      <p:sp>
        <p:nvSpPr>
          <p:cNvPr id="7" name="Text 4"/>
          <p:cNvSpPr txBox="1"/>
          <p:nvPr/>
        </p:nvSpPr>
        <p:spPr>
          <a:xfrm>
            <a:off x="685800" y="2057400"/>
            <a:ext cx="2331720" cy="731520"/>
          </a:xfrm>
          <a:prstGeom prst="rect">
            <a:avLst/>
          </a:prstGeom>
          <a:noFill/>
          <a:ln/>
        </p:spPr>
        <p:txBody>
          <a:bodyPr wrap="square" lIns="0" tIns="0" rIns="0" bIns="0" rtlCol="0" anchor="t"/>
          <a:lstStyle/>
          <a:p>
            <a:pPr rtl="1" algn="r" indent="0" marL="0">
              <a:buNone/>
            </a:pPr>
            <a:r>
              <a:rPr lang="ar-AE" altLang="en-US" sz="1250" b="1" dirty="0">
                <a:solidFill>
                  <a:schemeClr val="tx1"/>
                </a:solidFill>
              </a:rPr>
              <a:t>يوماً: زمن إجراءات الوفاة بعد منصة «جبر» (أكتوبر 2025)</a:t>
            </a:r>
            <a:endParaRPr lang="ar-AE" sz="1250" dirty="0"/>
          </a:p>
        </p:txBody>
      </p:sp>
      <p:sp>
        <p:nvSpPr>
          <p:cNvPr id="8" name="Text 5"/>
          <p:cNvSpPr txBox="1"/>
          <p:nvPr/>
        </p:nvSpPr>
        <p:spPr>
          <a:xfrm>
            <a:off x="685800" y="2834640"/>
            <a:ext cx="2331720" cy="1325880"/>
          </a:xfrm>
          <a:prstGeom prst="rect">
            <a:avLst/>
          </a:prstGeom>
          <a:noFill/>
          <a:ln/>
        </p:spPr>
        <p:txBody>
          <a:bodyPr wrap="square" lIns="0" tIns="0" rIns="0" bIns="0" rtlCol="0" anchor="t"/>
          <a:lstStyle/>
          <a:p>
            <a:pPr rtl="1" algn="r" indent="0" marL="0">
              <a:buNone/>
            </a:pPr>
            <a:r>
              <a:rPr lang="ar-AE" altLang="en-US" sz="1000" dirty="0">
                <a:solidFill>
                  <a:schemeClr val="accent3"/>
                </a:solidFill>
              </a:rPr>
              <a:t>المتطلبات من 10 إلى 4، و1,103 حالة في أول ثلاثة أشهر. القيود التنظيمية لمحكمة التركات: التحضير ≤ 30 يوماً، والتقاضي ≤ 12 شهراً. ما يحدث خارج دبي، أو بلا وصية، أو مع نزاع، لا تغطيه هذه الأرقام.</a:t>
            </a:r>
            <a:endParaRPr lang="ar-AE" sz="1000" dirty="0"/>
          </a:p>
        </p:txBody>
      </p:sp>
      <p:sp>
        <p:nvSpPr>
          <p:cNvPr id="9" name="Text 6"/>
          <p:cNvSpPr txBox="1"/>
          <p:nvPr/>
        </p:nvSpPr>
        <p:spPr>
          <a:xfrm>
            <a:off x="457200" y="4187952"/>
            <a:ext cx="8229600" cy="384048"/>
          </a:xfrm>
          <a:prstGeom prst="rect">
            <a:avLst/>
          </a:prstGeom>
          <a:noFill/>
          <a:ln/>
        </p:spPr>
        <p:txBody>
          <a:bodyPr wrap="square" lIns="0" tIns="0" rIns="0" bIns="0" rtlCol="0" anchor="ctr"/>
          <a:lstStyle/>
          <a:p>
            <a:pPr rtl="1" algn="r" indent="0" marL="0">
              <a:buNone/>
            </a:pPr>
            <a:r>
              <a:rPr lang="ar-AE" altLang="en-US" sz="800" i="1" dirty="0">
                <a:solidFill>
                  <a:schemeClr val="accent3"/>
                </a:solidFill>
              </a:rPr>
              <a:t>محاكم دبي: التقارير السنوية 2022–2025 والمكتب الإعلامي لحكومة دبي</a:t>
            </a:r>
            <a:endParaRPr lang="ar-AE" sz="800" dirty="0"/>
          </a:p>
        </p:txBody>
      </p:sp>
      <p:sp>
        <p:nvSpPr>
          <p:cNvPr id="10"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مع وصية مسجلة وبدونها: تقديرات الممارسين</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الأرقام</a:t>
            </a:r>
            <a:endParaRPr lang="ar-AE" sz="1000" dirty="0"/>
          </a:p>
        </p:txBody>
      </p:sp>
      <p:sp>
        <p:nvSpPr>
          <p:cNvPr id="4" name="Shape 2"/>
          <p:cNvSpPr/>
          <p:nvPr/>
        </p:nvSpPr>
        <p:spPr>
          <a:xfrm>
            <a:off x="4686300" y="1188720"/>
            <a:ext cx="4000500" cy="548640"/>
          </a:xfrm>
          <a:prstGeom prst="rect">
            <a:avLst/>
          </a:prstGeom>
          <a:solidFill>
            <a:srgbClr val="B5723B"/>
          </a:solidFill>
          <a:ln w="12700">
            <a:solidFill>
              <a:srgbClr val="B5723B"/>
            </a:solidFill>
            <a:prstDash val="solid"/>
          </a:ln>
        </p:spPr>
      </p:sp>
      <p:sp>
        <p:nvSpPr>
          <p:cNvPr id="5" name="Text 3"/>
          <p:cNvSpPr txBox="1"/>
          <p:nvPr/>
        </p:nvSpPr>
        <p:spPr>
          <a:xfrm>
            <a:off x="4823460" y="1188720"/>
            <a:ext cx="3726180" cy="548640"/>
          </a:xfrm>
          <a:prstGeom prst="rect">
            <a:avLst/>
          </a:prstGeom>
          <a:noFill/>
          <a:ln/>
        </p:spPr>
        <p:txBody>
          <a:bodyPr wrap="square" lIns="0" tIns="0" rIns="0" bIns="0" rtlCol="0" anchor="ctr"/>
          <a:lstStyle/>
          <a:p>
            <a:pPr rtl="1" algn="r" indent="0" marL="0">
              <a:buNone/>
            </a:pPr>
            <a:r>
              <a:rPr lang="ar-AE" altLang="en-US" sz="1300" b="1" dirty="0">
                <a:solidFill>
                  <a:schemeClr val="tx1"/>
                </a:solidFill>
              </a:rPr>
              <a:t>مع وصية مسجلة (DIFC / أبوظبي / محاكم دبي)</a:t>
            </a:r>
            <a:endParaRPr lang="ar-AE" sz="1300" dirty="0"/>
          </a:p>
        </p:txBody>
      </p:sp>
      <p:sp>
        <p:nvSpPr>
          <p:cNvPr id="6" name="Shape 4"/>
          <p:cNvSpPr/>
          <p:nvPr/>
        </p:nvSpPr>
        <p:spPr>
          <a:xfrm>
            <a:off x="4686300" y="1737360"/>
            <a:ext cx="4000500" cy="2697480"/>
          </a:xfrm>
          <a:prstGeom prst="rect">
            <a:avLst/>
          </a:prstGeom>
          <a:solidFill>
            <a:srgbClr val="F4F1EB"/>
          </a:solidFill>
          <a:ln w="12700">
            <a:solidFill>
              <a:srgbClr val="F4F1EB"/>
            </a:solidFill>
            <a:prstDash val="solid"/>
          </a:ln>
        </p:spPr>
      </p:sp>
      <p:sp>
        <p:nvSpPr>
          <p:cNvPr id="7" name="Text 5"/>
          <p:cNvSpPr txBox="1"/>
          <p:nvPr/>
        </p:nvSpPr>
        <p:spPr>
          <a:xfrm>
            <a:off x="4823460" y="1874520"/>
            <a:ext cx="3726180" cy="2468880"/>
          </a:xfrm>
          <a:prstGeom prst="rect">
            <a:avLst/>
          </a:prstGeom>
          <a:noFill/>
          <a:ln/>
        </p:spPr>
        <p:txBody>
          <a:bodyPr wrap="square" lIns="0" tIns="0" rIns="0" bIns="0" rtlCol="0" anchor="t"/>
          <a:lstStyle/>
          <a:p>
            <a:pPr algn="r" marL="152400" indent="-152400">
              <a:spcAft>
                <a:spcPts val="500"/>
              </a:spcAft>
              <a:buSzPct val="100000"/>
              <a:buChar char="•"/>
            </a:pPr>
            <a:r>
              <a:rPr lang="ar-AE" altLang="en-US" sz="1100" dirty="0">
                <a:solidFill>
                  <a:schemeClr val="tx2"/>
                </a:solidFill>
              </a:rPr>
              <a:t>أمر التنفيذ وتوزيع الأصول خلال 4–8 أسابيع (تقدير 2026)</a:t>
            </a:r>
            <a:endParaRPr lang="ar-AE" sz="1100" dirty="0"/>
          </a:p>
          <a:p>
            <a:pPr algn="r" marL="152400" indent="-152400">
              <a:spcAft>
                <a:spcPts val="500"/>
              </a:spcAft>
              <a:buSzPct val="100000"/>
              <a:buChar char="•"/>
            </a:pPr>
            <a:r>
              <a:rPr lang="ar-AE" altLang="en-US" sz="1100" dirty="0">
                <a:solidFill>
                  <a:schemeClr val="tx2"/>
                </a:solidFill>
              </a:rPr>
              <a:t>تقدير آخر: شهران إلى أربعة أشهر مع وصية واضحة</a:t>
            </a:r>
            <a:endParaRPr lang="ar-AE" sz="1100" dirty="0"/>
          </a:p>
          <a:p>
            <a:pPr algn="r" marL="152400" indent="-152400">
              <a:spcAft>
                <a:spcPts val="500"/>
              </a:spcAft>
              <a:buSzPct val="100000"/>
              <a:buChar char="•"/>
            </a:pPr>
            <a:r>
              <a:rPr lang="ar-AE" altLang="en-US" sz="1100" dirty="0">
                <a:solidFill>
                  <a:schemeClr val="tx2"/>
                </a:solidFill>
              </a:rPr>
              <a:t>الورثة والأوصياء والمنفذون محددون مسبقاً</a:t>
            </a:r>
            <a:endParaRPr lang="ar-AE" sz="1100" dirty="0"/>
          </a:p>
          <a:p>
            <a:pPr algn="r" marL="152400" indent="-152400">
              <a:spcAft>
                <a:spcPts val="500"/>
              </a:spcAft>
              <a:buSzPct val="100000"/>
              <a:buChar char="•"/>
            </a:pPr>
            <a:r>
              <a:rPr lang="ar-AE" altLang="en-US" sz="1100" dirty="0">
                <a:solidFill>
                  <a:schemeClr val="tx2"/>
                </a:solidFill>
              </a:rPr>
              <a:t>لا حاجة لتصديق وثائق أجنبية أو إثبات القانون الأجنبي</a:t>
            </a:r>
            <a:endParaRPr lang="ar-AE" sz="1100" dirty="0"/>
          </a:p>
        </p:txBody>
      </p:sp>
      <p:sp>
        <p:nvSpPr>
          <p:cNvPr id="8" name="Shape 6"/>
          <p:cNvSpPr/>
          <p:nvPr/>
        </p:nvSpPr>
        <p:spPr>
          <a:xfrm>
            <a:off x="457200" y="1188720"/>
            <a:ext cx="4000500" cy="548640"/>
          </a:xfrm>
          <a:prstGeom prst="rect">
            <a:avLst/>
          </a:prstGeom>
          <a:solidFill>
            <a:srgbClr val="0E2238"/>
          </a:solidFill>
          <a:ln w="12700">
            <a:solidFill>
              <a:srgbClr val="0E2238"/>
            </a:solidFill>
            <a:prstDash val="solid"/>
          </a:ln>
        </p:spPr>
      </p:sp>
      <p:sp>
        <p:nvSpPr>
          <p:cNvPr id="9" name="Text 7"/>
          <p:cNvSpPr txBox="1"/>
          <p:nvPr/>
        </p:nvSpPr>
        <p:spPr>
          <a:xfrm>
            <a:off x="594360" y="1188720"/>
            <a:ext cx="3726180" cy="548640"/>
          </a:xfrm>
          <a:prstGeom prst="rect">
            <a:avLst/>
          </a:prstGeom>
          <a:noFill/>
          <a:ln/>
        </p:spPr>
        <p:txBody>
          <a:bodyPr wrap="square" lIns="0" tIns="0" rIns="0" bIns="0" rtlCol="0" anchor="ctr"/>
          <a:lstStyle/>
          <a:p>
            <a:pPr rtl="1" algn="r" indent="0" marL="0">
              <a:buNone/>
            </a:pPr>
            <a:r>
              <a:rPr lang="ar-AE" altLang="en-US" sz="1300" b="1" dirty="0">
                <a:solidFill>
                  <a:schemeClr val="accent2"/>
                </a:solidFill>
              </a:rPr>
              <a:t>بدون وصية</a:t>
            </a:r>
            <a:endParaRPr lang="ar-AE" sz="1300" dirty="0"/>
          </a:p>
        </p:txBody>
      </p:sp>
      <p:sp>
        <p:nvSpPr>
          <p:cNvPr id="10" name="Shape 8"/>
          <p:cNvSpPr/>
          <p:nvPr/>
        </p:nvSpPr>
        <p:spPr>
          <a:xfrm>
            <a:off x="457200" y="1737360"/>
            <a:ext cx="4000500" cy="2697480"/>
          </a:xfrm>
          <a:prstGeom prst="rect">
            <a:avLst/>
          </a:prstGeom>
          <a:solidFill>
            <a:srgbClr val="F4F1EB"/>
          </a:solidFill>
          <a:ln w="12700">
            <a:solidFill>
              <a:srgbClr val="F4F1EB"/>
            </a:solidFill>
            <a:prstDash val="solid"/>
          </a:ln>
        </p:spPr>
      </p:sp>
      <p:sp>
        <p:nvSpPr>
          <p:cNvPr id="11" name="Text 9"/>
          <p:cNvSpPr txBox="1"/>
          <p:nvPr/>
        </p:nvSpPr>
        <p:spPr>
          <a:xfrm>
            <a:off x="594360" y="1874520"/>
            <a:ext cx="3726180" cy="2468880"/>
          </a:xfrm>
          <a:prstGeom prst="rect">
            <a:avLst/>
          </a:prstGeom>
          <a:noFill/>
          <a:ln/>
        </p:spPr>
        <p:txBody>
          <a:bodyPr wrap="square" lIns="0" tIns="0" rIns="0" bIns="0" rtlCol="0" anchor="t"/>
          <a:lstStyle/>
          <a:p>
            <a:pPr algn="r" marL="152400" indent="-152400">
              <a:spcAft>
                <a:spcPts val="500"/>
              </a:spcAft>
              <a:buSzPct val="100000"/>
              <a:buChar char="•"/>
            </a:pPr>
            <a:r>
              <a:rPr lang="ar-AE" altLang="en-US" sz="1100" dirty="0">
                <a:solidFill>
                  <a:schemeClr val="tx2"/>
                </a:solidFill>
              </a:rPr>
              <a:t>3 إلى 12 شهراً عبر محاكم الأحوال الشخصية وتصديق الوثائق (تقدير 2026)</a:t>
            </a:r>
            <a:endParaRPr lang="ar-AE" sz="1100" dirty="0"/>
          </a:p>
          <a:p>
            <a:pPr algn="r" marL="152400" indent="-152400">
              <a:spcAft>
                <a:spcPts val="500"/>
              </a:spcAft>
              <a:buSzPct val="100000"/>
              <a:buChar char="•"/>
            </a:pPr>
            <a:r>
              <a:rPr lang="ar-AE" altLang="en-US" sz="1100" dirty="0">
                <a:solidFill>
                  <a:schemeClr val="tx2"/>
                </a:solidFill>
              </a:rPr>
              <a:t>تقدير آخر: 4 إلى 9 أشهر وأكثر</a:t>
            </a:r>
            <a:endParaRPr lang="ar-AE" sz="1100" dirty="0"/>
          </a:p>
          <a:p>
            <a:pPr algn="r" marL="152400" indent="-152400">
              <a:spcAft>
                <a:spcPts val="500"/>
              </a:spcAft>
              <a:buSzPct val="100000"/>
              <a:buChar char="•"/>
            </a:pPr>
            <a:r>
              <a:rPr lang="ar-AE" altLang="en-US" sz="1100" dirty="0">
                <a:solidFill>
                  <a:schemeClr val="tx2"/>
                </a:solidFill>
              </a:rPr>
              <a:t>التركات المتنازع عليها: سنة أو أكثر؛ الطعون قد تمتد إلى 5 سنوات</a:t>
            </a:r>
            <a:endParaRPr lang="ar-AE" sz="1100" dirty="0"/>
          </a:p>
          <a:p>
            <a:pPr algn="r" marL="152400" indent="-152400">
              <a:spcAft>
                <a:spcPts val="500"/>
              </a:spcAft>
              <a:buSzPct val="100000"/>
              <a:buChar char="•"/>
            </a:pPr>
            <a:r>
              <a:rPr lang="ar-AE" altLang="en-US" sz="1100" dirty="0">
                <a:solidFill>
                  <a:schemeClr val="tx2"/>
                </a:solidFill>
              </a:rPr>
              <a:t>التوزيع وفق القانون الافتراضي، لا وفق رغبة المتوفى</a:t>
            </a:r>
            <a:endParaRPr lang="ar-AE" sz="1100" dirty="0"/>
          </a:p>
        </p:txBody>
      </p:sp>
      <p:sp>
        <p:nvSpPr>
          <p:cNvPr id="13"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الشركات العائلية في الخليج بالأرقام</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الأرقام</a:t>
            </a:r>
            <a:endParaRPr lang="ar-AE" sz="1000" dirty="0"/>
          </a:p>
        </p:txBody>
      </p:sp>
      <p:sp>
        <p:nvSpPr>
          <p:cNvPr id="4" name="Shape 2"/>
          <p:cNvSpPr/>
          <p:nvPr/>
        </p:nvSpPr>
        <p:spPr>
          <a:xfrm>
            <a:off x="6780276" y="1188720"/>
            <a:ext cx="1906524" cy="2926080"/>
          </a:xfrm>
          <a:prstGeom prst="rect">
            <a:avLst/>
          </a:prstGeom>
          <a:solidFill>
            <a:srgbClr val="F4F1EB"/>
          </a:solidFill>
          <a:ln w="12700">
            <a:solidFill>
              <a:srgbClr val="F4F1EB"/>
            </a:solidFill>
            <a:prstDash val="solid"/>
          </a:ln>
        </p:spPr>
      </p:sp>
      <p:sp>
        <p:nvSpPr>
          <p:cNvPr id="5" name="Text 3"/>
          <p:cNvSpPr txBox="1"/>
          <p:nvPr/>
        </p:nvSpPr>
        <p:spPr>
          <a:xfrm>
            <a:off x="6963156" y="1325880"/>
            <a:ext cx="1540764" cy="914400"/>
          </a:xfrm>
          <a:prstGeom prst="rect">
            <a:avLst/>
          </a:prstGeom>
          <a:noFill/>
          <a:ln/>
        </p:spPr>
        <p:txBody>
          <a:bodyPr wrap="square" lIns="0" tIns="0" rIns="0" bIns="0" rtlCol="0" anchor="ctr"/>
          <a:lstStyle/>
          <a:p>
            <a:pPr rtl="1" algn="r" indent="0" marL="0">
              <a:buNone/>
            </a:pPr>
            <a:r>
              <a:rPr lang="ar-AE" altLang="en-US" sz="3600" b="1" dirty="0">
                <a:solidFill>
                  <a:schemeClr val="accent1"/>
                </a:solidFill>
                <a:latin typeface="Cambria" pitchFamily="34" charset="0"/>
                <a:ea typeface="Cambria" pitchFamily="34" charset="-122"/>
                <a:cs typeface="Cambria" pitchFamily="34" charset="-120"/>
              </a:rPr>
              <a:t>60%</a:t>
            </a:r>
            <a:endParaRPr lang="ar-AE" sz="3600" dirty="0"/>
          </a:p>
        </p:txBody>
      </p:sp>
      <p:sp>
        <p:nvSpPr>
          <p:cNvPr id="6" name="Text 4"/>
          <p:cNvSpPr txBox="1"/>
          <p:nvPr/>
        </p:nvSpPr>
        <p:spPr>
          <a:xfrm>
            <a:off x="6963156" y="2286000"/>
            <a:ext cx="1540764" cy="1737360"/>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من الناتج المحلي الخليجي</a:t>
            </a:r>
            <a:endParaRPr lang="ar-AE" sz="1250" dirty="0"/>
          </a:p>
          <a:p>
            <a:pPr algn="r" indent="0" marL="0">
              <a:spcAft>
                <a:spcPts val="300"/>
              </a:spcAft>
              <a:buNone/>
            </a:pPr>
            <a:r>
              <a:rPr lang="ar-AE" altLang="en-US" sz="1000" dirty="0">
                <a:solidFill>
                  <a:schemeClr val="accent3"/>
                </a:solidFill>
              </a:rPr>
              <a:t>تساهم به الشركات العائلية</a:t>
            </a:r>
            <a:endParaRPr lang="ar-AE" sz="1250" dirty="0"/>
          </a:p>
        </p:txBody>
      </p:sp>
      <p:sp>
        <p:nvSpPr>
          <p:cNvPr id="7" name="Shape 5"/>
          <p:cNvSpPr/>
          <p:nvPr/>
        </p:nvSpPr>
        <p:spPr>
          <a:xfrm>
            <a:off x="4672584" y="1188720"/>
            <a:ext cx="1906524" cy="2926080"/>
          </a:xfrm>
          <a:prstGeom prst="rect">
            <a:avLst/>
          </a:prstGeom>
          <a:solidFill>
            <a:srgbClr val="F4F1EB"/>
          </a:solidFill>
          <a:ln w="12700">
            <a:solidFill>
              <a:srgbClr val="F4F1EB"/>
            </a:solidFill>
            <a:prstDash val="solid"/>
          </a:ln>
        </p:spPr>
      </p:sp>
      <p:sp>
        <p:nvSpPr>
          <p:cNvPr id="8" name="Text 6"/>
          <p:cNvSpPr txBox="1"/>
          <p:nvPr/>
        </p:nvSpPr>
        <p:spPr>
          <a:xfrm>
            <a:off x="4855464" y="1325880"/>
            <a:ext cx="1540764" cy="914400"/>
          </a:xfrm>
          <a:prstGeom prst="rect">
            <a:avLst/>
          </a:prstGeom>
          <a:noFill/>
          <a:ln/>
        </p:spPr>
        <p:txBody>
          <a:bodyPr wrap="square" lIns="0" tIns="0" rIns="0" bIns="0" rtlCol="0" anchor="ctr"/>
          <a:lstStyle/>
          <a:p>
            <a:pPr rtl="1" algn="r" indent="0" marL="0">
              <a:buNone/>
            </a:pPr>
            <a:r>
              <a:rPr lang="ar-AE" altLang="en-US" sz="3600" b="1" dirty="0">
                <a:solidFill>
                  <a:schemeClr val="accent1"/>
                </a:solidFill>
                <a:latin typeface="Cambria" pitchFamily="34" charset="0"/>
                <a:ea typeface="Cambria" pitchFamily="34" charset="-122"/>
                <a:cs typeface="Cambria" pitchFamily="34" charset="-120"/>
              </a:rPr>
              <a:t>80%</a:t>
            </a:r>
            <a:endParaRPr lang="ar-AE" sz="3600" dirty="0"/>
          </a:p>
        </p:txBody>
      </p:sp>
      <p:sp>
        <p:nvSpPr>
          <p:cNvPr id="9" name="Text 7"/>
          <p:cNvSpPr txBox="1"/>
          <p:nvPr/>
        </p:nvSpPr>
        <p:spPr>
          <a:xfrm>
            <a:off x="4855464" y="2286000"/>
            <a:ext cx="1540764" cy="1737360"/>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من القوى العاملة</a:t>
            </a:r>
            <a:endParaRPr lang="ar-AE" sz="1250" dirty="0"/>
          </a:p>
          <a:p>
            <a:pPr algn="r" indent="0" marL="0">
              <a:spcAft>
                <a:spcPts val="300"/>
              </a:spcAft>
              <a:buNone/>
            </a:pPr>
            <a:r>
              <a:rPr lang="ar-AE" altLang="en-US" sz="1000" dirty="0">
                <a:solidFill>
                  <a:schemeClr val="accent3"/>
                </a:solidFill>
              </a:rPr>
              <a:t>يعملون في شركات عائلية</a:t>
            </a:r>
            <a:endParaRPr lang="ar-AE" sz="1250" dirty="0"/>
          </a:p>
        </p:txBody>
      </p:sp>
      <p:sp>
        <p:nvSpPr>
          <p:cNvPr id="10" name="Shape 8"/>
          <p:cNvSpPr/>
          <p:nvPr/>
        </p:nvSpPr>
        <p:spPr>
          <a:xfrm>
            <a:off x="2564892" y="1188720"/>
            <a:ext cx="1906524" cy="2926080"/>
          </a:xfrm>
          <a:prstGeom prst="rect">
            <a:avLst/>
          </a:prstGeom>
          <a:solidFill>
            <a:srgbClr val="F4F1EB"/>
          </a:solidFill>
          <a:ln w="12700">
            <a:solidFill>
              <a:srgbClr val="F4F1EB"/>
            </a:solidFill>
            <a:prstDash val="solid"/>
          </a:ln>
        </p:spPr>
      </p:sp>
      <p:sp>
        <p:nvSpPr>
          <p:cNvPr id="11" name="Text 9"/>
          <p:cNvSpPr txBox="1"/>
          <p:nvPr/>
        </p:nvSpPr>
        <p:spPr>
          <a:xfrm>
            <a:off x="2747772" y="1325880"/>
            <a:ext cx="1540764" cy="914400"/>
          </a:xfrm>
          <a:prstGeom prst="rect">
            <a:avLst/>
          </a:prstGeom>
          <a:noFill/>
          <a:ln/>
        </p:spPr>
        <p:txBody>
          <a:bodyPr wrap="square" lIns="0" tIns="0" rIns="0" bIns="0" rtlCol="0" anchor="ctr"/>
          <a:lstStyle/>
          <a:p>
            <a:pPr rtl="1" algn="r" indent="0" marL="0">
              <a:buNone/>
            </a:pPr>
            <a:r>
              <a:rPr lang="ar-AE" altLang="en-US" sz="3600" b="1" dirty="0">
                <a:solidFill>
                  <a:schemeClr val="accent1"/>
                </a:solidFill>
                <a:latin typeface="Cambria" pitchFamily="34" charset="0"/>
                <a:ea typeface="Cambria" pitchFamily="34" charset="-122"/>
                <a:cs typeface="Cambria" pitchFamily="34" charset="-120"/>
              </a:rPr>
              <a:t>90%</a:t>
            </a:r>
            <a:endParaRPr lang="ar-AE" sz="3600" dirty="0"/>
          </a:p>
        </p:txBody>
      </p:sp>
      <p:sp>
        <p:nvSpPr>
          <p:cNvPr id="12" name="Text 10"/>
          <p:cNvSpPr txBox="1"/>
          <p:nvPr/>
        </p:nvSpPr>
        <p:spPr>
          <a:xfrm>
            <a:off x="2747772" y="2286000"/>
            <a:ext cx="1540764" cy="1737360"/>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من القطاع الخاص في الإمارات والسعودية</a:t>
            </a:r>
            <a:endParaRPr lang="ar-AE" sz="1250" dirty="0"/>
          </a:p>
          <a:p>
            <a:pPr algn="r" indent="0" marL="0">
              <a:spcAft>
                <a:spcPts val="300"/>
              </a:spcAft>
              <a:buNone/>
            </a:pPr>
            <a:r>
              <a:rPr lang="ar-AE" altLang="en-US" sz="1000" dirty="0">
                <a:solidFill>
                  <a:schemeClr val="accent3"/>
                </a:solidFill>
              </a:rPr>
              <a:t>شركات مملوكة لعائلات</a:t>
            </a:r>
            <a:endParaRPr lang="ar-AE" sz="1250" dirty="0"/>
          </a:p>
        </p:txBody>
      </p:sp>
      <p:sp>
        <p:nvSpPr>
          <p:cNvPr id="13" name="Shape 11"/>
          <p:cNvSpPr/>
          <p:nvPr/>
        </p:nvSpPr>
        <p:spPr>
          <a:xfrm>
            <a:off x="457200" y="1188720"/>
            <a:ext cx="1906524" cy="2926080"/>
          </a:xfrm>
          <a:prstGeom prst="rect">
            <a:avLst/>
          </a:prstGeom>
          <a:solidFill>
            <a:srgbClr val="F4F1EB"/>
          </a:solidFill>
          <a:ln w="12700">
            <a:solidFill>
              <a:srgbClr val="F4F1EB"/>
            </a:solidFill>
            <a:prstDash val="solid"/>
          </a:ln>
        </p:spPr>
      </p:sp>
      <p:sp>
        <p:nvSpPr>
          <p:cNvPr id="14" name="Text 12"/>
          <p:cNvSpPr txBox="1"/>
          <p:nvPr/>
        </p:nvSpPr>
        <p:spPr>
          <a:xfrm>
            <a:off x="640080" y="1325880"/>
            <a:ext cx="1540764" cy="914400"/>
          </a:xfrm>
          <a:prstGeom prst="rect">
            <a:avLst/>
          </a:prstGeom>
          <a:noFill/>
          <a:ln/>
        </p:spPr>
        <p:txBody>
          <a:bodyPr wrap="square" lIns="0" tIns="0" rIns="0" bIns="0" rtlCol="0" anchor="ctr"/>
          <a:lstStyle/>
          <a:p>
            <a:pPr rtl="1" algn="r" indent="0" marL="0">
              <a:buNone/>
            </a:pPr>
            <a:r>
              <a:rPr lang="ar-AE" altLang="en-US" sz="3600" b="1" dirty="0">
                <a:solidFill>
                  <a:schemeClr val="accent1"/>
                </a:solidFill>
                <a:latin typeface="Cambria" pitchFamily="34" charset="0"/>
                <a:ea typeface="Cambria" pitchFamily="34" charset="-122"/>
                <a:cs typeface="Cambria" pitchFamily="34" charset="-120"/>
              </a:rPr>
              <a:t>$1T</a:t>
            </a:r>
            <a:endParaRPr lang="ar-AE" sz="3600" dirty="0"/>
          </a:p>
        </p:txBody>
      </p:sp>
      <p:sp>
        <p:nvSpPr>
          <p:cNvPr id="15" name="Text 13"/>
          <p:cNvSpPr txBox="1"/>
          <p:nvPr/>
        </p:nvSpPr>
        <p:spPr>
          <a:xfrm>
            <a:off x="640080" y="2286000"/>
            <a:ext cx="1540764" cy="1737360"/>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أصول تنتقل بين الأجيال بحلول 2030</a:t>
            </a:r>
            <a:endParaRPr lang="ar-AE" sz="1250" dirty="0"/>
          </a:p>
          <a:p>
            <a:pPr algn="r" indent="0" marL="0">
              <a:spcAft>
                <a:spcPts val="300"/>
              </a:spcAft>
              <a:buNone/>
            </a:pPr>
            <a:r>
              <a:rPr lang="ar-AE" altLang="en-US" sz="1000" dirty="0">
                <a:solidFill>
                  <a:schemeClr val="accent3"/>
                </a:solidFill>
              </a:rPr>
              <a:t>في دول مجلس التعاون</a:t>
            </a:r>
            <a:endParaRPr lang="ar-AE" sz="1250" dirty="0"/>
          </a:p>
        </p:txBody>
      </p:sp>
      <p:sp>
        <p:nvSpPr>
          <p:cNvPr id="16" name="Text 14"/>
          <p:cNvSpPr txBox="1"/>
          <p:nvPr/>
        </p:nvSpPr>
        <p:spPr>
          <a:xfrm>
            <a:off x="457200" y="4187952"/>
            <a:ext cx="8229600" cy="384048"/>
          </a:xfrm>
          <a:prstGeom prst="rect">
            <a:avLst/>
          </a:prstGeom>
          <a:noFill/>
          <a:ln/>
        </p:spPr>
        <p:txBody>
          <a:bodyPr wrap="square" lIns="0" tIns="0" rIns="0" bIns="0" rtlCol="0" anchor="ctr"/>
          <a:lstStyle/>
          <a:p>
            <a:pPr rtl="1" algn="r" indent="0" marL="0">
              <a:buNone/>
            </a:pPr>
            <a:r>
              <a:rPr lang="ar-AE" altLang="en-US" sz="800" i="1" dirty="0">
                <a:solidFill>
                  <a:schemeClr val="accent3"/>
                </a:solidFill>
              </a:rPr>
              <a:t>جلف نيوز، فبراير 2023 (Jersey Finance)؛ خليج تايمز، مايو 2026 (جامعة جورجتاون، برنامج دبي).</a:t>
            </a:r>
            <a:endParaRPr lang="ar-AE" sz="800" dirty="0"/>
          </a:p>
        </p:txBody>
      </p:sp>
      <p:sp>
        <p:nvSpPr>
          <p:cNvPr id="17"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02</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الخدمة بالتفصيل</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ليست «كتابة وصية»، بل حماية متكاملة للأصول والعائلة والاستثمار</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خدماتنا في حماية الأصول والتركات</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باقة الخدمة</a:t>
            </a:r>
            <a:endParaRPr lang="ar-AE" sz="1000" dirty="0"/>
          </a:p>
        </p:txBody>
      </p:sp>
      <p:sp>
        <p:nvSpPr>
          <p:cNvPr id="4" name="Shape 2"/>
          <p:cNvSpPr/>
          <p:nvPr/>
        </p:nvSpPr>
        <p:spPr>
          <a:xfrm>
            <a:off x="6800850" y="1188720"/>
            <a:ext cx="1885950" cy="1508760"/>
          </a:xfrm>
          <a:prstGeom prst="rect">
            <a:avLst/>
          </a:prstGeom>
          <a:solidFill>
            <a:srgbClr val="F4F1EB"/>
          </a:solidFill>
          <a:ln w="12700">
            <a:solidFill>
              <a:srgbClr val="F4F1EB"/>
            </a:solidFill>
            <a:prstDash val="solid"/>
          </a:ln>
        </p:spPr>
      </p:sp>
      <p:pic>
        <p:nvPicPr>
          <p:cNvPr id="5" name="icon FaFileSignature" descr="preencoded.png">    </p:cNvPr>
          <p:cNvPicPr>
            <a:picLocks noChangeAspect="1"/>
          </p:cNvPicPr>
          <p:nvPr/>
        </p:nvPicPr>
        <p:blipFill>
          <a:blip r:embed="rId1"/>
          <a:stretch>
            <a:fillRect/>
          </a:stretch>
        </p:blipFill>
        <p:spPr>
          <a:xfrm>
            <a:off x="8174736" y="1389888"/>
            <a:ext cx="310896" cy="310896"/>
          </a:xfrm>
          <a:prstGeom prst="rect">
            <a:avLst/>
          </a:prstGeom>
        </p:spPr>
      </p:pic>
      <p:sp>
        <p:nvSpPr>
          <p:cNvPr id="6" name="Text 3"/>
          <p:cNvSpPr txBox="1"/>
          <p:nvPr/>
        </p:nvSpPr>
        <p:spPr>
          <a:xfrm>
            <a:off x="7002018" y="182880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إعداد الوصية</a:t>
            </a:r>
            <a:endParaRPr lang="ar-AE" sz="1250" dirty="0"/>
          </a:p>
          <a:p>
            <a:pPr algn="r" indent="0" marL="0">
              <a:spcAft>
                <a:spcPts val="300"/>
              </a:spcAft>
              <a:buNone/>
            </a:pPr>
            <a:r>
              <a:rPr lang="ar-AE" altLang="en-US" sz="1050" dirty="0">
                <a:solidFill>
                  <a:schemeClr val="accent3"/>
                </a:solidFill>
              </a:rPr>
              <a:t>صياغة وصية صحيحة قانوناً تناسب وضع الموكل وجنسيته وأصوله.</a:t>
            </a:r>
            <a:endParaRPr lang="ar-AE" sz="1250" dirty="0"/>
          </a:p>
        </p:txBody>
      </p:sp>
      <p:sp>
        <p:nvSpPr>
          <p:cNvPr id="7" name="Shape 4"/>
          <p:cNvSpPr/>
          <p:nvPr/>
        </p:nvSpPr>
        <p:spPr>
          <a:xfrm>
            <a:off x="4686300" y="1188720"/>
            <a:ext cx="1885950" cy="1508760"/>
          </a:xfrm>
          <a:prstGeom prst="rect">
            <a:avLst/>
          </a:prstGeom>
          <a:solidFill>
            <a:srgbClr val="F4F1EB"/>
          </a:solidFill>
          <a:ln w="12700">
            <a:solidFill>
              <a:srgbClr val="F4F1EB"/>
            </a:solidFill>
            <a:prstDash val="solid"/>
          </a:ln>
        </p:spPr>
      </p:sp>
      <p:pic>
        <p:nvPicPr>
          <p:cNvPr id="8" name="icon FaStamp" descr="preencoded.png">    </p:cNvPr>
          <p:cNvPicPr>
            <a:picLocks noChangeAspect="1"/>
          </p:cNvPicPr>
          <p:nvPr/>
        </p:nvPicPr>
        <p:blipFill>
          <a:blip r:embed="rId2"/>
          <a:stretch>
            <a:fillRect/>
          </a:stretch>
        </p:blipFill>
        <p:spPr>
          <a:xfrm>
            <a:off x="6060186" y="1389888"/>
            <a:ext cx="310896" cy="310896"/>
          </a:xfrm>
          <a:prstGeom prst="rect">
            <a:avLst/>
          </a:prstGeom>
        </p:spPr>
      </p:pic>
      <p:sp>
        <p:nvSpPr>
          <p:cNvPr id="9" name="Text 5"/>
          <p:cNvSpPr txBox="1"/>
          <p:nvPr/>
        </p:nvSpPr>
        <p:spPr>
          <a:xfrm>
            <a:off x="4887468" y="182880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تسجيل الوصية</a:t>
            </a:r>
            <a:endParaRPr lang="ar-AE" sz="1250" dirty="0"/>
          </a:p>
          <a:p>
            <a:pPr algn="r" indent="0" marL="0">
              <a:spcAft>
                <a:spcPts val="300"/>
              </a:spcAft>
              <a:buNone/>
            </a:pPr>
            <a:r>
              <a:rPr lang="ar-AE" altLang="en-US" sz="1050" dirty="0">
                <a:solidFill>
                  <a:schemeClr val="accent3"/>
                </a:solidFill>
              </a:rPr>
              <a:t>التسجيل لدى الجهة المناسبة: محاكم دبي، أبوظبي، DIFC أو ADGM.</a:t>
            </a:r>
            <a:endParaRPr lang="ar-AE" sz="1250" dirty="0"/>
          </a:p>
        </p:txBody>
      </p:sp>
      <p:sp>
        <p:nvSpPr>
          <p:cNvPr id="10" name="Shape 6"/>
          <p:cNvSpPr/>
          <p:nvPr/>
        </p:nvSpPr>
        <p:spPr>
          <a:xfrm>
            <a:off x="2571750" y="1188720"/>
            <a:ext cx="1885950" cy="1508760"/>
          </a:xfrm>
          <a:prstGeom prst="rect">
            <a:avLst/>
          </a:prstGeom>
          <a:solidFill>
            <a:srgbClr val="F4F1EB"/>
          </a:solidFill>
          <a:ln w="12700">
            <a:solidFill>
              <a:srgbClr val="F4F1EB"/>
            </a:solidFill>
            <a:prstDash val="solid"/>
          </a:ln>
        </p:spPr>
      </p:sp>
      <p:pic>
        <p:nvPicPr>
          <p:cNvPr id="11" name="icon FaSitemap" descr="preencoded.png">    </p:cNvPr>
          <p:cNvPicPr>
            <a:picLocks noChangeAspect="1"/>
          </p:cNvPicPr>
          <p:nvPr/>
        </p:nvPicPr>
        <p:blipFill>
          <a:blip r:embed="rId3"/>
          <a:stretch>
            <a:fillRect/>
          </a:stretch>
        </p:blipFill>
        <p:spPr>
          <a:xfrm>
            <a:off x="3945636" y="1389888"/>
            <a:ext cx="310896" cy="310896"/>
          </a:xfrm>
          <a:prstGeom prst="rect">
            <a:avLst/>
          </a:prstGeom>
        </p:spPr>
      </p:pic>
      <p:sp>
        <p:nvSpPr>
          <p:cNvPr id="12" name="Text 7"/>
          <p:cNvSpPr txBox="1"/>
          <p:nvPr/>
        </p:nvSpPr>
        <p:spPr>
          <a:xfrm>
            <a:off x="2772918" y="182880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هيكلة الإرث والأصول</a:t>
            </a:r>
            <a:endParaRPr lang="ar-AE" sz="1250" dirty="0"/>
          </a:p>
          <a:p>
            <a:pPr algn="r" indent="0" marL="0">
              <a:spcAft>
                <a:spcPts val="300"/>
              </a:spcAft>
              <a:buNone/>
            </a:pPr>
            <a:r>
              <a:rPr lang="ar-AE" altLang="en-US" sz="1050" dirty="0">
                <a:solidFill>
                  <a:schemeClr val="accent3"/>
                </a:solidFill>
              </a:rPr>
              <a:t>ترتيب انتقال الملكية مسبقاً بما يمنع التجميد والنزاعات.</a:t>
            </a:r>
            <a:endParaRPr lang="ar-AE" sz="1250" dirty="0"/>
          </a:p>
        </p:txBody>
      </p:sp>
      <p:sp>
        <p:nvSpPr>
          <p:cNvPr id="13" name="Shape 8"/>
          <p:cNvSpPr/>
          <p:nvPr/>
        </p:nvSpPr>
        <p:spPr>
          <a:xfrm>
            <a:off x="457200" y="1188720"/>
            <a:ext cx="1885950" cy="1508760"/>
          </a:xfrm>
          <a:prstGeom prst="rect">
            <a:avLst/>
          </a:prstGeom>
          <a:solidFill>
            <a:srgbClr val="F4F1EB"/>
          </a:solidFill>
          <a:ln w="12700">
            <a:solidFill>
              <a:srgbClr val="F4F1EB"/>
            </a:solidFill>
            <a:prstDash val="solid"/>
          </a:ln>
        </p:spPr>
      </p:sp>
      <p:pic>
        <p:nvPicPr>
          <p:cNvPr id="14" name="icon FaUserShield" descr="preencoded.png">    </p:cNvPr>
          <p:cNvPicPr>
            <a:picLocks noChangeAspect="1"/>
          </p:cNvPicPr>
          <p:nvPr/>
        </p:nvPicPr>
        <p:blipFill>
          <a:blip r:embed="rId4"/>
          <a:stretch>
            <a:fillRect/>
          </a:stretch>
        </p:blipFill>
        <p:spPr>
          <a:xfrm>
            <a:off x="1831086" y="1389888"/>
            <a:ext cx="310896" cy="310896"/>
          </a:xfrm>
          <a:prstGeom prst="rect">
            <a:avLst/>
          </a:prstGeom>
        </p:spPr>
      </p:pic>
      <p:sp>
        <p:nvSpPr>
          <p:cNvPr id="15" name="Text 9"/>
          <p:cNvSpPr txBox="1"/>
          <p:nvPr/>
        </p:nvSpPr>
        <p:spPr>
          <a:xfrm>
            <a:off x="658368" y="182880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حماية المستثمر الأجنبي</a:t>
            </a:r>
            <a:endParaRPr lang="ar-AE" sz="1250" dirty="0"/>
          </a:p>
          <a:p>
            <a:pPr algn="r" indent="0" marL="0">
              <a:spcAft>
                <a:spcPts val="300"/>
              </a:spcAft>
              <a:buNone/>
            </a:pPr>
            <a:r>
              <a:rPr lang="ar-AE" altLang="en-US" sz="1050" dirty="0">
                <a:solidFill>
                  <a:schemeClr val="accent3"/>
                </a:solidFill>
              </a:rPr>
              <a:t>حلول تراعي الشريعة الإسلامية أو القانون الأجنبي بحسب حالة كل موكل.</a:t>
            </a:r>
            <a:endParaRPr lang="ar-AE" sz="1250" dirty="0"/>
          </a:p>
        </p:txBody>
      </p:sp>
      <p:sp>
        <p:nvSpPr>
          <p:cNvPr id="16" name="Shape 10"/>
          <p:cNvSpPr/>
          <p:nvPr/>
        </p:nvSpPr>
        <p:spPr>
          <a:xfrm>
            <a:off x="6800850" y="2926080"/>
            <a:ext cx="1885950" cy="1508760"/>
          </a:xfrm>
          <a:prstGeom prst="rect">
            <a:avLst/>
          </a:prstGeom>
          <a:solidFill>
            <a:srgbClr val="F4F1EB"/>
          </a:solidFill>
          <a:ln w="12700">
            <a:solidFill>
              <a:srgbClr val="F4F1EB"/>
            </a:solidFill>
            <a:prstDash val="solid"/>
          </a:ln>
        </p:spPr>
      </p:sp>
      <p:pic>
        <p:nvPicPr>
          <p:cNvPr id="17" name="icon FaKey" descr="preencoded.png">    </p:cNvPr>
          <p:cNvPicPr>
            <a:picLocks noChangeAspect="1"/>
          </p:cNvPicPr>
          <p:nvPr/>
        </p:nvPicPr>
        <p:blipFill>
          <a:blip r:embed="rId5"/>
          <a:stretch>
            <a:fillRect/>
          </a:stretch>
        </p:blipFill>
        <p:spPr>
          <a:xfrm>
            <a:off x="8174736" y="3127248"/>
            <a:ext cx="310896" cy="310896"/>
          </a:xfrm>
          <a:prstGeom prst="rect">
            <a:avLst/>
          </a:prstGeom>
        </p:spPr>
      </p:pic>
      <p:sp>
        <p:nvSpPr>
          <p:cNvPr id="18" name="Text 11"/>
          <p:cNvSpPr txBox="1"/>
          <p:nvPr/>
        </p:nvSpPr>
        <p:spPr>
          <a:xfrm>
            <a:off x="7002018" y="356616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نقل الملكية بعد الوفاة</a:t>
            </a:r>
            <a:endParaRPr lang="ar-AE" sz="1250" dirty="0"/>
          </a:p>
          <a:p>
            <a:pPr algn="r" indent="0" marL="0">
              <a:spcAft>
                <a:spcPts val="300"/>
              </a:spcAft>
              <a:buNone/>
            </a:pPr>
            <a:r>
              <a:rPr lang="ar-AE" altLang="en-US" sz="1050" dirty="0">
                <a:solidFill>
                  <a:schemeClr val="accent3"/>
                </a:solidFill>
              </a:rPr>
              <a:t>تمثيل الورثة واستكمال إجراءات نقل العقارات والحسابات.</a:t>
            </a:r>
            <a:endParaRPr lang="ar-AE" sz="1250" dirty="0"/>
          </a:p>
        </p:txBody>
      </p:sp>
      <p:sp>
        <p:nvSpPr>
          <p:cNvPr id="19" name="Shape 12"/>
          <p:cNvSpPr/>
          <p:nvPr/>
        </p:nvSpPr>
        <p:spPr>
          <a:xfrm>
            <a:off x="4686300" y="2926080"/>
            <a:ext cx="1885950" cy="1508760"/>
          </a:xfrm>
          <a:prstGeom prst="rect">
            <a:avLst/>
          </a:prstGeom>
          <a:solidFill>
            <a:srgbClr val="F4F1EB"/>
          </a:solidFill>
          <a:ln w="12700">
            <a:solidFill>
              <a:srgbClr val="F4F1EB"/>
            </a:solidFill>
            <a:prstDash val="solid"/>
          </a:ln>
        </p:spPr>
      </p:sp>
      <p:pic>
        <p:nvPicPr>
          <p:cNvPr id="20" name="icon FaBuilding" descr="preencoded.png">    </p:cNvPr>
          <p:cNvPicPr>
            <a:picLocks noChangeAspect="1"/>
          </p:cNvPicPr>
          <p:nvPr/>
        </p:nvPicPr>
        <p:blipFill>
          <a:blip r:embed="rId6"/>
          <a:stretch>
            <a:fillRect/>
          </a:stretch>
        </p:blipFill>
        <p:spPr>
          <a:xfrm>
            <a:off x="6060186" y="3127248"/>
            <a:ext cx="310896" cy="310896"/>
          </a:xfrm>
          <a:prstGeom prst="rect">
            <a:avLst/>
          </a:prstGeom>
        </p:spPr>
      </p:pic>
      <p:sp>
        <p:nvSpPr>
          <p:cNvPr id="21" name="Text 13"/>
          <p:cNvSpPr txBox="1"/>
          <p:nvPr/>
        </p:nvSpPr>
        <p:spPr>
          <a:xfrm>
            <a:off x="4887468" y="356616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تأسيس Holding / SPV</a:t>
            </a:r>
            <a:endParaRPr lang="ar-AE" sz="1250" dirty="0"/>
          </a:p>
          <a:p>
            <a:pPr algn="r" indent="0" marL="0">
              <a:spcAft>
                <a:spcPts val="300"/>
              </a:spcAft>
              <a:buNone/>
            </a:pPr>
            <a:r>
              <a:rPr lang="ar-AE" altLang="en-US" sz="1050" dirty="0">
                <a:solidFill>
                  <a:schemeClr val="accent3"/>
                </a:solidFill>
              </a:rPr>
              <a:t>هياكل شركات قابضة مرتبطة بهيكلة الإرث لحماية الاستثمارات.</a:t>
            </a:r>
            <a:endParaRPr lang="ar-AE" sz="1250" dirty="0"/>
          </a:p>
        </p:txBody>
      </p:sp>
      <p:sp>
        <p:nvSpPr>
          <p:cNvPr id="22" name="Shape 14"/>
          <p:cNvSpPr/>
          <p:nvPr/>
        </p:nvSpPr>
        <p:spPr>
          <a:xfrm>
            <a:off x="2571750" y="2926080"/>
            <a:ext cx="1885950" cy="1508760"/>
          </a:xfrm>
          <a:prstGeom prst="rect">
            <a:avLst/>
          </a:prstGeom>
          <a:solidFill>
            <a:srgbClr val="F4F1EB"/>
          </a:solidFill>
          <a:ln w="12700">
            <a:solidFill>
              <a:srgbClr val="F4F1EB"/>
            </a:solidFill>
            <a:prstDash val="solid"/>
          </a:ln>
        </p:spPr>
      </p:sp>
      <p:pic>
        <p:nvPicPr>
          <p:cNvPr id="23" name="icon FaHouse" descr="preencoded.png">    </p:cNvPr>
          <p:cNvPicPr>
            <a:picLocks noChangeAspect="1"/>
          </p:cNvPicPr>
          <p:nvPr/>
        </p:nvPicPr>
        <p:blipFill>
          <a:blip r:embed="rId7"/>
          <a:stretch>
            <a:fillRect/>
          </a:stretch>
        </p:blipFill>
        <p:spPr>
          <a:xfrm>
            <a:off x="3945636" y="3127248"/>
            <a:ext cx="310896" cy="310896"/>
          </a:xfrm>
          <a:prstGeom prst="rect">
            <a:avLst/>
          </a:prstGeom>
        </p:spPr>
      </p:pic>
      <p:sp>
        <p:nvSpPr>
          <p:cNvPr id="24" name="Text 15"/>
          <p:cNvSpPr txBox="1"/>
          <p:nvPr/>
        </p:nvSpPr>
        <p:spPr>
          <a:xfrm>
            <a:off x="2772918" y="356616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وصايا العقارات والأعمال</a:t>
            </a:r>
            <a:endParaRPr lang="ar-AE" sz="1250" dirty="0"/>
          </a:p>
          <a:p>
            <a:pPr algn="r" indent="0" marL="0">
              <a:spcAft>
                <a:spcPts val="300"/>
              </a:spcAft>
              <a:buNone/>
            </a:pPr>
            <a:r>
              <a:rPr lang="ar-AE" altLang="en-US" sz="1050" dirty="0">
                <a:solidFill>
                  <a:schemeClr val="accent3"/>
                </a:solidFill>
              </a:rPr>
              <a:t>وصايا مخصصة للعقارات فقط أو لحصص الشركات والأعمال.</a:t>
            </a:r>
            <a:endParaRPr lang="ar-AE" sz="1250" dirty="0"/>
          </a:p>
        </p:txBody>
      </p:sp>
      <p:sp>
        <p:nvSpPr>
          <p:cNvPr id="25" name="Shape 16"/>
          <p:cNvSpPr/>
          <p:nvPr/>
        </p:nvSpPr>
        <p:spPr>
          <a:xfrm>
            <a:off x="457200" y="2926080"/>
            <a:ext cx="1885950" cy="1508760"/>
          </a:xfrm>
          <a:prstGeom prst="rect">
            <a:avLst/>
          </a:prstGeom>
          <a:solidFill>
            <a:srgbClr val="F4F1EB"/>
          </a:solidFill>
          <a:ln w="12700">
            <a:solidFill>
              <a:srgbClr val="F4F1EB"/>
            </a:solidFill>
            <a:prstDash val="solid"/>
          </a:ln>
        </p:spPr>
      </p:sp>
      <p:pic>
        <p:nvPicPr>
          <p:cNvPr id="26" name="icon FaPeopleRoof" descr="preencoded.png">    </p:cNvPr>
          <p:cNvPicPr>
            <a:picLocks noChangeAspect="1"/>
          </p:cNvPicPr>
          <p:nvPr/>
        </p:nvPicPr>
        <p:blipFill>
          <a:blip r:embed="rId8"/>
          <a:stretch>
            <a:fillRect/>
          </a:stretch>
        </p:blipFill>
        <p:spPr>
          <a:xfrm>
            <a:off x="1831086" y="3127248"/>
            <a:ext cx="310896" cy="310896"/>
          </a:xfrm>
          <a:prstGeom prst="rect">
            <a:avLst/>
          </a:prstGeom>
        </p:spPr>
      </p:pic>
      <p:sp>
        <p:nvSpPr>
          <p:cNvPr id="27" name="Text 17"/>
          <p:cNvSpPr txBox="1"/>
          <p:nvPr/>
        </p:nvSpPr>
        <p:spPr>
          <a:xfrm>
            <a:off x="658368" y="356616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حوكمة العائلة</a:t>
            </a:r>
            <a:endParaRPr lang="ar-AE" sz="1250" dirty="0"/>
          </a:p>
          <a:p>
            <a:pPr algn="r" indent="0" marL="0">
              <a:spcAft>
                <a:spcPts val="300"/>
              </a:spcAft>
              <a:buNone/>
            </a:pPr>
            <a:r>
              <a:rPr lang="ar-AE" altLang="en-US" sz="1050" dirty="0">
                <a:solidFill>
                  <a:schemeClr val="accent3"/>
                </a:solidFill>
              </a:rPr>
              <a:t>مكتب عائلي، مؤسسات وصناديق ائتمانية، واتفاقيات شراكة.</a:t>
            </a:r>
            <a:endParaRPr lang="ar-AE" sz="1250" dirty="0"/>
          </a:p>
        </p:txBody>
      </p:sp>
      <p:sp>
        <p:nvSpPr>
          <p:cNvPr id="28"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جهات التسجيل في الإمارات</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الإطار القانوني</a:t>
            </a:r>
            <a:endParaRPr lang="ar-AE"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108960"/>
                <a:gridCol w="3108960"/>
                <a:gridCol w="2011680"/>
              </a:tblGrid>
              <a:tr h="457200">
                <a:tc>
                  <a:txBody>
                    <a:bodyPr/>
                    <a:lstStyle/>
                    <a:p>
                      <a:pPr algn="r" indent="0" marL="0">
                        <a:buNone/>
                      </a:pPr>
                      <a:r>
                        <a:rPr lang="en-US" sz="1100" b="1" dirty="0">
                          <a:solidFill>
                            <a:srgbClr val="D9B38C"/>
                          </a:solidFill>
                          <a:latin typeface="+mn-lt" pitchFamily="34" charset="0"/>
                          <a:ea typeface="+mn-lt" pitchFamily="34" charset="-122"/>
                          <a:cs typeface="+mn-lt" pitchFamily="34" charset="-120"/>
                        </a:rPr>
                        <a:t>ملاحظات عملية</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c>
                  <a:txBody>
                    <a:bodyPr/>
                    <a:lstStyle/>
                    <a:p>
                      <a:pPr algn="r" indent="0" marL="0">
                        <a:buNone/>
                      </a:pPr>
                      <a:r>
                        <a:rPr lang="en-US" sz="1100" b="1" dirty="0">
                          <a:solidFill>
                            <a:srgbClr val="D9B38C"/>
                          </a:solidFill>
                          <a:latin typeface="+mn-lt" pitchFamily="34" charset="0"/>
                          <a:ea typeface="+mn-lt" pitchFamily="34" charset="-122"/>
                          <a:cs typeface="+mn-lt" pitchFamily="34" charset="-120"/>
                        </a:rPr>
                        <a:t>لمن تناسب</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c>
                  <a:txBody>
                    <a:bodyPr/>
                    <a:lstStyle/>
                    <a:p>
                      <a:pPr algn="r" indent="0" marL="0">
                        <a:buNone/>
                      </a:pPr>
                      <a:r>
                        <a:rPr lang="en-US" sz="1100" b="1" dirty="0">
                          <a:solidFill>
                            <a:srgbClr val="D9B38C"/>
                          </a:solidFill>
                          <a:latin typeface="+mn-lt" pitchFamily="34" charset="0"/>
                          <a:ea typeface="+mn-lt" pitchFamily="34" charset="-122"/>
                          <a:cs typeface="+mn-lt" pitchFamily="34" charset="-120"/>
                        </a:rPr>
                        <a:t>الجهة</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r>
              <a:tr h="457200">
                <a:tc>
                  <a:txBody>
                    <a:bodyPr/>
                    <a:lstStyle/>
                    <a:p>
                      <a:pPr algn="r" indent="0" marL="0">
                        <a:buNone/>
                      </a:pPr>
                      <a:r>
                        <a:rPr lang="en-US" sz="1050" dirty="0">
                          <a:solidFill>
                            <a:srgbClr val="1F3A52"/>
                          </a:solidFill>
                          <a:latin typeface="+mn-lt" pitchFamily="34" charset="0"/>
                          <a:ea typeface="+mn-lt" pitchFamily="34" charset="-122"/>
                          <a:cs typeface="+mn-lt" pitchFamily="34" charset="-120"/>
                        </a:rPr>
                        <a:t>تسجيل الوصية لدى محاكم دبي مع الترجمة والتوثيق</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dirty="0">
                          <a:solidFill>
                            <a:srgbClr val="1F3A52"/>
                          </a:solidFill>
                          <a:latin typeface="+mn-lt" pitchFamily="34" charset="0"/>
                          <a:ea typeface="+mn-lt" pitchFamily="34" charset="-122"/>
                          <a:cs typeface="+mn-lt" pitchFamily="34" charset="-120"/>
                        </a:rPr>
                        <a:t>غير المسلمين الذين يملكون أصولاً في الدولة ويفضّلون المسار المحلي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محاكم دبي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57200">
                <a:tc>
                  <a:txBody>
                    <a:bodyPr/>
                    <a:lstStyle/>
                    <a:p>
                      <a:pPr algn="r" indent="0" marL="0">
                        <a:buNone/>
                      </a:pPr>
                      <a:r>
                        <a:rPr lang="en-US" sz="1050" dirty="0">
                          <a:solidFill>
                            <a:srgbClr val="1F3A52"/>
                          </a:solidFill>
                          <a:latin typeface="+mn-lt" pitchFamily="34" charset="0"/>
                          <a:ea typeface="+mn-lt" pitchFamily="34" charset="-122"/>
                          <a:cs typeface="+mn-lt" pitchFamily="34" charset="-120"/>
                        </a:rPr>
                        <a:t>تسجيل لدى دائرة القضاء في أبوظبي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3A52"/>
                          </a:solidFill>
                          <a:latin typeface="+mn-lt" pitchFamily="34" charset="0"/>
                          <a:ea typeface="+mn-lt" pitchFamily="34" charset="-122"/>
                          <a:cs typeface="+mn-lt" pitchFamily="34" charset="-120"/>
                        </a:rPr>
                        <a:t>من لديهم أصول أو إقامة في أبوظبي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محاكم أبوظبي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57200">
                <a:tc>
                  <a:txBody>
                    <a:bodyPr/>
                    <a:lstStyle/>
                    <a:p>
                      <a:pPr algn="r" indent="0" marL="0">
                        <a:buNone/>
                      </a:pPr>
                      <a:r>
                        <a:rPr lang="en-US" sz="1050" dirty="0">
                          <a:solidFill>
                            <a:srgbClr val="1F3A52"/>
                          </a:solidFill>
                          <a:latin typeface="+mn-lt" pitchFamily="34" charset="0"/>
                          <a:ea typeface="+mn-lt" pitchFamily="34" charset="-122"/>
                          <a:cs typeface="+mn-lt" pitchFamily="34" charset="-120"/>
                        </a:rPr>
                        <a:t>سجل وصايا مركز دبي المالي العالمي، يغطي الأصول في الدولة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dirty="0">
                          <a:solidFill>
                            <a:srgbClr val="1F3A52"/>
                          </a:solidFill>
                          <a:latin typeface="+mn-lt" pitchFamily="34" charset="0"/>
                          <a:ea typeface="+mn-lt" pitchFamily="34" charset="-122"/>
                          <a:cs typeface="+mn-lt" pitchFamily="34" charset="-120"/>
                        </a:rPr>
                        <a:t>غير المسلمين، خاصة الأوروبيين والروس والهنود ممن يفضّلون وثيقة بالإنجليزية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DIFC</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57200">
                <a:tc>
                  <a:txBody>
                    <a:bodyPr/>
                    <a:lstStyle/>
                    <a:p>
                      <a:pPr algn="r" indent="0" marL="0">
                        <a:buNone/>
                      </a:pPr>
                      <a:r>
                        <a:rPr lang="en-US" sz="1050" dirty="0">
                          <a:solidFill>
                            <a:srgbClr val="1F3A52"/>
                          </a:solidFill>
                          <a:latin typeface="+mn-lt" pitchFamily="34" charset="0"/>
                          <a:ea typeface="+mn-lt" pitchFamily="34" charset="-122"/>
                          <a:cs typeface="+mn-lt" pitchFamily="34" charset="-120"/>
                        </a:rPr>
                        <a:t>سجل وصايا سوق أبوظبي العالمي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3A52"/>
                          </a:solidFill>
                          <a:latin typeface="+mn-lt" pitchFamily="34" charset="0"/>
                          <a:ea typeface="+mn-lt" pitchFamily="34" charset="-122"/>
                          <a:cs typeface="+mn-lt" pitchFamily="34" charset="-120"/>
                        </a:rPr>
                        <a:t>غير المسلمين الذين يفضّلون مسار أبوظبي بالإنجليزية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ADGM</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57200">
                <a:tc>
                  <a:txBody>
                    <a:bodyPr/>
                    <a:lstStyle/>
                    <a:p>
                      <a:pPr algn="r" indent="0" marL="0">
                        <a:buNone/>
                      </a:pPr>
                      <a:r>
                        <a:rPr lang="en-US" sz="1050" dirty="0">
                          <a:solidFill>
                            <a:srgbClr val="1F3A52"/>
                          </a:solidFill>
                          <a:latin typeface="+mn-lt" pitchFamily="34" charset="0"/>
                          <a:ea typeface="+mn-lt" pitchFamily="34" charset="-122"/>
                          <a:cs typeface="+mn-lt" pitchFamily="34" charset="-120"/>
                        </a:rPr>
                        <a:t>يُستخدم مع المسارات السابقة عند الحاجة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dirty="0">
                          <a:solidFill>
                            <a:srgbClr val="1F3A52"/>
                          </a:solidFill>
                          <a:latin typeface="+mn-lt" pitchFamily="34" charset="0"/>
                          <a:ea typeface="+mn-lt" pitchFamily="34" charset="-122"/>
                          <a:cs typeface="+mn-lt" pitchFamily="34" charset="-120"/>
                        </a:rPr>
                        <a:t>الوثائق المساندة: الوكالات، الإقرارات، التصديقات</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كاتب العدل</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bl>
          </a:graphicData>
        </a:graphic>
      </p:graphicFrame>
      <p:sp>
        <p:nvSpPr>
          <p:cNvPr id="5" name="Text 2"/>
          <p:cNvSpPr txBox="1"/>
          <p:nvPr/>
        </p:nvSpPr>
        <p:spPr>
          <a:xfrm>
            <a:off x="457200" y="4251960"/>
            <a:ext cx="8229600" cy="320040"/>
          </a:xfrm>
          <a:prstGeom prst="rect">
            <a:avLst/>
          </a:prstGeom>
          <a:noFill/>
          <a:ln/>
        </p:spPr>
        <p:txBody>
          <a:bodyPr wrap="square" lIns="0" tIns="0" rIns="0" bIns="0" rtlCol="0" anchor="ctr"/>
          <a:lstStyle/>
          <a:p>
            <a:pPr rtl="1" algn="r" indent="0" marL="0">
              <a:buNone/>
            </a:pPr>
            <a:r>
              <a:rPr lang="ar-AE" altLang="en-US" sz="950" i="1" dirty="0">
                <a:solidFill>
                  <a:schemeClr val="accent3"/>
                </a:solidFill>
              </a:rPr>
              <a:t>الجهة والقانون الواجب التطبيق (الشريعة الإسلامية أو القانون الأجنبي) يُحدَّدان لكل موكل بعد جلسة الاكتشاف.</a:t>
            </a:r>
            <a:endParaRPr lang="ar-AE" sz="950" dirty="0"/>
          </a:p>
        </p:txBody>
      </p:sp>
      <p:sp>
        <p:nvSpPr>
          <p:cNvPr id="6"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أنواع الخدمة</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ما يختاره الموكل بعد التقييم</a:t>
            </a:r>
            <a:endParaRPr lang="ar-AE" sz="1000" dirty="0"/>
          </a:p>
        </p:txBody>
      </p:sp>
      <p:sp>
        <p:nvSpPr>
          <p:cNvPr id="4" name="Shape 2"/>
          <p:cNvSpPr/>
          <p:nvPr/>
        </p:nvSpPr>
        <p:spPr>
          <a:xfrm>
            <a:off x="8229600" y="1188720"/>
            <a:ext cx="457200" cy="457200"/>
          </a:xfrm>
          <a:prstGeom prst="ellipse">
            <a:avLst/>
          </a:prstGeom>
          <a:solidFill>
            <a:srgbClr val="F4F1EB"/>
          </a:solidFill>
          <a:ln w="12700">
            <a:solidFill>
              <a:srgbClr val="F4F1EB"/>
            </a:solidFill>
            <a:prstDash val="solid"/>
          </a:ln>
        </p:spPr>
      </p:sp>
      <p:pic>
        <p:nvPicPr>
          <p:cNvPr id="5" name="icon FaUser" descr="preencoded.png">    </p:cNvPr>
          <p:cNvPicPr>
            <a:picLocks noChangeAspect="1"/>
          </p:cNvPicPr>
          <p:nvPr/>
        </p:nvPicPr>
        <p:blipFill>
          <a:blip r:embed="rId1"/>
          <a:stretch>
            <a:fillRect/>
          </a:stretch>
        </p:blipFill>
        <p:spPr>
          <a:xfrm>
            <a:off x="8321040" y="1280160"/>
            <a:ext cx="274320" cy="274320"/>
          </a:xfrm>
          <a:prstGeom prst="rect">
            <a:avLst/>
          </a:prstGeom>
        </p:spPr>
      </p:pic>
      <p:sp>
        <p:nvSpPr>
          <p:cNvPr id="6" name="Text 3"/>
          <p:cNvSpPr txBox="1"/>
          <p:nvPr/>
        </p:nvSpPr>
        <p:spPr>
          <a:xfrm>
            <a:off x="457200" y="117043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وصية فردية</a:t>
            </a:r>
            <a:endParaRPr lang="ar-AE" sz="1300" dirty="0"/>
          </a:p>
          <a:p>
            <a:pPr algn="r" indent="0" marL="0">
              <a:spcAft>
                <a:spcPts val="200"/>
              </a:spcAft>
              <a:buNone/>
            </a:pPr>
            <a:r>
              <a:rPr lang="ar-AE" altLang="en-US" sz="1100" dirty="0">
                <a:solidFill>
                  <a:schemeClr val="accent3"/>
                </a:solidFill>
              </a:rPr>
              <a:t>لشخص واحد يغطي أصوله في الدولة ويعيّن الأوصياء والمنفذين.</a:t>
            </a:r>
            <a:endParaRPr lang="ar-AE" sz="1300" dirty="0"/>
          </a:p>
        </p:txBody>
      </p:sp>
      <p:sp>
        <p:nvSpPr>
          <p:cNvPr id="7" name="Shape 4"/>
          <p:cNvSpPr/>
          <p:nvPr/>
        </p:nvSpPr>
        <p:spPr>
          <a:xfrm>
            <a:off x="8229600" y="1737360"/>
            <a:ext cx="457200" cy="457200"/>
          </a:xfrm>
          <a:prstGeom prst="ellipse">
            <a:avLst/>
          </a:prstGeom>
          <a:solidFill>
            <a:srgbClr val="F4F1EB"/>
          </a:solidFill>
          <a:ln w="12700">
            <a:solidFill>
              <a:srgbClr val="F4F1EB"/>
            </a:solidFill>
            <a:prstDash val="solid"/>
          </a:ln>
        </p:spPr>
      </p:sp>
      <p:pic>
        <p:nvPicPr>
          <p:cNvPr id="8" name="icon FaUserGroup" descr="preencoded.png">    </p:cNvPr>
          <p:cNvPicPr>
            <a:picLocks noChangeAspect="1"/>
          </p:cNvPicPr>
          <p:nvPr/>
        </p:nvPicPr>
        <p:blipFill>
          <a:blip r:embed="rId2"/>
          <a:stretch>
            <a:fillRect/>
          </a:stretch>
        </p:blipFill>
        <p:spPr>
          <a:xfrm>
            <a:off x="8321040" y="1828800"/>
            <a:ext cx="274320" cy="274320"/>
          </a:xfrm>
          <a:prstGeom prst="rect">
            <a:avLst/>
          </a:prstGeom>
        </p:spPr>
      </p:pic>
      <p:sp>
        <p:nvSpPr>
          <p:cNvPr id="9" name="Text 5"/>
          <p:cNvSpPr txBox="1"/>
          <p:nvPr/>
        </p:nvSpPr>
        <p:spPr>
          <a:xfrm>
            <a:off x="457200" y="171907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وصية زوجية (متبادلة)</a:t>
            </a:r>
            <a:endParaRPr lang="ar-AE" sz="1300" dirty="0"/>
          </a:p>
          <a:p>
            <a:pPr algn="r" indent="0" marL="0">
              <a:spcAft>
                <a:spcPts val="200"/>
              </a:spcAft>
              <a:buNone/>
            </a:pPr>
            <a:r>
              <a:rPr lang="ar-AE" altLang="en-US" sz="1100" dirty="0">
                <a:solidFill>
                  <a:schemeClr val="accent3"/>
                </a:solidFill>
              </a:rPr>
              <a:t>وصيتان متطابقتان للزوجين تحميان العائلة والأطفال.</a:t>
            </a:r>
            <a:endParaRPr lang="ar-AE" sz="1300" dirty="0"/>
          </a:p>
        </p:txBody>
      </p:sp>
      <p:sp>
        <p:nvSpPr>
          <p:cNvPr id="10" name="Shape 6"/>
          <p:cNvSpPr/>
          <p:nvPr/>
        </p:nvSpPr>
        <p:spPr>
          <a:xfrm>
            <a:off x="8229600" y="2286000"/>
            <a:ext cx="457200" cy="457200"/>
          </a:xfrm>
          <a:prstGeom prst="ellipse">
            <a:avLst/>
          </a:prstGeom>
          <a:solidFill>
            <a:srgbClr val="F4F1EB"/>
          </a:solidFill>
          <a:ln w="12700">
            <a:solidFill>
              <a:srgbClr val="F4F1EB"/>
            </a:solidFill>
            <a:prstDash val="solid"/>
          </a:ln>
        </p:spPr>
      </p:sp>
      <p:pic>
        <p:nvPicPr>
          <p:cNvPr id="11" name="icon FaHouse" descr="preencoded.png">    </p:cNvPr>
          <p:cNvPicPr>
            <a:picLocks noChangeAspect="1"/>
          </p:cNvPicPr>
          <p:nvPr/>
        </p:nvPicPr>
        <p:blipFill>
          <a:blip r:embed="rId3"/>
          <a:stretch>
            <a:fillRect/>
          </a:stretch>
        </p:blipFill>
        <p:spPr>
          <a:xfrm>
            <a:off x="8321040" y="2377440"/>
            <a:ext cx="274320" cy="274320"/>
          </a:xfrm>
          <a:prstGeom prst="rect">
            <a:avLst/>
          </a:prstGeom>
        </p:spPr>
      </p:pic>
      <p:sp>
        <p:nvSpPr>
          <p:cNvPr id="12" name="Text 7"/>
          <p:cNvSpPr txBox="1"/>
          <p:nvPr/>
        </p:nvSpPr>
        <p:spPr>
          <a:xfrm>
            <a:off x="457200" y="226771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وصية عقارية</a:t>
            </a:r>
            <a:endParaRPr lang="ar-AE" sz="1300" dirty="0"/>
          </a:p>
          <a:p>
            <a:pPr algn="r" indent="0" marL="0">
              <a:spcAft>
                <a:spcPts val="200"/>
              </a:spcAft>
              <a:buNone/>
            </a:pPr>
            <a:r>
              <a:rPr lang="ar-AE" altLang="en-US" sz="1100" dirty="0">
                <a:solidFill>
                  <a:schemeClr val="accent3"/>
                </a:solidFill>
              </a:rPr>
              <a:t>تقتصر على العقارات داخل الإمارات، مناسبة للمستثمر العقاري.</a:t>
            </a:r>
            <a:endParaRPr lang="ar-AE" sz="1300" dirty="0"/>
          </a:p>
        </p:txBody>
      </p:sp>
      <p:sp>
        <p:nvSpPr>
          <p:cNvPr id="13" name="Shape 8"/>
          <p:cNvSpPr/>
          <p:nvPr/>
        </p:nvSpPr>
        <p:spPr>
          <a:xfrm>
            <a:off x="8229600" y="2834640"/>
            <a:ext cx="457200" cy="457200"/>
          </a:xfrm>
          <a:prstGeom prst="ellipse">
            <a:avLst/>
          </a:prstGeom>
          <a:solidFill>
            <a:srgbClr val="F4F1EB"/>
          </a:solidFill>
          <a:ln w="12700">
            <a:solidFill>
              <a:srgbClr val="F4F1EB"/>
            </a:solidFill>
            <a:prstDash val="solid"/>
          </a:ln>
        </p:spPr>
      </p:sp>
      <p:pic>
        <p:nvPicPr>
          <p:cNvPr id="14" name="icon FaBriefcase" descr="preencoded.png">    </p:cNvPr>
          <p:cNvPicPr>
            <a:picLocks noChangeAspect="1"/>
          </p:cNvPicPr>
          <p:nvPr/>
        </p:nvPicPr>
        <p:blipFill>
          <a:blip r:embed="rId4"/>
          <a:stretch>
            <a:fillRect/>
          </a:stretch>
        </p:blipFill>
        <p:spPr>
          <a:xfrm>
            <a:off x="8321040" y="2926080"/>
            <a:ext cx="274320" cy="274320"/>
          </a:xfrm>
          <a:prstGeom prst="rect">
            <a:avLst/>
          </a:prstGeom>
        </p:spPr>
      </p:pic>
      <p:sp>
        <p:nvSpPr>
          <p:cNvPr id="15" name="Text 9"/>
          <p:cNvSpPr txBox="1"/>
          <p:nvPr/>
        </p:nvSpPr>
        <p:spPr>
          <a:xfrm>
            <a:off x="457200" y="281635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وصية أعمال</a:t>
            </a:r>
            <a:endParaRPr lang="ar-AE" sz="1300" dirty="0"/>
          </a:p>
          <a:p>
            <a:pPr algn="r" indent="0" marL="0">
              <a:spcAft>
                <a:spcPts val="200"/>
              </a:spcAft>
              <a:buNone/>
            </a:pPr>
            <a:r>
              <a:rPr lang="ar-AE" altLang="en-US" sz="1100" dirty="0">
                <a:solidFill>
                  <a:schemeClr val="accent3"/>
                </a:solidFill>
              </a:rPr>
              <a:t>تغطي حصص الشركات وتضمن استمرارية الأعمال.</a:t>
            </a:r>
            <a:endParaRPr lang="ar-AE" sz="1300" dirty="0"/>
          </a:p>
        </p:txBody>
      </p:sp>
      <p:sp>
        <p:nvSpPr>
          <p:cNvPr id="16" name="Shape 10"/>
          <p:cNvSpPr/>
          <p:nvPr/>
        </p:nvSpPr>
        <p:spPr>
          <a:xfrm>
            <a:off x="8229600" y="3383280"/>
            <a:ext cx="457200" cy="457200"/>
          </a:xfrm>
          <a:prstGeom prst="ellipse">
            <a:avLst/>
          </a:prstGeom>
          <a:solidFill>
            <a:srgbClr val="F4F1EB"/>
          </a:solidFill>
          <a:ln w="12700">
            <a:solidFill>
              <a:srgbClr val="F4F1EB"/>
            </a:solidFill>
            <a:prstDash val="solid"/>
          </a:ln>
        </p:spPr>
      </p:sp>
      <p:pic>
        <p:nvPicPr>
          <p:cNvPr id="17" name="icon FaSitemap" descr="preencoded.png">    </p:cNvPr>
          <p:cNvPicPr>
            <a:picLocks noChangeAspect="1"/>
          </p:cNvPicPr>
          <p:nvPr/>
        </p:nvPicPr>
        <p:blipFill>
          <a:blip r:embed="rId5"/>
          <a:stretch>
            <a:fillRect/>
          </a:stretch>
        </p:blipFill>
        <p:spPr>
          <a:xfrm>
            <a:off x="8321040" y="3474720"/>
            <a:ext cx="274320" cy="274320"/>
          </a:xfrm>
          <a:prstGeom prst="rect">
            <a:avLst/>
          </a:prstGeom>
        </p:spPr>
      </p:pic>
      <p:sp>
        <p:nvSpPr>
          <p:cNvPr id="18" name="Text 11"/>
          <p:cNvSpPr txBox="1"/>
          <p:nvPr/>
        </p:nvSpPr>
        <p:spPr>
          <a:xfrm>
            <a:off x="457200" y="336499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هيكلة شركات / Holding / SPV</a:t>
            </a:r>
            <a:endParaRPr lang="ar-AE" sz="1300" dirty="0"/>
          </a:p>
          <a:p>
            <a:pPr algn="r" indent="0" marL="0">
              <a:spcAft>
                <a:spcPts val="200"/>
              </a:spcAft>
              <a:buNone/>
            </a:pPr>
            <a:r>
              <a:rPr lang="ar-AE" altLang="en-US" sz="1100" dirty="0">
                <a:solidFill>
                  <a:schemeClr val="accent3"/>
                </a:solidFill>
              </a:rPr>
              <a:t>للمحافظ الكبيرة والأصول متعددة الدول.</a:t>
            </a:r>
            <a:endParaRPr lang="ar-AE" sz="1300" dirty="0"/>
          </a:p>
        </p:txBody>
      </p:sp>
      <p:sp>
        <p:nvSpPr>
          <p:cNvPr id="19" name="Shape 12"/>
          <p:cNvSpPr/>
          <p:nvPr/>
        </p:nvSpPr>
        <p:spPr>
          <a:xfrm>
            <a:off x="8229600" y="3931920"/>
            <a:ext cx="457200" cy="457200"/>
          </a:xfrm>
          <a:prstGeom prst="ellipse">
            <a:avLst/>
          </a:prstGeom>
          <a:solidFill>
            <a:srgbClr val="F4F1EB"/>
          </a:solidFill>
          <a:ln w="12700">
            <a:solidFill>
              <a:srgbClr val="F4F1EB"/>
            </a:solidFill>
            <a:prstDash val="solid"/>
          </a:ln>
        </p:spPr>
      </p:sp>
      <p:pic>
        <p:nvPicPr>
          <p:cNvPr id="20" name="icon FaLandmark" descr="preencoded.png">    </p:cNvPr>
          <p:cNvPicPr>
            <a:picLocks noChangeAspect="1"/>
          </p:cNvPicPr>
          <p:nvPr/>
        </p:nvPicPr>
        <p:blipFill>
          <a:blip r:embed="rId6"/>
          <a:stretch>
            <a:fillRect/>
          </a:stretch>
        </p:blipFill>
        <p:spPr>
          <a:xfrm>
            <a:off x="8321040" y="4023360"/>
            <a:ext cx="274320" cy="274320"/>
          </a:xfrm>
          <a:prstGeom prst="rect">
            <a:avLst/>
          </a:prstGeom>
        </p:spPr>
      </p:pic>
      <p:sp>
        <p:nvSpPr>
          <p:cNvPr id="21" name="Text 13"/>
          <p:cNvSpPr txBox="1"/>
          <p:nvPr/>
        </p:nvSpPr>
        <p:spPr>
          <a:xfrm>
            <a:off x="457200" y="391363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مؤسسة أو صندوق ائتماني</a:t>
            </a:r>
            <a:endParaRPr lang="ar-AE" sz="1300" dirty="0"/>
          </a:p>
          <a:p>
            <a:pPr algn="r" indent="0" marL="0">
              <a:spcAft>
                <a:spcPts val="200"/>
              </a:spcAft>
              <a:buNone/>
            </a:pPr>
            <a:r>
              <a:rPr lang="ar-AE" altLang="en-US" sz="1100" dirty="0">
                <a:solidFill>
                  <a:schemeClr val="accent3"/>
                </a:solidFill>
              </a:rPr>
              <a:t>لحوكمة العائلة وحماية الثروة عبر الأجيال.</a:t>
            </a:r>
            <a:endParaRPr lang="ar-AE" sz="1300" dirty="0"/>
          </a:p>
        </p:txBody>
      </p:sp>
      <p:sp>
        <p:nvSpPr>
          <p:cNvPr id="2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خدمة قانونية بمستوى Concierge</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التجربة المميزة</a:t>
            </a:r>
            <a:endParaRPr lang="ar-AE" sz="1000" dirty="0"/>
          </a:p>
        </p:txBody>
      </p:sp>
      <p:sp>
        <p:nvSpPr>
          <p:cNvPr id="4" name="Shape 2"/>
          <p:cNvSpPr/>
          <p:nvPr/>
        </p:nvSpPr>
        <p:spPr>
          <a:xfrm>
            <a:off x="7223760" y="1188720"/>
            <a:ext cx="1463040" cy="3246120"/>
          </a:xfrm>
          <a:prstGeom prst="rect">
            <a:avLst/>
          </a:prstGeom>
          <a:solidFill>
            <a:srgbClr val="F4F1EB"/>
          </a:solidFill>
          <a:ln w="12700">
            <a:solidFill>
              <a:srgbClr val="F4F1EB"/>
            </a:solidFill>
            <a:prstDash val="solid"/>
          </a:ln>
        </p:spPr>
      </p:sp>
      <p:pic>
        <p:nvPicPr>
          <p:cNvPr id="5" name="icon FaHouseUser" descr="preencoded.png">    </p:cNvPr>
          <p:cNvPicPr>
            <a:picLocks noChangeAspect="1"/>
          </p:cNvPicPr>
          <p:nvPr/>
        </p:nvPicPr>
        <p:blipFill>
          <a:blip r:embed="rId1"/>
          <a:stretch>
            <a:fillRect/>
          </a:stretch>
        </p:blipFill>
        <p:spPr>
          <a:xfrm>
            <a:off x="8174736" y="1389888"/>
            <a:ext cx="310896" cy="310896"/>
          </a:xfrm>
          <a:prstGeom prst="rect">
            <a:avLst/>
          </a:prstGeom>
        </p:spPr>
      </p:pic>
      <p:sp>
        <p:nvSpPr>
          <p:cNvPr id="6" name="Text 3"/>
          <p:cNvSpPr txBox="1"/>
          <p:nvPr/>
        </p:nvSpPr>
        <p:spPr>
          <a:xfrm>
            <a:off x="7424928" y="1828800"/>
            <a:ext cx="1060704" cy="2450592"/>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الاجتماع عندكم</a:t>
            </a:r>
            <a:endParaRPr lang="ar-AE" sz="1400" dirty="0"/>
          </a:p>
          <a:p>
            <a:pPr algn="r" indent="0" marL="0">
              <a:spcAft>
                <a:spcPts val="300"/>
              </a:spcAft>
              <a:buNone/>
            </a:pPr>
            <a:r>
              <a:rPr lang="ar-AE" altLang="en-US" sz="1150" dirty="0">
                <a:solidFill>
                  <a:schemeClr val="accent3"/>
                </a:solidFill>
              </a:rPr>
              <a:t>في مكتب الموكل أو منزله.</a:t>
            </a:r>
            <a:endParaRPr lang="ar-AE" sz="1400" dirty="0"/>
          </a:p>
        </p:txBody>
      </p:sp>
      <p:sp>
        <p:nvSpPr>
          <p:cNvPr id="7" name="Shape 4"/>
          <p:cNvSpPr/>
          <p:nvPr/>
        </p:nvSpPr>
        <p:spPr>
          <a:xfrm>
            <a:off x="5532120" y="1188720"/>
            <a:ext cx="1463040" cy="3246120"/>
          </a:xfrm>
          <a:prstGeom prst="rect">
            <a:avLst/>
          </a:prstGeom>
          <a:solidFill>
            <a:srgbClr val="F4F1EB"/>
          </a:solidFill>
          <a:ln w="12700">
            <a:solidFill>
              <a:srgbClr val="F4F1EB"/>
            </a:solidFill>
            <a:prstDash val="solid"/>
          </a:ln>
        </p:spPr>
      </p:sp>
      <p:pic>
        <p:nvPicPr>
          <p:cNvPr id="8" name="icon FaCrown" descr="preencoded.png">    </p:cNvPr>
          <p:cNvPicPr>
            <a:picLocks noChangeAspect="1"/>
          </p:cNvPicPr>
          <p:nvPr/>
        </p:nvPicPr>
        <p:blipFill>
          <a:blip r:embed="rId2"/>
          <a:stretch>
            <a:fillRect/>
          </a:stretch>
        </p:blipFill>
        <p:spPr>
          <a:xfrm>
            <a:off x="6483096" y="1389888"/>
            <a:ext cx="310896" cy="310896"/>
          </a:xfrm>
          <a:prstGeom prst="rect">
            <a:avLst/>
          </a:prstGeom>
        </p:spPr>
      </p:pic>
      <p:sp>
        <p:nvSpPr>
          <p:cNvPr id="9" name="Text 5"/>
          <p:cNvSpPr txBox="1"/>
          <p:nvPr/>
        </p:nvSpPr>
        <p:spPr>
          <a:xfrm>
            <a:off x="5733288" y="1828800"/>
            <a:ext cx="1060704" cy="2450592"/>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تعامل VIP</a:t>
            </a:r>
            <a:endParaRPr lang="ar-AE" sz="1400" dirty="0"/>
          </a:p>
          <a:p>
            <a:pPr algn="r" indent="0" marL="0">
              <a:spcAft>
                <a:spcPts val="300"/>
              </a:spcAft>
              <a:buNone/>
            </a:pPr>
            <a:r>
              <a:rPr lang="ar-AE" altLang="en-US" sz="1150" dirty="0">
                <a:solidFill>
                  <a:schemeClr val="accent3"/>
                </a:solidFill>
              </a:rPr>
              <a:t>مستشار مخصص لكل موكل.</a:t>
            </a:r>
            <a:endParaRPr lang="ar-AE" sz="1400" dirty="0"/>
          </a:p>
        </p:txBody>
      </p:sp>
      <p:sp>
        <p:nvSpPr>
          <p:cNvPr id="10" name="Shape 6"/>
          <p:cNvSpPr/>
          <p:nvPr/>
        </p:nvSpPr>
        <p:spPr>
          <a:xfrm>
            <a:off x="3840480" y="1188720"/>
            <a:ext cx="1463040" cy="3246120"/>
          </a:xfrm>
          <a:prstGeom prst="rect">
            <a:avLst/>
          </a:prstGeom>
          <a:solidFill>
            <a:srgbClr val="F4F1EB"/>
          </a:solidFill>
          <a:ln w="12700">
            <a:solidFill>
              <a:srgbClr val="F4F1EB"/>
            </a:solidFill>
            <a:prstDash val="solid"/>
          </a:ln>
        </p:spPr>
      </p:sp>
      <p:pic>
        <p:nvPicPr>
          <p:cNvPr id="11" name="icon FaLanguage" descr="preencoded.png">    </p:cNvPr>
          <p:cNvPicPr>
            <a:picLocks noChangeAspect="1"/>
          </p:cNvPicPr>
          <p:nvPr/>
        </p:nvPicPr>
        <p:blipFill>
          <a:blip r:embed="rId3"/>
          <a:stretch>
            <a:fillRect/>
          </a:stretch>
        </p:blipFill>
        <p:spPr>
          <a:xfrm>
            <a:off x="4791456" y="1389888"/>
            <a:ext cx="310896" cy="310896"/>
          </a:xfrm>
          <a:prstGeom prst="rect">
            <a:avLst/>
          </a:prstGeom>
        </p:spPr>
      </p:pic>
      <p:sp>
        <p:nvSpPr>
          <p:cNvPr id="12" name="Text 7"/>
          <p:cNvSpPr txBox="1"/>
          <p:nvPr/>
        </p:nvSpPr>
        <p:spPr>
          <a:xfrm>
            <a:off x="4041648" y="1828800"/>
            <a:ext cx="1060704" cy="2450592"/>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أربع لغات</a:t>
            </a:r>
            <a:endParaRPr lang="ar-AE" sz="1400" dirty="0"/>
          </a:p>
          <a:p>
            <a:pPr algn="r" indent="0" marL="0">
              <a:spcAft>
                <a:spcPts val="300"/>
              </a:spcAft>
              <a:buNone/>
            </a:pPr>
            <a:r>
              <a:rPr lang="ar-AE" altLang="en-US" sz="1150" dirty="0">
                <a:solidFill>
                  <a:schemeClr val="accent3"/>
                </a:solidFill>
              </a:rPr>
              <a:t>العربية، الإنجليزية، الصينية، الروسية.</a:t>
            </a:r>
            <a:endParaRPr lang="ar-AE" sz="1400" dirty="0"/>
          </a:p>
        </p:txBody>
      </p:sp>
      <p:sp>
        <p:nvSpPr>
          <p:cNvPr id="13" name="Shape 8"/>
          <p:cNvSpPr/>
          <p:nvPr/>
        </p:nvSpPr>
        <p:spPr>
          <a:xfrm>
            <a:off x="2148840" y="1188720"/>
            <a:ext cx="1463040" cy="3246120"/>
          </a:xfrm>
          <a:prstGeom prst="rect">
            <a:avLst/>
          </a:prstGeom>
          <a:solidFill>
            <a:srgbClr val="F4F1EB"/>
          </a:solidFill>
          <a:ln w="12700">
            <a:solidFill>
              <a:srgbClr val="F4F1EB"/>
            </a:solidFill>
            <a:prstDash val="solid"/>
          </a:ln>
        </p:spPr>
      </p:sp>
      <p:pic>
        <p:nvPicPr>
          <p:cNvPr id="14" name="icon FaListCheck" descr="preencoded.png">    </p:cNvPr>
          <p:cNvPicPr>
            <a:picLocks noChangeAspect="1"/>
          </p:cNvPicPr>
          <p:nvPr/>
        </p:nvPicPr>
        <p:blipFill>
          <a:blip r:embed="rId4"/>
          <a:stretch>
            <a:fillRect/>
          </a:stretch>
        </p:blipFill>
        <p:spPr>
          <a:xfrm>
            <a:off x="3099816" y="1389888"/>
            <a:ext cx="310896" cy="310896"/>
          </a:xfrm>
          <a:prstGeom prst="rect">
            <a:avLst/>
          </a:prstGeom>
        </p:spPr>
      </p:pic>
      <p:sp>
        <p:nvSpPr>
          <p:cNvPr id="15" name="Text 9"/>
          <p:cNvSpPr txBox="1"/>
          <p:nvPr/>
        </p:nvSpPr>
        <p:spPr>
          <a:xfrm>
            <a:off x="2350008" y="1828800"/>
            <a:ext cx="1060704" cy="2450592"/>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تنسيق كامل</a:t>
            </a:r>
            <a:endParaRPr lang="ar-AE" sz="1400" dirty="0"/>
          </a:p>
          <a:p>
            <a:pPr algn="r" indent="0" marL="0">
              <a:spcAft>
                <a:spcPts val="300"/>
              </a:spcAft>
              <a:buNone/>
            </a:pPr>
            <a:r>
              <a:rPr lang="ar-AE" altLang="en-US" sz="1150" dirty="0">
                <a:solidFill>
                  <a:schemeClr val="accent3"/>
                </a:solidFill>
              </a:rPr>
              <a:t>الترجمة، الشهود، التوثيق، التسجيل.</a:t>
            </a:r>
            <a:endParaRPr lang="ar-AE" sz="1400" dirty="0"/>
          </a:p>
        </p:txBody>
      </p:sp>
      <p:sp>
        <p:nvSpPr>
          <p:cNvPr id="16" name="Shape 10"/>
          <p:cNvSpPr/>
          <p:nvPr/>
        </p:nvSpPr>
        <p:spPr>
          <a:xfrm>
            <a:off x="457200" y="1188720"/>
            <a:ext cx="1463040" cy="3246120"/>
          </a:xfrm>
          <a:prstGeom prst="rect">
            <a:avLst/>
          </a:prstGeom>
          <a:solidFill>
            <a:srgbClr val="F4F1EB"/>
          </a:solidFill>
          <a:ln w="12700">
            <a:solidFill>
              <a:srgbClr val="F4F1EB"/>
            </a:solidFill>
            <a:prstDash val="solid"/>
          </a:ln>
        </p:spPr>
      </p:sp>
      <p:pic>
        <p:nvPicPr>
          <p:cNvPr id="17" name="icon FaBolt" descr="preencoded.png">    </p:cNvPr>
          <p:cNvPicPr>
            <a:picLocks noChangeAspect="1"/>
          </p:cNvPicPr>
          <p:nvPr/>
        </p:nvPicPr>
        <p:blipFill>
          <a:blip r:embed="rId5"/>
          <a:stretch>
            <a:fillRect/>
          </a:stretch>
        </p:blipFill>
        <p:spPr>
          <a:xfrm>
            <a:off x="1408176" y="1389888"/>
            <a:ext cx="310896" cy="310896"/>
          </a:xfrm>
          <a:prstGeom prst="rect">
            <a:avLst/>
          </a:prstGeom>
        </p:spPr>
      </p:pic>
      <p:sp>
        <p:nvSpPr>
          <p:cNvPr id="18" name="Text 11"/>
          <p:cNvSpPr txBox="1"/>
          <p:nvPr/>
        </p:nvSpPr>
        <p:spPr>
          <a:xfrm>
            <a:off x="658368" y="1828800"/>
            <a:ext cx="1060704" cy="2450592"/>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تسجيل سريع</a:t>
            </a:r>
            <a:endParaRPr lang="ar-AE" sz="1400" dirty="0"/>
          </a:p>
          <a:p>
            <a:pPr algn="r" indent="0" marL="0">
              <a:spcAft>
                <a:spcPts val="300"/>
              </a:spcAft>
              <a:buNone/>
            </a:pPr>
            <a:r>
              <a:rPr lang="ar-AE" altLang="en-US" sz="1150" dirty="0">
                <a:solidFill>
                  <a:schemeClr val="accent3"/>
                </a:solidFill>
              </a:rPr>
              <a:t>متابعة مباشرة مع الجهات الرسمية.</a:t>
            </a:r>
            <a:endParaRPr lang="ar-AE" sz="14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03</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نموذج الشراكة</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أنتم تفتحون الباب، ونحن نتولى الجانب القانوني كاملاً</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توزيع الأدوار</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النموذج الأفضل عملياً</a:t>
            </a:r>
            <a:endParaRPr lang="ar-AE" sz="1000" dirty="0"/>
          </a:p>
        </p:txBody>
      </p:sp>
      <p:sp>
        <p:nvSpPr>
          <p:cNvPr id="4" name="Shape 2"/>
          <p:cNvSpPr/>
          <p:nvPr/>
        </p:nvSpPr>
        <p:spPr>
          <a:xfrm>
            <a:off x="4686300" y="1188720"/>
            <a:ext cx="4000500" cy="548640"/>
          </a:xfrm>
          <a:prstGeom prst="rect">
            <a:avLst/>
          </a:prstGeom>
          <a:solidFill>
            <a:srgbClr val="0E2238"/>
          </a:solidFill>
          <a:ln w="12700">
            <a:solidFill>
              <a:srgbClr val="0E2238"/>
            </a:solidFill>
            <a:prstDash val="solid"/>
          </a:ln>
        </p:spPr>
      </p:sp>
      <p:sp>
        <p:nvSpPr>
          <p:cNvPr id="5" name="Text 3"/>
          <p:cNvSpPr txBox="1"/>
          <p:nvPr/>
        </p:nvSpPr>
        <p:spPr>
          <a:xfrm>
            <a:off x="4823460" y="1188720"/>
            <a:ext cx="3726180" cy="548640"/>
          </a:xfrm>
          <a:prstGeom prst="rect">
            <a:avLst/>
          </a:prstGeom>
          <a:noFill/>
          <a:ln/>
        </p:spPr>
        <p:txBody>
          <a:bodyPr wrap="square" lIns="0" tIns="0" rIns="0" bIns="0" rtlCol="0" anchor="ctr"/>
          <a:lstStyle/>
          <a:p>
            <a:pPr rtl="1" algn="r" indent="0" marL="0">
              <a:buNone/>
            </a:pPr>
            <a:r>
              <a:rPr lang="ar-AE" altLang="en-US" sz="1300" b="1" dirty="0">
                <a:solidFill>
                  <a:schemeClr val="accent2"/>
                </a:solidFill>
              </a:rPr>
              <a:t>الشريك العقاري</a:t>
            </a:r>
            <a:endParaRPr lang="ar-AE" sz="1300" dirty="0"/>
          </a:p>
        </p:txBody>
      </p:sp>
      <p:sp>
        <p:nvSpPr>
          <p:cNvPr id="6" name="Shape 4"/>
          <p:cNvSpPr/>
          <p:nvPr/>
        </p:nvSpPr>
        <p:spPr>
          <a:xfrm>
            <a:off x="4686300" y="1737360"/>
            <a:ext cx="4000500" cy="2697480"/>
          </a:xfrm>
          <a:prstGeom prst="rect">
            <a:avLst/>
          </a:prstGeom>
          <a:solidFill>
            <a:srgbClr val="F4F1EB"/>
          </a:solidFill>
          <a:ln w="12700">
            <a:solidFill>
              <a:srgbClr val="F4F1EB"/>
            </a:solidFill>
            <a:prstDash val="solid"/>
          </a:ln>
        </p:spPr>
      </p:sp>
      <p:sp>
        <p:nvSpPr>
          <p:cNvPr id="7" name="Text 5"/>
          <p:cNvSpPr txBox="1"/>
          <p:nvPr/>
        </p:nvSpPr>
        <p:spPr>
          <a:xfrm>
            <a:off x="4823460" y="1874520"/>
            <a:ext cx="3726180" cy="2468880"/>
          </a:xfrm>
          <a:prstGeom prst="rect">
            <a:avLst/>
          </a:prstGeom>
          <a:noFill/>
          <a:ln/>
        </p:spPr>
        <p:txBody>
          <a:bodyPr wrap="square" lIns="0" tIns="0" rIns="0" bIns="0" rtlCol="0" anchor="t"/>
          <a:lstStyle/>
          <a:p>
            <a:pPr algn="r" marL="152400" indent="-152400">
              <a:spcAft>
                <a:spcPts val="500"/>
              </a:spcAft>
              <a:buSzPct val="100000"/>
              <a:buChar char="•"/>
            </a:pPr>
            <a:r>
              <a:rPr lang="ar-AE" altLang="en-US" sz="1100" dirty="0">
                <a:solidFill>
                  <a:schemeClr val="tx2"/>
                </a:solidFill>
              </a:rPr>
              <a:t>يعرّف العميل بالخدمة في التوقيت الصحيح</a:t>
            </a:r>
            <a:endParaRPr lang="ar-AE" sz="1100" dirty="0"/>
          </a:p>
          <a:p>
            <a:pPr algn="r" marL="152400" indent="-152400">
              <a:spcAft>
                <a:spcPts val="500"/>
              </a:spcAft>
              <a:buSzPct val="100000"/>
              <a:buChar char="•"/>
            </a:pPr>
            <a:r>
              <a:rPr lang="ar-AE" altLang="en-US" sz="1100" dirty="0">
                <a:solidFill>
                  <a:schemeClr val="tx2"/>
                </a:solidFill>
              </a:rPr>
              <a:t>يرسل رسالة تعريف موحّدة ويحوّل العميل</a:t>
            </a:r>
            <a:endParaRPr lang="ar-AE" sz="1100" dirty="0"/>
          </a:p>
          <a:p>
            <a:pPr algn="r" marL="152400" indent="-152400">
              <a:spcAft>
                <a:spcPts val="500"/>
              </a:spcAft>
              <a:buSzPct val="100000"/>
              <a:buChar char="•"/>
            </a:pPr>
            <a:r>
              <a:rPr lang="ar-AE" altLang="en-US" sz="1100" dirty="0">
                <a:solidFill>
                  <a:schemeClr val="tx2"/>
                </a:solidFill>
              </a:rPr>
              <a:t>يقدّم الخدمة كقيمة مضافة ضمن عرضه</a:t>
            </a:r>
            <a:endParaRPr lang="ar-AE" sz="1100" dirty="0"/>
          </a:p>
          <a:p>
            <a:pPr algn="r" marL="152400" indent="-152400">
              <a:spcAft>
                <a:spcPts val="500"/>
              </a:spcAft>
              <a:buSzPct val="100000"/>
              <a:buChar char="•"/>
            </a:pPr>
            <a:r>
              <a:rPr lang="ar-AE" altLang="en-US" sz="1100" dirty="0">
                <a:solidFill>
                  <a:schemeClr val="tx2"/>
                </a:solidFill>
              </a:rPr>
              <a:t>لا يقدّم أي استشارة قانونية ولا يضمن نتائج</a:t>
            </a:r>
            <a:endParaRPr lang="ar-AE" sz="1100" dirty="0"/>
          </a:p>
          <a:p>
            <a:pPr algn="r" marL="152400" indent="-152400">
              <a:spcAft>
                <a:spcPts val="500"/>
              </a:spcAft>
              <a:buSzPct val="100000"/>
              <a:buChar char="•"/>
            </a:pPr>
            <a:r>
              <a:rPr lang="ar-AE" altLang="en-US" sz="1100" dirty="0">
                <a:solidFill>
                  <a:schemeClr val="tx2"/>
                </a:solidFill>
              </a:rPr>
              <a:t>يحصل على عمولة الإحالة وفق الاتفاقية</a:t>
            </a:r>
            <a:endParaRPr lang="ar-AE" sz="1100" dirty="0"/>
          </a:p>
        </p:txBody>
      </p:sp>
      <p:sp>
        <p:nvSpPr>
          <p:cNvPr id="8" name="Shape 6"/>
          <p:cNvSpPr/>
          <p:nvPr/>
        </p:nvSpPr>
        <p:spPr>
          <a:xfrm>
            <a:off x="457200" y="1188720"/>
            <a:ext cx="4000500" cy="548640"/>
          </a:xfrm>
          <a:prstGeom prst="rect">
            <a:avLst/>
          </a:prstGeom>
          <a:solidFill>
            <a:srgbClr val="B5723B"/>
          </a:solidFill>
          <a:ln w="12700">
            <a:solidFill>
              <a:srgbClr val="B5723B"/>
            </a:solidFill>
            <a:prstDash val="solid"/>
          </a:ln>
        </p:spPr>
      </p:sp>
      <p:sp>
        <p:nvSpPr>
          <p:cNvPr id="9" name="Text 7"/>
          <p:cNvSpPr txBox="1"/>
          <p:nvPr/>
        </p:nvSpPr>
        <p:spPr>
          <a:xfrm>
            <a:off x="594360" y="1188720"/>
            <a:ext cx="3726180" cy="548640"/>
          </a:xfrm>
          <a:prstGeom prst="rect">
            <a:avLst/>
          </a:prstGeom>
          <a:noFill/>
          <a:ln/>
        </p:spPr>
        <p:txBody>
          <a:bodyPr wrap="square" lIns="0" tIns="0" rIns="0" bIns="0" rtlCol="0" anchor="ctr"/>
          <a:lstStyle/>
          <a:p>
            <a:pPr rtl="1" algn="r" indent="0" marL="0">
              <a:buNone/>
            </a:pPr>
            <a:r>
              <a:rPr lang="ar-AE" altLang="en-US" sz="1300" b="1" dirty="0">
                <a:solidFill>
                  <a:schemeClr val="tx1"/>
                </a:solidFill>
              </a:rPr>
              <a:t>مكتب راشد الكيتوب</a:t>
            </a:r>
            <a:endParaRPr lang="ar-AE" sz="1300" dirty="0"/>
          </a:p>
        </p:txBody>
      </p:sp>
      <p:sp>
        <p:nvSpPr>
          <p:cNvPr id="10" name="Shape 8"/>
          <p:cNvSpPr/>
          <p:nvPr/>
        </p:nvSpPr>
        <p:spPr>
          <a:xfrm>
            <a:off x="457200" y="1737360"/>
            <a:ext cx="4000500" cy="2697480"/>
          </a:xfrm>
          <a:prstGeom prst="rect">
            <a:avLst/>
          </a:prstGeom>
          <a:solidFill>
            <a:srgbClr val="F4F1EB"/>
          </a:solidFill>
          <a:ln w="12700">
            <a:solidFill>
              <a:srgbClr val="F4F1EB"/>
            </a:solidFill>
            <a:prstDash val="solid"/>
          </a:ln>
        </p:spPr>
      </p:sp>
      <p:sp>
        <p:nvSpPr>
          <p:cNvPr id="11" name="Text 9"/>
          <p:cNvSpPr txBox="1"/>
          <p:nvPr/>
        </p:nvSpPr>
        <p:spPr>
          <a:xfrm>
            <a:off x="594360" y="1874520"/>
            <a:ext cx="3726180" cy="2468880"/>
          </a:xfrm>
          <a:prstGeom prst="rect">
            <a:avLst/>
          </a:prstGeom>
          <a:noFill/>
          <a:ln/>
        </p:spPr>
        <p:txBody>
          <a:bodyPr wrap="square" lIns="0" tIns="0" rIns="0" bIns="0" rtlCol="0" anchor="t"/>
          <a:lstStyle/>
          <a:p>
            <a:pPr algn="r" marL="152400" indent="-152400">
              <a:spcAft>
                <a:spcPts val="500"/>
              </a:spcAft>
              <a:buSzPct val="100000"/>
              <a:buChar char="•"/>
            </a:pPr>
            <a:r>
              <a:rPr lang="ar-AE" altLang="en-US" sz="1100" dirty="0">
                <a:solidFill>
                  <a:schemeClr val="tx2"/>
                </a:solidFill>
              </a:rPr>
              <a:t>التواصل مع العميل خلال يوم عمل</a:t>
            </a:r>
            <a:endParaRPr lang="ar-AE" sz="1100" dirty="0"/>
          </a:p>
          <a:p>
            <a:pPr algn="r" marL="152400" indent="-152400">
              <a:spcAft>
                <a:spcPts val="500"/>
              </a:spcAft>
              <a:buSzPct val="100000"/>
              <a:buChar char="•"/>
            </a:pPr>
            <a:r>
              <a:rPr lang="ar-AE" altLang="en-US" sz="1100" dirty="0">
                <a:solidFill>
                  <a:schemeClr val="tx2"/>
                </a:solidFill>
              </a:rPr>
              <a:t>الاستشارة، تقييم المخاطر، والعرض</a:t>
            </a:r>
            <a:endParaRPr lang="ar-AE" sz="1100" dirty="0"/>
          </a:p>
          <a:p>
            <a:pPr algn="r" marL="152400" indent="-152400">
              <a:spcAft>
                <a:spcPts val="500"/>
              </a:spcAft>
              <a:buSzPct val="100000"/>
              <a:buChar char="•"/>
            </a:pPr>
            <a:r>
              <a:rPr lang="ar-AE" altLang="en-US" sz="1100" dirty="0">
                <a:solidFill>
                  <a:schemeClr val="tx2"/>
                </a:solidFill>
              </a:rPr>
              <a:t>الصياغة، الترجمة، الشهود، التوثيق</a:t>
            </a:r>
            <a:endParaRPr lang="ar-AE" sz="1100" dirty="0"/>
          </a:p>
          <a:p>
            <a:pPr algn="r" marL="152400" indent="-152400">
              <a:spcAft>
                <a:spcPts val="500"/>
              </a:spcAft>
              <a:buSzPct val="100000"/>
              <a:buChar char="•"/>
            </a:pPr>
            <a:r>
              <a:rPr lang="ar-AE" altLang="en-US" sz="1100" dirty="0">
                <a:solidFill>
                  <a:schemeClr val="tx2"/>
                </a:solidFill>
              </a:rPr>
              <a:t>التسجيل والمتابعة مع الجهات الرسمية</a:t>
            </a:r>
            <a:endParaRPr lang="ar-AE" sz="1100" dirty="0"/>
          </a:p>
          <a:p>
            <a:pPr algn="r" marL="152400" indent="-152400">
              <a:spcAft>
                <a:spcPts val="500"/>
              </a:spcAft>
              <a:buSzPct val="100000"/>
              <a:buChar char="•"/>
            </a:pPr>
            <a:r>
              <a:rPr lang="ar-AE" altLang="en-US" sz="1100" dirty="0">
                <a:solidFill>
                  <a:schemeClr val="tx2"/>
                </a:solidFill>
              </a:rPr>
              <a:t>حماية الشريك من أي مسؤولية قانونية</a:t>
            </a:r>
            <a:endParaRPr lang="ar-AE" sz="1100" dirty="0"/>
          </a:p>
        </p:txBody>
      </p:sp>
      <p:sp>
        <p:nvSpPr>
          <p:cNvPr id="1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اتفاقية الإحالة والتعاون</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ما تتضمنه</a:t>
            </a:r>
            <a:endParaRPr lang="ar-AE" sz="1000" dirty="0"/>
          </a:p>
        </p:txBody>
      </p:sp>
      <p:sp>
        <p:nvSpPr>
          <p:cNvPr id="4" name="Shape 2"/>
          <p:cNvSpPr/>
          <p:nvPr/>
        </p:nvSpPr>
        <p:spPr>
          <a:xfrm>
            <a:off x="8229600" y="1188720"/>
            <a:ext cx="457200" cy="457200"/>
          </a:xfrm>
          <a:prstGeom prst="ellipse">
            <a:avLst/>
          </a:prstGeom>
          <a:solidFill>
            <a:srgbClr val="F4F1EB"/>
          </a:solidFill>
          <a:ln w="12700">
            <a:solidFill>
              <a:srgbClr val="F4F1EB"/>
            </a:solidFill>
            <a:prstDash val="solid"/>
          </a:ln>
        </p:spPr>
      </p:sp>
      <p:pic>
        <p:nvPicPr>
          <p:cNvPr id="5" name="icon FaArrowRightArrowLeft" descr="preencoded.png">    </p:cNvPr>
          <p:cNvPicPr>
            <a:picLocks noChangeAspect="1"/>
          </p:cNvPicPr>
          <p:nvPr/>
        </p:nvPicPr>
        <p:blipFill>
          <a:blip r:embed="rId1"/>
          <a:stretch>
            <a:fillRect/>
          </a:stretch>
        </p:blipFill>
        <p:spPr>
          <a:xfrm>
            <a:off x="8321040" y="1280160"/>
            <a:ext cx="274320" cy="274320"/>
          </a:xfrm>
          <a:prstGeom prst="rect">
            <a:avLst/>
          </a:prstGeom>
        </p:spPr>
      </p:pic>
      <p:sp>
        <p:nvSpPr>
          <p:cNvPr id="6" name="Text 3"/>
          <p:cNvSpPr txBox="1"/>
          <p:nvPr/>
        </p:nvSpPr>
        <p:spPr>
          <a:xfrm>
            <a:off x="457200" y="1170432"/>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آلية تحويل العملاء</a:t>
            </a:r>
            <a:endParaRPr lang="ar-AE" sz="1300" dirty="0"/>
          </a:p>
          <a:p>
            <a:pPr algn="r" indent="0" marL="0">
              <a:spcAft>
                <a:spcPts val="200"/>
              </a:spcAft>
              <a:buNone/>
            </a:pPr>
            <a:r>
              <a:rPr lang="ar-AE" altLang="en-US" sz="1100" dirty="0">
                <a:solidFill>
                  <a:schemeClr val="accent3"/>
                </a:solidFill>
              </a:rPr>
              <a:t>نموذج رسالة التعريف، وقناة التواصل، وتوقيت الرد.</a:t>
            </a:r>
            <a:endParaRPr lang="ar-AE" sz="1300" dirty="0"/>
          </a:p>
        </p:txBody>
      </p:sp>
      <p:sp>
        <p:nvSpPr>
          <p:cNvPr id="7" name="Shape 4"/>
          <p:cNvSpPr/>
          <p:nvPr/>
        </p:nvSpPr>
        <p:spPr>
          <a:xfrm>
            <a:off x="8229600" y="1847088"/>
            <a:ext cx="457200" cy="457200"/>
          </a:xfrm>
          <a:prstGeom prst="ellipse">
            <a:avLst/>
          </a:prstGeom>
          <a:solidFill>
            <a:srgbClr val="F4F1EB"/>
          </a:solidFill>
          <a:ln w="12700">
            <a:solidFill>
              <a:srgbClr val="F4F1EB"/>
            </a:solidFill>
            <a:prstDash val="solid"/>
          </a:ln>
        </p:spPr>
      </p:sp>
      <p:pic>
        <p:nvPicPr>
          <p:cNvPr id="8" name="icon FaPercent" descr="preencoded.png">    </p:cNvPr>
          <p:cNvPicPr>
            <a:picLocks noChangeAspect="1"/>
          </p:cNvPicPr>
          <p:nvPr/>
        </p:nvPicPr>
        <p:blipFill>
          <a:blip r:embed="rId2"/>
          <a:stretch>
            <a:fillRect/>
          </a:stretch>
        </p:blipFill>
        <p:spPr>
          <a:xfrm>
            <a:off x="8321040" y="1938528"/>
            <a:ext cx="274320" cy="274320"/>
          </a:xfrm>
          <a:prstGeom prst="rect">
            <a:avLst/>
          </a:prstGeom>
        </p:spPr>
      </p:pic>
      <p:sp>
        <p:nvSpPr>
          <p:cNvPr id="9" name="Text 5"/>
          <p:cNvSpPr txBox="1"/>
          <p:nvPr/>
        </p:nvSpPr>
        <p:spPr>
          <a:xfrm>
            <a:off x="457200" y="1828800"/>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نسبة العمولة وآلية الدفع</a:t>
            </a:r>
            <a:endParaRPr lang="ar-AE" sz="1300" dirty="0"/>
          </a:p>
          <a:p>
            <a:pPr algn="r" indent="0" marL="0">
              <a:spcAft>
                <a:spcPts val="200"/>
              </a:spcAft>
              <a:buNone/>
            </a:pPr>
            <a:r>
              <a:rPr lang="ar-AE" altLang="en-US" sz="1100" dirty="0">
                <a:solidFill>
                  <a:schemeClr val="accent3"/>
                </a:solidFill>
              </a:rPr>
              <a:t>نسبة ثابتة أو مبلغ ثابت لكل عميل، مع مراعاة تنظيمات المهنة والقوانين المحلية.</a:t>
            </a:r>
            <a:endParaRPr lang="ar-AE" sz="1300" dirty="0"/>
          </a:p>
        </p:txBody>
      </p:sp>
      <p:sp>
        <p:nvSpPr>
          <p:cNvPr id="10" name="Shape 6"/>
          <p:cNvSpPr/>
          <p:nvPr/>
        </p:nvSpPr>
        <p:spPr>
          <a:xfrm>
            <a:off x="8229600" y="2505456"/>
            <a:ext cx="457200" cy="457200"/>
          </a:xfrm>
          <a:prstGeom prst="ellipse">
            <a:avLst/>
          </a:prstGeom>
          <a:solidFill>
            <a:srgbClr val="F4F1EB"/>
          </a:solidFill>
          <a:ln w="12700">
            <a:solidFill>
              <a:srgbClr val="F4F1EB"/>
            </a:solidFill>
            <a:prstDash val="solid"/>
          </a:ln>
        </p:spPr>
      </p:sp>
      <p:pic>
        <p:nvPicPr>
          <p:cNvPr id="11" name="icon FaLock" descr="preencoded.png">    </p:cNvPr>
          <p:cNvPicPr>
            <a:picLocks noChangeAspect="1"/>
          </p:cNvPicPr>
          <p:nvPr/>
        </p:nvPicPr>
        <p:blipFill>
          <a:blip r:embed="rId3"/>
          <a:stretch>
            <a:fillRect/>
          </a:stretch>
        </p:blipFill>
        <p:spPr>
          <a:xfrm>
            <a:off x="8321040" y="2596896"/>
            <a:ext cx="274320" cy="274320"/>
          </a:xfrm>
          <a:prstGeom prst="rect">
            <a:avLst/>
          </a:prstGeom>
        </p:spPr>
      </p:pic>
      <p:sp>
        <p:nvSpPr>
          <p:cNvPr id="12" name="Text 7"/>
          <p:cNvSpPr txBox="1"/>
          <p:nvPr/>
        </p:nvSpPr>
        <p:spPr>
          <a:xfrm>
            <a:off x="457200" y="2487168"/>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السرية وحماية البيانات</a:t>
            </a:r>
            <a:endParaRPr lang="ar-AE" sz="1300" dirty="0"/>
          </a:p>
          <a:p>
            <a:pPr algn="r" indent="0" marL="0">
              <a:spcAft>
                <a:spcPts val="200"/>
              </a:spcAft>
              <a:buNone/>
            </a:pPr>
            <a:r>
              <a:rPr lang="ar-AE" altLang="en-US" sz="1100" dirty="0">
                <a:solidFill>
                  <a:schemeClr val="accent3"/>
                </a:solidFill>
              </a:rPr>
              <a:t>اتفاقية عدم إفشاء، وبيانات العملاء محمية وفق القانون.</a:t>
            </a:r>
            <a:endParaRPr lang="ar-AE" sz="1300" dirty="0"/>
          </a:p>
        </p:txBody>
      </p:sp>
      <p:sp>
        <p:nvSpPr>
          <p:cNvPr id="13" name="Shape 8"/>
          <p:cNvSpPr/>
          <p:nvPr/>
        </p:nvSpPr>
        <p:spPr>
          <a:xfrm>
            <a:off x="8229600" y="3163824"/>
            <a:ext cx="457200" cy="457200"/>
          </a:xfrm>
          <a:prstGeom prst="ellipse">
            <a:avLst/>
          </a:prstGeom>
          <a:solidFill>
            <a:srgbClr val="F4F1EB"/>
          </a:solidFill>
          <a:ln w="12700">
            <a:solidFill>
              <a:srgbClr val="F4F1EB"/>
            </a:solidFill>
            <a:prstDash val="solid"/>
          </a:ln>
        </p:spPr>
      </p:sp>
      <p:pic>
        <p:nvPicPr>
          <p:cNvPr id="14" name="icon FaUserShield" descr="preencoded.png">    </p:cNvPr>
          <p:cNvPicPr>
            <a:picLocks noChangeAspect="1"/>
          </p:cNvPicPr>
          <p:nvPr/>
        </p:nvPicPr>
        <p:blipFill>
          <a:blip r:embed="rId4"/>
          <a:stretch>
            <a:fillRect/>
          </a:stretch>
        </p:blipFill>
        <p:spPr>
          <a:xfrm>
            <a:off x="8321040" y="3255264"/>
            <a:ext cx="274320" cy="274320"/>
          </a:xfrm>
          <a:prstGeom prst="rect">
            <a:avLst/>
          </a:prstGeom>
        </p:spPr>
      </p:pic>
      <p:sp>
        <p:nvSpPr>
          <p:cNvPr id="15" name="Text 9"/>
          <p:cNvSpPr txBox="1"/>
          <p:nvPr/>
        </p:nvSpPr>
        <p:spPr>
          <a:xfrm>
            <a:off x="457200" y="3145536"/>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عدم تحمّل الشريك أي مسؤولية قانونية</a:t>
            </a:r>
            <a:endParaRPr lang="ar-AE" sz="1300" dirty="0"/>
          </a:p>
          <a:p>
            <a:pPr algn="r" indent="0" marL="0">
              <a:spcAft>
                <a:spcPts val="200"/>
              </a:spcAft>
              <a:buNone/>
            </a:pPr>
            <a:r>
              <a:rPr lang="ar-AE" altLang="en-US" sz="1100" dirty="0">
                <a:solidFill>
                  <a:schemeClr val="accent3"/>
                </a:solidFill>
              </a:rPr>
              <a:t>الشريك لا يقدّم استشارات قانونية؛ المسؤولية المهنية علينا.</a:t>
            </a:r>
            <a:endParaRPr lang="ar-AE" sz="1300" dirty="0"/>
          </a:p>
        </p:txBody>
      </p:sp>
      <p:sp>
        <p:nvSpPr>
          <p:cNvPr id="16" name="Shape 10"/>
          <p:cNvSpPr/>
          <p:nvPr/>
        </p:nvSpPr>
        <p:spPr>
          <a:xfrm>
            <a:off x="8229600" y="3822192"/>
            <a:ext cx="457200" cy="457200"/>
          </a:xfrm>
          <a:prstGeom prst="ellipse">
            <a:avLst/>
          </a:prstGeom>
          <a:solidFill>
            <a:srgbClr val="F4F1EB"/>
          </a:solidFill>
          <a:ln w="12700">
            <a:solidFill>
              <a:srgbClr val="F4F1EB"/>
            </a:solidFill>
            <a:prstDash val="solid"/>
          </a:ln>
        </p:spPr>
      </p:sp>
      <p:pic>
        <p:nvPicPr>
          <p:cNvPr id="17" name="icon FaBan" descr="preencoded.png">    </p:cNvPr>
          <p:cNvPicPr>
            <a:picLocks noChangeAspect="1"/>
          </p:cNvPicPr>
          <p:nvPr/>
        </p:nvPicPr>
        <p:blipFill>
          <a:blip r:embed="rId5"/>
          <a:stretch>
            <a:fillRect/>
          </a:stretch>
        </p:blipFill>
        <p:spPr>
          <a:xfrm>
            <a:off x="8321040" y="3913632"/>
            <a:ext cx="274320" cy="274320"/>
          </a:xfrm>
          <a:prstGeom prst="rect">
            <a:avLst/>
          </a:prstGeom>
        </p:spPr>
      </p:pic>
      <p:sp>
        <p:nvSpPr>
          <p:cNvPr id="18" name="Text 11"/>
          <p:cNvSpPr txBox="1"/>
          <p:nvPr/>
        </p:nvSpPr>
        <p:spPr>
          <a:xfrm>
            <a:off x="457200" y="3803904"/>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عدم التجاوز</a:t>
            </a:r>
            <a:endParaRPr lang="ar-AE" sz="1300" dirty="0"/>
          </a:p>
          <a:p>
            <a:pPr algn="r" indent="0" marL="0">
              <a:spcAft>
                <a:spcPts val="200"/>
              </a:spcAft>
              <a:buNone/>
            </a:pPr>
            <a:r>
              <a:rPr lang="ar-AE" altLang="en-US" sz="1100" dirty="0">
                <a:solidFill>
                  <a:schemeClr val="accent3"/>
                </a:solidFill>
              </a:rPr>
              <a:t>حماية علاقة كل طرف بعملائه طوال مدة الاتفاقية.</a:t>
            </a:r>
            <a:endParaRPr lang="ar-AE" sz="13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النموذج التجاري</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كيف يكسب الجميع</a:t>
            </a:r>
            <a:endParaRPr lang="ar-AE" sz="1000" dirty="0"/>
          </a:p>
        </p:txBody>
      </p:sp>
      <p:sp>
        <p:nvSpPr>
          <p:cNvPr id="4" name="Shape 2"/>
          <p:cNvSpPr/>
          <p:nvPr/>
        </p:nvSpPr>
        <p:spPr>
          <a:xfrm>
            <a:off x="6096000" y="1188720"/>
            <a:ext cx="2590800" cy="3246120"/>
          </a:xfrm>
          <a:prstGeom prst="rect">
            <a:avLst/>
          </a:prstGeom>
          <a:solidFill>
            <a:srgbClr val="F4F1EB"/>
          </a:solidFill>
          <a:ln w="12700">
            <a:solidFill>
              <a:srgbClr val="F4F1EB"/>
            </a:solidFill>
            <a:prstDash val="solid"/>
          </a:ln>
        </p:spPr>
      </p:sp>
      <p:sp>
        <p:nvSpPr>
          <p:cNvPr id="5" name="Text 3"/>
          <p:cNvSpPr txBox="1"/>
          <p:nvPr/>
        </p:nvSpPr>
        <p:spPr>
          <a:xfrm>
            <a:off x="6297168" y="1344168"/>
            <a:ext cx="2188464" cy="457200"/>
          </a:xfrm>
          <a:prstGeom prst="rect">
            <a:avLst/>
          </a:prstGeom>
          <a:noFill/>
          <a:ln/>
        </p:spPr>
        <p:txBody>
          <a:bodyPr wrap="square" lIns="0" tIns="0" rIns="0" bIns="0" rtlCol="0" anchor="ctr"/>
          <a:lstStyle/>
          <a:p>
            <a:pPr rtl="1" algn="r" indent="0" marL="0">
              <a:buNone/>
            </a:pPr>
            <a:r>
              <a:rPr lang="ar-AE" altLang="en-US" sz="2600" b="1" dirty="0">
                <a:solidFill>
                  <a:schemeClr val="accent1"/>
                </a:solidFill>
                <a:latin typeface="Cambria" pitchFamily="34" charset="0"/>
                <a:ea typeface="Cambria" pitchFamily="34" charset="-122"/>
                <a:cs typeface="Cambria" pitchFamily="34" charset="-120"/>
              </a:rPr>
              <a:t>1</a:t>
            </a:r>
            <a:endParaRPr lang="ar-AE" sz="2600" dirty="0"/>
          </a:p>
        </p:txBody>
      </p:sp>
      <p:sp>
        <p:nvSpPr>
          <p:cNvPr id="6" name="Text 4"/>
          <p:cNvSpPr txBox="1"/>
          <p:nvPr/>
        </p:nvSpPr>
        <p:spPr>
          <a:xfrm>
            <a:off x="6297168" y="1847088"/>
            <a:ext cx="2188464" cy="2432304"/>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أتعاب ثابتة لكل موكل</a:t>
            </a:r>
            <a:endParaRPr lang="ar-AE" sz="1400" dirty="0"/>
          </a:p>
          <a:p>
            <a:pPr algn="r" indent="0" marL="0">
              <a:spcAft>
                <a:spcPts val="300"/>
              </a:spcAft>
              <a:buNone/>
            </a:pPr>
            <a:r>
              <a:rPr lang="ar-AE" altLang="en-US" sz="1150" dirty="0">
                <a:solidFill>
                  <a:schemeClr val="accent3"/>
                </a:solidFill>
              </a:rPr>
              <a:t>وصية فردية، زوجية، عقارية، أو أعمال. يعرف العميل التكلفة كاملة من عرض واحد يشمل الأتعاب ورسوم التسجيل.</a:t>
            </a:r>
            <a:endParaRPr lang="ar-AE" sz="1400" dirty="0"/>
          </a:p>
        </p:txBody>
      </p:sp>
      <p:sp>
        <p:nvSpPr>
          <p:cNvPr id="7" name="Shape 5"/>
          <p:cNvSpPr/>
          <p:nvPr/>
        </p:nvSpPr>
        <p:spPr>
          <a:xfrm>
            <a:off x="3276600" y="1188720"/>
            <a:ext cx="2590800" cy="3246120"/>
          </a:xfrm>
          <a:prstGeom prst="rect">
            <a:avLst/>
          </a:prstGeom>
          <a:solidFill>
            <a:srgbClr val="F4F1EB"/>
          </a:solidFill>
          <a:ln w="12700">
            <a:solidFill>
              <a:srgbClr val="F4F1EB"/>
            </a:solidFill>
            <a:prstDash val="solid"/>
          </a:ln>
        </p:spPr>
      </p:sp>
      <p:sp>
        <p:nvSpPr>
          <p:cNvPr id="8" name="Text 6"/>
          <p:cNvSpPr txBox="1"/>
          <p:nvPr/>
        </p:nvSpPr>
        <p:spPr>
          <a:xfrm>
            <a:off x="3477768" y="1344168"/>
            <a:ext cx="2188464" cy="457200"/>
          </a:xfrm>
          <a:prstGeom prst="rect">
            <a:avLst/>
          </a:prstGeom>
          <a:noFill/>
          <a:ln/>
        </p:spPr>
        <p:txBody>
          <a:bodyPr wrap="square" lIns="0" tIns="0" rIns="0" bIns="0" rtlCol="0" anchor="ctr"/>
          <a:lstStyle/>
          <a:p>
            <a:pPr rtl="1" algn="r" indent="0" marL="0">
              <a:buNone/>
            </a:pPr>
            <a:r>
              <a:rPr lang="ar-AE" altLang="en-US" sz="2600" b="1" dirty="0">
                <a:solidFill>
                  <a:schemeClr val="accent1"/>
                </a:solidFill>
                <a:latin typeface="Cambria" pitchFamily="34" charset="0"/>
                <a:ea typeface="Cambria" pitchFamily="34" charset="-122"/>
                <a:cs typeface="Cambria" pitchFamily="34" charset="-120"/>
              </a:rPr>
              <a:t>2</a:t>
            </a:r>
            <a:endParaRPr lang="ar-AE" sz="2600" dirty="0"/>
          </a:p>
        </p:txBody>
      </p:sp>
      <p:sp>
        <p:nvSpPr>
          <p:cNvPr id="9" name="Text 7"/>
          <p:cNvSpPr txBox="1"/>
          <p:nvPr/>
        </p:nvSpPr>
        <p:spPr>
          <a:xfrm>
            <a:off x="3477768" y="1847088"/>
            <a:ext cx="2188464" cy="2432304"/>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عمولة إحالة للشريك</a:t>
            </a:r>
            <a:endParaRPr lang="ar-AE" sz="1400" dirty="0"/>
          </a:p>
          <a:p>
            <a:pPr algn="r" indent="0" marL="0">
              <a:spcAft>
                <a:spcPts val="300"/>
              </a:spcAft>
              <a:buNone/>
            </a:pPr>
            <a:r>
              <a:rPr lang="ar-AE" altLang="en-US" sz="1150" dirty="0">
                <a:solidFill>
                  <a:schemeClr val="accent3"/>
                </a:solidFill>
              </a:rPr>
              <a:t>نسبة ثابتة أو مبلغ ثابت لكل عميل مُحال، تُسوّى شهرياً مع تقرير مفصّل.</a:t>
            </a:r>
            <a:endParaRPr lang="ar-AE" sz="1400" dirty="0"/>
          </a:p>
        </p:txBody>
      </p:sp>
      <p:sp>
        <p:nvSpPr>
          <p:cNvPr id="10" name="Shape 8"/>
          <p:cNvSpPr/>
          <p:nvPr/>
        </p:nvSpPr>
        <p:spPr>
          <a:xfrm>
            <a:off x="457200" y="1188720"/>
            <a:ext cx="2590800" cy="3246120"/>
          </a:xfrm>
          <a:prstGeom prst="rect">
            <a:avLst/>
          </a:prstGeom>
          <a:solidFill>
            <a:srgbClr val="F4F1EB"/>
          </a:solidFill>
          <a:ln w="12700">
            <a:solidFill>
              <a:srgbClr val="F4F1EB"/>
            </a:solidFill>
            <a:prstDash val="solid"/>
          </a:ln>
        </p:spPr>
      </p:sp>
      <p:sp>
        <p:nvSpPr>
          <p:cNvPr id="11" name="Text 9"/>
          <p:cNvSpPr txBox="1"/>
          <p:nvPr/>
        </p:nvSpPr>
        <p:spPr>
          <a:xfrm>
            <a:off x="658368" y="1344168"/>
            <a:ext cx="2188464" cy="457200"/>
          </a:xfrm>
          <a:prstGeom prst="rect">
            <a:avLst/>
          </a:prstGeom>
          <a:noFill/>
          <a:ln/>
        </p:spPr>
        <p:txBody>
          <a:bodyPr wrap="square" lIns="0" tIns="0" rIns="0" bIns="0" rtlCol="0" anchor="ctr"/>
          <a:lstStyle/>
          <a:p>
            <a:pPr rtl="1" algn="r" indent="0" marL="0">
              <a:buNone/>
            </a:pPr>
            <a:r>
              <a:rPr lang="ar-AE" altLang="en-US" sz="2600" b="1" dirty="0">
                <a:solidFill>
                  <a:schemeClr val="accent1"/>
                </a:solidFill>
                <a:latin typeface="Cambria" pitchFamily="34" charset="0"/>
                <a:ea typeface="Cambria" pitchFamily="34" charset="-122"/>
                <a:cs typeface="Cambria" pitchFamily="34" charset="-120"/>
              </a:rPr>
              <a:t>3</a:t>
            </a:r>
            <a:endParaRPr lang="ar-AE" sz="2600" dirty="0"/>
          </a:p>
        </p:txBody>
      </p:sp>
      <p:sp>
        <p:nvSpPr>
          <p:cNvPr id="12" name="Text 10"/>
          <p:cNvSpPr txBox="1"/>
          <p:nvPr/>
        </p:nvSpPr>
        <p:spPr>
          <a:xfrm>
            <a:off x="658368" y="1847088"/>
            <a:ext cx="2188464" cy="2432304"/>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علاقة مدى الحياة</a:t>
            </a:r>
            <a:endParaRPr lang="ar-AE" sz="1400" dirty="0"/>
          </a:p>
          <a:p>
            <a:pPr algn="r" indent="0" marL="0">
              <a:spcAft>
                <a:spcPts val="300"/>
              </a:spcAft>
              <a:buNone/>
            </a:pPr>
            <a:r>
              <a:rPr lang="ar-AE" altLang="en-US" sz="1150" dirty="0">
                <a:solidFill>
                  <a:schemeClr val="accent3"/>
                </a:solidFill>
              </a:rPr>
              <a:t>بعد الوصية: تأسيس شركات، نقل ملكية، هيكلة ضريبية، مكتب عائلي، عقود، نزاعات. يبقى الشريك مصدر الإحالة الأول.</a:t>
            </a:r>
            <a:endParaRPr lang="ar-AE" sz="1400" dirty="0"/>
          </a:p>
        </p:txBody>
      </p:sp>
      <p:sp>
        <p:nvSpPr>
          <p:cNvPr id="13"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04</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كيف تقدّمون الخدمة للعميل</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التوقيت الصحيح وجملة واحدة بسيطة</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أفضل توقيت لفتح الموضوع</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التوقيت</a:t>
            </a:r>
            <a:endParaRPr lang="ar-AE" sz="1000" dirty="0"/>
          </a:p>
        </p:txBody>
      </p:sp>
      <p:sp>
        <p:nvSpPr>
          <p:cNvPr id="4" name="Shape 2"/>
          <p:cNvSpPr/>
          <p:nvPr/>
        </p:nvSpPr>
        <p:spPr>
          <a:xfrm>
            <a:off x="731520" y="1600200"/>
            <a:ext cx="7680960" cy="0"/>
          </a:xfrm>
          <a:prstGeom prst="line">
            <a:avLst/>
          </a:prstGeom>
          <a:noFill/>
          <a:ln w="9525">
            <a:solidFill>
              <a:srgbClr val="D9B38C"/>
            </a:solidFill>
            <a:prstDash val="solid"/>
          </a:ln>
        </p:spPr>
      </p:sp>
      <p:sp>
        <p:nvSpPr>
          <p:cNvPr id="5" name="Shape 3"/>
          <p:cNvSpPr/>
          <p:nvPr/>
        </p:nvSpPr>
        <p:spPr>
          <a:xfrm>
            <a:off x="8138160" y="1325880"/>
            <a:ext cx="548640" cy="548640"/>
          </a:xfrm>
          <a:prstGeom prst="ellipse">
            <a:avLst/>
          </a:prstGeom>
          <a:solidFill>
            <a:srgbClr val="0E2238"/>
          </a:solidFill>
          <a:ln w="12700">
            <a:solidFill>
              <a:srgbClr val="B5723B"/>
            </a:solidFill>
            <a:prstDash val="solid"/>
          </a:ln>
        </p:spPr>
      </p:sp>
      <p:sp>
        <p:nvSpPr>
          <p:cNvPr id="6" name="Text 4"/>
          <p:cNvSpPr txBox="1"/>
          <p:nvPr/>
        </p:nvSpPr>
        <p:spPr>
          <a:xfrm>
            <a:off x="813816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6752844" y="2057400"/>
            <a:ext cx="1933956"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بعد الحجز</a:t>
            </a:r>
            <a:endParaRPr lang="ar-AE" sz="1300" dirty="0"/>
          </a:p>
        </p:txBody>
      </p:sp>
      <p:sp>
        <p:nvSpPr>
          <p:cNvPr id="8" name="Text 6"/>
          <p:cNvSpPr txBox="1"/>
          <p:nvPr/>
        </p:nvSpPr>
        <p:spPr>
          <a:xfrm>
            <a:off x="6752844" y="2606040"/>
            <a:ext cx="1933956"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العميل اتخذ قرار الاستثمار، وأصبح يفكر في حماية ما اشتراه.</a:t>
            </a:r>
            <a:endParaRPr lang="ar-AE" sz="1050" dirty="0"/>
          </a:p>
        </p:txBody>
      </p:sp>
      <p:sp>
        <p:nvSpPr>
          <p:cNvPr id="9" name="Shape 7"/>
          <p:cNvSpPr/>
          <p:nvPr/>
        </p:nvSpPr>
        <p:spPr>
          <a:xfrm>
            <a:off x="6039612" y="1325880"/>
            <a:ext cx="548640" cy="548640"/>
          </a:xfrm>
          <a:prstGeom prst="ellipse">
            <a:avLst/>
          </a:prstGeom>
          <a:solidFill>
            <a:srgbClr val="0E2238"/>
          </a:solidFill>
          <a:ln w="12700">
            <a:solidFill>
              <a:srgbClr val="B5723B"/>
            </a:solidFill>
            <a:prstDash val="solid"/>
          </a:ln>
        </p:spPr>
      </p:sp>
      <p:sp>
        <p:nvSpPr>
          <p:cNvPr id="10" name="Text 8"/>
          <p:cNvSpPr txBox="1"/>
          <p:nvPr/>
        </p:nvSpPr>
        <p:spPr>
          <a:xfrm>
            <a:off x="6039612"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4654296" y="2057400"/>
            <a:ext cx="1933956"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أثناء توقيع عقد البيع (SPA)</a:t>
            </a:r>
            <a:endParaRPr lang="ar-AE" sz="1300" dirty="0"/>
          </a:p>
        </p:txBody>
      </p:sp>
      <p:sp>
        <p:nvSpPr>
          <p:cNvPr id="12" name="Text 10"/>
          <p:cNvSpPr txBox="1"/>
          <p:nvPr/>
        </p:nvSpPr>
        <p:spPr>
          <a:xfrm>
            <a:off x="4654296" y="2606040"/>
            <a:ext cx="1933956"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لحظة طبيعية للحديث عن الملكية وما يحدث لها مستقبلاً.</a:t>
            </a:r>
            <a:endParaRPr lang="ar-AE" sz="1050" dirty="0"/>
          </a:p>
        </p:txBody>
      </p:sp>
      <p:sp>
        <p:nvSpPr>
          <p:cNvPr id="13" name="Shape 11"/>
          <p:cNvSpPr/>
          <p:nvPr/>
        </p:nvSpPr>
        <p:spPr>
          <a:xfrm>
            <a:off x="3941064" y="1325880"/>
            <a:ext cx="548640" cy="548640"/>
          </a:xfrm>
          <a:prstGeom prst="ellipse">
            <a:avLst/>
          </a:prstGeom>
          <a:solidFill>
            <a:srgbClr val="0E2238"/>
          </a:solidFill>
          <a:ln w="12700">
            <a:solidFill>
              <a:srgbClr val="B5723B"/>
            </a:solidFill>
            <a:prstDash val="solid"/>
          </a:ln>
        </p:spPr>
      </p:sp>
      <p:sp>
        <p:nvSpPr>
          <p:cNvPr id="14" name="Text 12"/>
          <p:cNvSpPr txBox="1"/>
          <p:nvPr/>
        </p:nvSpPr>
        <p:spPr>
          <a:xfrm>
            <a:off x="3941064"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3</a:t>
            </a:r>
            <a:endParaRPr lang="en-US" sz="1600" dirty="0"/>
          </a:p>
        </p:txBody>
      </p:sp>
      <p:sp>
        <p:nvSpPr>
          <p:cNvPr id="15" name="Text 13"/>
          <p:cNvSpPr txBox="1"/>
          <p:nvPr/>
        </p:nvSpPr>
        <p:spPr>
          <a:xfrm>
            <a:off x="2555748" y="2057400"/>
            <a:ext cx="1933956"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بعد التملك</a:t>
            </a:r>
            <a:endParaRPr lang="ar-AE" sz="1300" dirty="0"/>
          </a:p>
        </p:txBody>
      </p:sp>
      <p:sp>
        <p:nvSpPr>
          <p:cNvPr id="16" name="Text 14"/>
          <p:cNvSpPr txBox="1"/>
          <p:nvPr/>
        </p:nvSpPr>
        <p:spPr>
          <a:xfrm>
            <a:off x="2555748" y="2606040"/>
            <a:ext cx="1933956"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الملكية أصبحت حقيقة، والحماية القانونية خطوة مكمّلة.</a:t>
            </a:r>
            <a:endParaRPr lang="ar-AE" sz="1050" dirty="0"/>
          </a:p>
        </p:txBody>
      </p:sp>
      <p:sp>
        <p:nvSpPr>
          <p:cNvPr id="17" name="Shape 15"/>
          <p:cNvSpPr/>
          <p:nvPr/>
        </p:nvSpPr>
        <p:spPr>
          <a:xfrm>
            <a:off x="1842516" y="1325880"/>
            <a:ext cx="548640" cy="548640"/>
          </a:xfrm>
          <a:prstGeom prst="ellipse">
            <a:avLst/>
          </a:prstGeom>
          <a:solidFill>
            <a:srgbClr val="0E2238"/>
          </a:solidFill>
          <a:ln w="12700">
            <a:solidFill>
              <a:srgbClr val="B5723B"/>
            </a:solidFill>
            <a:prstDash val="solid"/>
          </a:ln>
        </p:spPr>
      </p:sp>
      <p:sp>
        <p:nvSpPr>
          <p:cNvPr id="18" name="Text 16"/>
          <p:cNvSpPr txBox="1"/>
          <p:nvPr/>
        </p:nvSpPr>
        <p:spPr>
          <a:xfrm>
            <a:off x="1842516"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4</a:t>
            </a:r>
            <a:endParaRPr lang="en-US" sz="1600" dirty="0"/>
          </a:p>
        </p:txBody>
      </p:sp>
      <p:sp>
        <p:nvSpPr>
          <p:cNvPr id="19" name="Text 17"/>
          <p:cNvSpPr txBox="1"/>
          <p:nvPr/>
        </p:nvSpPr>
        <p:spPr>
          <a:xfrm>
            <a:off x="457200" y="2057400"/>
            <a:ext cx="1933956"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عند الحديث عن الاستثمار طويل الأجل</a:t>
            </a:r>
            <a:endParaRPr lang="ar-AE" sz="1300" dirty="0"/>
          </a:p>
        </p:txBody>
      </p:sp>
      <p:sp>
        <p:nvSpPr>
          <p:cNvPr id="20" name="Text 18"/>
          <p:cNvSpPr txBox="1"/>
          <p:nvPr/>
        </p:nvSpPr>
        <p:spPr>
          <a:xfrm>
            <a:off x="457200" y="2606040"/>
            <a:ext cx="1933956"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الحماية جزء من التخطيط للاستثمار وليس من التفكير في الوفاة.</a:t>
            </a:r>
            <a:endParaRPr lang="ar-AE" sz="1050" dirty="0"/>
          </a:p>
        </p:txBody>
      </p:sp>
      <p:sp>
        <p:nvSpPr>
          <p:cNvPr id="21"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سكربت الوسيط مع العميل</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بسيط جداً</a:t>
            </a:r>
            <a:endParaRPr lang="ar-AE" sz="1000" dirty="0"/>
          </a:p>
        </p:txBody>
      </p:sp>
      <p:sp>
        <p:nvSpPr>
          <p:cNvPr id="4" name="Shape 2"/>
          <p:cNvSpPr/>
          <p:nvPr/>
        </p:nvSpPr>
        <p:spPr>
          <a:xfrm>
            <a:off x="5394960" y="1188720"/>
            <a:ext cx="3291840" cy="3246120"/>
          </a:xfrm>
          <a:prstGeom prst="rect">
            <a:avLst/>
          </a:prstGeom>
          <a:solidFill>
            <a:srgbClr val="0E2238"/>
          </a:solidFill>
          <a:ln w="12700">
            <a:solidFill>
              <a:srgbClr val="0E2238"/>
            </a:solidFill>
            <a:prstDash val="solid"/>
          </a:ln>
        </p:spPr>
      </p:sp>
      <p:pic>
        <p:nvPicPr>
          <p:cNvPr id="5" name="icon FaComment" descr="preencoded.png">    </p:cNvPr>
          <p:cNvPicPr>
            <a:picLocks noChangeAspect="1"/>
          </p:cNvPicPr>
          <p:nvPr/>
        </p:nvPicPr>
        <p:blipFill>
          <a:blip r:embed="rId1"/>
          <a:stretch>
            <a:fillRect/>
          </a:stretch>
        </p:blipFill>
        <p:spPr>
          <a:xfrm>
            <a:off x="7909560" y="1508760"/>
            <a:ext cx="457200" cy="457200"/>
          </a:xfrm>
          <a:prstGeom prst="rect">
            <a:avLst/>
          </a:prstGeom>
        </p:spPr>
      </p:pic>
      <p:sp>
        <p:nvSpPr>
          <p:cNvPr id="6" name="Text 3"/>
          <p:cNvSpPr txBox="1"/>
          <p:nvPr/>
        </p:nvSpPr>
        <p:spPr>
          <a:xfrm>
            <a:off x="5715000" y="2103120"/>
            <a:ext cx="2651760" cy="548640"/>
          </a:xfrm>
          <a:prstGeom prst="rect">
            <a:avLst/>
          </a:prstGeom>
          <a:noFill/>
          <a:ln/>
        </p:spPr>
        <p:txBody>
          <a:bodyPr wrap="square" lIns="0" tIns="0" rIns="0" bIns="0" rtlCol="0" anchor="t"/>
          <a:lstStyle/>
          <a:p>
            <a:pPr rtl="1" algn="r" indent="0" marL="0">
              <a:buNone/>
            </a:pPr>
            <a:r>
              <a:rPr lang="ar-AE" altLang="en-US" sz="1800" b="1" dirty="0">
                <a:solidFill>
                  <a:schemeClr val="accent1"/>
                </a:solidFill>
                <a:latin typeface="Cambria" pitchFamily="34" charset="0"/>
                <a:ea typeface="Cambria" pitchFamily="34" charset="-122"/>
                <a:cs typeface="Cambria" pitchFamily="34" charset="-120"/>
              </a:rPr>
              <a:t>الجملة التعريفية</a:t>
            </a:r>
            <a:endParaRPr lang="ar-AE" sz="1800" dirty="0"/>
          </a:p>
        </p:txBody>
      </p:sp>
      <p:sp>
        <p:nvSpPr>
          <p:cNvPr id="7" name="Text 4"/>
          <p:cNvSpPr txBox="1"/>
          <p:nvPr/>
        </p:nvSpPr>
        <p:spPr>
          <a:xfrm>
            <a:off x="5715000" y="2697480"/>
            <a:ext cx="2651760" cy="1645920"/>
          </a:xfrm>
          <a:prstGeom prst="rect">
            <a:avLst/>
          </a:prstGeom>
          <a:noFill/>
          <a:ln/>
        </p:spPr>
        <p:txBody>
          <a:bodyPr wrap="square" lIns="0" tIns="0" rIns="0" bIns="0" rtlCol="0" anchor="t"/>
          <a:lstStyle/>
          <a:p>
            <a:pPr rtl="1" algn="r" indent="0" marL="0">
              <a:buNone/>
            </a:pPr>
            <a:r>
              <a:rPr lang="ar-AE" altLang="en-US" sz="1100" dirty="0">
                <a:solidFill>
                  <a:schemeClr val="bg2"/>
                </a:solidFill>
              </a:rPr>
              <a:t>«بما أنك تملك عقاراً في الإمارات، من المهم جداً حماية أصولك وعائلتك قانونياً. نحن نتعاون مع مكتب محاماة متخصص يمكنه مساعدتك بإعداد وصية متوافقة مع قوانين الإمارات.»</a:t>
            </a:r>
            <a:endParaRPr lang="ar-AE" sz="1100" dirty="0"/>
          </a:p>
        </p:txBody>
      </p:sp>
      <p:sp>
        <p:nvSpPr>
          <p:cNvPr id="8" name="Text 5"/>
          <p:cNvSpPr txBox="1"/>
          <p:nvPr/>
        </p:nvSpPr>
        <p:spPr>
          <a:xfrm>
            <a:off x="457200" y="1188720"/>
            <a:ext cx="4663440" cy="3246120"/>
          </a:xfrm>
          <a:prstGeom prst="rect">
            <a:avLst/>
          </a:prstGeom>
          <a:noFill/>
          <a:ln/>
        </p:spPr>
        <p:txBody>
          <a:bodyPr wrap="square" lIns="0" tIns="0" rIns="0" bIns="0" rtlCol="0" anchor="t"/>
          <a:lstStyle/>
          <a:p>
            <a:pPr algn="r" marL="177800" indent="-177800">
              <a:buSzPct val="100000"/>
              <a:buChar char="•"/>
            </a:pPr>
            <a:r>
              <a:rPr lang="ar-AE" altLang="en-US" sz="1300" b="1" dirty="0">
                <a:solidFill>
                  <a:schemeClr val="tx1"/>
                </a:solidFill>
              </a:rPr>
              <a:t>الوسيط يفتح الباب فقط</a:t>
            </a:r>
            <a:endParaRPr lang="ar-AE" sz="1300" dirty="0"/>
          </a:p>
          <a:p>
            <a:pPr algn="r" indent="0" marL="0">
              <a:spcAft>
                <a:spcPts val="200"/>
              </a:spcAft>
              <a:buNone/>
            </a:pPr>
            <a:r>
              <a:rPr lang="ar-AE" altLang="en-US" sz="1100" dirty="0">
                <a:solidFill>
                  <a:schemeClr val="accent3"/>
                </a:solidFill>
              </a:rPr>
              <a:t>التوقيت الصحيح، جملة واحدة، ثم التحويل إلينا. لا تفاصيل قانونية.</a:t>
            </a:r>
            <a:endParaRPr lang="ar-AE" sz="1300" dirty="0"/>
          </a:p>
          <a:p>
            <a:pPr algn="r" marL="177800" indent="-177800">
              <a:spcBef>
                <a:spcPts val="600"/>
              </a:spcBef>
              <a:buSzPct val="100000"/>
              <a:buChar char="•"/>
            </a:pPr>
            <a:r>
              <a:rPr lang="ar-AE" altLang="en-US" sz="1300" b="1" dirty="0">
                <a:solidFill>
                  <a:schemeClr val="tx1"/>
                </a:solidFill>
              </a:rPr>
              <a:t>اعرض الاستشارة المجانية</a:t>
            </a:r>
            <a:endParaRPr lang="ar-AE" sz="1300" dirty="0"/>
          </a:p>
          <a:p>
            <a:pPr algn="r" indent="0" marL="0">
              <a:spcAft>
                <a:spcPts val="200"/>
              </a:spcAft>
              <a:buNone/>
            </a:pPr>
            <a:r>
              <a:rPr lang="ar-AE" altLang="en-US" sz="1100" dirty="0">
                <a:solidFill>
                  <a:schemeClr val="accent3"/>
                </a:solidFill>
              </a:rPr>
              <a:t>«إذا أحببت، أستطيع ترتيب استشارة أولية مجانية معهم لشرح الخيارات المناسبة لك.»</a:t>
            </a:r>
            <a:endParaRPr lang="ar-AE" sz="1300" dirty="0"/>
          </a:p>
          <a:p>
            <a:pPr algn="r" marL="177800" indent="-177800">
              <a:spcBef>
                <a:spcPts val="600"/>
              </a:spcBef>
              <a:buSzPct val="100000"/>
              <a:buChar char="•"/>
            </a:pPr>
            <a:r>
              <a:rPr lang="ar-AE" altLang="en-US" sz="1300" b="1" dirty="0">
                <a:solidFill>
                  <a:schemeClr val="tx1"/>
                </a:solidFill>
              </a:rPr>
              <a:t>إذا سأل: لماذا أحتاج وصية؟</a:t>
            </a:r>
            <a:endParaRPr lang="ar-AE" sz="1300" dirty="0"/>
          </a:p>
          <a:p>
            <a:pPr algn="r" indent="0" marL="0">
              <a:spcAft>
                <a:spcPts val="200"/>
              </a:spcAft>
              <a:buNone/>
            </a:pPr>
            <a:r>
              <a:rPr lang="ar-AE" altLang="en-US" sz="1100" dirty="0">
                <a:solidFill>
                  <a:schemeClr val="accent3"/>
                </a:solidFill>
              </a:rPr>
              <a:t>«بدون وصية قد تُطبَّق إجراءات قانونية مختلفة حسب الحالة والجنسية، وقد يؤدي ذلك إلى تأخير أو تعقيدات تتعلق بالعقار أو الحسابات أو حقوق الورثة. لذلك يفضّل كثير من المستثمرين ترتيب الأمور مسبقاً.»</a:t>
            </a:r>
            <a:endParaRPr lang="ar-AE" sz="1300" dirty="0"/>
          </a:p>
          <a:p>
            <a:pPr algn="r" marL="177800" indent="-177800">
              <a:spcBef>
                <a:spcPts val="600"/>
              </a:spcBef>
              <a:buSzPct val="100000"/>
              <a:buChar char="•"/>
            </a:pPr>
            <a:r>
              <a:rPr lang="ar-AE" altLang="en-US" sz="1300" b="1" dirty="0">
                <a:solidFill>
                  <a:schemeClr val="tx1"/>
                </a:solidFill>
              </a:rPr>
              <a:t>إذا قال: لاحقاً</a:t>
            </a:r>
            <a:endParaRPr lang="ar-AE" sz="1300" dirty="0"/>
          </a:p>
          <a:p>
            <a:pPr algn="r" indent="0" marL="0">
              <a:spcAft>
                <a:spcPts val="200"/>
              </a:spcAft>
              <a:buNone/>
            </a:pPr>
            <a:r>
              <a:rPr lang="ar-AE" altLang="en-US" sz="1100" dirty="0">
                <a:solidFill>
                  <a:schemeClr val="accent3"/>
                </a:solidFill>
              </a:rPr>
              <a:t>«أكيد، لكن أغلب العملاء يفضّلون ترتيب الموضوع مباشرة بعد الشراء لأن الإجراءات تكون أسهل والملفات جاهزة.»</a:t>
            </a:r>
            <a:endParaRPr lang="ar-AE" sz="1300" dirty="0"/>
          </a:p>
        </p:txBody>
      </p:sp>
      <p:sp>
        <p:nvSpPr>
          <p:cNvPr id="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ما يُقال وما لا يُقال أبداً</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حماية الوسيط من ممارسة المحاماة</a:t>
            </a:r>
            <a:endParaRPr lang="ar-AE" sz="1000" dirty="0"/>
          </a:p>
        </p:txBody>
      </p:sp>
      <p:sp>
        <p:nvSpPr>
          <p:cNvPr id="4" name="Shape 2"/>
          <p:cNvSpPr/>
          <p:nvPr/>
        </p:nvSpPr>
        <p:spPr>
          <a:xfrm>
            <a:off x="4686300" y="1188720"/>
            <a:ext cx="4000500" cy="548640"/>
          </a:xfrm>
          <a:prstGeom prst="rect">
            <a:avLst/>
          </a:prstGeom>
          <a:solidFill>
            <a:srgbClr val="B5723B"/>
          </a:solidFill>
          <a:ln w="12700">
            <a:solidFill>
              <a:srgbClr val="B5723B"/>
            </a:solidFill>
            <a:prstDash val="solid"/>
          </a:ln>
        </p:spPr>
      </p:sp>
      <p:sp>
        <p:nvSpPr>
          <p:cNvPr id="5" name="Text 3"/>
          <p:cNvSpPr txBox="1"/>
          <p:nvPr/>
        </p:nvSpPr>
        <p:spPr>
          <a:xfrm>
            <a:off x="4823460" y="1188720"/>
            <a:ext cx="3726180" cy="548640"/>
          </a:xfrm>
          <a:prstGeom prst="rect">
            <a:avLst/>
          </a:prstGeom>
          <a:noFill/>
          <a:ln/>
        </p:spPr>
        <p:txBody>
          <a:bodyPr wrap="square" lIns="0" tIns="0" rIns="0" bIns="0" rtlCol="0" anchor="ctr"/>
          <a:lstStyle/>
          <a:p>
            <a:pPr rtl="1" algn="r" indent="0" marL="0">
              <a:buNone/>
            </a:pPr>
            <a:r>
              <a:rPr lang="ar-AE" altLang="en-US" sz="1300" b="1" dirty="0">
                <a:solidFill>
                  <a:schemeClr val="tx1"/>
                </a:solidFill>
              </a:rPr>
              <a:t>قولوا</a:t>
            </a:r>
            <a:endParaRPr lang="ar-AE" sz="1300" dirty="0"/>
          </a:p>
        </p:txBody>
      </p:sp>
      <p:sp>
        <p:nvSpPr>
          <p:cNvPr id="6" name="Shape 4"/>
          <p:cNvSpPr/>
          <p:nvPr/>
        </p:nvSpPr>
        <p:spPr>
          <a:xfrm>
            <a:off x="4686300" y="1737360"/>
            <a:ext cx="4000500" cy="2697480"/>
          </a:xfrm>
          <a:prstGeom prst="rect">
            <a:avLst/>
          </a:prstGeom>
          <a:solidFill>
            <a:srgbClr val="F4F1EB"/>
          </a:solidFill>
          <a:ln w="12700">
            <a:solidFill>
              <a:srgbClr val="F4F1EB"/>
            </a:solidFill>
            <a:prstDash val="solid"/>
          </a:ln>
        </p:spPr>
      </p:sp>
      <p:sp>
        <p:nvSpPr>
          <p:cNvPr id="7" name="Text 5"/>
          <p:cNvSpPr txBox="1"/>
          <p:nvPr/>
        </p:nvSpPr>
        <p:spPr>
          <a:xfrm>
            <a:off x="4823460" y="1874520"/>
            <a:ext cx="3726180" cy="2468880"/>
          </a:xfrm>
          <a:prstGeom prst="rect">
            <a:avLst/>
          </a:prstGeom>
          <a:noFill/>
          <a:ln/>
        </p:spPr>
        <p:txBody>
          <a:bodyPr wrap="square" lIns="0" tIns="0" rIns="0" bIns="0" rtlCol="0" anchor="t"/>
          <a:lstStyle/>
          <a:p>
            <a:pPr algn="r" marL="152400" indent="-152400">
              <a:spcAft>
                <a:spcPts val="500"/>
              </a:spcAft>
              <a:buSzPct val="100000"/>
              <a:buChar char="•"/>
            </a:pPr>
            <a:r>
              <a:rPr lang="ar-AE" altLang="en-US" sz="1100" dirty="0">
                <a:solidFill>
                  <a:schemeClr val="tx2"/>
                </a:solidFill>
              </a:rPr>
              <a:t>«من المهم حماية أصولك وعائلتك قانونياً»</a:t>
            </a:r>
            <a:endParaRPr lang="ar-AE" sz="1100" dirty="0"/>
          </a:p>
          <a:p>
            <a:pPr algn="r" marL="152400" indent="-152400">
              <a:spcAft>
                <a:spcPts val="500"/>
              </a:spcAft>
              <a:buSzPct val="100000"/>
              <a:buChar char="•"/>
            </a:pPr>
            <a:r>
              <a:rPr lang="ar-AE" altLang="en-US" sz="1100" dirty="0">
                <a:solidFill>
                  <a:schemeClr val="tx2"/>
                </a:solidFill>
              </a:rPr>
              <a:t>«نتعاون مع مكتب محاماة متخصص»</a:t>
            </a:r>
            <a:endParaRPr lang="ar-AE" sz="1100" dirty="0"/>
          </a:p>
          <a:p>
            <a:pPr algn="r" marL="152400" indent="-152400">
              <a:spcAft>
                <a:spcPts val="500"/>
              </a:spcAft>
              <a:buSzPct val="100000"/>
              <a:buChar char="•"/>
            </a:pPr>
            <a:r>
              <a:rPr lang="ar-AE" altLang="en-US" sz="1100" dirty="0">
                <a:solidFill>
                  <a:schemeClr val="tx2"/>
                </a:solidFill>
              </a:rPr>
              <a:t>«أستطيع ترتيب استشارة أولية مجانية»</a:t>
            </a:r>
            <a:endParaRPr lang="ar-AE" sz="1100" dirty="0"/>
          </a:p>
          <a:p>
            <a:pPr algn="r" marL="152400" indent="-152400">
              <a:spcAft>
                <a:spcPts val="500"/>
              </a:spcAft>
              <a:buSzPct val="100000"/>
              <a:buChar char="•"/>
            </a:pPr>
            <a:r>
              <a:rPr lang="ar-AE" altLang="en-US" sz="1100" dirty="0">
                <a:solidFill>
                  <a:schemeClr val="tx2"/>
                </a:solidFill>
              </a:rPr>
              <a:t>«كثير من المستثمرين يفضّلون ترتيب الأمور مسبقاً»</a:t>
            </a:r>
            <a:endParaRPr lang="ar-AE" sz="1100" dirty="0"/>
          </a:p>
          <a:p>
            <a:pPr algn="r" marL="152400" indent="-152400">
              <a:spcAft>
                <a:spcPts val="500"/>
              </a:spcAft>
              <a:buSzPct val="100000"/>
              <a:buChar char="•"/>
            </a:pPr>
            <a:r>
              <a:rPr lang="ar-AE" altLang="en-US" sz="1100" dirty="0">
                <a:solidFill>
                  <a:schemeClr val="tx2"/>
                </a:solidFill>
              </a:rPr>
              <a:t>«المكتب سيشرح لك الخيارات المناسبة لحالتك»</a:t>
            </a:r>
            <a:endParaRPr lang="ar-AE" sz="1100" dirty="0"/>
          </a:p>
        </p:txBody>
      </p:sp>
      <p:sp>
        <p:nvSpPr>
          <p:cNvPr id="8" name="Shape 6"/>
          <p:cNvSpPr/>
          <p:nvPr/>
        </p:nvSpPr>
        <p:spPr>
          <a:xfrm>
            <a:off x="457200" y="1188720"/>
            <a:ext cx="4000500" cy="548640"/>
          </a:xfrm>
          <a:prstGeom prst="rect">
            <a:avLst/>
          </a:prstGeom>
          <a:solidFill>
            <a:srgbClr val="0E2238"/>
          </a:solidFill>
          <a:ln w="12700">
            <a:solidFill>
              <a:srgbClr val="0E2238"/>
            </a:solidFill>
            <a:prstDash val="solid"/>
          </a:ln>
        </p:spPr>
      </p:sp>
      <p:sp>
        <p:nvSpPr>
          <p:cNvPr id="9" name="Text 7"/>
          <p:cNvSpPr txBox="1"/>
          <p:nvPr/>
        </p:nvSpPr>
        <p:spPr>
          <a:xfrm>
            <a:off x="594360" y="1188720"/>
            <a:ext cx="3726180" cy="548640"/>
          </a:xfrm>
          <a:prstGeom prst="rect">
            <a:avLst/>
          </a:prstGeom>
          <a:noFill/>
          <a:ln/>
        </p:spPr>
        <p:txBody>
          <a:bodyPr wrap="square" lIns="0" tIns="0" rIns="0" bIns="0" rtlCol="0" anchor="ctr"/>
          <a:lstStyle/>
          <a:p>
            <a:pPr rtl="1" algn="r" indent="0" marL="0">
              <a:buNone/>
            </a:pPr>
            <a:r>
              <a:rPr lang="ar-AE" altLang="en-US" sz="1300" b="1" dirty="0">
                <a:solidFill>
                  <a:schemeClr val="accent2"/>
                </a:solidFill>
              </a:rPr>
              <a:t>لا تقولوا أبداً</a:t>
            </a:r>
            <a:endParaRPr lang="ar-AE" sz="1300" dirty="0"/>
          </a:p>
        </p:txBody>
      </p:sp>
      <p:sp>
        <p:nvSpPr>
          <p:cNvPr id="10" name="Shape 8"/>
          <p:cNvSpPr/>
          <p:nvPr/>
        </p:nvSpPr>
        <p:spPr>
          <a:xfrm>
            <a:off x="457200" y="1737360"/>
            <a:ext cx="4000500" cy="2697480"/>
          </a:xfrm>
          <a:prstGeom prst="rect">
            <a:avLst/>
          </a:prstGeom>
          <a:solidFill>
            <a:srgbClr val="F4F1EB"/>
          </a:solidFill>
          <a:ln w="12700">
            <a:solidFill>
              <a:srgbClr val="F4F1EB"/>
            </a:solidFill>
            <a:prstDash val="solid"/>
          </a:ln>
        </p:spPr>
      </p:sp>
      <p:sp>
        <p:nvSpPr>
          <p:cNvPr id="11" name="Text 9"/>
          <p:cNvSpPr txBox="1"/>
          <p:nvPr/>
        </p:nvSpPr>
        <p:spPr>
          <a:xfrm>
            <a:off x="594360" y="1874520"/>
            <a:ext cx="3726180" cy="2468880"/>
          </a:xfrm>
          <a:prstGeom prst="rect">
            <a:avLst/>
          </a:prstGeom>
          <a:noFill/>
          <a:ln/>
        </p:spPr>
        <p:txBody>
          <a:bodyPr wrap="square" lIns="0" tIns="0" rIns="0" bIns="0" rtlCol="0" anchor="t"/>
          <a:lstStyle/>
          <a:p>
            <a:pPr algn="r" marL="152400" indent="-152400">
              <a:spcAft>
                <a:spcPts val="500"/>
              </a:spcAft>
              <a:buSzPct val="100000"/>
              <a:buChar char="•"/>
            </a:pPr>
            <a:r>
              <a:rPr lang="ar-AE" altLang="en-US" sz="1100" dirty="0">
                <a:solidFill>
                  <a:schemeClr val="tx2"/>
                </a:solidFill>
              </a:rPr>
              <a:t>«القانون يقول كذا»</a:t>
            </a:r>
            <a:endParaRPr lang="ar-AE" sz="1100" dirty="0"/>
          </a:p>
          <a:p>
            <a:pPr algn="r" marL="152400" indent="-152400">
              <a:spcAft>
                <a:spcPts val="500"/>
              </a:spcAft>
              <a:buSzPct val="100000"/>
              <a:buChar char="•"/>
            </a:pPr>
            <a:r>
              <a:rPr lang="ar-AE" altLang="en-US" sz="1100" dirty="0">
                <a:solidFill>
                  <a:schemeClr val="tx2"/>
                </a:solidFill>
              </a:rPr>
              <a:t>«أكيد سيحدث كذا»</a:t>
            </a:r>
            <a:endParaRPr lang="ar-AE" sz="1100" dirty="0"/>
          </a:p>
          <a:p>
            <a:pPr algn="r" marL="152400" indent="-152400">
              <a:spcAft>
                <a:spcPts val="500"/>
              </a:spcAft>
              <a:buSzPct val="100000"/>
              <a:buChar char="•"/>
            </a:pPr>
            <a:r>
              <a:rPr lang="ar-AE" altLang="en-US" sz="1100" dirty="0">
                <a:solidFill>
                  <a:schemeClr val="tx2"/>
                </a:solidFill>
              </a:rPr>
              <a:t>«نضمن لك كذا»</a:t>
            </a:r>
            <a:endParaRPr lang="ar-AE" sz="1100" dirty="0"/>
          </a:p>
          <a:p>
            <a:pPr algn="r" marL="152400" indent="-152400">
              <a:spcAft>
                <a:spcPts val="500"/>
              </a:spcAft>
              <a:buSzPct val="100000"/>
              <a:buChar char="•"/>
            </a:pPr>
            <a:r>
              <a:rPr lang="ar-AE" altLang="en-US" sz="1100" dirty="0">
                <a:solidFill>
                  <a:schemeClr val="tx2"/>
                </a:solidFill>
              </a:rPr>
              <a:t>«أي نوع وصية تريد؟»</a:t>
            </a:r>
            <a:endParaRPr lang="ar-AE" sz="1100" dirty="0"/>
          </a:p>
          <a:p>
            <a:pPr algn="r" marL="152400" indent="-152400">
              <a:spcAft>
                <a:spcPts val="500"/>
              </a:spcAft>
              <a:buSzPct val="100000"/>
              <a:buChar char="•"/>
            </a:pPr>
            <a:r>
              <a:rPr lang="ar-AE" altLang="en-US" sz="1100" dirty="0">
                <a:solidFill>
                  <a:schemeClr val="tx2"/>
                </a:solidFill>
              </a:rPr>
              <a:t>أي رأي عن الشريعة أو القانون الأجنبي أو الرسوم</a:t>
            </a:r>
            <a:endParaRPr lang="ar-AE" sz="1100" dirty="0"/>
          </a:p>
        </p:txBody>
      </p:sp>
      <p:sp>
        <p:nvSpPr>
          <p:cNvPr id="1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الأسئلة الشائعة التي ستسمعونها</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FAQ للوسطاء</a:t>
            </a:r>
            <a:endParaRPr lang="ar-AE" sz="1000" dirty="0"/>
          </a:p>
        </p:txBody>
      </p:sp>
      <p:sp>
        <p:nvSpPr>
          <p:cNvPr id="4" name="Shape 2"/>
          <p:cNvSpPr/>
          <p:nvPr/>
        </p:nvSpPr>
        <p:spPr>
          <a:xfrm>
            <a:off x="8229600" y="1188720"/>
            <a:ext cx="457200" cy="457200"/>
          </a:xfrm>
          <a:prstGeom prst="ellipse">
            <a:avLst/>
          </a:prstGeom>
          <a:solidFill>
            <a:srgbClr val="F4F1EB"/>
          </a:solidFill>
          <a:ln w="12700">
            <a:solidFill>
              <a:srgbClr val="F4F1EB"/>
            </a:solidFill>
            <a:prstDash val="solid"/>
          </a:ln>
        </p:spPr>
      </p:sp>
      <p:pic>
        <p:nvPicPr>
          <p:cNvPr id="5" name="icon FaCircleQuestion" descr="preencoded.png">    </p:cNvPr>
          <p:cNvPicPr>
            <a:picLocks noChangeAspect="1"/>
          </p:cNvPicPr>
          <p:nvPr/>
        </p:nvPicPr>
        <p:blipFill>
          <a:blip r:embed="rId1"/>
          <a:stretch>
            <a:fillRect/>
          </a:stretch>
        </p:blipFill>
        <p:spPr>
          <a:xfrm>
            <a:off x="8321040" y="1280160"/>
            <a:ext cx="274320" cy="274320"/>
          </a:xfrm>
          <a:prstGeom prst="rect">
            <a:avLst/>
          </a:prstGeom>
        </p:spPr>
      </p:pic>
      <p:sp>
        <p:nvSpPr>
          <p:cNvPr id="6" name="Text 3"/>
          <p:cNvSpPr txBox="1"/>
          <p:nvPr/>
        </p:nvSpPr>
        <p:spPr>
          <a:xfrm>
            <a:off x="457200" y="1170432"/>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ماذا يحدث للعقار بعد الوفاة؟</a:t>
            </a:r>
            <a:endParaRPr lang="ar-AE" sz="1300" dirty="0"/>
          </a:p>
          <a:p>
            <a:pPr algn="r" indent="0" marL="0">
              <a:spcAft>
                <a:spcPts val="200"/>
              </a:spcAft>
              <a:buNone/>
            </a:pPr>
            <a:r>
              <a:rPr lang="ar-AE" altLang="en-US" sz="1100" dirty="0">
                <a:solidFill>
                  <a:schemeClr val="accent3"/>
                </a:solidFill>
              </a:rPr>
              <a:t>تُطبَّق إجراءات قانونية تختلف حسب الحالة؛ الوصية المسجلة تحدد المسار مسبقاً. حوّل السؤال إلينا.</a:t>
            </a:r>
            <a:endParaRPr lang="ar-AE" sz="1300" dirty="0"/>
          </a:p>
        </p:txBody>
      </p:sp>
      <p:sp>
        <p:nvSpPr>
          <p:cNvPr id="7" name="Shape 4"/>
          <p:cNvSpPr/>
          <p:nvPr/>
        </p:nvSpPr>
        <p:spPr>
          <a:xfrm>
            <a:off x="8229600" y="1847088"/>
            <a:ext cx="457200" cy="457200"/>
          </a:xfrm>
          <a:prstGeom prst="ellipse">
            <a:avLst/>
          </a:prstGeom>
          <a:solidFill>
            <a:srgbClr val="F4F1EB"/>
          </a:solidFill>
          <a:ln w="12700">
            <a:solidFill>
              <a:srgbClr val="F4F1EB"/>
            </a:solidFill>
            <a:prstDash val="solid"/>
          </a:ln>
        </p:spPr>
      </p:sp>
      <p:pic>
        <p:nvPicPr>
          <p:cNvPr id="8" name="icon FaCircleQuestion" descr="preencoded.png">    </p:cNvPr>
          <p:cNvPicPr>
            <a:picLocks noChangeAspect="1"/>
          </p:cNvPicPr>
          <p:nvPr/>
        </p:nvPicPr>
        <p:blipFill>
          <a:blip r:embed="rId2"/>
          <a:stretch>
            <a:fillRect/>
          </a:stretch>
        </p:blipFill>
        <p:spPr>
          <a:xfrm>
            <a:off x="8321040" y="1938528"/>
            <a:ext cx="274320" cy="274320"/>
          </a:xfrm>
          <a:prstGeom prst="rect">
            <a:avLst/>
          </a:prstGeom>
        </p:spPr>
      </p:pic>
      <p:sp>
        <p:nvSpPr>
          <p:cNvPr id="9" name="Text 5"/>
          <p:cNvSpPr txBox="1"/>
          <p:nvPr/>
        </p:nvSpPr>
        <p:spPr>
          <a:xfrm>
            <a:off x="457200" y="1828800"/>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هل تُجمّد الحسابات؟</a:t>
            </a:r>
            <a:endParaRPr lang="ar-AE" sz="1300" dirty="0"/>
          </a:p>
          <a:p>
            <a:pPr algn="r" indent="0" marL="0">
              <a:spcAft>
                <a:spcPts val="200"/>
              </a:spcAft>
              <a:buNone/>
            </a:pPr>
            <a:r>
              <a:rPr lang="ar-AE" altLang="en-US" sz="1100" dirty="0">
                <a:solidFill>
                  <a:schemeClr val="accent3"/>
                </a:solidFill>
              </a:rPr>
              <a:t>قد تُجمّد مؤقتاً حتى صدور قرار التوزيع. التخطيط المسبق يقلل هذا الخطر.</a:t>
            </a:r>
            <a:endParaRPr lang="ar-AE" sz="1300" dirty="0"/>
          </a:p>
        </p:txBody>
      </p:sp>
      <p:sp>
        <p:nvSpPr>
          <p:cNvPr id="10" name="Shape 6"/>
          <p:cNvSpPr/>
          <p:nvPr/>
        </p:nvSpPr>
        <p:spPr>
          <a:xfrm>
            <a:off x="8229600" y="2505456"/>
            <a:ext cx="457200" cy="457200"/>
          </a:xfrm>
          <a:prstGeom prst="ellipse">
            <a:avLst/>
          </a:prstGeom>
          <a:solidFill>
            <a:srgbClr val="F4F1EB"/>
          </a:solidFill>
          <a:ln w="12700">
            <a:solidFill>
              <a:srgbClr val="F4F1EB"/>
            </a:solidFill>
            <a:prstDash val="solid"/>
          </a:ln>
        </p:spPr>
      </p:sp>
      <p:pic>
        <p:nvPicPr>
          <p:cNvPr id="11" name="icon FaCircleQuestion" descr="preencoded.png">    </p:cNvPr>
          <p:cNvPicPr>
            <a:picLocks noChangeAspect="1"/>
          </p:cNvPicPr>
          <p:nvPr/>
        </p:nvPicPr>
        <p:blipFill>
          <a:blip r:embed="rId3"/>
          <a:stretch>
            <a:fillRect/>
          </a:stretch>
        </p:blipFill>
        <p:spPr>
          <a:xfrm>
            <a:off x="8321040" y="2596896"/>
            <a:ext cx="274320" cy="274320"/>
          </a:xfrm>
          <a:prstGeom prst="rect">
            <a:avLst/>
          </a:prstGeom>
        </p:spPr>
      </p:pic>
      <p:sp>
        <p:nvSpPr>
          <p:cNvPr id="12" name="Text 7"/>
          <p:cNvSpPr txBox="1"/>
          <p:nvPr/>
        </p:nvSpPr>
        <p:spPr>
          <a:xfrm>
            <a:off x="457200" y="2487168"/>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كيف نحمي الأطفال؟</a:t>
            </a:r>
            <a:endParaRPr lang="ar-AE" sz="1300" dirty="0"/>
          </a:p>
          <a:p>
            <a:pPr algn="r" indent="0" marL="0">
              <a:spcAft>
                <a:spcPts val="200"/>
              </a:spcAft>
              <a:buNone/>
            </a:pPr>
            <a:r>
              <a:rPr lang="ar-AE" altLang="en-US" sz="1100" dirty="0">
                <a:solidFill>
                  <a:schemeClr val="accent3"/>
                </a:solidFill>
              </a:rPr>
              <a:t>بتعيين وصي عليهم وتحديد حصصهم في الوصية.</a:t>
            </a:r>
            <a:endParaRPr lang="ar-AE" sz="1300" dirty="0"/>
          </a:p>
        </p:txBody>
      </p:sp>
      <p:sp>
        <p:nvSpPr>
          <p:cNvPr id="13" name="Shape 8"/>
          <p:cNvSpPr/>
          <p:nvPr/>
        </p:nvSpPr>
        <p:spPr>
          <a:xfrm>
            <a:off x="8229600" y="3163824"/>
            <a:ext cx="457200" cy="457200"/>
          </a:xfrm>
          <a:prstGeom prst="ellipse">
            <a:avLst/>
          </a:prstGeom>
          <a:solidFill>
            <a:srgbClr val="F4F1EB"/>
          </a:solidFill>
          <a:ln w="12700">
            <a:solidFill>
              <a:srgbClr val="F4F1EB"/>
            </a:solidFill>
            <a:prstDash val="solid"/>
          </a:ln>
        </p:spPr>
      </p:sp>
      <p:pic>
        <p:nvPicPr>
          <p:cNvPr id="14" name="icon FaCircleQuestion" descr="preencoded.png">    </p:cNvPr>
          <p:cNvPicPr>
            <a:picLocks noChangeAspect="1"/>
          </p:cNvPicPr>
          <p:nvPr/>
        </p:nvPicPr>
        <p:blipFill>
          <a:blip r:embed="rId4"/>
          <a:stretch>
            <a:fillRect/>
          </a:stretch>
        </p:blipFill>
        <p:spPr>
          <a:xfrm>
            <a:off x="8321040" y="3255264"/>
            <a:ext cx="274320" cy="274320"/>
          </a:xfrm>
          <a:prstGeom prst="rect">
            <a:avLst/>
          </a:prstGeom>
        </p:spPr>
      </p:pic>
      <p:sp>
        <p:nvSpPr>
          <p:cNvPr id="15" name="Text 9"/>
          <p:cNvSpPr txBox="1"/>
          <p:nvPr/>
        </p:nvSpPr>
        <p:spPr>
          <a:xfrm>
            <a:off x="457200" y="3145536"/>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ما الفرق بين DIFC وADGM والمحاكم المحلية؟</a:t>
            </a:r>
            <a:endParaRPr lang="ar-AE" sz="1300" dirty="0"/>
          </a:p>
          <a:p>
            <a:pPr algn="r" indent="0" marL="0">
              <a:spcAft>
                <a:spcPts val="200"/>
              </a:spcAft>
              <a:buNone/>
            </a:pPr>
            <a:r>
              <a:rPr lang="ar-AE" altLang="en-US" sz="1100" dirty="0">
                <a:solidFill>
                  <a:schemeClr val="accent3"/>
                </a:solidFill>
              </a:rPr>
              <a:t>مسارات تسجيل مختلفة تناسب حالات مختلفة؛ المكتب يحدد الأنسب بعد جلسة الاكتشاف.</a:t>
            </a:r>
            <a:endParaRPr lang="ar-AE" sz="1300" dirty="0"/>
          </a:p>
        </p:txBody>
      </p:sp>
      <p:sp>
        <p:nvSpPr>
          <p:cNvPr id="16" name="Shape 10"/>
          <p:cNvSpPr/>
          <p:nvPr/>
        </p:nvSpPr>
        <p:spPr>
          <a:xfrm>
            <a:off x="8229600" y="3822192"/>
            <a:ext cx="457200" cy="457200"/>
          </a:xfrm>
          <a:prstGeom prst="ellipse">
            <a:avLst/>
          </a:prstGeom>
          <a:solidFill>
            <a:srgbClr val="F4F1EB"/>
          </a:solidFill>
          <a:ln w="12700">
            <a:solidFill>
              <a:srgbClr val="F4F1EB"/>
            </a:solidFill>
            <a:prstDash val="solid"/>
          </a:ln>
        </p:spPr>
      </p:sp>
      <p:pic>
        <p:nvPicPr>
          <p:cNvPr id="17" name="icon FaCircleQuestion" descr="preencoded.png">    </p:cNvPr>
          <p:cNvPicPr>
            <a:picLocks noChangeAspect="1"/>
          </p:cNvPicPr>
          <p:nvPr/>
        </p:nvPicPr>
        <p:blipFill>
          <a:blip r:embed="rId5"/>
          <a:stretch>
            <a:fillRect/>
          </a:stretch>
        </p:blipFill>
        <p:spPr>
          <a:xfrm>
            <a:off x="8321040" y="3913632"/>
            <a:ext cx="274320" cy="274320"/>
          </a:xfrm>
          <a:prstGeom prst="rect">
            <a:avLst/>
          </a:prstGeom>
        </p:spPr>
      </p:pic>
      <p:sp>
        <p:nvSpPr>
          <p:cNvPr id="18" name="Text 11"/>
          <p:cNvSpPr txBox="1"/>
          <p:nvPr/>
        </p:nvSpPr>
        <p:spPr>
          <a:xfrm>
            <a:off x="457200" y="3803904"/>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كم التكلفة وكم المدة؟</a:t>
            </a:r>
            <a:endParaRPr lang="ar-AE" sz="1300" dirty="0"/>
          </a:p>
          <a:p>
            <a:pPr algn="r" indent="0" marL="0">
              <a:spcAft>
                <a:spcPts val="200"/>
              </a:spcAft>
              <a:buNone/>
            </a:pPr>
            <a:r>
              <a:rPr lang="ar-AE" altLang="en-US" sz="1100" dirty="0">
                <a:solidFill>
                  <a:schemeClr val="accent3"/>
                </a:solidFill>
              </a:rPr>
              <a:t>يستلم العميل عرضاً واحداً يشمل الأتعاب ورسوم التسجيل والجدول الزمني بعد الاستشارة المجانية.</a:t>
            </a:r>
            <a:endParaRPr lang="ar-AE" sz="13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05</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مسار الإحالة ومستوى الخدمة</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ما يحدث بعد أن تحوّلوا العميل إلينا</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مسار الإحالة خطوة بخطوة</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من الوسيط إلى التسجيل</a:t>
            </a:r>
            <a:endParaRPr lang="ar-AE" sz="1000" dirty="0"/>
          </a:p>
        </p:txBody>
      </p:sp>
      <p:sp>
        <p:nvSpPr>
          <p:cNvPr id="4" name="Shape 2"/>
          <p:cNvSpPr/>
          <p:nvPr/>
        </p:nvSpPr>
        <p:spPr>
          <a:xfrm>
            <a:off x="731520" y="1600200"/>
            <a:ext cx="7680960" cy="0"/>
          </a:xfrm>
          <a:prstGeom prst="line">
            <a:avLst/>
          </a:prstGeom>
          <a:noFill/>
          <a:ln w="9525">
            <a:solidFill>
              <a:srgbClr val="D9B38C"/>
            </a:solidFill>
            <a:prstDash val="solid"/>
          </a:ln>
        </p:spPr>
      </p:sp>
      <p:sp>
        <p:nvSpPr>
          <p:cNvPr id="5" name="Shape 3"/>
          <p:cNvSpPr/>
          <p:nvPr/>
        </p:nvSpPr>
        <p:spPr>
          <a:xfrm>
            <a:off x="8138160" y="1325880"/>
            <a:ext cx="548640" cy="548640"/>
          </a:xfrm>
          <a:prstGeom prst="ellipse">
            <a:avLst/>
          </a:prstGeom>
          <a:solidFill>
            <a:srgbClr val="0E2238"/>
          </a:solidFill>
          <a:ln w="12700">
            <a:solidFill>
              <a:srgbClr val="B5723B"/>
            </a:solidFill>
            <a:prstDash val="solid"/>
          </a:ln>
        </p:spPr>
      </p:sp>
      <p:sp>
        <p:nvSpPr>
          <p:cNvPr id="6" name="Text 4"/>
          <p:cNvSpPr txBox="1"/>
          <p:nvPr/>
        </p:nvSpPr>
        <p:spPr>
          <a:xfrm>
            <a:off x="813816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7452360"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رسالة التعريف</a:t>
            </a:r>
            <a:endParaRPr lang="ar-AE" sz="1300" dirty="0"/>
          </a:p>
        </p:txBody>
      </p:sp>
      <p:sp>
        <p:nvSpPr>
          <p:cNvPr id="8" name="Text 6"/>
          <p:cNvSpPr txBox="1"/>
          <p:nvPr/>
        </p:nvSpPr>
        <p:spPr>
          <a:xfrm>
            <a:off x="7452360"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يرسل الوسيط رسالة التعريف الموحّدة (بريد أو واتساب) مع نسخة لنا.</a:t>
            </a:r>
            <a:endParaRPr lang="ar-AE" sz="1050" dirty="0"/>
          </a:p>
        </p:txBody>
      </p:sp>
      <p:sp>
        <p:nvSpPr>
          <p:cNvPr id="9" name="Shape 7"/>
          <p:cNvSpPr/>
          <p:nvPr/>
        </p:nvSpPr>
        <p:spPr>
          <a:xfrm>
            <a:off x="6739128" y="1325880"/>
            <a:ext cx="548640" cy="548640"/>
          </a:xfrm>
          <a:prstGeom prst="ellipse">
            <a:avLst/>
          </a:prstGeom>
          <a:solidFill>
            <a:srgbClr val="0E2238"/>
          </a:solidFill>
          <a:ln w="12700">
            <a:solidFill>
              <a:srgbClr val="B5723B"/>
            </a:solidFill>
            <a:prstDash val="solid"/>
          </a:ln>
        </p:spPr>
      </p:sp>
      <p:sp>
        <p:nvSpPr>
          <p:cNvPr id="10" name="Text 8"/>
          <p:cNvSpPr txBox="1"/>
          <p:nvPr/>
        </p:nvSpPr>
        <p:spPr>
          <a:xfrm>
            <a:off x="6739128"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6053328"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تواصلنا الأول</a:t>
            </a:r>
            <a:endParaRPr lang="ar-AE" sz="1300" dirty="0"/>
          </a:p>
        </p:txBody>
      </p:sp>
      <p:sp>
        <p:nvSpPr>
          <p:cNvPr id="12" name="Text 10"/>
          <p:cNvSpPr txBox="1"/>
          <p:nvPr/>
        </p:nvSpPr>
        <p:spPr>
          <a:xfrm>
            <a:off x="6053328"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خلال يوم عمل: شكر، تعريف بالفريق، وعرض موعد للاستشارة.</a:t>
            </a:r>
            <a:endParaRPr lang="ar-AE" sz="1050" dirty="0"/>
          </a:p>
        </p:txBody>
      </p:sp>
      <p:sp>
        <p:nvSpPr>
          <p:cNvPr id="13" name="Shape 11"/>
          <p:cNvSpPr/>
          <p:nvPr/>
        </p:nvSpPr>
        <p:spPr>
          <a:xfrm>
            <a:off x="5340096" y="1325880"/>
            <a:ext cx="548640" cy="548640"/>
          </a:xfrm>
          <a:prstGeom prst="ellipse">
            <a:avLst/>
          </a:prstGeom>
          <a:solidFill>
            <a:srgbClr val="0E2238"/>
          </a:solidFill>
          <a:ln w="12700">
            <a:solidFill>
              <a:srgbClr val="B5723B"/>
            </a:solidFill>
            <a:prstDash val="solid"/>
          </a:ln>
        </p:spPr>
      </p:sp>
      <p:sp>
        <p:nvSpPr>
          <p:cNvPr id="14" name="Text 12"/>
          <p:cNvSpPr txBox="1"/>
          <p:nvPr/>
        </p:nvSpPr>
        <p:spPr>
          <a:xfrm>
            <a:off x="5340096"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3</a:t>
            </a:r>
            <a:endParaRPr lang="en-US" sz="1600" dirty="0"/>
          </a:p>
        </p:txBody>
      </p:sp>
      <p:sp>
        <p:nvSpPr>
          <p:cNvPr id="15" name="Text 13"/>
          <p:cNvSpPr txBox="1"/>
          <p:nvPr/>
        </p:nvSpPr>
        <p:spPr>
          <a:xfrm>
            <a:off x="4654296"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اجتماع الاكتشاف</a:t>
            </a:r>
            <a:endParaRPr lang="ar-AE" sz="1300" dirty="0"/>
          </a:p>
        </p:txBody>
      </p:sp>
      <p:sp>
        <p:nvSpPr>
          <p:cNvPr id="16" name="Text 14"/>
          <p:cNvSpPr txBox="1"/>
          <p:nvPr/>
        </p:nvSpPr>
        <p:spPr>
          <a:xfrm>
            <a:off x="4654296"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أسئلة اكتشاف حول العقارات والشركات والأطفال والورثة والحسابات.</a:t>
            </a:r>
            <a:endParaRPr lang="ar-AE" sz="1050" dirty="0"/>
          </a:p>
        </p:txBody>
      </p:sp>
      <p:sp>
        <p:nvSpPr>
          <p:cNvPr id="17" name="Shape 15"/>
          <p:cNvSpPr/>
          <p:nvPr/>
        </p:nvSpPr>
        <p:spPr>
          <a:xfrm>
            <a:off x="3941064" y="1325880"/>
            <a:ext cx="548640" cy="548640"/>
          </a:xfrm>
          <a:prstGeom prst="ellipse">
            <a:avLst/>
          </a:prstGeom>
          <a:solidFill>
            <a:srgbClr val="0E2238"/>
          </a:solidFill>
          <a:ln w="12700">
            <a:solidFill>
              <a:srgbClr val="B5723B"/>
            </a:solidFill>
            <a:prstDash val="solid"/>
          </a:ln>
        </p:spPr>
      </p:sp>
      <p:sp>
        <p:nvSpPr>
          <p:cNvPr id="18" name="Text 16"/>
          <p:cNvSpPr txBox="1"/>
          <p:nvPr/>
        </p:nvSpPr>
        <p:spPr>
          <a:xfrm>
            <a:off x="3941064"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4</a:t>
            </a:r>
            <a:endParaRPr lang="en-US" sz="1600" dirty="0"/>
          </a:p>
        </p:txBody>
      </p:sp>
      <p:sp>
        <p:nvSpPr>
          <p:cNvPr id="19" name="Text 17"/>
          <p:cNvSpPr txBox="1"/>
          <p:nvPr/>
        </p:nvSpPr>
        <p:spPr>
          <a:xfrm>
            <a:off x="3255264"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العرض</a:t>
            </a:r>
            <a:endParaRPr lang="ar-AE" sz="1300" dirty="0"/>
          </a:p>
        </p:txBody>
      </p:sp>
      <p:sp>
        <p:nvSpPr>
          <p:cNvPr id="20" name="Text 18"/>
          <p:cNvSpPr txBox="1"/>
          <p:nvPr/>
        </p:nvSpPr>
        <p:spPr>
          <a:xfrm>
            <a:off x="3255264"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خلال 48 ساعة: النطاق، الأتعاب، الجدول الزمني، رسوم التسجيل.</a:t>
            </a:r>
            <a:endParaRPr lang="ar-AE" sz="1050" dirty="0"/>
          </a:p>
        </p:txBody>
      </p:sp>
      <p:sp>
        <p:nvSpPr>
          <p:cNvPr id="21" name="Shape 19"/>
          <p:cNvSpPr/>
          <p:nvPr/>
        </p:nvSpPr>
        <p:spPr>
          <a:xfrm>
            <a:off x="2542032" y="1325880"/>
            <a:ext cx="548640" cy="548640"/>
          </a:xfrm>
          <a:prstGeom prst="ellipse">
            <a:avLst/>
          </a:prstGeom>
          <a:solidFill>
            <a:srgbClr val="0E2238"/>
          </a:solidFill>
          <a:ln w="12700">
            <a:solidFill>
              <a:srgbClr val="B5723B"/>
            </a:solidFill>
            <a:prstDash val="solid"/>
          </a:ln>
        </p:spPr>
      </p:sp>
      <p:sp>
        <p:nvSpPr>
          <p:cNvPr id="22" name="Text 20"/>
          <p:cNvSpPr txBox="1"/>
          <p:nvPr/>
        </p:nvSpPr>
        <p:spPr>
          <a:xfrm>
            <a:off x="2542032"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5</a:t>
            </a:r>
            <a:endParaRPr lang="en-US" sz="1600" dirty="0"/>
          </a:p>
        </p:txBody>
      </p:sp>
      <p:sp>
        <p:nvSpPr>
          <p:cNvPr id="23" name="Text 21"/>
          <p:cNvSpPr txBox="1"/>
          <p:nvPr/>
        </p:nvSpPr>
        <p:spPr>
          <a:xfrm>
            <a:off x="1856232"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الصياغة والتسجيل</a:t>
            </a:r>
            <a:endParaRPr lang="ar-AE" sz="1300" dirty="0"/>
          </a:p>
        </p:txBody>
      </p:sp>
      <p:sp>
        <p:nvSpPr>
          <p:cNvPr id="24" name="Text 22"/>
          <p:cNvSpPr txBox="1"/>
          <p:nvPr/>
        </p:nvSpPr>
        <p:spPr>
          <a:xfrm>
            <a:off x="1856232"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الوصية، الترجمة، الشهود، التوثيق، ثم التسجيل لدى الجهة المختارة.</a:t>
            </a:r>
            <a:endParaRPr lang="ar-AE" sz="1050" dirty="0"/>
          </a:p>
        </p:txBody>
      </p:sp>
      <p:sp>
        <p:nvSpPr>
          <p:cNvPr id="25" name="Shape 23"/>
          <p:cNvSpPr/>
          <p:nvPr/>
        </p:nvSpPr>
        <p:spPr>
          <a:xfrm>
            <a:off x="1143000" y="1325880"/>
            <a:ext cx="548640" cy="548640"/>
          </a:xfrm>
          <a:prstGeom prst="ellipse">
            <a:avLst/>
          </a:prstGeom>
          <a:solidFill>
            <a:srgbClr val="0E2238"/>
          </a:solidFill>
          <a:ln w="12700">
            <a:solidFill>
              <a:srgbClr val="B5723B"/>
            </a:solidFill>
            <a:prstDash val="solid"/>
          </a:ln>
        </p:spPr>
      </p:sp>
      <p:sp>
        <p:nvSpPr>
          <p:cNvPr id="26" name="Text 24"/>
          <p:cNvSpPr txBox="1"/>
          <p:nvPr/>
        </p:nvSpPr>
        <p:spPr>
          <a:xfrm>
            <a:off x="114300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6</a:t>
            </a:r>
            <a:endParaRPr lang="en-US" sz="1600" dirty="0"/>
          </a:p>
        </p:txBody>
      </p:sp>
      <p:sp>
        <p:nvSpPr>
          <p:cNvPr id="27" name="Text 25"/>
          <p:cNvSpPr txBox="1"/>
          <p:nvPr/>
        </p:nvSpPr>
        <p:spPr>
          <a:xfrm>
            <a:off x="457200"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التقرير للشريك</a:t>
            </a:r>
            <a:endParaRPr lang="ar-AE" sz="1300" dirty="0"/>
          </a:p>
        </p:txBody>
      </p:sp>
      <p:sp>
        <p:nvSpPr>
          <p:cNvPr id="28" name="Text 26"/>
          <p:cNvSpPr txBox="1"/>
          <p:nvPr/>
        </p:nvSpPr>
        <p:spPr>
          <a:xfrm>
            <a:off x="457200"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تحديث عند كل مرحلة، وتقرير شهري مع تسوية العمولة.</a:t>
            </a:r>
            <a:endParaRPr lang="ar-AE" sz="1050" dirty="0"/>
          </a:p>
        </p:txBody>
      </p:sp>
      <p:sp>
        <p:nvSpPr>
          <p:cNvPr id="2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مستوى الخدمة الذي نلتزم به</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SLA</a:t>
            </a:r>
            <a:endParaRPr lang="ar-AE"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5029200"/>
                <a:gridCol w="3200400"/>
              </a:tblGrid>
              <a:tr h="438912">
                <a:tc>
                  <a:txBody>
                    <a:bodyPr/>
                    <a:lstStyle/>
                    <a:p>
                      <a:pPr algn="r" indent="0" marL="0">
                        <a:buNone/>
                      </a:pPr>
                      <a:r>
                        <a:rPr lang="en-US" sz="1100" b="1" dirty="0">
                          <a:solidFill>
                            <a:srgbClr val="D9B38C"/>
                          </a:solidFill>
                          <a:latin typeface="+mn-lt" pitchFamily="34" charset="0"/>
                          <a:ea typeface="+mn-lt" pitchFamily="34" charset="-122"/>
                          <a:cs typeface="+mn-lt" pitchFamily="34" charset="-120"/>
                        </a:rPr>
                        <a:t>التزامنا</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c>
                  <a:txBody>
                    <a:bodyPr/>
                    <a:lstStyle/>
                    <a:p>
                      <a:pPr algn="r" indent="0" marL="0">
                        <a:buNone/>
                      </a:pPr>
                      <a:r>
                        <a:rPr lang="en-US" sz="1100" b="1" dirty="0">
                          <a:solidFill>
                            <a:srgbClr val="D9B38C"/>
                          </a:solidFill>
                          <a:latin typeface="+mn-lt" pitchFamily="34" charset="0"/>
                          <a:ea typeface="+mn-lt" pitchFamily="34" charset="-122"/>
                          <a:cs typeface="+mn-lt" pitchFamily="34" charset="-120"/>
                        </a:rPr>
                        <a:t>البند</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خلال يوم عمل واحد</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الرد على الإحالة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مجانية، في مكتبنا أو عند العميل أو عن بُعد، بلغة العميل</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الاستشارة الأولى</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خلال 48 ساعة من اجتماع الاكتشاف</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العرض</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للعميل والشريك عند كل مرحلة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التحديثات</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عدد الإحالات، الحالة، الوصايا المسجلة، العمولات المستحقة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التقرير الشهري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شهرياً وفق الاتفاقية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تسوية العمولة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لا تُستخدم بيانات العميل لأي غرض آخر</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السرية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bl>
          </a:graphicData>
        </a:graphic>
      </p:graphicFrame>
      <p:sp>
        <p:nvSpPr>
          <p:cNvPr id="5"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الامتثال وحماية الطرفين</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الخطوط الحمراء</a:t>
            </a:r>
            <a:endParaRPr lang="ar-AE" sz="1000" dirty="0"/>
          </a:p>
        </p:txBody>
      </p:sp>
      <p:sp>
        <p:nvSpPr>
          <p:cNvPr id="4" name="Shape 2"/>
          <p:cNvSpPr/>
          <p:nvPr/>
        </p:nvSpPr>
        <p:spPr>
          <a:xfrm>
            <a:off x="8229600" y="1188720"/>
            <a:ext cx="457200" cy="457200"/>
          </a:xfrm>
          <a:prstGeom prst="ellipse">
            <a:avLst/>
          </a:prstGeom>
          <a:solidFill>
            <a:srgbClr val="F4F1EB"/>
          </a:solidFill>
          <a:ln w="12700">
            <a:solidFill>
              <a:srgbClr val="F4F1EB"/>
            </a:solidFill>
            <a:prstDash val="solid"/>
          </a:ln>
        </p:spPr>
      </p:sp>
      <p:pic>
        <p:nvPicPr>
          <p:cNvPr id="5" name="icon FaGavel" descr="preencoded.png">    </p:cNvPr>
          <p:cNvPicPr>
            <a:picLocks noChangeAspect="1"/>
          </p:cNvPicPr>
          <p:nvPr/>
        </p:nvPicPr>
        <p:blipFill>
          <a:blip r:embed="rId1"/>
          <a:stretch>
            <a:fillRect/>
          </a:stretch>
        </p:blipFill>
        <p:spPr>
          <a:xfrm>
            <a:off x="8321040" y="1280160"/>
            <a:ext cx="274320" cy="274320"/>
          </a:xfrm>
          <a:prstGeom prst="rect">
            <a:avLst/>
          </a:prstGeom>
        </p:spPr>
      </p:pic>
      <p:sp>
        <p:nvSpPr>
          <p:cNvPr id="6" name="Text 3"/>
          <p:cNvSpPr txBox="1"/>
          <p:nvPr/>
        </p:nvSpPr>
        <p:spPr>
          <a:xfrm>
            <a:off x="457200" y="1170432"/>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الوسيط لا يمارس المحاماة</a:t>
            </a:r>
            <a:endParaRPr lang="ar-AE" sz="1300" dirty="0"/>
          </a:p>
          <a:p>
            <a:pPr algn="r" indent="0" marL="0">
              <a:spcAft>
                <a:spcPts val="200"/>
              </a:spcAft>
              <a:buNone/>
            </a:pPr>
            <a:r>
              <a:rPr lang="ar-AE" altLang="en-US" sz="1100" dirty="0">
                <a:solidFill>
                  <a:schemeClr val="accent3"/>
                </a:solidFill>
              </a:rPr>
              <a:t>لا استشارات، لا آراء قانونية، لا وعود بنتائج.</a:t>
            </a:r>
            <a:endParaRPr lang="ar-AE" sz="1300" dirty="0"/>
          </a:p>
        </p:txBody>
      </p:sp>
      <p:sp>
        <p:nvSpPr>
          <p:cNvPr id="7" name="Shape 4"/>
          <p:cNvSpPr/>
          <p:nvPr/>
        </p:nvSpPr>
        <p:spPr>
          <a:xfrm>
            <a:off x="8229600" y="1847088"/>
            <a:ext cx="457200" cy="457200"/>
          </a:xfrm>
          <a:prstGeom prst="ellipse">
            <a:avLst/>
          </a:prstGeom>
          <a:solidFill>
            <a:srgbClr val="F4F1EB"/>
          </a:solidFill>
          <a:ln w="12700">
            <a:solidFill>
              <a:srgbClr val="F4F1EB"/>
            </a:solidFill>
            <a:prstDash val="solid"/>
          </a:ln>
        </p:spPr>
      </p:sp>
      <p:pic>
        <p:nvPicPr>
          <p:cNvPr id="8" name="icon FaLock" descr="preencoded.png">    </p:cNvPr>
          <p:cNvPicPr>
            <a:picLocks noChangeAspect="1"/>
          </p:cNvPicPr>
          <p:nvPr/>
        </p:nvPicPr>
        <p:blipFill>
          <a:blip r:embed="rId2"/>
          <a:stretch>
            <a:fillRect/>
          </a:stretch>
        </p:blipFill>
        <p:spPr>
          <a:xfrm>
            <a:off x="8321040" y="1938528"/>
            <a:ext cx="274320" cy="274320"/>
          </a:xfrm>
          <a:prstGeom prst="rect">
            <a:avLst/>
          </a:prstGeom>
        </p:spPr>
      </p:pic>
      <p:sp>
        <p:nvSpPr>
          <p:cNvPr id="9" name="Text 5"/>
          <p:cNvSpPr txBox="1"/>
          <p:nvPr/>
        </p:nvSpPr>
        <p:spPr>
          <a:xfrm>
            <a:off x="457200" y="1828800"/>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السرية وحماية البيانات</a:t>
            </a:r>
            <a:endParaRPr lang="ar-AE" sz="1300" dirty="0"/>
          </a:p>
          <a:p>
            <a:pPr algn="r" indent="0" marL="0">
              <a:spcAft>
                <a:spcPts val="200"/>
              </a:spcAft>
              <a:buNone/>
            </a:pPr>
            <a:r>
              <a:rPr lang="ar-AE" altLang="en-US" sz="1100" dirty="0">
                <a:solidFill>
                  <a:schemeClr val="accent3"/>
                </a:solidFill>
              </a:rPr>
              <a:t>بيانات العميل تُنقل بقناة محددة وتُستخدم للخدمة فقط.</a:t>
            </a:r>
            <a:endParaRPr lang="ar-AE" sz="1300" dirty="0"/>
          </a:p>
        </p:txBody>
      </p:sp>
      <p:sp>
        <p:nvSpPr>
          <p:cNvPr id="10" name="Shape 6"/>
          <p:cNvSpPr/>
          <p:nvPr/>
        </p:nvSpPr>
        <p:spPr>
          <a:xfrm>
            <a:off x="8229600" y="2505456"/>
            <a:ext cx="457200" cy="457200"/>
          </a:xfrm>
          <a:prstGeom prst="ellipse">
            <a:avLst/>
          </a:prstGeom>
          <a:solidFill>
            <a:srgbClr val="F4F1EB"/>
          </a:solidFill>
          <a:ln w="12700">
            <a:solidFill>
              <a:srgbClr val="F4F1EB"/>
            </a:solidFill>
            <a:prstDash val="solid"/>
          </a:ln>
        </p:spPr>
      </p:sp>
      <p:pic>
        <p:nvPicPr>
          <p:cNvPr id="11" name="icon FaIdCard" descr="preencoded.png">    </p:cNvPr>
          <p:cNvPicPr>
            <a:picLocks noChangeAspect="1"/>
          </p:cNvPicPr>
          <p:nvPr/>
        </p:nvPicPr>
        <p:blipFill>
          <a:blip r:embed="rId3"/>
          <a:stretch>
            <a:fillRect/>
          </a:stretch>
        </p:blipFill>
        <p:spPr>
          <a:xfrm>
            <a:off x="8321040" y="2596896"/>
            <a:ext cx="274320" cy="274320"/>
          </a:xfrm>
          <a:prstGeom prst="rect">
            <a:avLst/>
          </a:prstGeom>
        </p:spPr>
      </p:pic>
      <p:sp>
        <p:nvSpPr>
          <p:cNvPr id="12" name="Text 7"/>
          <p:cNvSpPr txBox="1"/>
          <p:nvPr/>
        </p:nvSpPr>
        <p:spPr>
          <a:xfrm>
            <a:off x="457200" y="2487168"/>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التحقق من العملاء (KYC) ومكافحة غسل الأموال</a:t>
            </a:r>
            <a:endParaRPr lang="ar-AE" sz="1300" dirty="0"/>
          </a:p>
          <a:p>
            <a:pPr algn="r" indent="0" marL="0">
              <a:spcAft>
                <a:spcPts val="200"/>
              </a:spcAft>
              <a:buNone/>
            </a:pPr>
            <a:r>
              <a:rPr lang="ar-AE" altLang="en-US" sz="1100" dirty="0">
                <a:solidFill>
                  <a:schemeClr val="accent3"/>
                </a:solidFill>
              </a:rPr>
              <a:t>يتولاها المكتب وفق القانون الاتحادي.</a:t>
            </a:r>
            <a:endParaRPr lang="ar-AE" sz="1300" dirty="0"/>
          </a:p>
        </p:txBody>
      </p:sp>
      <p:sp>
        <p:nvSpPr>
          <p:cNvPr id="13" name="Shape 8"/>
          <p:cNvSpPr/>
          <p:nvPr/>
        </p:nvSpPr>
        <p:spPr>
          <a:xfrm>
            <a:off x="8229600" y="3163824"/>
            <a:ext cx="457200" cy="457200"/>
          </a:xfrm>
          <a:prstGeom prst="ellipse">
            <a:avLst/>
          </a:prstGeom>
          <a:solidFill>
            <a:srgbClr val="F4F1EB"/>
          </a:solidFill>
          <a:ln w="12700">
            <a:solidFill>
              <a:srgbClr val="F4F1EB"/>
            </a:solidFill>
            <a:prstDash val="solid"/>
          </a:ln>
        </p:spPr>
      </p:sp>
      <p:pic>
        <p:nvPicPr>
          <p:cNvPr id="14" name="icon FaBan" descr="preencoded.png">    </p:cNvPr>
          <p:cNvPicPr>
            <a:picLocks noChangeAspect="1"/>
          </p:cNvPicPr>
          <p:nvPr/>
        </p:nvPicPr>
        <p:blipFill>
          <a:blip r:embed="rId4"/>
          <a:stretch>
            <a:fillRect/>
          </a:stretch>
        </p:blipFill>
        <p:spPr>
          <a:xfrm>
            <a:off x="8321040" y="3255264"/>
            <a:ext cx="274320" cy="274320"/>
          </a:xfrm>
          <a:prstGeom prst="rect">
            <a:avLst/>
          </a:prstGeom>
        </p:spPr>
      </p:pic>
      <p:sp>
        <p:nvSpPr>
          <p:cNvPr id="15" name="Text 9"/>
          <p:cNvSpPr txBox="1"/>
          <p:nvPr/>
        </p:nvSpPr>
        <p:spPr>
          <a:xfrm>
            <a:off x="457200" y="3145536"/>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عدم التجاوز</a:t>
            </a:r>
            <a:endParaRPr lang="ar-AE" sz="1300" dirty="0"/>
          </a:p>
          <a:p>
            <a:pPr algn="r" indent="0" marL="0">
              <a:spcAft>
                <a:spcPts val="200"/>
              </a:spcAft>
              <a:buNone/>
            </a:pPr>
            <a:r>
              <a:rPr lang="ar-AE" altLang="en-US" sz="1100" dirty="0">
                <a:solidFill>
                  <a:schemeClr val="accent3"/>
                </a:solidFill>
              </a:rPr>
              <a:t>لا يتجاوز أي طرف الآخر في علاقته بعملائه.</a:t>
            </a:r>
            <a:endParaRPr lang="ar-AE" sz="1300" dirty="0"/>
          </a:p>
        </p:txBody>
      </p:sp>
      <p:sp>
        <p:nvSpPr>
          <p:cNvPr id="16" name="Shape 10"/>
          <p:cNvSpPr/>
          <p:nvPr/>
        </p:nvSpPr>
        <p:spPr>
          <a:xfrm>
            <a:off x="8229600" y="3822192"/>
            <a:ext cx="457200" cy="457200"/>
          </a:xfrm>
          <a:prstGeom prst="ellipse">
            <a:avLst/>
          </a:prstGeom>
          <a:solidFill>
            <a:srgbClr val="F4F1EB"/>
          </a:solidFill>
          <a:ln w="12700">
            <a:solidFill>
              <a:srgbClr val="F4F1EB"/>
            </a:solidFill>
            <a:prstDash val="solid"/>
          </a:ln>
        </p:spPr>
      </p:sp>
      <p:pic>
        <p:nvPicPr>
          <p:cNvPr id="17" name="icon FaFileContract" descr="preencoded.png">    </p:cNvPr>
          <p:cNvPicPr>
            <a:picLocks noChangeAspect="1"/>
          </p:cNvPicPr>
          <p:nvPr/>
        </p:nvPicPr>
        <p:blipFill>
          <a:blip r:embed="rId5"/>
          <a:stretch>
            <a:fillRect/>
          </a:stretch>
        </p:blipFill>
        <p:spPr>
          <a:xfrm>
            <a:off x="8321040" y="3913632"/>
            <a:ext cx="274320" cy="274320"/>
          </a:xfrm>
          <a:prstGeom prst="rect">
            <a:avLst/>
          </a:prstGeom>
        </p:spPr>
      </p:pic>
      <p:sp>
        <p:nvSpPr>
          <p:cNvPr id="18" name="Text 11"/>
          <p:cNvSpPr txBox="1"/>
          <p:nvPr/>
        </p:nvSpPr>
        <p:spPr>
          <a:xfrm>
            <a:off x="457200" y="3803904"/>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الشفافية في الأتعاب</a:t>
            </a:r>
            <a:endParaRPr lang="ar-AE" sz="1300" dirty="0"/>
          </a:p>
          <a:p>
            <a:pPr algn="r" indent="0" marL="0">
              <a:spcAft>
                <a:spcPts val="200"/>
              </a:spcAft>
              <a:buNone/>
            </a:pPr>
            <a:r>
              <a:rPr lang="ar-AE" altLang="en-US" sz="1100" dirty="0">
                <a:solidFill>
                  <a:schemeClr val="accent3"/>
                </a:solidFill>
              </a:rPr>
              <a:t>عرض مكتوب واحد للعميل، والعمولة مذكورة في الاتفاقية مع مراعاة تنظيمات المهنة.</a:t>
            </a:r>
            <a:endParaRPr lang="ar-AE" sz="13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06</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التسويق المشترك والانطلاق</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نساعدكم على تقديم الخدمة لعملائكم بثقة</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ما نفعله معكم</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التسويق المشترك</a:t>
            </a:r>
            <a:endParaRPr lang="ar-AE" sz="1000" dirty="0"/>
          </a:p>
        </p:txBody>
      </p:sp>
      <p:sp>
        <p:nvSpPr>
          <p:cNvPr id="4" name="Shape 2"/>
          <p:cNvSpPr/>
          <p:nvPr/>
        </p:nvSpPr>
        <p:spPr>
          <a:xfrm>
            <a:off x="6096000" y="1188720"/>
            <a:ext cx="2590800" cy="1508760"/>
          </a:xfrm>
          <a:prstGeom prst="rect">
            <a:avLst/>
          </a:prstGeom>
          <a:solidFill>
            <a:srgbClr val="F4F1EB"/>
          </a:solidFill>
          <a:ln w="12700">
            <a:solidFill>
              <a:srgbClr val="F4F1EB"/>
            </a:solidFill>
            <a:prstDash val="solid"/>
          </a:ln>
        </p:spPr>
      </p:sp>
      <p:pic>
        <p:nvPicPr>
          <p:cNvPr id="5" name="icon FaChalkboardUser" descr="preencoded.png">    </p:cNvPr>
          <p:cNvPicPr>
            <a:picLocks noChangeAspect="1"/>
          </p:cNvPicPr>
          <p:nvPr/>
        </p:nvPicPr>
        <p:blipFill>
          <a:blip r:embed="rId1"/>
          <a:stretch>
            <a:fillRect/>
          </a:stretch>
        </p:blipFill>
        <p:spPr>
          <a:xfrm>
            <a:off x="8174736" y="1389888"/>
            <a:ext cx="310896" cy="310896"/>
          </a:xfrm>
          <a:prstGeom prst="rect">
            <a:avLst/>
          </a:prstGeom>
        </p:spPr>
      </p:pic>
      <p:sp>
        <p:nvSpPr>
          <p:cNvPr id="6" name="Text 3"/>
          <p:cNvSpPr txBox="1"/>
          <p:nvPr/>
        </p:nvSpPr>
        <p:spPr>
          <a:xfrm>
            <a:off x="62971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ندوة مجانية لفريق المبيعات</a:t>
            </a:r>
            <a:endParaRPr lang="ar-AE" sz="1250" dirty="0"/>
          </a:p>
          <a:p>
            <a:pPr algn="r" indent="0" marL="0">
              <a:spcAft>
                <a:spcPts val="300"/>
              </a:spcAft>
              <a:buNone/>
            </a:pPr>
            <a:r>
              <a:rPr lang="ar-AE" altLang="en-US" sz="1050" dirty="0">
                <a:solidFill>
                  <a:schemeClr val="accent3"/>
                </a:solidFill>
              </a:rPr>
              <a:t>«كيف تحمي المستثمر الأجنبي في الإمارات» خلال ساعة واحدة في مكتبكم.</a:t>
            </a:r>
            <a:endParaRPr lang="ar-AE" sz="1250" dirty="0"/>
          </a:p>
        </p:txBody>
      </p:sp>
      <p:sp>
        <p:nvSpPr>
          <p:cNvPr id="7" name="Shape 4"/>
          <p:cNvSpPr/>
          <p:nvPr/>
        </p:nvSpPr>
        <p:spPr>
          <a:xfrm>
            <a:off x="3276600" y="1188720"/>
            <a:ext cx="2590800" cy="1508760"/>
          </a:xfrm>
          <a:prstGeom prst="rect">
            <a:avLst/>
          </a:prstGeom>
          <a:solidFill>
            <a:srgbClr val="F4F1EB"/>
          </a:solidFill>
          <a:ln w="12700">
            <a:solidFill>
              <a:srgbClr val="F4F1EB"/>
            </a:solidFill>
            <a:prstDash val="solid"/>
          </a:ln>
        </p:spPr>
      </p:sp>
      <p:pic>
        <p:nvPicPr>
          <p:cNvPr id="8" name="icon FaVideo" descr="preencoded.png">    </p:cNvPr>
          <p:cNvPicPr>
            <a:picLocks noChangeAspect="1"/>
          </p:cNvPicPr>
          <p:nvPr/>
        </p:nvPicPr>
        <p:blipFill>
          <a:blip r:embed="rId2"/>
          <a:stretch>
            <a:fillRect/>
          </a:stretch>
        </p:blipFill>
        <p:spPr>
          <a:xfrm>
            <a:off x="5355336" y="1389888"/>
            <a:ext cx="310896" cy="310896"/>
          </a:xfrm>
          <a:prstGeom prst="rect">
            <a:avLst/>
          </a:prstGeom>
        </p:spPr>
      </p:pic>
      <p:sp>
        <p:nvSpPr>
          <p:cNvPr id="9" name="Text 5"/>
          <p:cNvSpPr txBox="1"/>
          <p:nvPr/>
        </p:nvSpPr>
        <p:spPr>
          <a:xfrm>
            <a:off x="34777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ويبينارات لعملائكم</a:t>
            </a:r>
            <a:endParaRPr lang="ar-AE" sz="1250" dirty="0"/>
          </a:p>
          <a:p>
            <a:pPr algn="r" indent="0" marL="0">
              <a:spcAft>
                <a:spcPts val="300"/>
              </a:spcAft>
              <a:buNone/>
            </a:pPr>
            <a:r>
              <a:rPr lang="ar-AE" altLang="en-US" sz="1050" dirty="0">
                <a:solidFill>
                  <a:schemeClr val="accent3"/>
                </a:solidFill>
              </a:rPr>
              <a:t>بالإنجليزية أو الروسية أو الصينية، تحت اسمكم واسمنا.</a:t>
            </a:r>
            <a:endParaRPr lang="ar-AE" sz="1250" dirty="0"/>
          </a:p>
        </p:txBody>
      </p:sp>
      <p:sp>
        <p:nvSpPr>
          <p:cNvPr id="10" name="Shape 6"/>
          <p:cNvSpPr/>
          <p:nvPr/>
        </p:nvSpPr>
        <p:spPr>
          <a:xfrm>
            <a:off x="457200" y="1188720"/>
            <a:ext cx="2590800" cy="1508760"/>
          </a:xfrm>
          <a:prstGeom prst="rect">
            <a:avLst/>
          </a:prstGeom>
          <a:solidFill>
            <a:srgbClr val="F4F1EB"/>
          </a:solidFill>
          <a:ln w="12700">
            <a:solidFill>
              <a:srgbClr val="F4F1EB"/>
            </a:solidFill>
            <a:prstDash val="solid"/>
          </a:ln>
        </p:spPr>
      </p:sp>
      <p:pic>
        <p:nvPicPr>
          <p:cNvPr id="11" name="icon FaUsers" descr="preencoded.png">    </p:cNvPr>
          <p:cNvPicPr>
            <a:picLocks noChangeAspect="1"/>
          </p:cNvPicPr>
          <p:nvPr/>
        </p:nvPicPr>
        <p:blipFill>
          <a:blip r:embed="rId3"/>
          <a:stretch>
            <a:fillRect/>
          </a:stretch>
        </p:blipFill>
        <p:spPr>
          <a:xfrm>
            <a:off x="2535936" y="1389888"/>
            <a:ext cx="310896" cy="310896"/>
          </a:xfrm>
          <a:prstGeom prst="rect">
            <a:avLst/>
          </a:prstGeom>
        </p:spPr>
      </p:pic>
      <p:sp>
        <p:nvSpPr>
          <p:cNvPr id="12" name="Text 7"/>
          <p:cNvSpPr txBox="1"/>
          <p:nvPr/>
        </p:nvSpPr>
        <p:spPr>
          <a:xfrm>
            <a:off x="6583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فعاليات المستثمرين وإطلاق المشاريع</a:t>
            </a:r>
            <a:endParaRPr lang="ar-AE" sz="1250" dirty="0"/>
          </a:p>
          <a:p>
            <a:pPr algn="r" indent="0" marL="0">
              <a:spcAft>
                <a:spcPts val="300"/>
              </a:spcAft>
              <a:buNone/>
            </a:pPr>
            <a:r>
              <a:rPr lang="ar-AE" altLang="en-US" sz="1050" dirty="0">
                <a:solidFill>
                  <a:schemeClr val="accent3"/>
                </a:solidFill>
              </a:rPr>
              <a:t>مستشار من المكتب حاضر لإجابة الأسئلة في مكان الحدث.</a:t>
            </a:r>
            <a:endParaRPr lang="ar-AE" sz="1250" dirty="0"/>
          </a:p>
        </p:txBody>
      </p:sp>
      <p:sp>
        <p:nvSpPr>
          <p:cNvPr id="13" name="Shape 8"/>
          <p:cNvSpPr/>
          <p:nvPr/>
        </p:nvSpPr>
        <p:spPr>
          <a:xfrm>
            <a:off x="6096000" y="2926080"/>
            <a:ext cx="2590800" cy="1508760"/>
          </a:xfrm>
          <a:prstGeom prst="rect">
            <a:avLst/>
          </a:prstGeom>
          <a:solidFill>
            <a:srgbClr val="F4F1EB"/>
          </a:solidFill>
          <a:ln w="12700">
            <a:solidFill>
              <a:srgbClr val="F4F1EB"/>
            </a:solidFill>
            <a:prstDash val="solid"/>
          </a:ln>
        </p:spPr>
      </p:sp>
      <p:pic>
        <p:nvPicPr>
          <p:cNvPr id="14" name="icon FaFolderOpen" descr="preencoded.png">    </p:cNvPr>
          <p:cNvPicPr>
            <a:picLocks noChangeAspect="1"/>
          </p:cNvPicPr>
          <p:nvPr/>
        </p:nvPicPr>
        <p:blipFill>
          <a:blip r:embed="rId4"/>
          <a:stretch>
            <a:fillRect/>
          </a:stretch>
        </p:blipFill>
        <p:spPr>
          <a:xfrm>
            <a:off x="8174736" y="3127248"/>
            <a:ext cx="310896" cy="310896"/>
          </a:xfrm>
          <a:prstGeom prst="rect">
            <a:avLst/>
          </a:prstGeom>
        </p:spPr>
      </p:pic>
      <p:sp>
        <p:nvSpPr>
          <p:cNvPr id="15" name="Text 9"/>
          <p:cNvSpPr txBox="1"/>
          <p:nvPr/>
        </p:nvSpPr>
        <p:spPr>
          <a:xfrm>
            <a:off x="62971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مواد جاهزة</a:t>
            </a:r>
            <a:endParaRPr lang="ar-AE" sz="1250" dirty="0"/>
          </a:p>
          <a:p>
            <a:pPr algn="r" indent="0" marL="0">
              <a:spcAft>
                <a:spcPts val="300"/>
              </a:spcAft>
              <a:buNone/>
            </a:pPr>
            <a:r>
              <a:rPr lang="ar-AE" altLang="en-US" sz="1050" dirty="0">
                <a:solidFill>
                  <a:schemeClr val="accent3"/>
                </a:solidFill>
              </a:rPr>
              <a:t>كتيّب، نص واتساب، أسئلة شائعة، وعرض تقديمي بلغتين.</a:t>
            </a:r>
            <a:endParaRPr lang="ar-AE" sz="1250" dirty="0"/>
          </a:p>
        </p:txBody>
      </p:sp>
      <p:sp>
        <p:nvSpPr>
          <p:cNvPr id="16" name="Shape 10"/>
          <p:cNvSpPr/>
          <p:nvPr/>
        </p:nvSpPr>
        <p:spPr>
          <a:xfrm>
            <a:off x="3276600" y="2926080"/>
            <a:ext cx="2590800" cy="1508760"/>
          </a:xfrm>
          <a:prstGeom prst="rect">
            <a:avLst/>
          </a:prstGeom>
          <a:solidFill>
            <a:srgbClr val="F4F1EB"/>
          </a:solidFill>
          <a:ln w="12700">
            <a:solidFill>
              <a:srgbClr val="F4F1EB"/>
            </a:solidFill>
            <a:prstDash val="solid"/>
          </a:ln>
        </p:spPr>
      </p:sp>
      <p:pic>
        <p:nvPicPr>
          <p:cNvPr id="17" name="icon FaHashtag" descr="preencoded.png">    </p:cNvPr>
          <p:cNvPicPr>
            <a:picLocks noChangeAspect="1"/>
          </p:cNvPicPr>
          <p:nvPr/>
        </p:nvPicPr>
        <p:blipFill>
          <a:blip r:embed="rId5"/>
          <a:stretch>
            <a:fillRect/>
          </a:stretch>
        </p:blipFill>
        <p:spPr>
          <a:xfrm>
            <a:off x="5355336" y="3127248"/>
            <a:ext cx="310896" cy="310896"/>
          </a:xfrm>
          <a:prstGeom prst="rect">
            <a:avLst/>
          </a:prstGeom>
        </p:spPr>
      </p:pic>
      <p:sp>
        <p:nvSpPr>
          <p:cNvPr id="18" name="Text 11"/>
          <p:cNvSpPr txBox="1"/>
          <p:nvPr/>
        </p:nvSpPr>
        <p:spPr>
          <a:xfrm>
            <a:off x="34777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محتوى التواصل الاجتماعي</a:t>
            </a:r>
            <a:endParaRPr lang="ar-AE" sz="1250" dirty="0"/>
          </a:p>
          <a:p>
            <a:pPr algn="r" indent="0" marL="0">
              <a:spcAft>
                <a:spcPts val="300"/>
              </a:spcAft>
              <a:buNone/>
            </a:pPr>
            <a:r>
              <a:rPr lang="ar-AE" altLang="en-US" sz="1050" dirty="0">
                <a:solidFill>
                  <a:schemeClr val="accent3"/>
                </a:solidFill>
              </a:rPr>
              <a:t>ماذا يحدث لعقارك بدون وصية؟ هل تُجمّد الحسابات؟ DIFC أم ADGM؟</a:t>
            </a:r>
            <a:endParaRPr lang="ar-AE" sz="1250" dirty="0"/>
          </a:p>
        </p:txBody>
      </p:sp>
      <p:sp>
        <p:nvSpPr>
          <p:cNvPr id="19" name="Shape 12"/>
          <p:cNvSpPr/>
          <p:nvPr/>
        </p:nvSpPr>
        <p:spPr>
          <a:xfrm>
            <a:off x="457200" y="2926080"/>
            <a:ext cx="2590800" cy="1508760"/>
          </a:xfrm>
          <a:prstGeom prst="rect">
            <a:avLst/>
          </a:prstGeom>
          <a:solidFill>
            <a:srgbClr val="F4F1EB"/>
          </a:solidFill>
          <a:ln w="12700">
            <a:solidFill>
              <a:srgbClr val="F4F1EB"/>
            </a:solidFill>
            <a:prstDash val="solid"/>
          </a:ln>
        </p:spPr>
      </p:sp>
      <p:pic>
        <p:nvPicPr>
          <p:cNvPr id="20" name="icon FaComments" descr="preencoded.png">    </p:cNvPr>
          <p:cNvPicPr>
            <a:picLocks noChangeAspect="1"/>
          </p:cNvPicPr>
          <p:nvPr/>
        </p:nvPicPr>
        <p:blipFill>
          <a:blip r:embed="rId6"/>
          <a:stretch>
            <a:fillRect/>
          </a:stretch>
        </p:blipFill>
        <p:spPr>
          <a:xfrm>
            <a:off x="2535936" y="3127248"/>
            <a:ext cx="310896" cy="310896"/>
          </a:xfrm>
          <a:prstGeom prst="rect">
            <a:avLst/>
          </a:prstGeom>
        </p:spPr>
      </p:pic>
      <p:sp>
        <p:nvSpPr>
          <p:cNvPr id="21" name="Text 13"/>
          <p:cNvSpPr txBox="1"/>
          <p:nvPr/>
        </p:nvSpPr>
        <p:spPr>
          <a:xfrm>
            <a:off x="6583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استشارة مجانية أولى</a:t>
            </a:r>
            <a:endParaRPr lang="ar-AE" sz="1250" dirty="0"/>
          </a:p>
          <a:p>
            <a:pPr algn="r" indent="0" marL="0">
              <a:spcAft>
                <a:spcPts val="300"/>
              </a:spcAft>
              <a:buNone/>
            </a:pPr>
            <a:r>
              <a:rPr lang="ar-AE" altLang="en-US" sz="1050" dirty="0">
                <a:solidFill>
                  <a:schemeClr val="accent3"/>
                </a:solidFill>
              </a:rPr>
              <a:t>لكل عميل تحوّلونه، بلغته، في المكان الذي يناسبه.</a:t>
            </a:r>
            <a:endParaRPr lang="ar-AE" sz="1250" dirty="0"/>
          </a:p>
        </p:txBody>
      </p:sp>
      <p:sp>
        <p:nvSpPr>
          <p:cNvPr id="2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الانطلاق في ثلاثة أسابيع</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خطة الانطلاق</a:t>
            </a:r>
            <a:endParaRPr lang="ar-AE" sz="1000" dirty="0"/>
          </a:p>
        </p:txBody>
      </p:sp>
      <p:sp>
        <p:nvSpPr>
          <p:cNvPr id="4" name="Shape 2"/>
          <p:cNvSpPr/>
          <p:nvPr/>
        </p:nvSpPr>
        <p:spPr>
          <a:xfrm>
            <a:off x="6065520" y="1188720"/>
            <a:ext cx="2621280" cy="502920"/>
          </a:xfrm>
          <a:prstGeom prst="rect">
            <a:avLst/>
          </a:prstGeom>
          <a:solidFill>
            <a:srgbClr val="0E2238"/>
          </a:solidFill>
          <a:ln w="12700">
            <a:solidFill>
              <a:srgbClr val="0E2238"/>
            </a:solidFill>
            <a:prstDash val="solid"/>
          </a:ln>
        </p:spPr>
      </p:sp>
      <p:sp>
        <p:nvSpPr>
          <p:cNvPr id="5" name="Text 3"/>
          <p:cNvSpPr txBox="1"/>
          <p:nvPr/>
        </p:nvSpPr>
        <p:spPr>
          <a:xfrm>
            <a:off x="6202680" y="1188720"/>
            <a:ext cx="2346960" cy="502920"/>
          </a:xfrm>
          <a:prstGeom prst="rect">
            <a:avLst/>
          </a:prstGeom>
          <a:noFill/>
          <a:ln/>
        </p:spPr>
        <p:txBody>
          <a:bodyPr wrap="square" lIns="0" tIns="0" rIns="0" bIns="0" rtlCol="0" anchor="ctr"/>
          <a:lstStyle/>
          <a:p>
            <a:pPr rtl="1" algn="r" indent="0" marL="0">
              <a:buNone/>
            </a:pPr>
            <a:r>
              <a:rPr lang="ar-AE" altLang="en-US" sz="1200" b="1" dirty="0">
                <a:solidFill>
                  <a:schemeClr val="accent1"/>
                </a:solidFill>
              </a:rPr>
              <a:t>الأسبوع الأول</a:t>
            </a:r>
            <a:endParaRPr lang="ar-AE" sz="1200" dirty="0"/>
          </a:p>
        </p:txBody>
      </p:sp>
      <p:sp>
        <p:nvSpPr>
          <p:cNvPr id="6" name="Shape 4"/>
          <p:cNvSpPr/>
          <p:nvPr/>
        </p:nvSpPr>
        <p:spPr>
          <a:xfrm>
            <a:off x="6065520" y="1691640"/>
            <a:ext cx="2621280" cy="2743200"/>
          </a:xfrm>
          <a:prstGeom prst="rect">
            <a:avLst/>
          </a:prstGeom>
          <a:solidFill>
            <a:srgbClr val="F4F1EB"/>
          </a:solidFill>
          <a:ln w="12700">
            <a:solidFill>
              <a:srgbClr val="F4F1EB"/>
            </a:solidFill>
            <a:prstDash val="solid"/>
          </a:ln>
        </p:spPr>
      </p:sp>
      <p:sp>
        <p:nvSpPr>
          <p:cNvPr id="7" name="Text 5"/>
          <p:cNvSpPr txBox="1"/>
          <p:nvPr/>
        </p:nvSpPr>
        <p:spPr>
          <a:xfrm>
            <a:off x="6202680" y="1828800"/>
            <a:ext cx="2346960" cy="45720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الاتفاقية</a:t>
            </a:r>
            <a:endParaRPr lang="ar-AE" sz="1300" dirty="0"/>
          </a:p>
        </p:txBody>
      </p:sp>
      <p:sp>
        <p:nvSpPr>
          <p:cNvPr id="8" name="Text 6"/>
          <p:cNvSpPr txBox="1"/>
          <p:nvPr/>
        </p:nvSpPr>
        <p:spPr>
          <a:xfrm>
            <a:off x="6202680" y="2286000"/>
            <a:ext cx="2346960" cy="2057400"/>
          </a:xfrm>
          <a:prstGeom prst="rect">
            <a:avLst/>
          </a:prstGeom>
          <a:noFill/>
          <a:ln/>
        </p:spPr>
        <p:txBody>
          <a:bodyPr wrap="square" lIns="0" tIns="0" rIns="0" bIns="0" rtlCol="0" anchor="t"/>
          <a:lstStyle/>
          <a:p>
            <a:pPr algn="r" marL="152400" indent="-152400">
              <a:spcAft>
                <a:spcPts val="400"/>
              </a:spcAft>
              <a:buSzPct val="100000"/>
              <a:buChar char="•"/>
            </a:pPr>
            <a:r>
              <a:rPr lang="ar-AE" altLang="en-US" sz="1050" dirty="0">
                <a:solidFill>
                  <a:schemeClr val="accent3"/>
                </a:solidFill>
              </a:rPr>
              <a:t>اجتماع مع الإدارة</a:t>
            </a:r>
            <a:endParaRPr lang="ar-AE" sz="1050" dirty="0"/>
          </a:p>
          <a:p>
            <a:pPr algn="r" marL="152400" indent="-152400">
              <a:spcAft>
                <a:spcPts val="400"/>
              </a:spcAft>
              <a:buSzPct val="100000"/>
              <a:buChar char="•"/>
            </a:pPr>
            <a:r>
              <a:rPr lang="ar-AE" altLang="en-US" sz="1050" dirty="0">
                <a:solidFill>
                  <a:schemeClr val="accent3"/>
                </a:solidFill>
              </a:rPr>
              <a:t>توقيع اتفاقية الإحالة والتعاون</a:t>
            </a:r>
            <a:endParaRPr lang="ar-AE" sz="1050" dirty="0"/>
          </a:p>
          <a:p>
            <a:pPr algn="r" marL="152400" indent="-152400">
              <a:spcAft>
                <a:spcPts val="400"/>
              </a:spcAft>
              <a:buSzPct val="100000"/>
              <a:buChar char="•"/>
            </a:pPr>
            <a:r>
              <a:rPr lang="ar-AE" altLang="en-US" sz="1050" dirty="0">
                <a:solidFill>
                  <a:schemeClr val="accent3"/>
                </a:solidFill>
              </a:rPr>
              <a:t>تحديد قناة التواصل وجهة الاتصال</a:t>
            </a:r>
            <a:endParaRPr lang="ar-AE" sz="1050" dirty="0"/>
          </a:p>
        </p:txBody>
      </p:sp>
      <p:sp>
        <p:nvSpPr>
          <p:cNvPr id="9" name="Shape 7"/>
          <p:cNvSpPr/>
          <p:nvPr/>
        </p:nvSpPr>
        <p:spPr>
          <a:xfrm>
            <a:off x="3261360" y="1188720"/>
            <a:ext cx="2621280" cy="502920"/>
          </a:xfrm>
          <a:prstGeom prst="rect">
            <a:avLst/>
          </a:prstGeom>
          <a:solidFill>
            <a:srgbClr val="0E2238"/>
          </a:solidFill>
          <a:ln w="12700">
            <a:solidFill>
              <a:srgbClr val="0E2238"/>
            </a:solidFill>
            <a:prstDash val="solid"/>
          </a:ln>
        </p:spPr>
      </p:sp>
      <p:sp>
        <p:nvSpPr>
          <p:cNvPr id="10" name="Text 8"/>
          <p:cNvSpPr txBox="1"/>
          <p:nvPr/>
        </p:nvSpPr>
        <p:spPr>
          <a:xfrm>
            <a:off x="3398520" y="1188720"/>
            <a:ext cx="2346960" cy="502920"/>
          </a:xfrm>
          <a:prstGeom prst="rect">
            <a:avLst/>
          </a:prstGeom>
          <a:noFill/>
          <a:ln/>
        </p:spPr>
        <p:txBody>
          <a:bodyPr wrap="square" lIns="0" tIns="0" rIns="0" bIns="0" rtlCol="0" anchor="ctr"/>
          <a:lstStyle/>
          <a:p>
            <a:pPr rtl="1" algn="r" indent="0" marL="0">
              <a:buNone/>
            </a:pPr>
            <a:r>
              <a:rPr lang="ar-AE" altLang="en-US" sz="1200" b="1" dirty="0">
                <a:solidFill>
                  <a:schemeClr val="accent1"/>
                </a:solidFill>
              </a:rPr>
              <a:t>الأسبوع الثاني</a:t>
            </a:r>
            <a:endParaRPr lang="ar-AE" sz="1200" dirty="0"/>
          </a:p>
        </p:txBody>
      </p:sp>
      <p:sp>
        <p:nvSpPr>
          <p:cNvPr id="11" name="Shape 9"/>
          <p:cNvSpPr/>
          <p:nvPr/>
        </p:nvSpPr>
        <p:spPr>
          <a:xfrm>
            <a:off x="3261360" y="1691640"/>
            <a:ext cx="2621280" cy="2743200"/>
          </a:xfrm>
          <a:prstGeom prst="rect">
            <a:avLst/>
          </a:prstGeom>
          <a:solidFill>
            <a:srgbClr val="F4F1EB"/>
          </a:solidFill>
          <a:ln w="12700">
            <a:solidFill>
              <a:srgbClr val="F4F1EB"/>
            </a:solidFill>
            <a:prstDash val="solid"/>
          </a:ln>
        </p:spPr>
      </p:sp>
      <p:sp>
        <p:nvSpPr>
          <p:cNvPr id="12" name="Text 10"/>
          <p:cNvSpPr txBox="1"/>
          <p:nvPr/>
        </p:nvSpPr>
        <p:spPr>
          <a:xfrm>
            <a:off x="3398520" y="1828800"/>
            <a:ext cx="2346960" cy="45720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التدريب</a:t>
            </a:r>
            <a:endParaRPr lang="ar-AE" sz="1300" dirty="0"/>
          </a:p>
        </p:txBody>
      </p:sp>
      <p:sp>
        <p:nvSpPr>
          <p:cNvPr id="13" name="Text 11"/>
          <p:cNvSpPr txBox="1"/>
          <p:nvPr/>
        </p:nvSpPr>
        <p:spPr>
          <a:xfrm>
            <a:off x="3398520" y="2286000"/>
            <a:ext cx="2346960" cy="2057400"/>
          </a:xfrm>
          <a:prstGeom prst="rect">
            <a:avLst/>
          </a:prstGeom>
          <a:noFill/>
          <a:ln/>
        </p:spPr>
        <p:txBody>
          <a:bodyPr wrap="square" lIns="0" tIns="0" rIns="0" bIns="0" rtlCol="0" anchor="t"/>
          <a:lstStyle/>
          <a:p>
            <a:pPr algn="r" marL="152400" indent="-152400">
              <a:spcAft>
                <a:spcPts val="400"/>
              </a:spcAft>
              <a:buSzPct val="100000"/>
              <a:buChar char="•"/>
            </a:pPr>
            <a:r>
              <a:rPr lang="ar-AE" altLang="en-US" sz="1050" dirty="0">
                <a:solidFill>
                  <a:schemeClr val="accent3"/>
                </a:solidFill>
              </a:rPr>
              <a:t>ندوة فريق المبيعات</a:t>
            </a:r>
            <a:endParaRPr lang="ar-AE" sz="1050" dirty="0"/>
          </a:p>
          <a:p>
            <a:pPr algn="r" marL="152400" indent="-152400">
              <a:spcAft>
                <a:spcPts val="400"/>
              </a:spcAft>
              <a:buSzPct val="100000"/>
              <a:buChar char="•"/>
            </a:pPr>
            <a:r>
              <a:rPr lang="ar-AE" altLang="en-US" sz="1050" dirty="0">
                <a:solidFill>
                  <a:schemeClr val="accent3"/>
                </a:solidFill>
              </a:rPr>
              <a:t>تسليم المواد: PDF، عرض، أسئلة شائعة، سكربت</a:t>
            </a:r>
            <a:endParaRPr lang="ar-AE" sz="1050" dirty="0"/>
          </a:p>
          <a:p>
            <a:pPr algn="r" marL="152400" indent="-152400">
              <a:spcAft>
                <a:spcPts val="400"/>
              </a:spcAft>
              <a:buSzPct val="100000"/>
              <a:buChar char="•"/>
            </a:pPr>
            <a:r>
              <a:rPr lang="ar-AE" altLang="en-US" sz="1050" dirty="0">
                <a:solidFill>
                  <a:schemeClr val="accent3"/>
                </a:solidFill>
              </a:rPr>
              <a:t>تجربة أول رسالة تعريف</a:t>
            </a:r>
            <a:endParaRPr lang="ar-AE" sz="1050" dirty="0"/>
          </a:p>
        </p:txBody>
      </p:sp>
      <p:sp>
        <p:nvSpPr>
          <p:cNvPr id="14" name="Shape 12"/>
          <p:cNvSpPr/>
          <p:nvPr/>
        </p:nvSpPr>
        <p:spPr>
          <a:xfrm>
            <a:off x="457200" y="1188720"/>
            <a:ext cx="2621280" cy="502920"/>
          </a:xfrm>
          <a:prstGeom prst="rect">
            <a:avLst/>
          </a:prstGeom>
          <a:solidFill>
            <a:srgbClr val="0E2238"/>
          </a:solidFill>
          <a:ln w="12700">
            <a:solidFill>
              <a:srgbClr val="0E2238"/>
            </a:solidFill>
            <a:prstDash val="solid"/>
          </a:ln>
        </p:spPr>
      </p:sp>
      <p:sp>
        <p:nvSpPr>
          <p:cNvPr id="15" name="Text 13"/>
          <p:cNvSpPr txBox="1"/>
          <p:nvPr/>
        </p:nvSpPr>
        <p:spPr>
          <a:xfrm>
            <a:off x="594360" y="1188720"/>
            <a:ext cx="2346960" cy="502920"/>
          </a:xfrm>
          <a:prstGeom prst="rect">
            <a:avLst/>
          </a:prstGeom>
          <a:noFill/>
          <a:ln/>
        </p:spPr>
        <p:txBody>
          <a:bodyPr wrap="square" lIns="0" tIns="0" rIns="0" bIns="0" rtlCol="0" anchor="ctr"/>
          <a:lstStyle/>
          <a:p>
            <a:pPr rtl="1" algn="r" indent="0" marL="0">
              <a:buNone/>
            </a:pPr>
            <a:r>
              <a:rPr lang="ar-AE" altLang="en-US" sz="1200" b="1" dirty="0">
                <a:solidFill>
                  <a:schemeClr val="accent1"/>
                </a:solidFill>
              </a:rPr>
              <a:t>الأسبوع الثالث</a:t>
            </a:r>
            <a:endParaRPr lang="ar-AE" sz="1200" dirty="0"/>
          </a:p>
        </p:txBody>
      </p:sp>
      <p:sp>
        <p:nvSpPr>
          <p:cNvPr id="16" name="Shape 14"/>
          <p:cNvSpPr/>
          <p:nvPr/>
        </p:nvSpPr>
        <p:spPr>
          <a:xfrm>
            <a:off x="457200" y="1691640"/>
            <a:ext cx="2621280" cy="2743200"/>
          </a:xfrm>
          <a:prstGeom prst="rect">
            <a:avLst/>
          </a:prstGeom>
          <a:solidFill>
            <a:srgbClr val="F4F1EB"/>
          </a:solidFill>
          <a:ln w="12700">
            <a:solidFill>
              <a:srgbClr val="F4F1EB"/>
            </a:solidFill>
            <a:prstDash val="solid"/>
          </a:ln>
        </p:spPr>
      </p:sp>
      <p:sp>
        <p:nvSpPr>
          <p:cNvPr id="17" name="Text 15"/>
          <p:cNvSpPr txBox="1"/>
          <p:nvPr/>
        </p:nvSpPr>
        <p:spPr>
          <a:xfrm>
            <a:off x="594360" y="1828800"/>
            <a:ext cx="2346960" cy="45720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الانطلاق</a:t>
            </a:r>
            <a:endParaRPr lang="ar-AE" sz="1300" dirty="0"/>
          </a:p>
        </p:txBody>
      </p:sp>
      <p:sp>
        <p:nvSpPr>
          <p:cNvPr id="18" name="Text 16"/>
          <p:cNvSpPr txBox="1"/>
          <p:nvPr/>
        </p:nvSpPr>
        <p:spPr>
          <a:xfrm>
            <a:off x="594360" y="2286000"/>
            <a:ext cx="2346960" cy="2057400"/>
          </a:xfrm>
          <a:prstGeom prst="rect">
            <a:avLst/>
          </a:prstGeom>
          <a:noFill/>
          <a:ln/>
        </p:spPr>
        <p:txBody>
          <a:bodyPr wrap="square" lIns="0" tIns="0" rIns="0" bIns="0" rtlCol="0" anchor="t"/>
          <a:lstStyle/>
          <a:p>
            <a:pPr algn="r" marL="152400" indent="-152400">
              <a:spcAft>
                <a:spcPts val="400"/>
              </a:spcAft>
              <a:buSzPct val="100000"/>
              <a:buChar char="•"/>
            </a:pPr>
            <a:r>
              <a:rPr lang="ar-AE" altLang="en-US" sz="1050" dirty="0">
                <a:solidFill>
                  <a:schemeClr val="accent3"/>
                </a:solidFill>
              </a:rPr>
              <a:t>أول الإحالات</a:t>
            </a:r>
            <a:endParaRPr lang="ar-AE" sz="1050" dirty="0"/>
          </a:p>
          <a:p>
            <a:pPr algn="r" marL="152400" indent="-152400">
              <a:spcAft>
                <a:spcPts val="400"/>
              </a:spcAft>
              <a:buSzPct val="100000"/>
              <a:buChar char="•"/>
            </a:pPr>
            <a:r>
              <a:rPr lang="ar-AE" altLang="en-US" sz="1050" dirty="0">
                <a:solidFill>
                  <a:schemeClr val="accent3"/>
                </a:solidFill>
              </a:rPr>
              <a:t>أول استشارات مجانية</a:t>
            </a:r>
            <a:endParaRPr lang="ar-AE" sz="1050" dirty="0"/>
          </a:p>
          <a:p>
            <a:pPr algn="r" marL="152400" indent="-152400">
              <a:spcAft>
                <a:spcPts val="400"/>
              </a:spcAft>
              <a:buSzPct val="100000"/>
              <a:buChar char="•"/>
            </a:pPr>
            <a:r>
              <a:rPr lang="ar-AE" altLang="en-US" sz="1050" dirty="0">
                <a:solidFill>
                  <a:schemeClr val="accent3"/>
                </a:solidFill>
              </a:rPr>
              <a:t>مراجعة أسبوعية في الشهر الأول</a:t>
            </a:r>
            <a:endParaRPr lang="ar-AE" sz="105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المصادر</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كل رقم في هذا العرض يعود إلى أحد هذه المصادر</a:t>
            </a:r>
            <a:endParaRPr lang="ar-AE" sz="1000" dirty="0"/>
          </a:p>
        </p:txBody>
      </p:sp>
      <p:sp>
        <p:nvSpPr>
          <p:cNvPr id="4" name="Text 2"/>
          <p:cNvSpPr txBox="1"/>
          <p:nvPr/>
        </p:nvSpPr>
        <p:spPr>
          <a:xfrm>
            <a:off x="8366760" y="11887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1</a:t>
            </a:r>
            <a:endParaRPr lang="en-US" sz="1100" dirty="0"/>
          </a:p>
        </p:txBody>
      </p:sp>
      <p:sp>
        <p:nvSpPr>
          <p:cNvPr id="5" name="Text 3"/>
          <p:cNvSpPr txBox="1"/>
          <p:nvPr/>
        </p:nvSpPr>
        <p:spPr>
          <a:xfrm>
            <a:off x="4663440" y="11887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المركز الاتحادي للتنافسية والإحصاء: سكان الإمارات 2023–2024 (جلف نيوز، 8 سبتمبر 2025).</a:t>
            </a:r>
            <a:endParaRPr lang="ar-AE" sz="850" dirty="0"/>
          </a:p>
        </p:txBody>
      </p:sp>
      <p:sp>
        <p:nvSpPr>
          <p:cNvPr id="6" name="Text 4"/>
          <p:cNvSpPr txBox="1"/>
          <p:nvPr/>
        </p:nvSpPr>
        <p:spPr>
          <a:xfrm>
            <a:off x="8366760" y="15443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2</a:t>
            </a:r>
            <a:endParaRPr lang="en-US" sz="1100" dirty="0"/>
          </a:p>
        </p:txBody>
      </p:sp>
      <p:sp>
        <p:nvSpPr>
          <p:cNvPr id="7" name="Text 5"/>
          <p:cNvSpPr txBox="1"/>
          <p:nvPr/>
        </p:nvSpPr>
        <p:spPr>
          <a:xfrm>
            <a:off x="4663440" y="15443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مركز دبي للإحصاء: تجاوز 4 ملايين (سبتمبر 2025)؛ 4.58 مليون نهاية 2025 (دبي آي، يوليو 2026).</a:t>
            </a:r>
            <a:endParaRPr lang="ar-AE" sz="850" dirty="0"/>
          </a:p>
        </p:txBody>
      </p:sp>
      <p:sp>
        <p:nvSpPr>
          <p:cNvPr id="8" name="Text 6"/>
          <p:cNvSpPr txBox="1"/>
          <p:nvPr/>
        </p:nvSpPr>
        <p:spPr>
          <a:xfrm>
            <a:off x="8366760" y="18999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3</a:t>
            </a:r>
            <a:endParaRPr lang="en-US" sz="1100" dirty="0"/>
          </a:p>
        </p:txBody>
      </p:sp>
      <p:sp>
        <p:nvSpPr>
          <p:cNvPr id="9" name="Text 7"/>
          <p:cNvSpPr txBox="1"/>
          <p:nvPr/>
        </p:nvSpPr>
        <p:spPr>
          <a:xfrm>
            <a:off x="4663440" y="18999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المكتب الوطني للإحصاء: 88.5% أجانب من 8.26 مليون (خليج تايمز، 2011).</a:t>
            </a:r>
            <a:endParaRPr lang="ar-AE" sz="850" dirty="0"/>
          </a:p>
        </p:txBody>
      </p:sp>
      <p:sp>
        <p:nvSpPr>
          <p:cNvPr id="10" name="Text 8"/>
          <p:cNvSpPr txBox="1"/>
          <p:nvPr/>
        </p:nvSpPr>
        <p:spPr>
          <a:xfrm>
            <a:off x="8366760" y="22555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4</a:t>
            </a:r>
            <a:endParaRPr lang="en-US" sz="1100" dirty="0"/>
          </a:p>
        </p:txBody>
      </p:sp>
      <p:sp>
        <p:nvSpPr>
          <p:cNvPr id="11" name="Text 9"/>
          <p:cNvSpPr txBox="1"/>
          <p:nvPr/>
        </p:nvSpPr>
        <p:spPr>
          <a:xfrm>
            <a:off x="4663440" y="22555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محاكم DIFC: بيان 1 نوفمبر 2017 (أكثر من 3,000 وصية)؛ البيان والإمارات اليوم 2019 (4,100 و5,000).</a:t>
            </a:r>
            <a:endParaRPr lang="ar-AE" sz="850" dirty="0"/>
          </a:p>
        </p:txBody>
      </p:sp>
      <p:sp>
        <p:nvSpPr>
          <p:cNvPr id="12" name="Text 10"/>
          <p:cNvSpPr txBox="1"/>
          <p:nvPr/>
        </p:nvSpPr>
        <p:spPr>
          <a:xfrm>
            <a:off x="8366760" y="26111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5</a:t>
            </a:r>
            <a:endParaRPr lang="en-US" sz="1100" dirty="0"/>
          </a:p>
        </p:txBody>
      </p:sp>
      <p:sp>
        <p:nvSpPr>
          <p:cNvPr id="13" name="Text 11"/>
          <p:cNvSpPr txBox="1"/>
          <p:nvPr/>
        </p:nvSpPr>
        <p:spPr>
          <a:xfrm>
            <a:off x="4663440" y="26111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محاكم DIFC: 15 يوليو 2024 (810 وصية، +6%، أكثر من 11,000)؛ 23 يوليو 2025 (922، +14%، أكثر من 13,400).</a:t>
            </a:r>
            <a:endParaRPr lang="ar-AE" sz="850" dirty="0"/>
          </a:p>
        </p:txBody>
      </p:sp>
      <p:sp>
        <p:nvSpPr>
          <p:cNvPr id="14" name="Text 12"/>
          <p:cNvSpPr txBox="1"/>
          <p:nvPr/>
        </p:nvSpPr>
        <p:spPr>
          <a:xfrm>
            <a:off x="8366760" y="29667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6</a:t>
            </a:r>
            <a:endParaRPr lang="en-US" sz="1100" dirty="0"/>
          </a:p>
        </p:txBody>
      </p:sp>
      <p:sp>
        <p:nvSpPr>
          <p:cNvPr id="15" name="Text 13"/>
          <p:cNvSpPr txBox="1"/>
          <p:nvPr/>
        </p:nvSpPr>
        <p:spPr>
          <a:xfrm>
            <a:off x="4663440" y="29667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محاكم DIFC: 11 فبراير 2026 (2,220 وصية في 2025، +22%؛ 41 طلب تنفيذ، +37%)؛ 22 أبريل 2026 (883 في الربع الأول، +120%).</a:t>
            </a:r>
            <a:endParaRPr lang="ar-AE" sz="850" dirty="0"/>
          </a:p>
        </p:txBody>
      </p:sp>
      <p:sp>
        <p:nvSpPr>
          <p:cNvPr id="16" name="Text 14"/>
          <p:cNvSpPr txBox="1"/>
          <p:nvPr/>
        </p:nvSpPr>
        <p:spPr>
          <a:xfrm>
            <a:off x="8366760" y="33223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7</a:t>
            </a:r>
            <a:endParaRPr lang="en-US" sz="1100" dirty="0"/>
          </a:p>
        </p:txBody>
      </p:sp>
      <p:sp>
        <p:nvSpPr>
          <p:cNvPr id="17" name="Text 15"/>
          <p:cNvSpPr txBox="1"/>
          <p:nvPr/>
        </p:nvSpPr>
        <p:spPr>
          <a:xfrm>
            <a:off x="4663440" y="33223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بوابة إحصاءات محاكم DIFC: 14,373 وصية منذ الإطلاق (النصف الأول 2026).</a:t>
            </a:r>
            <a:endParaRPr lang="ar-AE" sz="850" dirty="0"/>
          </a:p>
        </p:txBody>
      </p:sp>
      <p:sp>
        <p:nvSpPr>
          <p:cNvPr id="18" name="Text 16"/>
          <p:cNvSpPr txBox="1"/>
          <p:nvPr/>
        </p:nvSpPr>
        <p:spPr>
          <a:xfrm>
            <a:off x="8366760" y="36779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8</a:t>
            </a:r>
            <a:endParaRPr lang="en-US" sz="1100" dirty="0"/>
          </a:p>
        </p:txBody>
      </p:sp>
      <p:sp>
        <p:nvSpPr>
          <p:cNvPr id="19" name="Text 17"/>
          <p:cNvSpPr txBox="1"/>
          <p:nvPr/>
        </p:nvSpPr>
        <p:spPr>
          <a:xfrm>
            <a:off x="4663440" y="36779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دائرة القضاء في أبوظبي: 1,668 وصية و64 جنسية (جلف نيوز، 14 ديسمبر 2019).</a:t>
            </a:r>
            <a:endParaRPr lang="ar-AE" sz="850" dirty="0"/>
          </a:p>
        </p:txBody>
      </p:sp>
      <p:sp>
        <p:nvSpPr>
          <p:cNvPr id="20" name="Text 18"/>
          <p:cNvSpPr txBox="1"/>
          <p:nvPr/>
        </p:nvSpPr>
        <p:spPr>
          <a:xfrm>
            <a:off x="8366760" y="40335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9</a:t>
            </a:r>
            <a:endParaRPr lang="en-US" sz="1100" dirty="0"/>
          </a:p>
        </p:txBody>
      </p:sp>
      <p:sp>
        <p:nvSpPr>
          <p:cNvPr id="21" name="Text 19"/>
          <p:cNvSpPr txBox="1"/>
          <p:nvPr/>
        </p:nvSpPr>
        <p:spPr>
          <a:xfrm>
            <a:off x="4663440" y="40335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محكمة الأسرة المدنية بأبوظبي: 11,000 وصية في 2025، 21,000 تراكمياً (جلف نيوز، 19 يناير 2026)؛ 8,886 معاملة في الربع الأول 2026 (وام).</a:t>
            </a:r>
            <a:endParaRPr lang="ar-AE" sz="850" dirty="0"/>
          </a:p>
        </p:txBody>
      </p:sp>
      <p:sp>
        <p:nvSpPr>
          <p:cNvPr id="22" name="Text 20"/>
          <p:cNvSpPr txBox="1"/>
          <p:nvPr/>
        </p:nvSpPr>
        <p:spPr>
          <a:xfrm>
            <a:off x="4160520" y="11887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10</a:t>
            </a:r>
            <a:endParaRPr lang="en-US" sz="1100" dirty="0"/>
          </a:p>
        </p:txBody>
      </p:sp>
      <p:sp>
        <p:nvSpPr>
          <p:cNvPr id="23" name="Text 21"/>
          <p:cNvSpPr txBox="1"/>
          <p:nvPr/>
        </p:nvSpPr>
        <p:spPr>
          <a:xfrm>
            <a:off x="457200" y="11887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محاكم دبي 2022: 3.797 مليار درهم، 1,555 / 500 / 24 تركة (الإمارات اليوم، 8 يوليو 2023).</a:t>
            </a:r>
            <a:endParaRPr lang="ar-AE" sz="850" dirty="0"/>
          </a:p>
        </p:txBody>
      </p:sp>
      <p:sp>
        <p:nvSpPr>
          <p:cNvPr id="24" name="Text 22"/>
          <p:cNvSpPr txBox="1"/>
          <p:nvPr/>
        </p:nvSpPr>
        <p:spPr>
          <a:xfrm>
            <a:off x="4160520" y="15443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11</a:t>
            </a:r>
            <a:endParaRPr lang="en-US" sz="1100" dirty="0"/>
          </a:p>
        </p:txBody>
      </p:sp>
      <p:sp>
        <p:nvSpPr>
          <p:cNvPr id="25" name="Text 23"/>
          <p:cNvSpPr txBox="1"/>
          <p:nvPr/>
        </p:nvSpPr>
        <p:spPr>
          <a:xfrm>
            <a:off x="457200" y="15443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محاكم دبي 2023: 580 قضية، 4.116 مليار درهم، 81 / 52 / 28 يوماً، 92.6% (The Law Reporters، 13 يوليو 2024).</a:t>
            </a:r>
            <a:endParaRPr lang="ar-AE" sz="850" dirty="0"/>
          </a:p>
        </p:txBody>
      </p:sp>
      <p:sp>
        <p:nvSpPr>
          <p:cNvPr id="26" name="Text 24"/>
          <p:cNvSpPr txBox="1"/>
          <p:nvPr/>
        </p:nvSpPr>
        <p:spPr>
          <a:xfrm>
            <a:off x="4160520" y="18999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12</a:t>
            </a:r>
            <a:endParaRPr lang="en-US" sz="1100" dirty="0"/>
          </a:p>
        </p:txBody>
      </p:sp>
      <p:sp>
        <p:nvSpPr>
          <p:cNvPr id="27" name="Text 25"/>
          <p:cNvSpPr txBox="1"/>
          <p:nvPr/>
        </p:nvSpPr>
        <p:spPr>
          <a:xfrm>
            <a:off x="457200" y="18999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محكمة التركات بدبي، أول 11 شهراً: 1,814 ملفاً، 40 يوماً، 32.8 مليار درهم (مكتوم بن محمد، 28 أكتوبر 2024).</a:t>
            </a:r>
            <a:endParaRPr lang="ar-AE" sz="850" dirty="0"/>
          </a:p>
        </p:txBody>
      </p:sp>
      <p:sp>
        <p:nvSpPr>
          <p:cNvPr id="28" name="Text 26"/>
          <p:cNvSpPr txBox="1"/>
          <p:nvPr/>
        </p:nvSpPr>
        <p:spPr>
          <a:xfrm>
            <a:off x="4160520" y="22555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13</a:t>
            </a:r>
            <a:endParaRPr lang="en-US" sz="1100" dirty="0"/>
          </a:p>
        </p:txBody>
      </p:sp>
      <p:sp>
        <p:nvSpPr>
          <p:cNvPr id="29" name="Text 27"/>
          <p:cNvSpPr txBox="1"/>
          <p:nvPr/>
        </p:nvSpPr>
        <p:spPr>
          <a:xfrm>
            <a:off x="457200" y="22555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محكمة التركات 2024: 84%، 24 يوماً، 1,407 إشهاداً، 10 و35 مليار درهم (المكتب الإعلامي لحكومة دبي، 29 يناير 2025).</a:t>
            </a:r>
            <a:endParaRPr lang="ar-AE" sz="850" dirty="0"/>
          </a:p>
        </p:txBody>
      </p:sp>
      <p:sp>
        <p:nvSpPr>
          <p:cNvPr id="30" name="Text 28"/>
          <p:cNvSpPr txBox="1"/>
          <p:nvPr/>
        </p:nvSpPr>
        <p:spPr>
          <a:xfrm>
            <a:off x="4160520" y="26111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14</a:t>
            </a:r>
            <a:endParaRPr lang="en-US" sz="1100" dirty="0"/>
          </a:p>
        </p:txBody>
      </p:sp>
      <p:sp>
        <p:nvSpPr>
          <p:cNvPr id="31" name="Text 29"/>
          <p:cNvSpPr txBox="1"/>
          <p:nvPr/>
        </p:nvSpPr>
        <p:spPr>
          <a:xfrm>
            <a:off x="457200" y="26111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محاكم دبي 2025: 13.8 يوماً، 92.5%، 5.26 مليار درهم، 284 رخصة (البيان، 9 يوليو 2026)؛ 3.5 مليار درهم للورثة ومنصة جبر (جلف نيوز، 25 أبريل 2026).</a:t>
            </a:r>
            <a:endParaRPr lang="ar-AE" sz="850" dirty="0"/>
          </a:p>
        </p:txBody>
      </p:sp>
      <p:sp>
        <p:nvSpPr>
          <p:cNvPr id="32" name="Text 30"/>
          <p:cNvSpPr txBox="1"/>
          <p:nvPr/>
        </p:nvSpPr>
        <p:spPr>
          <a:xfrm>
            <a:off x="4160520" y="29667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15</a:t>
            </a:r>
            <a:endParaRPr lang="en-US" sz="1100" dirty="0"/>
          </a:p>
        </p:txBody>
      </p:sp>
      <p:sp>
        <p:nvSpPr>
          <p:cNvPr id="33" name="Text 31"/>
          <p:cNvSpPr txBox="1"/>
          <p:nvPr/>
        </p:nvSpPr>
        <p:spPr>
          <a:xfrm>
            <a:off x="457200" y="29667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YouGov لصالح Blanket، 1,014 مقيماً، سبتمبر 2026: 49%، 56%، 24%، 73%، 28%، 21% (جلف نيوز، 20 أكتوبر 2026).</a:t>
            </a:r>
            <a:endParaRPr lang="ar-AE" sz="850" dirty="0"/>
          </a:p>
        </p:txBody>
      </p:sp>
      <p:sp>
        <p:nvSpPr>
          <p:cNvPr id="34" name="Text 32"/>
          <p:cNvSpPr txBox="1"/>
          <p:nvPr/>
        </p:nvSpPr>
        <p:spPr>
          <a:xfrm>
            <a:off x="4160520" y="33223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16</a:t>
            </a:r>
            <a:endParaRPr lang="en-US" sz="1100" dirty="0"/>
          </a:p>
        </p:txBody>
      </p:sp>
      <p:sp>
        <p:nvSpPr>
          <p:cNvPr id="35" name="Text 33"/>
          <p:cNvSpPr txBox="1"/>
          <p:nvPr/>
        </p:nvSpPr>
        <p:spPr>
          <a:xfrm>
            <a:off x="457200" y="33223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استطلاع سجل وصايا DIFC 2017 وتجميد الحسابات (جلف نيوز، 12 نوفمبر 2018)؛ تقديرات الزمن: Caunsel (15 أكتوبر 2026)، Dubai Wills Center (13 يناير 2026).</a:t>
            </a:r>
            <a:endParaRPr lang="ar-AE" sz="850" dirty="0"/>
          </a:p>
        </p:txBody>
      </p:sp>
      <p:sp>
        <p:nvSpPr>
          <p:cNvPr id="36" name="Text 34"/>
          <p:cNvSpPr txBox="1"/>
          <p:nvPr/>
        </p:nvSpPr>
        <p:spPr>
          <a:xfrm>
            <a:off x="4160520" y="36779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17</a:t>
            </a:r>
            <a:endParaRPr lang="en-US" sz="1100" dirty="0"/>
          </a:p>
        </p:txBody>
      </p:sp>
      <p:sp>
        <p:nvSpPr>
          <p:cNvPr id="37" name="Text 35"/>
          <p:cNvSpPr txBox="1"/>
          <p:nvPr/>
        </p:nvSpPr>
        <p:spPr>
          <a:xfrm>
            <a:off x="457200" y="36779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الشركات العائلية: جلف نيوز، 9 فبراير 2023 (Jersey Finance)؛ خليج تايمز، 20 مايو 2026 و6 سبتمبر 2023 (Citi).</a:t>
            </a:r>
            <a:endParaRPr lang="ar-AE" sz="850" dirty="0"/>
          </a:p>
        </p:txBody>
      </p:sp>
      <p:sp>
        <p:nvSpPr>
          <p:cNvPr id="38" name="Text 36"/>
          <p:cNvSpPr txBox="1"/>
          <p:nvPr/>
        </p:nvSpPr>
        <p:spPr>
          <a:xfrm>
            <a:off x="4160520" y="4033520"/>
            <a:ext cx="320040" cy="309880"/>
          </a:xfrm>
          <a:prstGeom prst="rect">
            <a:avLst/>
          </a:prstGeom>
          <a:noFill/>
          <a:ln/>
        </p:spPr>
        <p:txBody>
          <a:bodyPr wrap="square" lIns="0" tIns="0" rIns="0" bIns="0" rtlCol="0" anchor="t"/>
          <a:lstStyle/>
          <a:p>
            <a:pPr algn="r" indent="0" marL="0">
              <a:buNone/>
            </a:pPr>
            <a:r>
              <a:rPr lang="en-US" sz="1100" b="1" dirty="0">
                <a:solidFill>
                  <a:schemeClr val="accent1"/>
                </a:solidFill>
                <a:latin typeface="Cambria" pitchFamily="34" charset="0"/>
                <a:ea typeface="Cambria" pitchFamily="34" charset="-122"/>
                <a:cs typeface="Cambria" pitchFamily="34" charset="-120"/>
              </a:rPr>
              <a:t>18</a:t>
            </a:r>
            <a:endParaRPr lang="en-US" sz="1100" dirty="0"/>
          </a:p>
        </p:txBody>
      </p:sp>
      <p:sp>
        <p:nvSpPr>
          <p:cNvPr id="39" name="Text 37"/>
          <p:cNvSpPr txBox="1"/>
          <p:nvPr/>
        </p:nvSpPr>
        <p:spPr>
          <a:xfrm>
            <a:off x="457200" y="4033520"/>
            <a:ext cx="3657600" cy="309880"/>
          </a:xfrm>
          <a:prstGeom prst="rect">
            <a:avLst/>
          </a:prstGeom>
          <a:noFill/>
          <a:ln/>
        </p:spPr>
        <p:txBody>
          <a:bodyPr wrap="square" lIns="0" tIns="0" rIns="0" bIns="0" rtlCol="0" anchor="t"/>
          <a:lstStyle/>
          <a:p>
            <a:pPr rtl="1" algn="r" indent="0" marL="0">
              <a:buNone/>
            </a:pPr>
            <a:r>
              <a:rPr lang="ar-AE" altLang="en-US" sz="850" dirty="0">
                <a:solidFill>
                  <a:schemeClr val="tx2"/>
                </a:solidFill>
              </a:rPr>
              <a:t>الإطار القانوني: قانون دبي 15/2017؛ قانون أبوظبي 14/2021؛ المرسوم الاتحادي 41/2022؛ مرسوم دبي 25/2023.</a:t>
            </a:r>
            <a:endParaRPr lang="ar-AE" sz="850" dirty="0"/>
          </a:p>
        </p:txBody>
      </p:sp>
      <p:sp>
        <p:nvSpPr>
          <p:cNvPr id="40" name="Text 38"/>
          <p:cNvSpPr txBox="1"/>
          <p:nvPr/>
        </p:nvSpPr>
        <p:spPr>
          <a:xfrm>
            <a:off x="457200" y="4315968"/>
            <a:ext cx="8229600" cy="274320"/>
          </a:xfrm>
          <a:prstGeom prst="rect">
            <a:avLst/>
          </a:prstGeom>
          <a:noFill/>
          <a:ln/>
        </p:spPr>
        <p:txBody>
          <a:bodyPr wrap="square" lIns="0" tIns="0" rIns="0" bIns="0" rtlCol="0" anchor="ctr"/>
          <a:lstStyle/>
          <a:p>
            <a:pPr rtl="1" algn="r" indent="0" marL="0">
              <a:buNone/>
            </a:pPr>
            <a:r>
              <a:rPr lang="ar-AE" altLang="en-US" sz="900" i="1" dirty="0">
                <a:solidFill>
                  <a:schemeClr val="accent3"/>
                </a:solidFill>
              </a:rPr>
              <a:t>الأرقام المعلّمة بنجمة (*) محسوبة من نسب النمو المعلنة رسمياً وليست منشورة بذاتها.</a:t>
            </a:r>
            <a:endParaRPr lang="ar-AE" sz="900" dirty="0"/>
          </a:p>
        </p:txBody>
      </p:sp>
      <p:sp>
        <p:nvSpPr>
          <p:cNvPr id="41"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457200" y="457200"/>
            <a:ext cx="8229600" cy="4023360"/>
          </a:xfrm>
          <a:prstGeom prst="rect">
            <a:avLst/>
          </a:prstGeom>
          <a:ln w="9525">
            <a:solidFill>
              <a:srgbClr val="B5723B"/>
            </a:solidFill>
            <a:prstDash val="solid"/>
          </a:ln>
        </p:spPr>
      </p:sp>
      <p:sp>
        <p:nvSpPr>
          <p:cNvPr id="3" name="Text 1"/>
          <p:cNvSpPr txBox="1"/>
          <p:nvPr/>
        </p:nvSpPr>
        <p:spPr>
          <a:xfrm>
            <a:off x="7406640" y="640080"/>
            <a:ext cx="914400" cy="1005840"/>
          </a:xfrm>
          <a:prstGeom prst="rect">
            <a:avLst/>
          </a:prstGeom>
          <a:noFill/>
          <a:ln/>
        </p:spPr>
        <p:txBody>
          <a:bodyPr wrap="square" lIns="0" tIns="0" rIns="0" bIns="0" rtlCol="0" anchor="t"/>
          <a:lstStyle/>
          <a:p>
            <a:pPr algn="r" indent="0" marL="0">
              <a:buNone/>
            </a:pPr>
            <a:r>
              <a:rPr lang="en-US" sz="7200" dirty="0">
                <a:solidFill>
                  <a:schemeClr val="accent1"/>
                </a:solidFill>
                <a:latin typeface="Cambria" pitchFamily="34" charset="0"/>
                <a:ea typeface="Cambria" pitchFamily="34" charset="-122"/>
                <a:cs typeface="Cambria" pitchFamily="34" charset="-120"/>
              </a:rPr>
              <a:t>“</a:t>
            </a:r>
            <a:endParaRPr lang="en-US" sz="7200" dirty="0"/>
          </a:p>
        </p:txBody>
      </p:sp>
      <p:sp>
        <p:nvSpPr>
          <p:cNvPr id="4" name="Text 2"/>
          <p:cNvSpPr txBox="1"/>
          <p:nvPr/>
        </p:nvSpPr>
        <p:spPr>
          <a:xfrm>
            <a:off x="914400" y="1463040"/>
            <a:ext cx="7315200" cy="2011680"/>
          </a:xfrm>
          <a:prstGeom prst="rect">
            <a:avLst/>
          </a:prstGeom>
          <a:noFill/>
          <a:ln/>
        </p:spPr>
        <p:txBody>
          <a:bodyPr wrap="square" lIns="0" tIns="0" rIns="0" bIns="0" rtlCol="0" anchor="ctr"/>
          <a:lstStyle/>
          <a:p>
            <a:pPr rtl="1" algn="r" indent="0" marL="0">
              <a:buNone/>
            </a:pPr>
            <a:r>
              <a:rPr lang="ar-AE" altLang="en-US" sz="2200" i="1" dirty="0">
                <a:solidFill>
                  <a:schemeClr val="bg1"/>
                </a:solidFill>
                <a:latin typeface="Cambria" pitchFamily="34" charset="0"/>
                <a:ea typeface="Cambria" pitchFamily="34" charset="-122"/>
                <a:cs typeface="Cambria" pitchFamily="34" charset="-120"/>
              </a:rPr>
              <a:t>أفضل كلمة تسويقية ليست «وصية» بل «حماية الأصول». الوصية مرتبطة بالموت، أما حماية الأصول فمرتبطة بالاستثمار والأمان.</a:t>
            </a:r>
            <a:endParaRPr lang="ar-AE" sz="2200" dirty="0"/>
          </a:p>
        </p:txBody>
      </p:sp>
      <p:sp>
        <p:nvSpPr>
          <p:cNvPr id="5" name="Text 3"/>
          <p:cNvSpPr txBox="1"/>
          <p:nvPr/>
        </p:nvSpPr>
        <p:spPr>
          <a:xfrm>
            <a:off x="914400" y="3566160"/>
            <a:ext cx="7315200" cy="457200"/>
          </a:xfrm>
          <a:prstGeom prst="rect">
            <a:avLst/>
          </a:prstGeom>
          <a:noFill/>
          <a:ln/>
        </p:spPr>
        <p:txBody>
          <a:bodyPr wrap="square" lIns="0" tIns="0" rIns="0" bIns="0" rtlCol="0" anchor="ctr"/>
          <a:lstStyle/>
          <a:p>
            <a:pPr rtl="1" algn="r" indent="0" marL="0">
              <a:buNone/>
            </a:pPr>
            <a:r>
              <a:rPr lang="ar-AE" altLang="en-US" sz="1200" dirty="0">
                <a:solidFill>
                  <a:schemeClr val="accent2"/>
                </a:solidFill>
              </a:rPr>
              <a:t>نقطة مهمة جداً في التسويق</a:t>
            </a:r>
            <a:endParaRPr lang="ar-AE" sz="12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457200" y="457200"/>
            <a:ext cx="8229600" cy="4229100"/>
          </a:xfrm>
          <a:prstGeom prst="rect">
            <a:avLst/>
          </a:prstGeom>
          <a:ln w="9525">
            <a:solidFill>
              <a:srgbClr val="B5723B"/>
            </a:solidFill>
            <a:prstDash val="solid"/>
          </a:ln>
        </p:spPr>
      </p:sp>
      <p:sp>
        <p:nvSpPr>
          <p:cNvPr id="3" name="Text 1"/>
          <p:cNvSpPr txBox="1"/>
          <p:nvPr/>
        </p:nvSpPr>
        <p:spPr>
          <a:xfrm>
            <a:off x="868680" y="777240"/>
            <a:ext cx="7406640" cy="822960"/>
          </a:xfrm>
          <a:prstGeom prst="rect">
            <a:avLst/>
          </a:prstGeom>
          <a:noFill/>
          <a:ln/>
        </p:spPr>
        <p:txBody>
          <a:bodyPr wrap="square" lIns="0" tIns="0" rIns="0" bIns="0" rtlCol="0" anchor="ctr"/>
          <a:lstStyle/>
          <a:p>
            <a:pPr rtl="1" algn="r" indent="0" marL="0">
              <a:buNone/>
            </a:pPr>
            <a:r>
              <a:rPr lang="ar-AE" altLang="en-US" sz="2800" b="1" dirty="0">
                <a:solidFill>
                  <a:schemeClr val="bg1"/>
                </a:solidFill>
                <a:latin typeface="Cambria" pitchFamily="34" charset="0"/>
                <a:ea typeface="Cambria" pitchFamily="34" charset="-122"/>
                <a:cs typeface="Cambria" pitchFamily="34" charset="-120"/>
              </a:rPr>
              <a:t>جهة الاتصال للشركاء</a:t>
            </a:r>
            <a:endParaRPr lang="ar-AE" sz="2800" dirty="0"/>
          </a:p>
        </p:txBody>
      </p:sp>
      <p:sp>
        <p:nvSpPr>
          <p:cNvPr id="4" name="Text 2"/>
          <p:cNvSpPr txBox="1"/>
          <p:nvPr/>
        </p:nvSpPr>
        <p:spPr>
          <a:xfrm>
            <a:off x="868680" y="1554480"/>
            <a:ext cx="7406640" cy="457200"/>
          </a:xfrm>
          <a:prstGeom prst="rect">
            <a:avLst/>
          </a:prstGeom>
          <a:noFill/>
          <a:ln/>
        </p:spPr>
        <p:txBody>
          <a:bodyPr wrap="square" lIns="0" tIns="0" rIns="0" bIns="0" rtlCol="0" anchor="ctr"/>
          <a:lstStyle/>
          <a:p>
            <a:pPr rtl="1" algn="r" indent="0" marL="0">
              <a:buNone/>
            </a:pPr>
            <a:r>
              <a:rPr lang="ar-AE" altLang="en-US" sz="1300" dirty="0">
                <a:solidFill>
                  <a:schemeClr val="accent2"/>
                </a:solidFill>
              </a:rPr>
              <a:t>د. ورد شعيبي — مدير تطوير الأعمال والعلاقات الدولية</a:t>
            </a:r>
            <a:endParaRPr lang="ar-AE" sz="1300" dirty="0"/>
          </a:p>
        </p:txBody>
      </p:sp>
      <p:pic>
        <p:nvPicPr>
          <p:cNvPr id="5" name="icon FaLocationDot" descr="preencoded.png">    </p:cNvPr>
          <p:cNvPicPr>
            <a:picLocks noChangeAspect="1"/>
          </p:cNvPicPr>
          <p:nvPr/>
        </p:nvPicPr>
        <p:blipFill>
          <a:blip r:embed="rId1"/>
          <a:stretch>
            <a:fillRect/>
          </a:stretch>
        </p:blipFill>
        <p:spPr>
          <a:xfrm>
            <a:off x="8001000" y="2286000"/>
            <a:ext cx="274320" cy="274320"/>
          </a:xfrm>
          <a:prstGeom prst="rect">
            <a:avLst/>
          </a:prstGeom>
        </p:spPr>
      </p:pic>
      <p:sp>
        <p:nvSpPr>
          <p:cNvPr id="6" name="Text 3"/>
          <p:cNvSpPr txBox="1"/>
          <p:nvPr/>
        </p:nvSpPr>
        <p:spPr>
          <a:xfrm>
            <a:off x="868680" y="2240280"/>
            <a:ext cx="6949440" cy="365760"/>
          </a:xfrm>
          <a:prstGeom prst="rect">
            <a:avLst/>
          </a:prstGeom>
          <a:noFill/>
          <a:ln/>
        </p:spPr>
        <p:txBody>
          <a:bodyPr wrap="square" lIns="0" tIns="0" rIns="0" bIns="0" rtlCol="0" anchor="ctr"/>
          <a:lstStyle/>
          <a:p>
            <a:pPr rtl="1" algn="r" indent="0" marL="0">
              <a:buNone/>
            </a:pPr>
            <a:r>
              <a:rPr lang="ar-AE" altLang="en-US" sz="1200" dirty="0">
                <a:solidFill>
                  <a:schemeClr val="bg2"/>
                </a:solidFill>
              </a:rPr>
              <a:t>شارع الشيخ زايد، برج سعيد 2، مكتب 501، دبي، الإمارات العربية المتحدة</a:t>
            </a:r>
            <a:endParaRPr lang="ar-AE" sz="1200" dirty="0"/>
          </a:p>
        </p:txBody>
      </p:sp>
      <p:pic>
        <p:nvPicPr>
          <p:cNvPr id="7" name="icon FaPhone" descr="preencoded.png">    </p:cNvPr>
          <p:cNvPicPr>
            <a:picLocks noChangeAspect="1"/>
          </p:cNvPicPr>
          <p:nvPr/>
        </p:nvPicPr>
        <p:blipFill>
          <a:blip r:embed="rId2"/>
          <a:stretch>
            <a:fillRect/>
          </a:stretch>
        </p:blipFill>
        <p:spPr>
          <a:xfrm>
            <a:off x="8001000" y="2788920"/>
            <a:ext cx="274320" cy="274320"/>
          </a:xfrm>
          <a:prstGeom prst="rect">
            <a:avLst/>
          </a:prstGeom>
        </p:spPr>
      </p:pic>
      <p:sp>
        <p:nvSpPr>
          <p:cNvPr id="8" name="Text 4"/>
          <p:cNvSpPr txBox="1"/>
          <p:nvPr/>
        </p:nvSpPr>
        <p:spPr>
          <a:xfrm>
            <a:off x="868680" y="2743200"/>
            <a:ext cx="6949440" cy="365760"/>
          </a:xfrm>
          <a:prstGeom prst="rect">
            <a:avLst/>
          </a:prstGeom>
          <a:noFill/>
          <a:ln/>
        </p:spPr>
        <p:txBody>
          <a:bodyPr wrap="square" lIns="0" tIns="0" rIns="0" bIns="0" rtlCol="0" anchor="ctr"/>
          <a:lstStyle/>
          <a:p>
            <a:pPr rtl="1" algn="r" indent="0" marL="0">
              <a:buNone/>
            </a:pPr>
            <a:r>
              <a:rPr lang="ar-AE" altLang="en-US" sz="1200" dirty="0">
                <a:solidFill>
                  <a:schemeClr val="bg2"/>
                </a:solidFill>
              </a:rPr>
              <a:t>+971 4 359 5552  |  جوال وواتساب: +971 52 107 4972</a:t>
            </a:r>
            <a:endParaRPr lang="ar-AE" sz="1200" dirty="0"/>
          </a:p>
        </p:txBody>
      </p:sp>
      <p:pic>
        <p:nvPicPr>
          <p:cNvPr id="9" name="icon FaEnvelope" descr="preencoded.png">    </p:cNvPr>
          <p:cNvPicPr>
            <a:picLocks noChangeAspect="1"/>
          </p:cNvPicPr>
          <p:nvPr/>
        </p:nvPicPr>
        <p:blipFill>
          <a:blip r:embed="rId3"/>
          <a:stretch>
            <a:fillRect/>
          </a:stretch>
        </p:blipFill>
        <p:spPr>
          <a:xfrm>
            <a:off x="8001000" y="3291840"/>
            <a:ext cx="274320" cy="274320"/>
          </a:xfrm>
          <a:prstGeom prst="rect">
            <a:avLst/>
          </a:prstGeom>
        </p:spPr>
      </p:pic>
      <p:sp>
        <p:nvSpPr>
          <p:cNvPr id="10" name="Text 5"/>
          <p:cNvSpPr txBox="1"/>
          <p:nvPr/>
        </p:nvSpPr>
        <p:spPr>
          <a:xfrm>
            <a:off x="868680" y="3246120"/>
            <a:ext cx="6949440" cy="365760"/>
          </a:xfrm>
          <a:prstGeom prst="rect">
            <a:avLst/>
          </a:prstGeom>
          <a:noFill/>
          <a:ln/>
        </p:spPr>
        <p:txBody>
          <a:bodyPr wrap="square" lIns="0" tIns="0" rIns="0" bIns="0" rtlCol="0" anchor="ctr"/>
          <a:lstStyle/>
          <a:p>
            <a:pPr rtl="1" algn="r" indent="0" marL="0">
              <a:buNone/>
            </a:pPr>
            <a:r>
              <a:rPr lang="ar-AE" altLang="en-US" sz="1200" dirty="0">
                <a:solidFill>
                  <a:schemeClr val="bg2"/>
                </a:solidFill>
              </a:rPr>
              <a:t>ward.shueibi@rk-advocates.com  |  rk-advocates.com</a:t>
            </a:r>
            <a:endParaRPr lang="ar-AE" sz="1200" dirty="0"/>
          </a:p>
        </p:txBody>
      </p:sp>
      <p:pic>
        <p:nvPicPr>
          <p:cNvPr id="11" name="icon FaClock" descr="preencoded.png">    </p:cNvPr>
          <p:cNvPicPr>
            <a:picLocks noChangeAspect="1"/>
          </p:cNvPicPr>
          <p:nvPr/>
        </p:nvPicPr>
        <p:blipFill>
          <a:blip r:embed="rId4"/>
          <a:stretch>
            <a:fillRect/>
          </a:stretch>
        </p:blipFill>
        <p:spPr>
          <a:xfrm>
            <a:off x="8001000" y="3794760"/>
            <a:ext cx="274320" cy="274320"/>
          </a:xfrm>
          <a:prstGeom prst="rect">
            <a:avLst/>
          </a:prstGeom>
        </p:spPr>
      </p:pic>
      <p:sp>
        <p:nvSpPr>
          <p:cNvPr id="12" name="Text 6"/>
          <p:cNvSpPr txBox="1"/>
          <p:nvPr/>
        </p:nvSpPr>
        <p:spPr>
          <a:xfrm>
            <a:off x="868680" y="3749040"/>
            <a:ext cx="6949440" cy="365760"/>
          </a:xfrm>
          <a:prstGeom prst="rect">
            <a:avLst/>
          </a:prstGeom>
          <a:noFill/>
          <a:ln/>
        </p:spPr>
        <p:txBody>
          <a:bodyPr wrap="square" lIns="0" tIns="0" rIns="0" bIns="0" rtlCol="0" anchor="ctr"/>
          <a:lstStyle/>
          <a:p>
            <a:pPr rtl="1" algn="r" indent="0" marL="0">
              <a:buNone/>
            </a:pPr>
            <a:r>
              <a:rPr lang="ar-AE" altLang="en-US" sz="1200" dirty="0">
                <a:solidFill>
                  <a:schemeClr val="bg2"/>
                </a:solidFill>
              </a:rPr>
              <a:t>الاثنين – الجمعة، 8:30 – 17:30  |  العربية · English · 中文 · Русский</a:t>
            </a:r>
            <a:endParaRPr lang="ar-AE" sz="12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Midnight Copper">
  <a:themeElements>
    <a:clrScheme name="Midnight Copper">
      <a:dk1>
        <a:srgbClr val="0E2238"/>
      </a:dk1>
      <a:lt1>
        <a:srgbClr val="FFFFFF"/>
      </a:lt1>
      <a:dk2>
        <a:srgbClr val="1F3A52"/>
      </a:dk2>
      <a:lt2>
        <a:srgbClr val="F4F1EB"/>
      </a:lt2>
      <a:accent1>
        <a:srgbClr val="B5723B"/>
      </a:accent1>
      <a:accent2>
        <a:srgbClr val="D9B38C"/>
      </a:accent2>
      <a:accent3>
        <a:srgbClr val="6E7B88"/>
      </a:accent3>
      <a:accent4>
        <a:srgbClr val="8C5527"/>
      </a:accent4>
      <a:accent5>
        <a:srgbClr val="E6E1D8"/>
      </a:accent5>
      <a:accent6>
        <a:srgbClr val="5B7A8C"/>
      </a:accent6>
      <a:hlink>
        <a:srgbClr val="B5723B"/>
      </a:hlink>
      <a:folHlink>
        <a:srgbClr val="8C5527"/>
      </a:folHlink>
    </a:clrScheme>
    <a:fontScheme name="Midnight Copp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Rashid Alkaitoob Advocates &amp; Legal Consultants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برنامج الحماية القانونية للمستثمرين — دليل الشريك العقاري</dc:title>
  <dc:subject>PptxGenJS Presentation</dc:subject>
  <dc:creator>Rashid Alkaitoob Advocates &amp; Legal Consultants</dc:creator>
  <cp:lastModifiedBy>Rashid Alkaitoob Advocates &amp; Legal Consultants</cp:lastModifiedBy>
  <cp:revision>1</cp:revision>
  <dcterms:created xsi:type="dcterms:W3CDTF">2026-10-27T14:33:26Z</dcterms:created>
  <dcterms:modified xsi:type="dcterms:W3CDTF">2026-10-27T14:33:26Z</dcterms:modified>
</cp:coreProperties>
</file>