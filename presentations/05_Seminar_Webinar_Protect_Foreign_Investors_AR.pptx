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المقدمة" id="{15987c9c-6f56-ac06-8332-884df94a5f8c}">
          <p14:sldIdLst>
            <p14:sldId id="256"/>
            <p14:sldId id="257"/>
          </p14:sldIdLst>
        </p14:section>
        <p14:section name="الواقع" id="{67bcb1ee-a6f0-707e-419f-bf063cbdbe35}">
          <p14:sldIdLst>
            <p14:sldId id="258"/>
            <p14:sldId id="259"/>
            <p14:sldId id="260"/>
          </p14:sldIdLst>
        </p14:section>
        <p14:section name="الإطار القانوني" id="{fbb2f4e5-194f-1d6d-4923-9b13ace634f7}">
          <p14:sldIdLst>
            <p14:sldId id="261"/>
            <p14:sldId id="262"/>
            <p14:sldId id="263"/>
          </p14:sldIdLst>
        </p14:section>
        <p14:section name="الأدوات" id="{1529f87c-ccbd-7595-834e-d737ac599d67}">
          <p14:sldIdLst>
            <p14:sldId id="264"/>
            <p14:sldId id="265"/>
            <p14:sldId id="266"/>
          </p14:sldIdLst>
        </p14:section>
        <p14:section name="الحالات" id="{c67e63ba-3afe-b0e8-78af-b2861afc8584}">
          <p14:sldIdLst>
            <p14:sldId id="267"/>
            <p14:sldId id="268"/>
            <p14:sldId id="269"/>
            <p14:sldId id="270"/>
            <p14:sldId id="271"/>
            <p14:sldId id="272"/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التأكيد للحضور: المسار الصحيح يُحدَّد لكل شخص بعد جلسة اكتشاف، ولا توجد إجابة واحدة للجميع.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B0B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94192" y="4626864"/>
            <a:ext cx="384048" cy="384048"/>
          </a:xfrm>
          <a:prstGeom prst="rect">
            <a:avLst/>
          </a:prstGeom>
          <a:solidFill>
            <a:srgbClr val="0B0B0B"/>
          </a:solidFill>
          <a:ln w="9525">
            <a:solidFill>
              <a:srgbClr val="B08D5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394192" y="46268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08D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RK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200400" y="4626864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8C39A"/>
                </a:solidFill>
              </a:rPr>
              <a:t>راشد الكيتوب للمحاماة والاستشارات القانونية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8C39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94192" y="4626864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B08D5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394192" y="46268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08D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RK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200400" y="4626864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راشد الكيتوب للمحاماة والاستشارات القانونية</a:t>
            </a:r>
            <a:endParaRPr lang="en-US" sz="900" dirty="0"/>
          </a:p>
        </p:txBody>
      </p:sp>
      <p:sp>
        <p:nvSpPr>
          <p:cNvPr id="5" name="Text 3"/>
          <p:cNvSpPr/>
          <p:nvPr>
            <p:ph idx="103" type="title" hasCustomPrompt="1"/>
          </p:nvPr>
        </p:nvSpPr>
        <p:spPr>
          <a:xfrm>
            <a:off x="457200" y="347472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rtl="1" algn="r" indent="0" marL="0">
              <a:buNone/>
              <a:defRPr lang="en-US" sz="2600" b="1" dirty="0">
                <a:solidFill>
                  <a:srgbClr val="0B0B0B"/>
                </a:solidFill>
              </a:defRPr>
            </a:lvl1pPr>
          </a:lstStyle>
          <a:p>
            <a:pPr algn="r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6F7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LAIN_DARK">
    <p:bg>
      <p:bgPr>
        <a:solidFill>
          <a:srgbClr val="0B0B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8C39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8229600" cy="4229100"/>
          </a:xfrm>
          <a:prstGeom prst="rect">
            <a:avLst/>
          </a:prstGeom>
          <a:ln w="9525">
            <a:solidFill>
              <a:srgbClr val="B08D5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52360" y="868680"/>
            <a:ext cx="822960" cy="822960"/>
          </a:xfrm>
          <a:prstGeom prst="rect">
            <a:avLst/>
          </a:prstGeom>
          <a:solidFill>
            <a:srgbClr val="0B0B0B"/>
          </a:solidFill>
          <a:ln w="12700">
            <a:solidFill>
              <a:srgbClr val="B08D5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452360" y="8686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RK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868680"/>
            <a:ext cx="5943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200" dirty="0">
                <a:solidFill>
                  <a:schemeClr val="accent2"/>
                </a:solidFill>
              </a:rPr>
              <a:t>راشد الكيتوب للمحاماة والاستشارات القانونية</a:t>
            </a:r>
            <a:endParaRPr lang="ar-AE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1965960"/>
            <a:ext cx="7406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3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كيف تحمي المستثمر الأجنبي في الإمارات</a:t>
            </a:r>
            <a:endParaRPr lang="ar-AE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383280"/>
            <a:ext cx="7406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500" dirty="0">
                <a:solidFill>
                  <a:schemeClr val="accent2"/>
                </a:solidFill>
              </a:rPr>
              <a:t>ندوة حول الوصايا وحماية الأصول والتخطيط للتركات للمستثمرين ومالكي العقارات</a:t>
            </a:r>
            <a:endParaRPr lang="ar-AE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4023360"/>
            <a:ext cx="7406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000" dirty="0">
                <a:solidFill>
                  <a:schemeClr val="accent3"/>
                </a:solidFill>
              </a:rPr>
              <a:t>راشد الكيتوب للمحاماة والاستشارات القانونية · دبي</a:t>
            </a:r>
            <a:endParaRPr lang="ar-AE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8C39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457200" y="34747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0B0B0B"/>
                </a:solidFill>
              </a:rPr>
              <a:t>ماذا سنتناول اليوم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8229600" y="1234440"/>
            <a:ext cx="457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4663440" y="1234440"/>
            <a:ext cx="3474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350" dirty="0">
                <a:solidFill>
                  <a:schemeClr val="tx1"/>
                </a:solidFill>
              </a:rPr>
              <a:t>الواقع: أخطاء يقع فيها المستثمرون الأجانب</a:t>
            </a:r>
            <a:endParaRPr lang="ar-AE" sz="1350" dirty="0"/>
          </a:p>
        </p:txBody>
      </p:sp>
      <p:sp>
        <p:nvSpPr>
          <p:cNvPr id="5" name="Shape 3"/>
          <p:cNvSpPr/>
          <p:nvPr/>
        </p:nvSpPr>
        <p:spPr>
          <a:xfrm>
            <a:off x="457200" y="1801368"/>
            <a:ext cx="4023360" cy="0"/>
          </a:xfrm>
          <a:prstGeom prst="line">
            <a:avLst/>
          </a:prstGeom>
          <a:noFill/>
          <a:ln w="6350">
            <a:solidFill>
              <a:srgbClr val="E9E4D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0" y="1856232"/>
            <a:ext cx="457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4663440" y="1856232"/>
            <a:ext cx="3474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350" dirty="0">
                <a:solidFill>
                  <a:schemeClr val="tx1"/>
                </a:solidFill>
              </a:rPr>
              <a:t>ماذا يحدث فعلاً عند غياب التخطيط</a:t>
            </a:r>
            <a:endParaRPr lang="ar-AE" sz="1350" dirty="0"/>
          </a:p>
        </p:txBody>
      </p:sp>
      <p:sp>
        <p:nvSpPr>
          <p:cNvPr id="8" name="Shape 6"/>
          <p:cNvSpPr/>
          <p:nvPr/>
        </p:nvSpPr>
        <p:spPr>
          <a:xfrm>
            <a:off x="457200" y="2423160"/>
            <a:ext cx="4023360" cy="0"/>
          </a:xfrm>
          <a:prstGeom prst="line">
            <a:avLst/>
          </a:prstGeom>
          <a:noFill/>
          <a:ln w="6350">
            <a:solidFill>
              <a:srgbClr val="E9E4D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0" y="2478024"/>
            <a:ext cx="457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4663440" y="2478024"/>
            <a:ext cx="3474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350" dirty="0">
                <a:solidFill>
                  <a:schemeClr val="tx1"/>
                </a:solidFill>
              </a:rPr>
              <a:t>الإطار القانوني في الإمارات: الجهات والخيارات</a:t>
            </a:r>
            <a:endParaRPr lang="ar-AE" sz="1350" dirty="0"/>
          </a:p>
        </p:txBody>
      </p:sp>
      <p:sp>
        <p:nvSpPr>
          <p:cNvPr id="11" name="Shape 9"/>
          <p:cNvSpPr/>
          <p:nvPr/>
        </p:nvSpPr>
        <p:spPr>
          <a:xfrm>
            <a:off x="457200" y="3044952"/>
            <a:ext cx="4023360" cy="0"/>
          </a:xfrm>
          <a:prstGeom prst="line">
            <a:avLst/>
          </a:prstGeom>
          <a:noFill/>
          <a:ln w="6350">
            <a:solidFill>
              <a:srgbClr val="E9E4D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023360" y="1234440"/>
            <a:ext cx="457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234440"/>
            <a:ext cx="3474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350" dirty="0">
                <a:solidFill>
                  <a:schemeClr val="tx1"/>
                </a:solidFill>
              </a:rPr>
              <a:t>أدوات الحماية: من الوصية إلى هيكلة الثروة</a:t>
            </a:r>
            <a:endParaRPr lang="ar-AE" sz="1350" dirty="0"/>
          </a:p>
        </p:txBody>
      </p:sp>
      <p:sp>
        <p:nvSpPr>
          <p:cNvPr id="14" name="Shape 12"/>
          <p:cNvSpPr/>
          <p:nvPr/>
        </p:nvSpPr>
        <p:spPr>
          <a:xfrm>
            <a:off x="4663440" y="1801368"/>
            <a:ext cx="4023360" cy="0"/>
          </a:xfrm>
          <a:prstGeom prst="line">
            <a:avLst/>
          </a:prstGeom>
          <a:noFill/>
          <a:ln w="6350">
            <a:solidFill>
              <a:srgbClr val="E9E4D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023360" y="1856232"/>
            <a:ext cx="457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1856232"/>
            <a:ext cx="3474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350" dirty="0">
                <a:solidFill>
                  <a:schemeClr val="tx1"/>
                </a:solidFill>
              </a:rPr>
              <a:t>ثلاث حالات عملية</a:t>
            </a:r>
            <a:endParaRPr lang="ar-AE" sz="1350" dirty="0"/>
          </a:p>
        </p:txBody>
      </p:sp>
      <p:sp>
        <p:nvSpPr>
          <p:cNvPr id="17" name="Shape 15"/>
          <p:cNvSpPr/>
          <p:nvPr/>
        </p:nvSpPr>
        <p:spPr>
          <a:xfrm>
            <a:off x="4663440" y="2423160"/>
            <a:ext cx="4023360" cy="0"/>
          </a:xfrm>
          <a:prstGeom prst="line">
            <a:avLst/>
          </a:prstGeom>
          <a:noFill/>
          <a:ln w="6350">
            <a:solidFill>
              <a:srgbClr val="E9E4D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023360" y="2478024"/>
            <a:ext cx="457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2478024"/>
            <a:ext cx="3474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350" dirty="0">
                <a:solidFill>
                  <a:schemeClr val="tx1"/>
                </a:solidFill>
              </a:rPr>
              <a:t>فحص ذاتي سريع وأسئلة وأجوبة</a:t>
            </a:r>
            <a:endParaRPr lang="ar-AE" sz="1350" dirty="0"/>
          </a:p>
        </p:txBody>
      </p:sp>
      <p:sp>
        <p:nvSpPr>
          <p:cNvPr id="20" name="Shape 18"/>
          <p:cNvSpPr/>
          <p:nvPr/>
        </p:nvSpPr>
        <p:spPr>
          <a:xfrm>
            <a:off x="4663440" y="3044952"/>
            <a:ext cx="4023360" cy="0"/>
          </a:xfrm>
          <a:prstGeom prst="line">
            <a:avLst/>
          </a:prstGeom>
          <a:noFill/>
          <a:ln w="6350">
            <a:solidFill>
              <a:srgbClr val="E9E4DA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6F7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0" y="146304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0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283464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الواقع</a:t>
            </a:r>
            <a:endParaRPr lang="ar-AE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35661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accent2"/>
                </a:solidFill>
              </a:rPr>
              <a:t>يشتري المستثمر الأجنبي بملايين الدراهم ثم ينسى سؤالاً واحداً: ماذا بعد؟</a:t>
            </a:r>
            <a:endParaRPr lang="ar-AE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8C39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457200" y="34747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0B0B0B"/>
                </a:solidFill>
              </a:rPr>
              <a:t>أخطاء شائعة يقع فيها المستثمرون الأجانب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000" b="1" dirty="0">
                <a:solidFill>
                  <a:schemeClr val="accent1"/>
                </a:solidFill>
              </a:rPr>
              <a:t>الأخطاء</a:t>
            </a:r>
            <a:endParaRPr lang="ar-AE" sz="1000" dirty="0"/>
          </a:p>
        </p:txBody>
      </p:sp>
      <p:sp>
        <p:nvSpPr>
          <p:cNvPr id="4" name="Shape 2"/>
          <p:cNvSpPr/>
          <p:nvPr/>
        </p:nvSpPr>
        <p:spPr>
          <a:xfrm>
            <a:off x="8229600" y="1188720"/>
            <a:ext cx="457200" cy="457200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5" name="icon FaTriangleExclamati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0" y="128016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3566160" y="1170432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200"/>
              </a:spcAft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الاعتقاد أن قانون بلدك يُطبّق تلقائياً</a:t>
            </a:r>
            <a:endParaRPr lang="ar-AE" sz="1300" dirty="0"/>
          </a:p>
          <a:p>
            <a:pPr algn="r" indent="0" marL="0">
              <a:spcAft>
                <a:spcPts val="200"/>
              </a:spcAft>
              <a:buNone/>
            </a:pPr>
            <a:r>
              <a:rPr lang="ar-AE" altLang="en-US" sz="1100" dirty="0">
                <a:solidFill>
                  <a:schemeClr val="accent3"/>
                </a:solidFill>
              </a:rPr>
              <a:t>الإجراءات في الإمارات تختلف بحسب الجنسية والديانة والحالة، وقد لا تكون كما تتوقع.</a:t>
            </a:r>
            <a:endParaRPr lang="ar-AE" sz="1300" dirty="0"/>
          </a:p>
        </p:txBody>
      </p:sp>
      <p:sp>
        <p:nvSpPr>
          <p:cNvPr id="7" name="Shape 4"/>
          <p:cNvSpPr/>
          <p:nvPr/>
        </p:nvSpPr>
        <p:spPr>
          <a:xfrm>
            <a:off x="8229600" y="1847088"/>
            <a:ext cx="457200" cy="457200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8" name="icon FaTriangleExclamati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1938528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3566160" y="1828800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200"/>
              </a:spcAft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شراء العقار بدون أي وصية أو هيكلة</a:t>
            </a:r>
            <a:endParaRPr lang="ar-AE" sz="1300" dirty="0"/>
          </a:p>
          <a:p>
            <a:pPr algn="r" indent="0" marL="0">
              <a:spcAft>
                <a:spcPts val="200"/>
              </a:spcAft>
              <a:buNone/>
            </a:pPr>
            <a:r>
              <a:rPr lang="ar-AE" altLang="en-US" sz="1100" dirty="0">
                <a:solidFill>
                  <a:schemeClr val="accent3"/>
                </a:solidFill>
              </a:rPr>
              <a:t>أغلب المشترين لا يعرفون قوانين الإرث في الدولة.</a:t>
            </a:r>
            <a:endParaRPr lang="ar-AE" sz="1300" dirty="0"/>
          </a:p>
        </p:txBody>
      </p:sp>
      <p:sp>
        <p:nvSpPr>
          <p:cNvPr id="10" name="Shape 6"/>
          <p:cNvSpPr/>
          <p:nvPr/>
        </p:nvSpPr>
        <p:spPr>
          <a:xfrm>
            <a:off x="8229600" y="2505456"/>
            <a:ext cx="457200" cy="457200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11" name="icon FaTriangleExclamati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2596896"/>
            <a:ext cx="274320" cy="2743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3566160" y="2487168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200"/>
              </a:spcAft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أصول في عدة دول بلا خطة موحدة</a:t>
            </a:r>
            <a:endParaRPr lang="ar-AE" sz="1300" dirty="0"/>
          </a:p>
          <a:p>
            <a:pPr algn="r" indent="0" marL="0">
              <a:spcAft>
                <a:spcPts val="200"/>
              </a:spcAft>
              <a:buNone/>
            </a:pPr>
            <a:r>
              <a:rPr lang="ar-AE" altLang="en-US" sz="1100" dirty="0">
                <a:solidFill>
                  <a:schemeClr val="accent3"/>
                </a:solidFill>
              </a:rPr>
              <a:t>وصايا متعارضة أو غائبة تعني تأخيراً ونزاعات.</a:t>
            </a:r>
            <a:endParaRPr lang="ar-AE" sz="1300" dirty="0"/>
          </a:p>
        </p:txBody>
      </p:sp>
      <p:sp>
        <p:nvSpPr>
          <p:cNvPr id="13" name="Shape 8"/>
          <p:cNvSpPr/>
          <p:nvPr/>
        </p:nvSpPr>
        <p:spPr>
          <a:xfrm>
            <a:off x="8229600" y="3163824"/>
            <a:ext cx="457200" cy="457200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14" name="icon FaTriangleExclamati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21040" y="3255264"/>
            <a:ext cx="274320" cy="2743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3566160" y="3145536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200"/>
              </a:spcAft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عدم ترتيب الوصاية على الأطفال</a:t>
            </a:r>
            <a:endParaRPr lang="ar-AE" sz="1300" dirty="0"/>
          </a:p>
          <a:p>
            <a:pPr algn="r" indent="0" marL="0">
              <a:spcAft>
                <a:spcPts val="200"/>
              </a:spcAft>
              <a:buNone/>
            </a:pPr>
            <a:r>
              <a:rPr lang="ar-AE" altLang="en-US" sz="1100" dirty="0">
                <a:solidFill>
                  <a:schemeClr val="accent3"/>
                </a:solidFill>
              </a:rPr>
              <a:t>لا أحد معيّن رسمياً لرعاية القاصرين.</a:t>
            </a:r>
            <a:endParaRPr lang="ar-AE" sz="1300" dirty="0"/>
          </a:p>
        </p:txBody>
      </p:sp>
      <p:sp>
        <p:nvSpPr>
          <p:cNvPr id="16" name="Shape 10"/>
          <p:cNvSpPr/>
          <p:nvPr/>
        </p:nvSpPr>
        <p:spPr>
          <a:xfrm>
            <a:off x="8229600" y="3822192"/>
            <a:ext cx="457200" cy="457200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17" name="icon FaTriangleExclamati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21040" y="3913632"/>
            <a:ext cx="274320" cy="27432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3566160" y="3803904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200"/>
              </a:spcAft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حصص الشركات خارج أي تخطيط</a:t>
            </a:r>
            <a:endParaRPr lang="ar-AE" sz="1300" dirty="0"/>
          </a:p>
          <a:p>
            <a:pPr algn="r" indent="0" marL="0">
              <a:spcAft>
                <a:spcPts val="200"/>
              </a:spcAft>
              <a:buNone/>
            </a:pPr>
            <a:r>
              <a:rPr lang="ar-AE" altLang="en-US" sz="1100" dirty="0">
                <a:solidFill>
                  <a:schemeClr val="accent3"/>
                </a:solidFill>
              </a:rPr>
              <a:t>توقف الأعمال وتعطّل قرارات الشركاء.</a:t>
            </a:r>
            <a:endParaRPr lang="ar-AE" sz="1300" dirty="0"/>
          </a:p>
        </p:txBody>
      </p:sp>
      <p:sp>
        <p:nvSpPr>
          <p:cNvPr id="19" name="Shape 12"/>
          <p:cNvSpPr/>
          <p:nvPr/>
        </p:nvSpPr>
        <p:spPr>
          <a:xfrm>
            <a:off x="457200" y="1188720"/>
            <a:ext cx="2743200" cy="3246120"/>
          </a:xfrm>
          <a:prstGeom prst="rect">
            <a:avLst/>
          </a:prstGeom>
          <a:solidFill>
            <a:srgbClr val="0B0B0B"/>
          </a:solidFill>
          <a:ln w="12700">
            <a:solidFill>
              <a:srgbClr val="0B0B0B"/>
            </a:solidFill>
            <a:prstDash val="solid"/>
          </a:ln>
        </p:spPr>
      </p:sp>
      <p:sp>
        <p:nvSpPr>
          <p:cNvPr id="20" name="Shape 13"/>
          <p:cNvSpPr/>
          <p:nvPr/>
        </p:nvSpPr>
        <p:spPr>
          <a:xfrm>
            <a:off x="566928" y="1298448"/>
            <a:ext cx="2523744" cy="3026664"/>
          </a:xfrm>
          <a:prstGeom prst="rect">
            <a:avLst/>
          </a:prstGeom>
          <a:ln w="9525">
            <a:solidFill>
              <a:srgbClr val="B08D57"/>
            </a:solidFill>
            <a:prstDash val="solid"/>
          </a:ln>
        </p:spPr>
      </p:sp>
      <p:sp>
        <p:nvSpPr>
          <p:cNvPr id="21" name="Text 14"/>
          <p:cNvSpPr txBox="1"/>
          <p:nvPr/>
        </p:nvSpPr>
        <p:spPr>
          <a:xfrm>
            <a:off x="777240" y="150876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لماذا يحدث هذا؟</a:t>
            </a:r>
            <a:endParaRPr lang="ar-AE" sz="1600" dirty="0"/>
          </a:p>
        </p:txBody>
      </p:sp>
      <p:sp>
        <p:nvSpPr>
          <p:cNvPr id="22" name="Text 15"/>
          <p:cNvSpPr txBox="1"/>
          <p:nvPr/>
        </p:nvSpPr>
        <p:spPr>
          <a:xfrm>
            <a:off x="777240" y="2286000"/>
            <a:ext cx="21031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150" dirty="0">
                <a:solidFill>
                  <a:schemeClr val="bg2"/>
                </a:solidFill>
              </a:rPr>
              <a:t>لأن أحداً لم يسأل المستثمر السؤال الصحيح في اللحظة الصحيحة. اليوم نسأله.</a:t>
            </a:r>
            <a:endParaRPr lang="ar-AE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6F7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457200" y="34747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0B0B0B"/>
                </a:solidFill>
              </a:rPr>
              <a:t>ماذا يحدث فعلاً عند غياب التخطيط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000" b="1" dirty="0">
                <a:solidFill>
                  <a:schemeClr val="accent1"/>
                </a:solidFill>
              </a:rPr>
              <a:t>النتائج</a:t>
            </a:r>
            <a:endParaRPr lang="ar-AE" sz="1000" dirty="0"/>
          </a:p>
        </p:txBody>
      </p:sp>
      <p:sp>
        <p:nvSpPr>
          <p:cNvPr id="4" name="Shape 2"/>
          <p:cNvSpPr/>
          <p:nvPr/>
        </p:nvSpPr>
        <p:spPr>
          <a:xfrm>
            <a:off x="6800850" y="1188720"/>
            <a:ext cx="1885950" cy="3246120"/>
          </a:xfrm>
          <a:prstGeom prst="rect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5" name="icon FaLock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74736" y="1389888"/>
            <a:ext cx="310896" cy="31089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002018" y="1828800"/>
            <a:ext cx="1483614" cy="2450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300"/>
              </a:spcAft>
              <a:buNone/>
            </a:pPr>
            <a:r>
              <a:rPr lang="ar-AE" altLang="en-US" sz="1400" b="1" dirty="0">
                <a:solidFill>
                  <a:schemeClr val="tx1"/>
                </a:solidFill>
              </a:rPr>
              <a:t>تجميد الحسابات</a:t>
            </a:r>
            <a:endParaRPr lang="ar-AE" sz="140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AE" altLang="en-US" sz="1150" dirty="0">
                <a:solidFill>
                  <a:schemeClr val="accent3"/>
                </a:solidFill>
              </a:rPr>
              <a:t>قد تُجمّد الحسابات البنكية حتى صدور قرار توزيع التركة، فتتوقف مصاريف العائلة.</a:t>
            </a:r>
            <a:endParaRPr lang="ar-AE" sz="1400" dirty="0"/>
          </a:p>
        </p:txBody>
      </p:sp>
      <p:sp>
        <p:nvSpPr>
          <p:cNvPr id="7" name="Shape 4"/>
          <p:cNvSpPr/>
          <p:nvPr/>
        </p:nvSpPr>
        <p:spPr>
          <a:xfrm>
            <a:off x="4686300" y="1188720"/>
            <a:ext cx="1885950" cy="3246120"/>
          </a:xfrm>
          <a:prstGeom prst="rect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8" name="icon FaHouseLock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60186" y="1389888"/>
            <a:ext cx="310896" cy="31089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887468" y="1828800"/>
            <a:ext cx="1483614" cy="2450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300"/>
              </a:spcAft>
              <a:buNone/>
            </a:pPr>
            <a:r>
              <a:rPr lang="ar-AE" altLang="en-US" sz="1400" b="1" dirty="0">
                <a:solidFill>
                  <a:schemeClr val="tx1"/>
                </a:solidFill>
              </a:rPr>
              <a:t>تعطّل نقل الملكية</a:t>
            </a:r>
            <a:endParaRPr lang="ar-AE" sz="140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AE" altLang="en-US" sz="1150" dirty="0">
                <a:solidFill>
                  <a:schemeClr val="accent3"/>
                </a:solidFill>
              </a:rPr>
              <a:t>يبقى العقار في انتظار إجراءات قد تطول وتتعقد.</a:t>
            </a:r>
            <a:endParaRPr lang="ar-AE" sz="1400" dirty="0"/>
          </a:p>
        </p:txBody>
      </p:sp>
      <p:sp>
        <p:nvSpPr>
          <p:cNvPr id="10" name="Shape 6"/>
          <p:cNvSpPr/>
          <p:nvPr/>
        </p:nvSpPr>
        <p:spPr>
          <a:xfrm>
            <a:off x="2571750" y="1188720"/>
            <a:ext cx="1885950" cy="3246120"/>
          </a:xfrm>
          <a:prstGeom prst="rect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11" name="icon FaPeopleArrows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45636" y="1389888"/>
            <a:ext cx="310896" cy="310896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2772918" y="1828800"/>
            <a:ext cx="1483614" cy="2450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300"/>
              </a:spcAft>
              <a:buNone/>
            </a:pPr>
            <a:r>
              <a:rPr lang="ar-AE" altLang="en-US" sz="1400" b="1" dirty="0">
                <a:solidFill>
                  <a:schemeClr val="tx1"/>
                </a:solidFill>
              </a:rPr>
              <a:t>نزاعات عائلية</a:t>
            </a:r>
            <a:endParaRPr lang="ar-AE" sz="140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AE" altLang="en-US" sz="1150" dirty="0">
                <a:solidFill>
                  <a:schemeClr val="accent3"/>
                </a:solidFill>
              </a:rPr>
              <a:t>غياب الوضوح يفتح الباب للخلاف بين الورثة.</a:t>
            </a:r>
            <a:endParaRPr lang="ar-AE" sz="1400" dirty="0"/>
          </a:p>
        </p:txBody>
      </p:sp>
      <p:sp>
        <p:nvSpPr>
          <p:cNvPr id="13" name="Shape 8"/>
          <p:cNvSpPr/>
          <p:nvPr/>
        </p:nvSpPr>
        <p:spPr>
          <a:xfrm>
            <a:off x="457200" y="1188720"/>
            <a:ext cx="1885950" cy="3246120"/>
          </a:xfrm>
          <a:prstGeom prst="rect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14" name="icon FaChildre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31086" y="1389888"/>
            <a:ext cx="310896" cy="310896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658368" y="1828800"/>
            <a:ext cx="1483614" cy="2450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300"/>
              </a:spcAft>
              <a:buNone/>
            </a:pPr>
            <a:r>
              <a:rPr lang="ar-AE" altLang="en-US" sz="1400" b="1" dirty="0">
                <a:solidFill>
                  <a:schemeClr val="tx1"/>
                </a:solidFill>
              </a:rPr>
              <a:t>مشاكل الأطفال والورثة</a:t>
            </a:r>
            <a:endParaRPr lang="ar-AE" sz="140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AE" altLang="en-US" sz="1150" dirty="0">
                <a:solidFill>
                  <a:schemeClr val="accent3"/>
                </a:solidFill>
              </a:rPr>
              <a:t>لا وصي معيّن، ولا مسار واضح للحصص داخل الدولة وخارجها.</a:t>
            </a:r>
            <a:endParaRPr lang="ar-AE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6F7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0" y="146304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0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283464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الإطار القانوني في الإمارات</a:t>
            </a:r>
            <a:endParaRPr lang="ar-AE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35661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accent2"/>
                </a:solidFill>
              </a:rPr>
              <a:t>للمستثمر خيارات حقيقية، والمهم اختيار الصحيح منها</a:t>
            </a:r>
            <a:endParaRPr lang="ar-AE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8C39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457200" y="34747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0B0B0B"/>
                </a:solidFill>
              </a:rPr>
              <a:t>جهات تسجيل الوصايا في الإمارات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000" b="1" dirty="0">
                <a:solidFill>
                  <a:schemeClr val="accent1"/>
                </a:solidFill>
              </a:rPr>
              <a:t>الإطار القانوني</a:t>
            </a:r>
            <a:endParaRPr lang="ar-AE" sz="1000" dirty="0"/>
          </a:p>
        </p:txBody>
      </p:sp>
      <p:sp>
        <p:nvSpPr>
          <p:cNvPr id="4" name="Shape 2"/>
          <p:cNvSpPr/>
          <p:nvPr/>
        </p:nvSpPr>
        <p:spPr>
          <a:xfrm>
            <a:off x="8229600" y="1188720"/>
            <a:ext cx="457200" cy="457200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5" name="icon FaLandmark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0" y="128016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3566160" y="1170432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200"/>
              </a:spcAft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محاكم دبي</a:t>
            </a:r>
            <a:endParaRPr lang="ar-AE" sz="1300" dirty="0"/>
          </a:p>
          <a:p>
            <a:pPr algn="r" indent="0" marL="0">
              <a:spcAft>
                <a:spcPts val="200"/>
              </a:spcAft>
              <a:buNone/>
            </a:pPr>
            <a:r>
              <a:rPr lang="ar-AE" altLang="en-US" sz="1100" dirty="0">
                <a:solidFill>
                  <a:schemeClr val="accent3"/>
                </a:solidFill>
              </a:rPr>
              <a:t>تسجيل وصايا غير المسلمين لدى محاكم دبي، وفق قانون الأحوال الشخصية لغير المسلمين.</a:t>
            </a:r>
            <a:endParaRPr lang="ar-AE" sz="1300" dirty="0"/>
          </a:p>
        </p:txBody>
      </p:sp>
      <p:sp>
        <p:nvSpPr>
          <p:cNvPr id="7" name="Shape 4"/>
          <p:cNvSpPr/>
          <p:nvPr/>
        </p:nvSpPr>
        <p:spPr>
          <a:xfrm>
            <a:off x="8229600" y="1847088"/>
            <a:ext cx="457200" cy="457200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8" name="icon FaLandmark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1938528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3566160" y="1828800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200"/>
              </a:spcAft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محاكم أبوظبي</a:t>
            </a:r>
            <a:endParaRPr lang="ar-AE" sz="1300" dirty="0"/>
          </a:p>
          <a:p>
            <a:pPr algn="r" indent="0" marL="0">
              <a:spcAft>
                <a:spcPts val="200"/>
              </a:spcAft>
              <a:buNone/>
            </a:pPr>
            <a:r>
              <a:rPr lang="ar-AE" altLang="en-US" sz="1100" dirty="0">
                <a:solidFill>
                  <a:schemeClr val="accent3"/>
                </a:solidFill>
              </a:rPr>
              <a:t>تسجيل الوصايا لدى دائرة القضاء في أبوظبي لمن يفضّل هذا المسار.</a:t>
            </a:r>
            <a:endParaRPr lang="ar-AE" sz="1300" dirty="0"/>
          </a:p>
        </p:txBody>
      </p:sp>
      <p:sp>
        <p:nvSpPr>
          <p:cNvPr id="10" name="Shape 6"/>
          <p:cNvSpPr/>
          <p:nvPr/>
        </p:nvSpPr>
        <p:spPr>
          <a:xfrm>
            <a:off x="8229600" y="2505456"/>
            <a:ext cx="457200" cy="457200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11" name="icon FaBuildingColumns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2596896"/>
            <a:ext cx="274320" cy="2743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3566160" y="2487168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200"/>
              </a:spcAft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DIFC</a:t>
            </a:r>
            <a:endParaRPr lang="ar-AE" sz="1300" dirty="0"/>
          </a:p>
          <a:p>
            <a:pPr algn="r" indent="0" marL="0">
              <a:spcAft>
                <a:spcPts val="200"/>
              </a:spcAft>
              <a:buNone/>
            </a:pPr>
            <a:r>
              <a:rPr lang="ar-AE" altLang="en-US" sz="1100" dirty="0">
                <a:solidFill>
                  <a:schemeClr val="accent3"/>
                </a:solidFill>
              </a:rPr>
              <a:t>سجل وصايا مركز دبي المالي العالمي لغير المسلمين، باللغة الإنجليزية، يغطي الأصول في الدولة.</a:t>
            </a:r>
            <a:endParaRPr lang="ar-AE" sz="1300" dirty="0"/>
          </a:p>
        </p:txBody>
      </p:sp>
      <p:sp>
        <p:nvSpPr>
          <p:cNvPr id="13" name="Shape 8"/>
          <p:cNvSpPr/>
          <p:nvPr/>
        </p:nvSpPr>
        <p:spPr>
          <a:xfrm>
            <a:off x="8229600" y="3163824"/>
            <a:ext cx="457200" cy="457200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14" name="icon FaBuildingColumns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21040" y="3255264"/>
            <a:ext cx="274320" cy="2743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3566160" y="3145536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200"/>
              </a:spcAft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ADGM</a:t>
            </a:r>
            <a:endParaRPr lang="ar-AE" sz="1300" dirty="0"/>
          </a:p>
          <a:p>
            <a:pPr algn="r" indent="0" marL="0">
              <a:spcAft>
                <a:spcPts val="200"/>
              </a:spcAft>
              <a:buNone/>
            </a:pPr>
            <a:r>
              <a:rPr lang="ar-AE" altLang="en-US" sz="1100" dirty="0">
                <a:solidFill>
                  <a:schemeClr val="accent3"/>
                </a:solidFill>
              </a:rPr>
              <a:t>سجل وصايا سوق أبوظبي العالمي لغير المسلمين، مسار بديل بالإنجليزية.</a:t>
            </a:r>
            <a:endParaRPr lang="ar-AE" sz="1300" dirty="0"/>
          </a:p>
        </p:txBody>
      </p:sp>
      <p:sp>
        <p:nvSpPr>
          <p:cNvPr id="16" name="Shape 10"/>
          <p:cNvSpPr/>
          <p:nvPr/>
        </p:nvSpPr>
        <p:spPr>
          <a:xfrm>
            <a:off x="8229600" y="3822192"/>
            <a:ext cx="457200" cy="457200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17" name="icon FaScaleBalanced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21040" y="3913632"/>
            <a:ext cx="274320" cy="27432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3566160" y="3803904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200"/>
              </a:spcAft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الشريعة الإسلامية أو القانون الأجنبي</a:t>
            </a:r>
            <a:endParaRPr lang="ar-AE" sz="1300" dirty="0"/>
          </a:p>
          <a:p>
            <a:pPr algn="r" indent="0" marL="0">
              <a:spcAft>
                <a:spcPts val="200"/>
              </a:spcAft>
              <a:buNone/>
            </a:pPr>
            <a:r>
              <a:rPr lang="ar-AE" altLang="en-US" sz="1100" dirty="0">
                <a:solidFill>
                  <a:schemeClr val="accent3"/>
                </a:solidFill>
              </a:rPr>
              <a:t>نحدد القانون الواجب التطبيق بحسب جنسية الموكل وديانته ورغبته.</a:t>
            </a:r>
            <a:endParaRPr lang="ar-AE" sz="1300" dirty="0"/>
          </a:p>
        </p:txBody>
      </p:sp>
      <p:sp>
        <p:nvSpPr>
          <p:cNvPr id="19" name="Shape 12"/>
          <p:cNvSpPr/>
          <p:nvPr/>
        </p:nvSpPr>
        <p:spPr>
          <a:xfrm>
            <a:off x="457200" y="1188720"/>
            <a:ext cx="2743200" cy="3246120"/>
          </a:xfrm>
          <a:prstGeom prst="rect">
            <a:avLst/>
          </a:prstGeom>
          <a:solidFill>
            <a:srgbClr val="0B0B0B"/>
          </a:solidFill>
          <a:ln w="12700">
            <a:solidFill>
              <a:srgbClr val="0B0B0B"/>
            </a:solidFill>
            <a:prstDash val="solid"/>
          </a:ln>
        </p:spPr>
      </p:sp>
      <p:sp>
        <p:nvSpPr>
          <p:cNvPr id="20" name="Shape 13"/>
          <p:cNvSpPr/>
          <p:nvPr/>
        </p:nvSpPr>
        <p:spPr>
          <a:xfrm>
            <a:off x="566928" y="1298448"/>
            <a:ext cx="2523744" cy="3026664"/>
          </a:xfrm>
          <a:prstGeom prst="rect">
            <a:avLst/>
          </a:prstGeom>
          <a:ln w="9525">
            <a:solidFill>
              <a:srgbClr val="B08D57"/>
            </a:solidFill>
            <a:prstDash val="solid"/>
          </a:ln>
        </p:spPr>
      </p:sp>
      <p:sp>
        <p:nvSpPr>
          <p:cNvPr id="21" name="Text 14"/>
          <p:cNvSpPr txBox="1"/>
          <p:nvPr/>
        </p:nvSpPr>
        <p:spPr>
          <a:xfrm>
            <a:off x="777240" y="150876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كل موكل حالة مستقلة</a:t>
            </a:r>
            <a:endParaRPr lang="ar-AE" sz="1600" dirty="0"/>
          </a:p>
        </p:txBody>
      </p:sp>
      <p:sp>
        <p:nvSpPr>
          <p:cNvPr id="22" name="Text 15"/>
          <p:cNvSpPr txBox="1"/>
          <p:nvPr/>
        </p:nvSpPr>
        <p:spPr>
          <a:xfrm>
            <a:off x="777240" y="2286000"/>
            <a:ext cx="21031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150" dirty="0">
                <a:solidFill>
                  <a:schemeClr val="bg2"/>
                </a:solidFill>
              </a:rPr>
              <a:t>الجنسية، الديانة، الحالة العائلية، وموقع الأصول تحدد المسار الأنسب. لذلك نبدأ دائماً بجلسة اكتشاف لا بنوع الوصية.</a:t>
            </a:r>
            <a:endParaRPr lang="ar-AE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6F7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457200" y="34747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0B0B0B"/>
                </a:solidFill>
              </a:rPr>
              <a:t>المسارات الرئيسية بنظرة واحدة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000" b="1" dirty="0">
                <a:solidFill>
                  <a:schemeClr val="accent1"/>
                </a:solidFill>
              </a:rPr>
              <a:t>مقارنة عامة</a:t>
            </a:r>
            <a:endParaRPr lang="ar-AE" sz="1000" dirty="0"/>
          </a:p>
        </p:txBody>
      </p:sp>
      <p:sp>
        <p:nvSpPr>
          <p:cNvPr id="4" name="Shape 2"/>
          <p:cNvSpPr/>
          <p:nvPr/>
        </p:nvSpPr>
        <p:spPr>
          <a:xfrm>
            <a:off x="6096000" y="1188720"/>
            <a:ext cx="2590800" cy="548640"/>
          </a:xfrm>
          <a:prstGeom prst="rect">
            <a:avLst/>
          </a:prstGeom>
          <a:solidFill>
            <a:srgbClr val="0B0B0B"/>
          </a:solidFill>
          <a:ln w="12700">
            <a:solidFill>
              <a:srgbClr val="0B0B0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33160" y="1188720"/>
            <a:ext cx="231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300" b="1" dirty="0">
                <a:solidFill>
                  <a:schemeClr val="accent2"/>
                </a:solidFill>
              </a:rPr>
              <a:t>المحاكم المحلية (دبي / أبوظبي)</a:t>
            </a:r>
            <a:endParaRPr lang="ar-AE" sz="1300" dirty="0"/>
          </a:p>
        </p:txBody>
      </p:sp>
      <p:sp>
        <p:nvSpPr>
          <p:cNvPr id="6" name="Shape 4"/>
          <p:cNvSpPr/>
          <p:nvPr/>
        </p:nvSpPr>
        <p:spPr>
          <a:xfrm>
            <a:off x="6096000" y="1737360"/>
            <a:ext cx="2590800" cy="2697480"/>
          </a:xfrm>
          <a:prstGeom prst="rect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233160" y="1874520"/>
            <a:ext cx="23164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152400" indent="-152400">
              <a:spcAft>
                <a:spcPts val="500"/>
              </a:spcAft>
              <a:buSzPct val="100000"/>
              <a:buChar char="•"/>
            </a:pPr>
            <a:r>
              <a:rPr lang="ar-AE" altLang="en-US" sz="1100" dirty="0">
                <a:solidFill>
                  <a:schemeClr val="tx2"/>
                </a:solidFill>
              </a:rPr>
              <a:t>تسجيل وصايا غير المسلمين محلياً</a:t>
            </a:r>
            <a:endParaRPr lang="ar-AE" sz="1100" dirty="0"/>
          </a:p>
          <a:p>
            <a:pPr algn="r" marL="152400" indent="-152400">
              <a:spcAft>
                <a:spcPts val="500"/>
              </a:spcAft>
              <a:buSzPct val="100000"/>
              <a:buChar char="•"/>
            </a:pPr>
            <a:r>
              <a:rPr lang="ar-AE" altLang="en-US" sz="1100" dirty="0">
                <a:solidFill>
                  <a:schemeClr val="tx2"/>
                </a:solidFill>
              </a:rPr>
              <a:t>وثيقة بالعربية مع ترجمة معتمدة</a:t>
            </a:r>
            <a:endParaRPr lang="ar-AE" sz="1100" dirty="0"/>
          </a:p>
          <a:p>
            <a:pPr algn="r" marL="152400" indent="-152400">
              <a:spcAft>
                <a:spcPts val="500"/>
              </a:spcAft>
              <a:buSzPct val="100000"/>
              <a:buChar char="•"/>
            </a:pPr>
            <a:r>
              <a:rPr lang="ar-AE" altLang="en-US" sz="1100" dirty="0">
                <a:solidFill>
                  <a:schemeClr val="tx2"/>
                </a:solidFill>
              </a:rPr>
              <a:t>مناسبة لمن يفضّل المسار المحلي</a:t>
            </a:r>
            <a:endParaRPr lang="ar-AE" sz="1100" dirty="0"/>
          </a:p>
        </p:txBody>
      </p:sp>
      <p:sp>
        <p:nvSpPr>
          <p:cNvPr id="8" name="Shape 6"/>
          <p:cNvSpPr/>
          <p:nvPr/>
        </p:nvSpPr>
        <p:spPr>
          <a:xfrm>
            <a:off x="3276600" y="1188720"/>
            <a:ext cx="2590800" cy="548640"/>
          </a:xfrm>
          <a:prstGeom prst="rect">
            <a:avLst/>
          </a:prstGeom>
          <a:solidFill>
            <a:srgbClr val="B08D57"/>
          </a:solidFill>
          <a:ln w="12700">
            <a:solidFill>
              <a:srgbClr val="B08D5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413760" y="1188720"/>
            <a:ext cx="231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DIFC Wills</a:t>
            </a:r>
            <a:endParaRPr lang="ar-AE" sz="1300" dirty="0"/>
          </a:p>
        </p:txBody>
      </p:sp>
      <p:sp>
        <p:nvSpPr>
          <p:cNvPr id="10" name="Shape 8"/>
          <p:cNvSpPr/>
          <p:nvPr/>
        </p:nvSpPr>
        <p:spPr>
          <a:xfrm>
            <a:off x="3276600" y="1737360"/>
            <a:ext cx="2590800" cy="2697480"/>
          </a:xfrm>
          <a:prstGeom prst="rect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13760" y="1874520"/>
            <a:ext cx="23164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152400" indent="-152400">
              <a:spcAft>
                <a:spcPts val="500"/>
              </a:spcAft>
              <a:buSzPct val="100000"/>
              <a:buChar char="•"/>
            </a:pPr>
            <a:r>
              <a:rPr lang="ar-AE" altLang="en-US" sz="1100" dirty="0">
                <a:solidFill>
                  <a:schemeClr val="tx2"/>
                </a:solidFill>
              </a:rPr>
              <a:t>سجل وصايا لغير المسلمين في دبي</a:t>
            </a:r>
            <a:endParaRPr lang="ar-AE" sz="1100" dirty="0"/>
          </a:p>
          <a:p>
            <a:pPr algn="r" marL="152400" indent="-152400">
              <a:spcAft>
                <a:spcPts val="500"/>
              </a:spcAft>
              <a:buSzPct val="100000"/>
              <a:buChar char="•"/>
            </a:pPr>
            <a:r>
              <a:rPr lang="ar-AE" altLang="en-US" sz="1100" dirty="0">
                <a:solidFill>
                  <a:schemeClr val="tx2"/>
                </a:solidFill>
              </a:rPr>
              <a:t>وثيقة بالإنجليزية تغطي الأصول في الدولة</a:t>
            </a:r>
            <a:endParaRPr lang="ar-AE" sz="1100" dirty="0"/>
          </a:p>
          <a:p>
            <a:pPr algn="r" marL="152400" indent="-152400">
              <a:spcAft>
                <a:spcPts val="500"/>
              </a:spcAft>
              <a:buSzPct val="100000"/>
              <a:buChar char="•"/>
            </a:pPr>
            <a:r>
              <a:rPr lang="ar-AE" altLang="en-US" sz="1100" dirty="0">
                <a:solidFill>
                  <a:schemeClr val="tx2"/>
                </a:solidFill>
              </a:rPr>
              <a:t>خيار شائع للأوروبيين والروس والهنود</a:t>
            </a:r>
            <a:endParaRPr lang="ar-AE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1188720"/>
            <a:ext cx="2590800" cy="548640"/>
          </a:xfrm>
          <a:prstGeom prst="rect">
            <a:avLst/>
          </a:prstGeom>
          <a:solidFill>
            <a:srgbClr val="0B0B0B"/>
          </a:solidFill>
          <a:ln w="12700">
            <a:solidFill>
              <a:srgbClr val="0B0B0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94360" y="1188720"/>
            <a:ext cx="231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300" b="1" dirty="0">
                <a:solidFill>
                  <a:schemeClr val="accent2"/>
                </a:solidFill>
              </a:rPr>
              <a:t>ADGM Wills</a:t>
            </a:r>
            <a:endParaRPr lang="ar-AE" sz="1300" dirty="0"/>
          </a:p>
        </p:txBody>
      </p:sp>
      <p:sp>
        <p:nvSpPr>
          <p:cNvPr id="14" name="Shape 12"/>
          <p:cNvSpPr/>
          <p:nvPr/>
        </p:nvSpPr>
        <p:spPr>
          <a:xfrm>
            <a:off x="457200" y="1737360"/>
            <a:ext cx="2590800" cy="2697480"/>
          </a:xfrm>
          <a:prstGeom prst="rect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94360" y="1874520"/>
            <a:ext cx="23164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152400" indent="-152400">
              <a:spcAft>
                <a:spcPts val="500"/>
              </a:spcAft>
              <a:buSzPct val="100000"/>
              <a:buChar char="•"/>
            </a:pPr>
            <a:r>
              <a:rPr lang="ar-AE" altLang="en-US" sz="1100" dirty="0">
                <a:solidFill>
                  <a:schemeClr val="tx2"/>
                </a:solidFill>
              </a:rPr>
              <a:t>سجل وصايا لغير المسلمين في أبوظبي</a:t>
            </a:r>
            <a:endParaRPr lang="ar-AE" sz="1100" dirty="0"/>
          </a:p>
          <a:p>
            <a:pPr algn="r" marL="152400" indent="-152400">
              <a:spcAft>
                <a:spcPts val="500"/>
              </a:spcAft>
              <a:buSzPct val="100000"/>
              <a:buChar char="•"/>
            </a:pPr>
            <a:r>
              <a:rPr lang="ar-AE" altLang="en-US" sz="1100" dirty="0">
                <a:solidFill>
                  <a:schemeClr val="tx2"/>
                </a:solidFill>
              </a:rPr>
              <a:t>وثيقة بالإنجليزية</a:t>
            </a:r>
            <a:endParaRPr lang="ar-AE" sz="1100" dirty="0"/>
          </a:p>
          <a:p>
            <a:pPr algn="r" marL="152400" indent="-152400">
              <a:spcAft>
                <a:spcPts val="500"/>
              </a:spcAft>
              <a:buSzPct val="100000"/>
              <a:buChar char="•"/>
            </a:pPr>
            <a:r>
              <a:rPr lang="ar-AE" altLang="en-US" sz="1100" dirty="0">
                <a:solidFill>
                  <a:schemeClr val="tx2"/>
                </a:solidFill>
              </a:rPr>
              <a:t>مسار بديل بحسب موقع الأصول وتفضيل الموكل</a:t>
            </a:r>
            <a:endParaRPr lang="ar-AE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6F7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0" y="146304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0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283464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أدوات الحماية</a:t>
            </a:r>
            <a:endParaRPr lang="ar-AE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35661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accent2"/>
                </a:solidFill>
              </a:rPr>
              <a:t>من وصية بسيطة إلى هيكلة ثروة عابرة للأجيال</a:t>
            </a:r>
            <a:endParaRPr lang="ar-AE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8C39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457200" y="34747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0B0B0B"/>
                </a:solidFill>
              </a:rPr>
              <a:t>أدوات الحماية المتاحة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000" b="1" dirty="0">
                <a:solidFill>
                  <a:schemeClr val="accent1"/>
                </a:solidFill>
              </a:rPr>
              <a:t>الأدوات</a:t>
            </a:r>
            <a:endParaRPr lang="ar-AE" sz="1000" dirty="0"/>
          </a:p>
        </p:txBody>
      </p:sp>
      <p:sp>
        <p:nvSpPr>
          <p:cNvPr id="4" name="Shape 2"/>
          <p:cNvSpPr/>
          <p:nvPr/>
        </p:nvSpPr>
        <p:spPr>
          <a:xfrm>
            <a:off x="6800850" y="1188720"/>
            <a:ext cx="1885950" cy="1508760"/>
          </a:xfrm>
          <a:prstGeom prst="rect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5" name="icon FaFileSignatur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74736" y="1389888"/>
            <a:ext cx="310896" cy="31089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002018" y="1828800"/>
            <a:ext cx="148361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300"/>
              </a:spcAft>
              <a:buNone/>
            </a:pPr>
            <a:r>
              <a:rPr lang="ar-AE" altLang="en-US" sz="1250" b="1" dirty="0">
                <a:solidFill>
                  <a:schemeClr val="tx1"/>
                </a:solidFill>
              </a:rPr>
              <a:t>وصية فردية</a:t>
            </a:r>
            <a:endParaRPr lang="ar-AE" sz="125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AE" altLang="en-US" sz="1050" dirty="0">
                <a:solidFill>
                  <a:schemeClr val="accent3"/>
                </a:solidFill>
              </a:rPr>
              <a:t>أصولك في الدولة، الأوصياء، والمنفذون.</a:t>
            </a:r>
            <a:endParaRPr lang="ar-AE" sz="1250" dirty="0"/>
          </a:p>
        </p:txBody>
      </p:sp>
      <p:sp>
        <p:nvSpPr>
          <p:cNvPr id="7" name="Shape 4"/>
          <p:cNvSpPr/>
          <p:nvPr/>
        </p:nvSpPr>
        <p:spPr>
          <a:xfrm>
            <a:off x="4686300" y="1188720"/>
            <a:ext cx="1885950" cy="1508760"/>
          </a:xfrm>
          <a:prstGeom prst="rect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8" name="icon FaUserGroup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60186" y="1389888"/>
            <a:ext cx="310896" cy="31089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887468" y="1828800"/>
            <a:ext cx="148361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300"/>
              </a:spcAft>
              <a:buNone/>
            </a:pPr>
            <a:r>
              <a:rPr lang="ar-AE" altLang="en-US" sz="1250" b="1" dirty="0">
                <a:solidFill>
                  <a:schemeClr val="tx1"/>
                </a:solidFill>
              </a:rPr>
              <a:t>وصية زوجية</a:t>
            </a:r>
            <a:endParaRPr lang="ar-AE" sz="125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AE" altLang="en-US" sz="1050" dirty="0">
                <a:solidFill>
                  <a:schemeClr val="accent3"/>
                </a:solidFill>
              </a:rPr>
              <a:t>وصيتان متطابقتان تحميان العائلة والأطفال.</a:t>
            </a:r>
            <a:endParaRPr lang="ar-AE" sz="1250" dirty="0"/>
          </a:p>
        </p:txBody>
      </p:sp>
      <p:sp>
        <p:nvSpPr>
          <p:cNvPr id="10" name="Shape 6"/>
          <p:cNvSpPr/>
          <p:nvPr/>
        </p:nvSpPr>
        <p:spPr>
          <a:xfrm>
            <a:off x="2571750" y="1188720"/>
            <a:ext cx="1885950" cy="1508760"/>
          </a:xfrm>
          <a:prstGeom prst="rect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11" name="icon FaHous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45636" y="1389888"/>
            <a:ext cx="310896" cy="310896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2772918" y="1828800"/>
            <a:ext cx="148361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300"/>
              </a:spcAft>
              <a:buNone/>
            </a:pPr>
            <a:r>
              <a:rPr lang="ar-AE" altLang="en-US" sz="1250" b="1" dirty="0">
                <a:solidFill>
                  <a:schemeClr val="tx1"/>
                </a:solidFill>
              </a:rPr>
              <a:t>وصية عقارية</a:t>
            </a:r>
            <a:endParaRPr lang="ar-AE" sz="125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AE" altLang="en-US" sz="1050" dirty="0">
                <a:solidFill>
                  <a:schemeClr val="accent3"/>
                </a:solidFill>
              </a:rPr>
              <a:t>للعقارات داخل الإمارات فقط.</a:t>
            </a:r>
            <a:endParaRPr lang="ar-AE" sz="1250" dirty="0"/>
          </a:p>
        </p:txBody>
      </p:sp>
      <p:sp>
        <p:nvSpPr>
          <p:cNvPr id="13" name="Shape 8"/>
          <p:cNvSpPr/>
          <p:nvPr/>
        </p:nvSpPr>
        <p:spPr>
          <a:xfrm>
            <a:off x="457200" y="1188720"/>
            <a:ext cx="1885950" cy="1508760"/>
          </a:xfrm>
          <a:prstGeom prst="rect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14" name="icon FaBriefcas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31086" y="1389888"/>
            <a:ext cx="310896" cy="310896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658368" y="1828800"/>
            <a:ext cx="148361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300"/>
              </a:spcAft>
              <a:buNone/>
            </a:pPr>
            <a:r>
              <a:rPr lang="ar-AE" altLang="en-US" sz="1250" b="1" dirty="0">
                <a:solidFill>
                  <a:schemeClr val="tx1"/>
                </a:solidFill>
              </a:rPr>
              <a:t>وصية أعمال</a:t>
            </a:r>
            <a:endParaRPr lang="ar-AE" sz="125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AE" altLang="en-US" sz="1050" dirty="0">
                <a:solidFill>
                  <a:schemeClr val="accent3"/>
                </a:solidFill>
              </a:rPr>
              <a:t>حصص الشركات واستمرارية الأعمال.</a:t>
            </a:r>
            <a:endParaRPr lang="ar-AE" sz="1250" dirty="0"/>
          </a:p>
        </p:txBody>
      </p:sp>
      <p:sp>
        <p:nvSpPr>
          <p:cNvPr id="16" name="Shape 10"/>
          <p:cNvSpPr/>
          <p:nvPr/>
        </p:nvSpPr>
        <p:spPr>
          <a:xfrm>
            <a:off x="6800850" y="2926080"/>
            <a:ext cx="1885950" cy="1508760"/>
          </a:xfrm>
          <a:prstGeom prst="rect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17" name="icon FaSitemap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74736" y="3127248"/>
            <a:ext cx="310896" cy="310896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7002018" y="3566160"/>
            <a:ext cx="148361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300"/>
              </a:spcAft>
              <a:buNone/>
            </a:pPr>
            <a:r>
              <a:rPr lang="ar-AE" altLang="en-US" sz="1250" b="1" dirty="0">
                <a:solidFill>
                  <a:schemeClr val="tx1"/>
                </a:solidFill>
              </a:rPr>
              <a:t>Holding / SPV</a:t>
            </a:r>
            <a:endParaRPr lang="ar-AE" sz="125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AE" altLang="en-US" sz="1050" dirty="0">
                <a:solidFill>
                  <a:schemeClr val="accent3"/>
                </a:solidFill>
              </a:rPr>
              <a:t>شركة قابضة مرتبطة بخطة الإرث.</a:t>
            </a:r>
            <a:endParaRPr lang="ar-AE" sz="1250" dirty="0"/>
          </a:p>
        </p:txBody>
      </p:sp>
      <p:sp>
        <p:nvSpPr>
          <p:cNvPr id="19" name="Shape 12"/>
          <p:cNvSpPr/>
          <p:nvPr/>
        </p:nvSpPr>
        <p:spPr>
          <a:xfrm>
            <a:off x="4686300" y="2926080"/>
            <a:ext cx="1885950" cy="1508760"/>
          </a:xfrm>
          <a:prstGeom prst="rect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20" name="icon FaLandmark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60186" y="3127248"/>
            <a:ext cx="310896" cy="310896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4887468" y="3566160"/>
            <a:ext cx="148361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300"/>
              </a:spcAft>
              <a:buNone/>
            </a:pPr>
            <a:r>
              <a:rPr lang="ar-AE" altLang="en-US" sz="1250" b="1" dirty="0">
                <a:solidFill>
                  <a:schemeClr val="tx1"/>
                </a:solidFill>
              </a:rPr>
              <a:t>مؤسسة أو صندوق ائتماني</a:t>
            </a:r>
            <a:endParaRPr lang="ar-AE" sz="125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AE" altLang="en-US" sz="1050" dirty="0">
                <a:solidFill>
                  <a:schemeClr val="accent3"/>
                </a:solidFill>
              </a:rPr>
              <a:t>حماية الثروة عبر الأجيال.</a:t>
            </a:r>
            <a:endParaRPr lang="ar-AE" sz="1250" dirty="0"/>
          </a:p>
        </p:txBody>
      </p:sp>
      <p:sp>
        <p:nvSpPr>
          <p:cNvPr id="22" name="Shape 14"/>
          <p:cNvSpPr/>
          <p:nvPr/>
        </p:nvSpPr>
        <p:spPr>
          <a:xfrm>
            <a:off x="2571750" y="2926080"/>
            <a:ext cx="1885950" cy="1508760"/>
          </a:xfrm>
          <a:prstGeom prst="rect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23" name="icon FaPeopleRoof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45636" y="3127248"/>
            <a:ext cx="310896" cy="310896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2772918" y="3566160"/>
            <a:ext cx="148361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300"/>
              </a:spcAft>
              <a:buNone/>
            </a:pPr>
            <a:r>
              <a:rPr lang="ar-AE" altLang="en-US" sz="1250" b="1" dirty="0">
                <a:solidFill>
                  <a:schemeClr val="tx1"/>
                </a:solidFill>
              </a:rPr>
              <a:t>حوكمة العائلة</a:t>
            </a:r>
            <a:endParaRPr lang="ar-AE" sz="125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AE" altLang="en-US" sz="1050" dirty="0">
                <a:solidFill>
                  <a:schemeClr val="accent3"/>
                </a:solidFill>
              </a:rPr>
              <a:t>مكتب عائلي واتفاقيات شراكة.</a:t>
            </a:r>
            <a:endParaRPr lang="ar-AE" sz="1250" dirty="0"/>
          </a:p>
        </p:txBody>
      </p:sp>
      <p:sp>
        <p:nvSpPr>
          <p:cNvPr id="25" name="Shape 16"/>
          <p:cNvSpPr/>
          <p:nvPr/>
        </p:nvSpPr>
        <p:spPr>
          <a:xfrm>
            <a:off x="457200" y="2926080"/>
            <a:ext cx="1885950" cy="1508760"/>
          </a:xfrm>
          <a:prstGeom prst="rect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26" name="icon FaKey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831086" y="3127248"/>
            <a:ext cx="310896" cy="310896"/>
          </a:xfrm>
          <a:prstGeom prst="rect">
            <a:avLst/>
          </a:prstGeom>
        </p:spPr>
      </p:pic>
      <p:sp>
        <p:nvSpPr>
          <p:cNvPr id="27" name="Text 17"/>
          <p:cNvSpPr txBox="1"/>
          <p:nvPr/>
        </p:nvSpPr>
        <p:spPr>
          <a:xfrm>
            <a:off x="658368" y="3566160"/>
            <a:ext cx="148361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300"/>
              </a:spcAft>
              <a:buNone/>
            </a:pPr>
            <a:r>
              <a:rPr lang="ar-AE" altLang="en-US" sz="1250" b="1" dirty="0">
                <a:solidFill>
                  <a:schemeClr val="tx1"/>
                </a:solidFill>
              </a:rPr>
              <a:t>نقل الملكية</a:t>
            </a:r>
            <a:endParaRPr lang="ar-AE" sz="125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AE" altLang="en-US" sz="1050" dirty="0">
                <a:solidFill>
                  <a:schemeClr val="accent3"/>
                </a:solidFill>
              </a:rPr>
              <a:t>تمثيل الورثة واستكمال الإجراءات.</a:t>
            </a:r>
            <a:endParaRPr lang="ar-AE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6F7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457200" y="34747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0B0B0B"/>
                </a:solidFill>
              </a:rPr>
              <a:t>ما الذي يجب أن تغطيه خطة جيدة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000" b="1" dirty="0">
                <a:solidFill>
                  <a:schemeClr val="accent1"/>
                </a:solidFill>
              </a:rPr>
              <a:t>قائمة التحقق</a:t>
            </a:r>
            <a:endParaRPr lang="ar-AE" sz="1000" dirty="0"/>
          </a:p>
        </p:txBody>
      </p:sp>
      <p:sp>
        <p:nvSpPr>
          <p:cNvPr id="4" name="Shape 2"/>
          <p:cNvSpPr/>
          <p:nvPr/>
        </p:nvSpPr>
        <p:spPr>
          <a:xfrm>
            <a:off x="8229600" y="1188720"/>
            <a:ext cx="457200" cy="457200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5" name="icon FaListCheck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0" y="128016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1170432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200"/>
              </a:spcAft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كل الأصول في الدولة</a:t>
            </a:r>
            <a:endParaRPr lang="ar-AE" sz="1300" dirty="0"/>
          </a:p>
          <a:p>
            <a:pPr algn="r" indent="0" marL="0">
              <a:spcAft>
                <a:spcPts val="200"/>
              </a:spcAft>
              <a:buNone/>
            </a:pPr>
            <a:r>
              <a:rPr lang="ar-AE" altLang="en-US" sz="1100" dirty="0">
                <a:solidFill>
                  <a:schemeClr val="accent3"/>
                </a:solidFill>
              </a:rPr>
              <a:t>العقارات، الحسابات، الشركات، السيارات، الاستثمارات.</a:t>
            </a:r>
            <a:endParaRPr lang="ar-AE" sz="1300" dirty="0"/>
          </a:p>
        </p:txBody>
      </p:sp>
      <p:sp>
        <p:nvSpPr>
          <p:cNvPr id="7" name="Shape 4"/>
          <p:cNvSpPr/>
          <p:nvPr/>
        </p:nvSpPr>
        <p:spPr>
          <a:xfrm>
            <a:off x="8229600" y="1847088"/>
            <a:ext cx="457200" cy="457200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8" name="icon FaListCheck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1938528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57200" y="1828800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200"/>
              </a:spcAft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الأوصياء والمنفذون</a:t>
            </a:r>
            <a:endParaRPr lang="ar-AE" sz="1300" dirty="0"/>
          </a:p>
          <a:p>
            <a:pPr algn="r" indent="0" marL="0">
              <a:spcAft>
                <a:spcPts val="200"/>
              </a:spcAft>
              <a:buNone/>
            </a:pPr>
            <a:r>
              <a:rPr lang="ar-AE" altLang="en-US" sz="1100" dirty="0">
                <a:solidFill>
                  <a:schemeClr val="accent3"/>
                </a:solidFill>
              </a:rPr>
              <a:t>من يرعى الأطفال، ومن ينفذ الوصية.</a:t>
            </a:r>
            <a:endParaRPr lang="ar-AE" sz="1300" dirty="0"/>
          </a:p>
        </p:txBody>
      </p:sp>
      <p:sp>
        <p:nvSpPr>
          <p:cNvPr id="10" name="Shape 6"/>
          <p:cNvSpPr/>
          <p:nvPr/>
        </p:nvSpPr>
        <p:spPr>
          <a:xfrm>
            <a:off x="8229600" y="2505456"/>
            <a:ext cx="457200" cy="457200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11" name="icon FaListCheck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2596896"/>
            <a:ext cx="274320" cy="2743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457200" y="2487168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200"/>
              </a:spcAft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الورثة داخل الدولة وخارجها</a:t>
            </a:r>
            <a:endParaRPr lang="ar-AE" sz="1300" dirty="0"/>
          </a:p>
          <a:p>
            <a:pPr algn="r" indent="0" marL="0">
              <a:spcAft>
                <a:spcPts val="200"/>
              </a:spcAft>
              <a:buNone/>
            </a:pPr>
            <a:r>
              <a:rPr lang="ar-AE" altLang="en-US" sz="1100" dirty="0">
                <a:solidFill>
                  <a:schemeClr val="accent3"/>
                </a:solidFill>
              </a:rPr>
              <a:t>وتنسيق مع وصاياك في بلدك الأم.</a:t>
            </a:r>
            <a:endParaRPr lang="ar-AE" sz="1300" dirty="0"/>
          </a:p>
        </p:txBody>
      </p:sp>
      <p:sp>
        <p:nvSpPr>
          <p:cNvPr id="13" name="Shape 8"/>
          <p:cNvSpPr/>
          <p:nvPr/>
        </p:nvSpPr>
        <p:spPr>
          <a:xfrm>
            <a:off x="8229600" y="3163824"/>
            <a:ext cx="457200" cy="457200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14" name="icon FaListCheck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21040" y="3255264"/>
            <a:ext cx="274320" cy="2743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457200" y="3145536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200"/>
              </a:spcAft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القانون الواجب التطبيق</a:t>
            </a:r>
            <a:endParaRPr lang="ar-AE" sz="1300" dirty="0"/>
          </a:p>
          <a:p>
            <a:pPr algn="r" indent="0" marL="0">
              <a:spcAft>
                <a:spcPts val="200"/>
              </a:spcAft>
              <a:buNone/>
            </a:pPr>
            <a:r>
              <a:rPr lang="ar-AE" altLang="en-US" sz="1100" dirty="0">
                <a:solidFill>
                  <a:schemeClr val="accent3"/>
                </a:solidFill>
              </a:rPr>
              <a:t>الشريعة أو القانون الأجنبي أو الهيكلة التي تختارها.</a:t>
            </a:r>
            <a:endParaRPr lang="ar-AE" sz="1300" dirty="0"/>
          </a:p>
        </p:txBody>
      </p:sp>
      <p:sp>
        <p:nvSpPr>
          <p:cNvPr id="16" name="Shape 10"/>
          <p:cNvSpPr/>
          <p:nvPr/>
        </p:nvSpPr>
        <p:spPr>
          <a:xfrm>
            <a:off x="8229600" y="3822192"/>
            <a:ext cx="457200" cy="457200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17" name="icon FaListCheck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21040" y="3913632"/>
            <a:ext cx="274320" cy="27432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457200" y="3803904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200"/>
              </a:spcAft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المراجعة الدورية</a:t>
            </a:r>
            <a:endParaRPr lang="ar-AE" sz="1300" dirty="0"/>
          </a:p>
          <a:p>
            <a:pPr algn="r" indent="0" marL="0">
              <a:spcAft>
                <a:spcPts val="200"/>
              </a:spcAft>
              <a:buNone/>
            </a:pPr>
            <a:r>
              <a:rPr lang="ar-AE" altLang="en-US" sz="1100" dirty="0">
                <a:solidFill>
                  <a:schemeClr val="accent3"/>
                </a:solidFill>
              </a:rPr>
              <a:t>تُحدَّث الخطة كلما تغيّرت أصولك أو عائلتك.</a:t>
            </a:r>
            <a:endParaRPr lang="ar-AE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6F7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0" y="146304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0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283464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ثلاث حالات عملية</a:t>
            </a:r>
            <a:endParaRPr lang="ar-AE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35661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accent2"/>
                </a:solidFill>
              </a:rPr>
              <a:t>أسماء افتراضية، ومواقف نراها كل أسبوع</a:t>
            </a:r>
            <a:endParaRPr lang="ar-AE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8C39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457200" y="34747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0B0B0B"/>
                </a:solidFill>
              </a:rPr>
              <a:t>ثلاث حالات نراها كل أسبوع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000" b="1" dirty="0">
                <a:solidFill>
                  <a:schemeClr val="accent1"/>
                </a:solidFill>
              </a:rPr>
              <a:t>حالات عملية</a:t>
            </a:r>
            <a:endParaRPr lang="ar-AE" sz="1000" dirty="0"/>
          </a:p>
        </p:txBody>
      </p:sp>
      <p:sp>
        <p:nvSpPr>
          <p:cNvPr id="4" name="Shape 2"/>
          <p:cNvSpPr/>
          <p:nvPr/>
        </p:nvSpPr>
        <p:spPr>
          <a:xfrm>
            <a:off x="6096000" y="1188720"/>
            <a:ext cx="2590800" cy="3246120"/>
          </a:xfrm>
          <a:prstGeom prst="rect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5" name="icon FaHous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74736" y="1389888"/>
            <a:ext cx="310896" cy="31089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297168" y="1828800"/>
            <a:ext cx="2188464" cy="2450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300"/>
              </a:spcAft>
              <a:buNone/>
            </a:pPr>
            <a:r>
              <a:rPr lang="ar-AE" altLang="en-US" sz="1400" b="1" dirty="0">
                <a:solidFill>
                  <a:schemeClr val="tx1"/>
                </a:solidFill>
              </a:rPr>
              <a:t>المستثمر العقاري وعائلته في الخارج</a:t>
            </a:r>
            <a:endParaRPr lang="ar-AE" sz="140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AE" altLang="en-US" sz="1150" dirty="0">
                <a:solidFill>
                  <a:schemeClr val="accent3"/>
                </a:solidFill>
              </a:rPr>
              <a:t>يملك شقتين في دبي، وزوجته وأولاده في أوروبا. الحل: وصية عقارية مسجلة تحدد الورثة والمنفذ، منسقة مع وصيته في بلده.</a:t>
            </a:r>
            <a:endParaRPr lang="ar-AE" sz="1400" dirty="0"/>
          </a:p>
        </p:txBody>
      </p:sp>
      <p:sp>
        <p:nvSpPr>
          <p:cNvPr id="7" name="Shape 4"/>
          <p:cNvSpPr/>
          <p:nvPr/>
        </p:nvSpPr>
        <p:spPr>
          <a:xfrm>
            <a:off x="3276600" y="1188720"/>
            <a:ext cx="2590800" cy="3246120"/>
          </a:xfrm>
          <a:prstGeom prst="rect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8" name="icon FaBriefcas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5336" y="1389888"/>
            <a:ext cx="310896" cy="31089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3477768" y="1828800"/>
            <a:ext cx="2188464" cy="2450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300"/>
              </a:spcAft>
              <a:buNone/>
            </a:pPr>
            <a:r>
              <a:rPr lang="ar-AE" altLang="en-US" sz="1400" b="1" dirty="0">
                <a:solidFill>
                  <a:schemeClr val="tx1"/>
                </a:solidFill>
              </a:rPr>
              <a:t>صاحب الشركة مع شركاء</a:t>
            </a:r>
            <a:endParaRPr lang="ar-AE" sz="140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AE" altLang="en-US" sz="1150" dirty="0">
                <a:solidFill>
                  <a:schemeClr val="accent3"/>
                </a:solidFill>
              </a:rPr>
              <a:t>يملك حصة في شركة بدبي مع شريكين. الحل: وصية أعمال واتفاقية شركاء تضمن استمرارية القرارات وانتقال الحصة.</a:t>
            </a:r>
            <a:endParaRPr lang="ar-AE" sz="1400" dirty="0"/>
          </a:p>
        </p:txBody>
      </p:sp>
      <p:sp>
        <p:nvSpPr>
          <p:cNvPr id="10" name="Shape 6"/>
          <p:cNvSpPr/>
          <p:nvPr/>
        </p:nvSpPr>
        <p:spPr>
          <a:xfrm>
            <a:off x="457200" y="1188720"/>
            <a:ext cx="2590800" cy="3246120"/>
          </a:xfrm>
          <a:prstGeom prst="rect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11" name="icon FaChildre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35936" y="1389888"/>
            <a:ext cx="310896" cy="310896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658368" y="1828800"/>
            <a:ext cx="2188464" cy="2450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300"/>
              </a:spcAft>
              <a:buNone/>
            </a:pPr>
            <a:r>
              <a:rPr lang="ar-AE" altLang="en-US" sz="1400" b="1" dirty="0">
                <a:solidFill>
                  <a:schemeClr val="tx1"/>
                </a:solidFill>
              </a:rPr>
              <a:t>الزوجان مع أطفال في الإمارات</a:t>
            </a:r>
            <a:endParaRPr lang="ar-AE" sz="140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AE" altLang="en-US" sz="1150" dirty="0">
                <a:solidFill>
                  <a:schemeClr val="accent3"/>
                </a:solidFill>
              </a:rPr>
              <a:t>مقيمان مع طفلين قاصرين وحسابات محلية. الحل: وصيتان زوجيتان تعيّنان الوصي وتحميان الحسابات والمنزل.</a:t>
            </a:r>
            <a:endParaRPr lang="ar-AE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6F7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457200" y="34747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0B0B0B"/>
                </a:solidFill>
              </a:rPr>
              <a:t>كيف تبدأ: خمس خطوات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000" b="1" dirty="0">
                <a:solidFill>
                  <a:schemeClr val="accent1"/>
                </a:solidFill>
              </a:rPr>
              <a:t>العملية</a:t>
            </a:r>
            <a:endParaRPr lang="ar-AE" sz="1000" dirty="0"/>
          </a:p>
        </p:txBody>
      </p:sp>
      <p:sp>
        <p:nvSpPr>
          <p:cNvPr id="4" name="Shape 2"/>
          <p:cNvSpPr/>
          <p:nvPr/>
        </p:nvSpPr>
        <p:spPr>
          <a:xfrm>
            <a:off x="731520" y="1600200"/>
            <a:ext cx="7680960" cy="0"/>
          </a:xfrm>
          <a:prstGeom prst="line">
            <a:avLst/>
          </a:prstGeom>
          <a:noFill/>
          <a:ln w="9525">
            <a:solidFill>
              <a:srgbClr val="D8C39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138160" y="1325880"/>
            <a:ext cx="548640" cy="548640"/>
          </a:xfrm>
          <a:prstGeom prst="ellipse">
            <a:avLst/>
          </a:prstGeom>
          <a:solidFill>
            <a:srgbClr val="0B0B0B"/>
          </a:solidFill>
          <a:ln w="12700">
            <a:solidFill>
              <a:srgbClr val="B08D5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138160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172554" y="2057400"/>
            <a:ext cx="151424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جلسة اكتشاف</a:t>
            </a:r>
            <a:endParaRPr lang="ar-AE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172554" y="2606040"/>
            <a:ext cx="151424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050" dirty="0">
                <a:solidFill>
                  <a:schemeClr val="accent3"/>
                </a:solidFill>
              </a:rPr>
              <a:t>جنسيتك، عائلتك، أصولك، شركاتك، أطفالك، حساباتك.</a:t>
            </a:r>
            <a:endParaRPr lang="ar-AE" sz="1050" dirty="0"/>
          </a:p>
        </p:txBody>
      </p:sp>
      <p:sp>
        <p:nvSpPr>
          <p:cNvPr id="9" name="Shape 7"/>
          <p:cNvSpPr/>
          <p:nvPr/>
        </p:nvSpPr>
        <p:spPr>
          <a:xfrm>
            <a:off x="6459322" y="1325880"/>
            <a:ext cx="548640" cy="548640"/>
          </a:xfrm>
          <a:prstGeom prst="ellipse">
            <a:avLst/>
          </a:prstGeom>
          <a:solidFill>
            <a:srgbClr val="0B0B0B"/>
          </a:solidFill>
          <a:ln w="12700">
            <a:solidFill>
              <a:srgbClr val="B08D5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59322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493715" y="2057400"/>
            <a:ext cx="151424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تقييم المخاطر</a:t>
            </a:r>
            <a:endParaRPr lang="ar-AE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493715" y="2606040"/>
            <a:ext cx="151424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050" dirty="0">
                <a:solidFill>
                  <a:schemeClr val="accent3"/>
                </a:solidFill>
              </a:rPr>
              <a:t>وصية فقط؟ DIFC أو ADGM؟ هيكلة؟ مؤسسة؟</a:t>
            </a:r>
            <a:endParaRPr lang="ar-AE" sz="1050" dirty="0"/>
          </a:p>
        </p:txBody>
      </p:sp>
      <p:sp>
        <p:nvSpPr>
          <p:cNvPr id="13" name="Shape 11"/>
          <p:cNvSpPr/>
          <p:nvPr/>
        </p:nvSpPr>
        <p:spPr>
          <a:xfrm>
            <a:off x="4780483" y="1325880"/>
            <a:ext cx="548640" cy="548640"/>
          </a:xfrm>
          <a:prstGeom prst="ellipse">
            <a:avLst/>
          </a:prstGeom>
          <a:solidFill>
            <a:srgbClr val="0B0B0B"/>
          </a:solidFill>
          <a:ln w="12700">
            <a:solidFill>
              <a:srgbClr val="B08D5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80483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3814877" y="2057400"/>
            <a:ext cx="151424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عرض مكتوب</a:t>
            </a:r>
            <a:endParaRPr lang="ar-AE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3814877" y="2606040"/>
            <a:ext cx="151424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050" dirty="0">
                <a:solidFill>
                  <a:schemeClr val="accent3"/>
                </a:solidFill>
              </a:rPr>
              <a:t>النطاق، الأتعاب، الجدول الزمني، رسوم التسجيل.</a:t>
            </a:r>
            <a:endParaRPr lang="ar-AE" sz="1050" dirty="0"/>
          </a:p>
        </p:txBody>
      </p:sp>
      <p:sp>
        <p:nvSpPr>
          <p:cNvPr id="17" name="Shape 15"/>
          <p:cNvSpPr/>
          <p:nvPr/>
        </p:nvSpPr>
        <p:spPr>
          <a:xfrm>
            <a:off x="3101645" y="1325880"/>
            <a:ext cx="548640" cy="548640"/>
          </a:xfrm>
          <a:prstGeom prst="ellipse">
            <a:avLst/>
          </a:prstGeom>
          <a:solidFill>
            <a:srgbClr val="0B0B0B"/>
          </a:solidFill>
          <a:ln w="12700">
            <a:solidFill>
              <a:srgbClr val="B08D57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101645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2136038" y="2057400"/>
            <a:ext cx="151424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الصياغة</a:t>
            </a:r>
            <a:endParaRPr lang="ar-AE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2136038" y="2606040"/>
            <a:ext cx="151424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050" dirty="0">
                <a:solidFill>
                  <a:schemeClr val="accent3"/>
                </a:solidFill>
              </a:rPr>
              <a:t>الوصية، الترجمة، الشهود، التوثيق.</a:t>
            </a:r>
            <a:endParaRPr lang="ar-AE" sz="1050" dirty="0"/>
          </a:p>
        </p:txBody>
      </p:sp>
      <p:sp>
        <p:nvSpPr>
          <p:cNvPr id="21" name="Shape 19"/>
          <p:cNvSpPr/>
          <p:nvPr/>
        </p:nvSpPr>
        <p:spPr>
          <a:xfrm>
            <a:off x="1422806" y="1325880"/>
            <a:ext cx="548640" cy="548640"/>
          </a:xfrm>
          <a:prstGeom prst="ellipse">
            <a:avLst/>
          </a:prstGeom>
          <a:solidFill>
            <a:srgbClr val="0B0B0B"/>
          </a:solidFill>
          <a:ln w="12700">
            <a:solidFill>
              <a:srgbClr val="B08D57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422806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2057400"/>
            <a:ext cx="151424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التسجيل</a:t>
            </a:r>
            <a:endParaRPr lang="ar-AE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2606040"/>
            <a:ext cx="151424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050" dirty="0">
                <a:solidFill>
                  <a:schemeClr val="accent3"/>
                </a:solidFill>
              </a:rPr>
              <a:t>لدى الجهة المختارة مع متابعة مباشرة.</a:t>
            </a:r>
            <a:endParaRPr lang="ar-AE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6F7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457200" y="34747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0B0B0B"/>
                </a:solidFill>
              </a:rPr>
              <a:t>فحص ذاتي سريع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000" b="1" dirty="0">
                <a:solidFill>
                  <a:schemeClr val="accent1"/>
                </a:solidFill>
              </a:rPr>
              <a:t>أجب بنعم أو لا</a:t>
            </a:r>
            <a:endParaRPr lang="ar-AE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4206240" y="114300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000" b="1" dirty="0">
                <a:solidFill>
                  <a:schemeClr val="accent1"/>
                </a:solidFill>
              </a:rPr>
              <a:t>السؤال</a:t>
            </a:r>
            <a:endParaRPr lang="ar-AE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14300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000" b="1" dirty="0">
                <a:solidFill>
                  <a:schemeClr val="accent1"/>
                </a:solidFill>
              </a:rPr>
              <a:t>إذا كانت الإجابة نعم</a:t>
            </a:r>
            <a:endParaRPr lang="ar-AE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463040"/>
            <a:ext cx="8229600" cy="384048"/>
          </a:xfrm>
          <a:prstGeom prst="rect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7" name="icon FaCircleQuesti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39328" y="1536192"/>
            <a:ext cx="237744" cy="23774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206240" y="146304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150" dirty="0">
                <a:solidFill>
                  <a:schemeClr val="tx1"/>
                </a:solidFill>
              </a:rPr>
              <a:t>هل تملك عقارات داخل الإمارات؟</a:t>
            </a:r>
            <a:endParaRPr lang="ar-AE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1463040"/>
            <a:ext cx="3520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100" b="1" dirty="0">
                <a:solidFill>
                  <a:schemeClr val="accent4"/>
                </a:solidFill>
              </a:rPr>
              <a:t>تحتاج وصية عقارية على الأقل</a:t>
            </a:r>
            <a:endParaRPr lang="ar-AE" sz="1100" dirty="0"/>
          </a:p>
        </p:txBody>
      </p:sp>
      <p:sp>
        <p:nvSpPr>
          <p:cNvPr id="10" name="Shape 7"/>
          <p:cNvSpPr/>
          <p:nvPr/>
        </p:nvSpPr>
        <p:spPr>
          <a:xfrm>
            <a:off x="457200" y="1920240"/>
            <a:ext cx="82296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11" name="icon FaCircleQuesti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9328" y="1993392"/>
            <a:ext cx="237744" cy="23774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206240" y="192024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150" dirty="0">
                <a:solidFill>
                  <a:schemeClr val="tx1"/>
                </a:solidFill>
              </a:rPr>
              <a:t>هل لديك شركات أو حصص؟</a:t>
            </a:r>
            <a:endParaRPr lang="ar-AE" sz="1150" dirty="0"/>
          </a:p>
        </p:txBody>
      </p:sp>
      <p:sp>
        <p:nvSpPr>
          <p:cNvPr id="13" name="Text 9"/>
          <p:cNvSpPr txBox="1"/>
          <p:nvPr/>
        </p:nvSpPr>
        <p:spPr>
          <a:xfrm>
            <a:off x="457200" y="1920240"/>
            <a:ext cx="3520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100" b="1" dirty="0">
                <a:solidFill>
                  <a:schemeClr val="accent4"/>
                </a:solidFill>
              </a:rPr>
              <a:t>تحتاج وصية أعمال أو هيكلة</a:t>
            </a:r>
            <a:endParaRPr lang="ar-AE" sz="1100" dirty="0"/>
          </a:p>
        </p:txBody>
      </p:sp>
      <p:sp>
        <p:nvSpPr>
          <p:cNvPr id="14" name="Shape 10"/>
          <p:cNvSpPr/>
          <p:nvPr/>
        </p:nvSpPr>
        <p:spPr>
          <a:xfrm>
            <a:off x="457200" y="2377440"/>
            <a:ext cx="8229600" cy="384048"/>
          </a:xfrm>
          <a:prstGeom prst="rect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15" name="icon FaCircleQuesti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39328" y="2450592"/>
            <a:ext cx="237744" cy="23774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4206240" y="237744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150" dirty="0">
                <a:solidFill>
                  <a:schemeClr val="tx1"/>
                </a:solidFill>
              </a:rPr>
              <a:t>هل لديك أطفال قاصرون؟</a:t>
            </a:r>
            <a:endParaRPr lang="ar-AE" sz="1150" dirty="0"/>
          </a:p>
        </p:txBody>
      </p:sp>
      <p:sp>
        <p:nvSpPr>
          <p:cNvPr id="17" name="Text 12"/>
          <p:cNvSpPr txBox="1"/>
          <p:nvPr/>
        </p:nvSpPr>
        <p:spPr>
          <a:xfrm>
            <a:off x="457200" y="2377440"/>
            <a:ext cx="3520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100" b="1" dirty="0">
                <a:solidFill>
                  <a:schemeClr val="accent4"/>
                </a:solidFill>
              </a:rPr>
              <a:t>تحتاج تعيين وصي رسمياً</a:t>
            </a:r>
            <a:endParaRPr lang="ar-AE" sz="1100" dirty="0"/>
          </a:p>
        </p:txBody>
      </p:sp>
      <p:sp>
        <p:nvSpPr>
          <p:cNvPr id="18" name="Shape 13"/>
          <p:cNvSpPr/>
          <p:nvPr/>
        </p:nvSpPr>
        <p:spPr>
          <a:xfrm>
            <a:off x="457200" y="2834640"/>
            <a:ext cx="82296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19" name="icon FaCircleQuesti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39328" y="2907792"/>
            <a:ext cx="237744" cy="237744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4206240" y="283464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150" dirty="0">
                <a:solidFill>
                  <a:schemeClr val="tx1"/>
                </a:solidFill>
              </a:rPr>
              <a:t>هل الورثة خارج الإمارات؟</a:t>
            </a:r>
            <a:endParaRPr lang="ar-AE" sz="1150" dirty="0"/>
          </a:p>
        </p:txBody>
      </p:sp>
      <p:sp>
        <p:nvSpPr>
          <p:cNvPr id="21" name="Text 15"/>
          <p:cNvSpPr txBox="1"/>
          <p:nvPr/>
        </p:nvSpPr>
        <p:spPr>
          <a:xfrm>
            <a:off x="457200" y="2834640"/>
            <a:ext cx="3520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100" b="1" dirty="0">
                <a:solidFill>
                  <a:schemeClr val="accent4"/>
                </a:solidFill>
              </a:rPr>
              <a:t>تحتاج اختيار الجهة والقانون بعناية</a:t>
            </a:r>
            <a:endParaRPr lang="ar-AE" sz="1100" dirty="0"/>
          </a:p>
        </p:txBody>
      </p:sp>
      <p:sp>
        <p:nvSpPr>
          <p:cNvPr id="22" name="Shape 16"/>
          <p:cNvSpPr/>
          <p:nvPr/>
        </p:nvSpPr>
        <p:spPr>
          <a:xfrm>
            <a:off x="457200" y="3291840"/>
            <a:ext cx="8229600" cy="384048"/>
          </a:xfrm>
          <a:prstGeom prst="rect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23" name="icon FaCircleQuesti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39328" y="3364992"/>
            <a:ext cx="237744" cy="237744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4206240" y="329184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150" dirty="0">
                <a:solidFill>
                  <a:schemeClr val="tx1"/>
                </a:solidFill>
              </a:rPr>
              <a:t>هل تملك أصولاً في أكثر من دولة؟</a:t>
            </a:r>
            <a:endParaRPr lang="ar-AE" sz="1150" dirty="0"/>
          </a:p>
        </p:txBody>
      </p:sp>
      <p:sp>
        <p:nvSpPr>
          <p:cNvPr id="25" name="Text 18"/>
          <p:cNvSpPr txBox="1"/>
          <p:nvPr/>
        </p:nvSpPr>
        <p:spPr>
          <a:xfrm>
            <a:off x="457200" y="3291840"/>
            <a:ext cx="3520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100" b="1" dirty="0">
                <a:solidFill>
                  <a:schemeClr val="accent4"/>
                </a:solidFill>
              </a:rPr>
              <a:t>تحتاج خطة موحدة أو هيكلة قابضة</a:t>
            </a:r>
            <a:endParaRPr lang="ar-AE" sz="1100" dirty="0"/>
          </a:p>
        </p:txBody>
      </p:sp>
      <p:sp>
        <p:nvSpPr>
          <p:cNvPr id="26" name="Shape 19"/>
          <p:cNvSpPr/>
          <p:nvPr/>
        </p:nvSpPr>
        <p:spPr>
          <a:xfrm>
            <a:off x="457200" y="3749040"/>
            <a:ext cx="82296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27" name="icon FaCircleQuesti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39328" y="3822192"/>
            <a:ext cx="237744" cy="237744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4206240" y="374904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150" dirty="0">
                <a:solidFill>
                  <a:schemeClr val="tx1"/>
                </a:solidFill>
              </a:rPr>
              <a:t>هل مرّت أكثر من ثلاث سنوات على آخر وصية؟</a:t>
            </a:r>
            <a:endParaRPr lang="ar-AE" sz="1150" dirty="0"/>
          </a:p>
        </p:txBody>
      </p:sp>
      <p:sp>
        <p:nvSpPr>
          <p:cNvPr id="29" name="Text 21"/>
          <p:cNvSpPr txBox="1"/>
          <p:nvPr/>
        </p:nvSpPr>
        <p:spPr>
          <a:xfrm>
            <a:off x="457200" y="3749040"/>
            <a:ext cx="3520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100" b="1" dirty="0">
                <a:solidFill>
                  <a:schemeClr val="accent4"/>
                </a:solidFill>
              </a:rPr>
              <a:t>تحتاج مراجعة</a:t>
            </a:r>
            <a:endParaRPr lang="ar-AE" sz="1100" dirty="0"/>
          </a:p>
        </p:txBody>
      </p:sp>
      <p:sp>
        <p:nvSpPr>
          <p:cNvPr id="30" name="Text 22"/>
          <p:cNvSpPr txBox="1"/>
          <p:nvPr/>
        </p:nvSpPr>
        <p:spPr>
          <a:xfrm>
            <a:off x="457200" y="43159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950" i="1" dirty="0">
                <a:solidFill>
                  <a:schemeClr val="accent3"/>
                </a:solidFill>
              </a:rPr>
              <a:t>إجابة واحدة بنعم تكفي لتستحق استشارة أولية مجانية.</a:t>
            </a:r>
            <a:endParaRPr lang="ar-AE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6F7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114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المكتب في أرقام</a:t>
            </a:r>
            <a:endParaRPr lang="ar-AE" sz="2600" dirty="0"/>
          </a:p>
        </p:txBody>
      </p:sp>
      <p:sp>
        <p:nvSpPr>
          <p:cNvPr id="3" name="Shape 1"/>
          <p:cNvSpPr/>
          <p:nvPr/>
        </p:nvSpPr>
        <p:spPr>
          <a:xfrm>
            <a:off x="6800850" y="1371600"/>
            <a:ext cx="1885950" cy="2926080"/>
          </a:xfrm>
          <a:prstGeom prst="rect">
            <a:avLst/>
          </a:prstGeom>
          <a:ln w="9525">
            <a:solidFill>
              <a:srgbClr val="B08D5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983730" y="1600200"/>
            <a:ext cx="152019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2014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6983730" y="2743200"/>
            <a:ext cx="152019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300"/>
              </a:spcAft>
              <a:buNone/>
            </a:pPr>
            <a:r>
              <a:rPr lang="ar-AE" altLang="en-US" sz="1300" b="1" dirty="0">
                <a:solidFill>
                  <a:schemeClr val="bg1"/>
                </a:solidFill>
              </a:rPr>
              <a:t>سنة التأسيس</a:t>
            </a:r>
            <a:endParaRPr lang="ar-AE" sz="130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AE" altLang="en-US" sz="1050" dirty="0">
                <a:solidFill>
                  <a:schemeClr val="accent2"/>
                </a:solidFill>
              </a:rPr>
              <a:t>مكتب محاماة مرخّص في دبي</a:t>
            </a:r>
            <a:endParaRPr lang="ar-AE" sz="1300" dirty="0"/>
          </a:p>
        </p:txBody>
      </p:sp>
      <p:sp>
        <p:nvSpPr>
          <p:cNvPr id="6" name="Shape 4"/>
          <p:cNvSpPr/>
          <p:nvPr/>
        </p:nvSpPr>
        <p:spPr>
          <a:xfrm>
            <a:off x="4686300" y="1371600"/>
            <a:ext cx="1885950" cy="2926080"/>
          </a:xfrm>
          <a:prstGeom prst="rect">
            <a:avLst/>
          </a:prstGeom>
          <a:ln w="9525">
            <a:solidFill>
              <a:srgbClr val="B08D5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69180" y="1600200"/>
            <a:ext cx="152019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10+</a:t>
            </a:r>
            <a:endParaRPr lang="en-US" sz="4400" dirty="0"/>
          </a:p>
        </p:txBody>
      </p:sp>
      <p:sp>
        <p:nvSpPr>
          <p:cNvPr id="8" name="Text 6"/>
          <p:cNvSpPr txBox="1"/>
          <p:nvPr/>
        </p:nvSpPr>
        <p:spPr>
          <a:xfrm>
            <a:off x="4869180" y="2743200"/>
            <a:ext cx="152019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300"/>
              </a:spcAft>
              <a:buNone/>
            </a:pPr>
            <a:r>
              <a:rPr lang="ar-AE" altLang="en-US" sz="1300" b="1" dirty="0">
                <a:solidFill>
                  <a:schemeClr val="bg1"/>
                </a:solidFill>
              </a:rPr>
              <a:t>مجال قانوني</a:t>
            </a:r>
            <a:endParaRPr lang="ar-AE" sz="130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AE" altLang="en-US" sz="1050" dirty="0">
                <a:solidFill>
                  <a:schemeClr val="accent2"/>
                </a:solidFill>
              </a:rPr>
              <a:t>تقاضٍ واستشارات وصياغة عقود</a:t>
            </a:r>
            <a:endParaRPr lang="ar-AE" sz="1300" dirty="0"/>
          </a:p>
        </p:txBody>
      </p:sp>
      <p:sp>
        <p:nvSpPr>
          <p:cNvPr id="9" name="Shape 7"/>
          <p:cNvSpPr/>
          <p:nvPr/>
        </p:nvSpPr>
        <p:spPr>
          <a:xfrm>
            <a:off x="2571750" y="1371600"/>
            <a:ext cx="1885950" cy="2926080"/>
          </a:xfrm>
          <a:prstGeom prst="rect">
            <a:avLst/>
          </a:prstGeom>
          <a:ln w="9525">
            <a:solidFill>
              <a:srgbClr val="B08D5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754630" y="1600200"/>
            <a:ext cx="152019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4400" dirty="0"/>
          </a:p>
        </p:txBody>
      </p:sp>
      <p:sp>
        <p:nvSpPr>
          <p:cNvPr id="11" name="Text 9"/>
          <p:cNvSpPr txBox="1"/>
          <p:nvPr/>
        </p:nvSpPr>
        <p:spPr>
          <a:xfrm>
            <a:off x="2754630" y="2743200"/>
            <a:ext cx="152019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300"/>
              </a:spcAft>
              <a:buNone/>
            </a:pPr>
            <a:r>
              <a:rPr lang="ar-AE" altLang="en-US" sz="1300" b="1" dirty="0">
                <a:solidFill>
                  <a:schemeClr val="bg1"/>
                </a:solidFill>
              </a:rPr>
              <a:t>لغات عمل</a:t>
            </a:r>
            <a:endParaRPr lang="ar-AE" sz="130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AE" altLang="en-US" sz="1050" dirty="0">
                <a:solidFill>
                  <a:schemeClr val="accent2"/>
                </a:solidFill>
              </a:rPr>
              <a:t>العربية · الإنجليزية · الصينية · الروسية</a:t>
            </a:r>
            <a:endParaRPr lang="ar-AE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1371600"/>
            <a:ext cx="1885950" cy="2926080"/>
          </a:xfrm>
          <a:prstGeom prst="rect">
            <a:avLst/>
          </a:prstGeom>
          <a:ln w="9525">
            <a:solidFill>
              <a:srgbClr val="B08D5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1600200"/>
            <a:ext cx="152019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الخليج وآسيا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2743200"/>
            <a:ext cx="152019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300"/>
              </a:spcAft>
              <a:buNone/>
            </a:pPr>
            <a:r>
              <a:rPr lang="ar-AE" altLang="en-US" sz="1300" b="1" dirty="0">
                <a:solidFill>
                  <a:schemeClr val="bg1"/>
                </a:solidFill>
              </a:rPr>
              <a:t>حضور إقليمي ودولي</a:t>
            </a:r>
            <a:endParaRPr lang="ar-AE" sz="130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AE" altLang="en-US" sz="1050" dirty="0">
                <a:solidFill>
                  <a:schemeClr val="accent2"/>
                </a:solidFill>
              </a:rPr>
              <a:t>مكتب صيني متخصص للمستثمرين</a:t>
            </a:r>
            <a:endParaRPr lang="ar-AE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8C39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8229600" cy="4023360"/>
          </a:xfrm>
          <a:prstGeom prst="rect">
            <a:avLst/>
          </a:prstGeom>
          <a:ln w="9525">
            <a:solidFill>
              <a:srgbClr val="B08D5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406640" y="640080"/>
            <a:ext cx="914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200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</a:t>
            </a:r>
            <a:endParaRPr lang="en-US" sz="72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1463040"/>
            <a:ext cx="7315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2200" i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لا تفكّر في «الوصية». فكّر في «حماية الأصول»: الوصية مرتبطة بالموت، أما الحماية فمرتبطة بالاستثمار والأمان.</a:t>
            </a:r>
            <a:endParaRPr lang="ar-AE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35661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200" dirty="0">
                <a:solidFill>
                  <a:schemeClr val="accent2"/>
                </a:solidFill>
              </a:rPr>
              <a:t>الخلاصة</a:t>
            </a:r>
            <a:endParaRPr lang="ar-AE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8C39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8229600" cy="4229100"/>
          </a:xfrm>
          <a:prstGeom prst="rect">
            <a:avLst/>
          </a:prstGeom>
          <a:ln w="9525">
            <a:solidFill>
              <a:srgbClr val="B08D5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68680" y="777240"/>
            <a:ext cx="7406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2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أسئلة وأجوبة</a:t>
            </a:r>
            <a:endParaRPr lang="ar-AE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868680" y="155448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300" dirty="0">
                <a:solidFill>
                  <a:schemeClr val="accent2"/>
                </a:solidFill>
              </a:rPr>
              <a:t>استشارة أولية مجانية لكل الحضور، بلغتك، في المكان الذي يناسبك</a:t>
            </a:r>
            <a:endParaRPr lang="ar-AE" sz="1300" dirty="0"/>
          </a:p>
        </p:txBody>
      </p:sp>
      <p:pic>
        <p:nvPicPr>
          <p:cNvPr id="5" name="icon FaLocationDot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0" y="228600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68680" y="22402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200" dirty="0">
                <a:solidFill>
                  <a:schemeClr val="bg2"/>
                </a:solidFill>
              </a:rPr>
              <a:t>شارع الشيخ زايد، برج سعيد 2، مكتب 501، دبي، الإمارات العربية المتحدة</a:t>
            </a:r>
            <a:endParaRPr lang="ar-AE" sz="1200" dirty="0"/>
          </a:p>
        </p:txBody>
      </p:sp>
      <p:pic>
        <p:nvPicPr>
          <p:cNvPr id="7" name="icon FaPh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2788920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68680" y="274320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200" dirty="0">
                <a:solidFill>
                  <a:schemeClr val="bg2"/>
                </a:solidFill>
              </a:rPr>
              <a:t>+971 4 359 5552  |  جوال وواتساب: +971 52 107 4972</a:t>
            </a:r>
            <a:endParaRPr lang="ar-AE" sz="1200" dirty="0"/>
          </a:p>
        </p:txBody>
      </p:sp>
      <p:pic>
        <p:nvPicPr>
          <p:cNvPr id="9" name="icon FaEnvelop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291840"/>
            <a:ext cx="274320" cy="27432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868680" y="324612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200" dirty="0">
                <a:solidFill>
                  <a:schemeClr val="bg2"/>
                </a:solidFill>
              </a:rPr>
              <a:t>ward.shueibi@rk-advocates.com  |  rk-advocates.com</a:t>
            </a:r>
            <a:endParaRPr lang="ar-AE" sz="1200" dirty="0"/>
          </a:p>
        </p:txBody>
      </p:sp>
      <p:pic>
        <p:nvPicPr>
          <p:cNvPr id="11" name="icon FaClock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1000" y="3794760"/>
            <a:ext cx="274320" cy="274320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868680" y="374904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200" dirty="0">
                <a:solidFill>
                  <a:schemeClr val="bg2"/>
                </a:solidFill>
              </a:rPr>
              <a:t>الاثنين – الجمعة، 8:30 – 17:30  |  العربية · English · 中文 · Русский</a:t>
            </a:r>
            <a:endParaRPr lang="ar-AE" sz="1200" dirty="0"/>
          </a:p>
        </p:txBody>
      </p:sp>
      <p:sp>
        <p:nvSpPr>
          <p:cNvPr id="13" name="Text 7"/>
          <p:cNvSpPr txBox="1"/>
          <p:nvPr/>
        </p:nvSpPr>
        <p:spPr>
          <a:xfrm>
            <a:off x="868680" y="4206240"/>
            <a:ext cx="7406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000" dirty="0">
                <a:solidFill>
                  <a:schemeClr val="accent1"/>
                </a:solidFill>
              </a:rPr>
              <a:t>راشد الكيتوب للمحاماة والاستشارات القانونية</a:t>
            </a:r>
            <a:endParaRPr lang="ar-AE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8C39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K Advocates">
  <a:themeElements>
    <a:clrScheme name="RK Advocates">
      <a:dk1>
        <a:srgbClr val="0B0B0B"/>
      </a:dk1>
      <a:lt1>
        <a:srgbClr val="FFFFFF"/>
      </a:lt1>
      <a:dk2>
        <a:srgbClr val="2A2D33"/>
      </a:dk2>
      <a:lt2>
        <a:srgbClr val="F4F1EA"/>
      </a:lt2>
      <a:accent1>
        <a:srgbClr val="B08D57"/>
      </a:accent1>
      <a:accent2>
        <a:srgbClr val="D8C39A"/>
      </a:accent2>
      <a:accent3>
        <a:srgbClr val="6B6F76"/>
      </a:accent3>
      <a:accent4>
        <a:srgbClr val="8A6D3B"/>
      </a:accent4>
      <a:accent5>
        <a:srgbClr val="E9E4DA"/>
      </a:accent5>
      <a:accent6>
        <a:srgbClr val="15171B"/>
      </a:accent6>
      <a:hlink>
        <a:srgbClr val="B08D57"/>
      </a:hlink>
      <a:folHlink>
        <a:srgbClr val="8A6D3B"/>
      </a:folHlink>
    </a:clrScheme>
    <a:fontScheme name="RK Advocates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Rashid Alkaitoob Advocates &amp; Legal Consultants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كيف تحمي المستثمر الأجنبي في الإمارات</dc:title>
  <dc:subject>PptxGenJS Presentation</dc:subject>
  <dc:creator>Rashid Alkaitoob Advocates &amp; Legal Consultants</dc:creator>
  <cp:lastModifiedBy>Rashid Alkaitoob Advocates &amp; Legal Consultants</cp:lastModifiedBy>
  <cp:revision>1</cp:revision>
  <dcterms:created xsi:type="dcterms:W3CDTF">2026-10-26T11:14:59Z</dcterms:created>
  <dcterms:modified xsi:type="dcterms:W3CDTF">2026-10-26T11:14:59Z</dcterms:modified>
</cp:coreProperties>
</file>