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9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2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المقدمة" id="{8f4fb9ba-d2c6-2175-8cd8-45a1f51f2aad}">
          <p14:sldIdLst>
            <p14:sldId id="256"/>
            <p14:sldId id="257"/>
          </p14:sldIdLst>
        </p14:section>
        <p14:section name="الواقع" id="{b8f7d628-d064-aaa2-37de-4d1ee2a5ea0e}">
          <p14:sldIdLst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الإطار القانوني" id="{125e2936-24a1-f008-6b68-efa39282ca58}">
          <p14:sldIdLst>
            <p14:sldId id="267"/>
            <p14:sldId id="268"/>
            <p14:sldId id="269"/>
          </p14:sldIdLst>
        </p14:section>
        <p14:section name="الأدوات" id="{91fb6a1a-6f92-f46a-8b41-74c9ac2b5ef5}">
          <p14:sldIdLst>
            <p14:sldId id="270"/>
            <p14:sldId id="271"/>
            <p14:sldId id="272"/>
          </p14:sldIdLst>
        </p14:section>
        <p14:section name="الحالات" id="{f623312c-ad90-62a8-7ab9-ea86d04c6598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عدد الوصايا المسجلة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وصايا مسجلة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النصف الأول 2023*</c:v>
                  </c:pt>
                  <c:pt idx="1">
                    <c:v>النصف الأول 2024</c:v>
                  </c:pt>
                  <c:pt idx="2">
                    <c:v>النصف الأول 2025</c:v>
                  </c:pt>
                  <c:pt idx="3">
                    <c:v>سنة 2024*</c:v>
                  </c:pt>
                  <c:pt idx="4">
                    <c:v>سنة 2025</c:v>
                  </c:pt>
                  <c:pt idx="5">
                    <c:v>الربع الأول 2026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764</c:v>
                </c:pt>
                <c:pt idx="1">
                  <c:v>810</c:v>
                </c:pt>
                <c:pt idx="2">
                  <c:v>922</c:v>
                </c:pt>
                <c:pt idx="3">
                  <c:v>1820</c:v>
                </c:pt>
                <c:pt idx="4">
                  <c:v>2220</c:v>
                </c:pt>
                <c:pt idx="5">
                  <c:v>883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متوسط الزمن بالأيام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أيام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2023: تقاضٍ، من التسجيل للحكم</c:v>
                  </c:pt>
                  <c:pt idx="1">
                    <c:v>2023–24: أول 11 شهراً، تسوية ودية</c:v>
                  </c:pt>
                  <c:pt idx="2">
                    <c:v>2024: تسوية ودية</c:v>
                  </c:pt>
                  <c:pt idx="3">
                    <c:v>2025: تسوية ودية (أيام عمل)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81</c:v>
                </c:pt>
                <c:pt idx="1">
                  <c:v>40</c:v>
                </c:pt>
                <c:pt idx="2">
                  <c:v>24</c:v>
                </c:pt>
                <c:pt idx="3">
                  <c:v>13.8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E2238"/>
                </a:solidFill>
                <a:latin typeface="+mj-lt"/>
              </a:defRPr>
            </a:pPr>
            <a:r>
              <a:rPr sz="1200" b="0" i="0" u="none" strike="noStrike">
                <a:solidFill>
                  <a:srgbClr val="0E2238"/>
                </a:solidFill>
                <a:latin typeface="+mj-lt"/>
              </a:rPr>
              <a:t>نسبة الشركات العائلية التي تستمر (بيانات عالمية)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نسبة البقاء</c:v>
                </c:pt>
              </c:strCache>
            </c:strRef>
          </c:tx>
          <c:spPr>
            <a:solidFill>
              <a:srgbClr val="B5723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0E223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الجيل الثاني</c:v>
                  </c:pt>
                  <c:pt idx="1">
                    <c:v>الجيل الثالث</c:v>
                  </c:pt>
                  <c:pt idx="2">
                    <c:v>الجيل الرابع فما بعد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12</c:v>
                </c:pt>
                <c:pt idx="2">
                  <c:v>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0E223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0"/>
        </c:scaling>
        <c:delete val="0"/>
        <c:axPos val="l"/>
        <c:majorGridlines>
          <c:spPr>
            <a:ln w="6350" cap="flat">
              <a:solidFill>
                <a:srgbClr val="E6E1D8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E223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التأكيد للحضور: المسار الصحيح يُحدَّد لكل شخص بعد جلسة اكتشاف، ولا توجد إجابة واحدة للجميع.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aa/b81485da-2e22-5d10-878f-01904e6d5dc6/scratchpad/rk/logo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02823" y="4681728"/>
            <a:ext cx="1675417" cy="2743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rtl="1" algn="r" indent="0" marL="0">
              <a:buNone/>
              <a:defRPr lang="en-US" sz="2600" b="1" dirty="0">
                <a:solidFill>
                  <a:srgbClr val="0E2238"/>
                </a:solidFill>
              </a:defRPr>
            </a:lvl1pPr>
          </a:lstStyle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_DARK">
    <p:bg>
      <p:bgPr>
        <a:solidFill>
          <a:srgbClr val="0E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pic>
        <p:nvPicPr>
          <p:cNvPr id="3" name="Image 0" descr="/tmp/claude-0/-home-user-aa/b81485da-2e22-5d10-878f-01904e6d5dc6/scratchpad/rk/logo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54320" y="868680"/>
            <a:ext cx="4021000" cy="65836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68680" y="1965960"/>
            <a:ext cx="7406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تحمي المستثمر الأجنبي في الإمارات</a:t>
            </a:r>
            <a:endParaRPr lang="ar-AE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68680" y="338328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500" dirty="0">
                <a:solidFill>
                  <a:schemeClr val="accent2"/>
                </a:solidFill>
              </a:rPr>
              <a:t>ندوة حول الوصايا وحماية الأصول والتخطيط للتركات للمستثمرين ومالكي العقارات</a:t>
            </a:r>
            <a:endParaRPr lang="ar-AE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4023360"/>
            <a:ext cx="7406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راشد الكيتوب للمحاماة والاستشارات القانونية · دبي</a:t>
            </a:r>
            <a:endParaRPr lang="ar-AE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ماذا سنتناول اليوم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822960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466344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الواقع: أخطاء يقع فيها المستثمرون الأجانب</a:t>
            </a:r>
            <a:endParaRPr lang="ar-AE" sz="1350" dirty="0"/>
          </a:p>
        </p:txBody>
      </p:sp>
      <p:sp>
        <p:nvSpPr>
          <p:cNvPr id="5" name="Shape 3"/>
          <p:cNvSpPr/>
          <p:nvPr/>
        </p:nvSpPr>
        <p:spPr>
          <a:xfrm>
            <a:off x="45720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ماذا يحدث فعلاً عند غياب التخطيط</a:t>
            </a:r>
            <a:endParaRPr lang="ar-AE" sz="1350" dirty="0"/>
          </a:p>
        </p:txBody>
      </p:sp>
      <p:sp>
        <p:nvSpPr>
          <p:cNvPr id="8" name="Shape 6"/>
          <p:cNvSpPr/>
          <p:nvPr/>
        </p:nvSpPr>
        <p:spPr>
          <a:xfrm>
            <a:off x="45720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22960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الإطار القانوني في الإمارات: الجهات والخيارات</a:t>
            </a:r>
            <a:endParaRPr lang="ar-AE" sz="1350" dirty="0"/>
          </a:p>
        </p:txBody>
      </p:sp>
      <p:sp>
        <p:nvSpPr>
          <p:cNvPr id="11" name="Shape 9"/>
          <p:cNvSpPr/>
          <p:nvPr/>
        </p:nvSpPr>
        <p:spPr>
          <a:xfrm>
            <a:off x="45720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23360" y="1234440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234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أدوات الحماية: من الوصية إلى هيكلة الثروة</a:t>
            </a:r>
            <a:endParaRPr lang="ar-AE" sz="1350" dirty="0"/>
          </a:p>
        </p:txBody>
      </p:sp>
      <p:sp>
        <p:nvSpPr>
          <p:cNvPr id="14" name="Shape 12"/>
          <p:cNvSpPr/>
          <p:nvPr/>
        </p:nvSpPr>
        <p:spPr>
          <a:xfrm>
            <a:off x="4663440" y="1801368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023360" y="1856232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1856232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ثلاث حالات عملية</a:t>
            </a:r>
            <a:endParaRPr lang="ar-AE" sz="1350" dirty="0"/>
          </a:p>
        </p:txBody>
      </p:sp>
      <p:sp>
        <p:nvSpPr>
          <p:cNvPr id="17" name="Shape 15"/>
          <p:cNvSpPr/>
          <p:nvPr/>
        </p:nvSpPr>
        <p:spPr>
          <a:xfrm>
            <a:off x="4663440" y="2423160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023360" y="2478024"/>
            <a:ext cx="457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247802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50" dirty="0">
                <a:solidFill>
                  <a:schemeClr val="tx1"/>
                </a:solidFill>
              </a:rPr>
              <a:t>فحص ذاتي سريع وأسئلة وأجوبة</a:t>
            </a:r>
            <a:endParaRPr lang="ar-AE" sz="1350" dirty="0"/>
          </a:p>
        </p:txBody>
      </p:sp>
      <p:sp>
        <p:nvSpPr>
          <p:cNvPr id="20" name="Shape 18"/>
          <p:cNvSpPr/>
          <p:nvPr/>
        </p:nvSpPr>
        <p:spPr>
          <a:xfrm>
            <a:off x="4663440" y="3044952"/>
            <a:ext cx="4023360" cy="0"/>
          </a:xfrm>
          <a:prstGeom prst="line">
            <a:avLst/>
          </a:prstGeom>
          <a:noFill/>
          <a:ln w="6350">
            <a:solidFill>
              <a:srgbClr val="E6E1D8"/>
            </a:solidFill>
            <a:prstDash val="solid"/>
          </a:ln>
        </p:spPr>
      </p:sp>
      <p:sp>
        <p:nvSpPr>
          <p:cNvPr id="2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الواقع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يشتري المستثمر الأجنبي بملايين الدراهم ثم ينسى سؤالاً واحداً: ماذا بعد؟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أخطاء شائعة يقع فيها المستثمرون الأجانب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الأخطاء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TriangleExclama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الاعتقاد أن قانون بلدك يُطبّق تلقائياً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الإجراءات في الإمارات تختلف بحسب الجنسية والديانة والحالة، وقد لا تكون كما تتوقع.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TriangleExclama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شراء العقار بدون أي وصية أو هيكلة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أغلب المشترين لا يعرفون قوانين الإرث في الدولة.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TriangleExclama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أصول في عدة دول بلا خطة موحدة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وصايا متعارضة أو غائبة تعني تأخيراً ونزاعات.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TriangleExclama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عدم ترتيب الوصاية على الأطفال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لا أحد معيّن رسمياً لرعاية القاصرين.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TriangleExclama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حصص الشركات خارج أي تخطيط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توقف الأعمال وتعطّل قرارات الشركاء.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لماذا يحدث هذا؟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لأن أحداً لم يسأل المستثمر السؤال الصحيح في اللحظة الصحيحة. اليوم نسأله.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ماذا يحدث فعلاً عند غياب التخطيط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النتائج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o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تجميد الحسابات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قد تُجمّد الحسابات البنكية حتى صدور قرار توزيع التركة، فتتوقف مصاريف العائلة.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HouseLo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تعطّل نقل الملكية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يبقى العقار في انتظار إجراءات قد تطول وتتعقد.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PeopleArrow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نزاعات عائلية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غياب الوضوح يفتح الباب للخلاف بين الورثة.</a:t>
            </a:r>
            <a:endParaRPr lang="ar-AE" sz="140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Childre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مشاكل الأطفال والورثة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لا وصي معيّن، ولا مسار واضح للحصص داخل الدولة وخارجها.</a:t>
            </a:r>
            <a:endParaRPr lang="ar-AE" sz="1400" dirty="0"/>
          </a:p>
        </p:txBody>
      </p:sp>
      <p:sp>
        <p:nvSpPr>
          <p:cNvPr id="16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الواقع بأربعة 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المقيمين الأجانب لم يبدأوا وصية بعد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YouGov، سبتمبر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35,000+</a:t>
            </a:r>
            <a:endParaRPr lang="ar-AE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مسجلة لغير المسلمين منذ 2015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DIFC (أكثر من 14,000) + أبوظبي (21,000)، في دولة يفوق سكانها 11 مليوناً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13.8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 عمل متوسط التسوية الودية للتركات في دبي (2025)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24 يوماً في 2024 و81 يوماً للتقاضي في 2023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تريليون $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أصول العائلات الخليجية تنتقل للجيل التالي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وأقل من ثلث الشركات العائلية لديها خطة خلافة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المصادر: محاكم مركز دبي المالي العالمي، دائرة القضاء في أبوظبي، محاكم دبي، استطلاع YouGov (سبتمبر 2026)، Khaleej Times / Gulf News. التفاصيل في عرض «الوصايا والميراث في الإمارات: ما تقوله الأرقام».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من لا يملك وصية: ما تقوله الاستطلاعات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لم يبدأوا وصية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من المقيمين الأجانب في الإمارات، 2026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يعتقدون أن الزوج/الزوجة يرث كل شيء تلقائياً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وهو اعتقاد خاطئ قانونياً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من الآباء وثّقوا الوصاية على أطفالهم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مقابل 73% يظنون أن عائلاتهم ستعرف رغباتهم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نحو 90%</a:t>
            </a:r>
            <a:endParaRPr lang="ar-AE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مالكي الأصول في دبي لم يكن لديهم وصية مسجلة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استطلاع سجل وصايا DIFC، 2017: «أكثر بقليل من 10%» لديهم وصية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المصدر: استطلاع YouGov لصالح Blanket، 1,014 مقيماً، سبتمبر 2026؛ واستطلاع سجل وصايا DIFC لعام 2017. أبرز أسباب عدم كتابة الوصية: 28% يرون أصولهم غير كافية، و21% لا يعرفون من أين يبدؤون.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DIFC: تسارع واضح في التسجيل السنوي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+120%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نمو الربع الأول 2026 مقارنة بالربع الأول 2025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2025: 2,220 وصية (+22%). طلبات تنفيذ الوصايا (Probate): 41 طلباً في 2025 (+37%)، و27 أمراً في النصف الأول 2025 وحده.</a:t>
            </a:r>
            <a:endParaRPr lang="ar-AE" sz="1000" dirty="0"/>
          </a:p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* أرقام محسوبة من نسب النمو المعلنة.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مركز دبي المالي العالمي، بيانات صحفية 2017–2026 وبوابة الإحصاءات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1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دبي تختصر زمن تسوية التركات من 81 يوماً إلى 13.8</a:t>
            </a:r>
            <a:endParaRPr lang="ar-AE" sz="2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 → 3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يوماً: زمن إجراءات الوفاة بعد منصة «جبر» (أكتوبر 2025)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834640"/>
            <a:ext cx="23317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المتطلبات من 10 إلى 4، و1,103 حالة في أول ثلاثة أشهر. القيود التنظيمية لمحكمة التركات: التحضير ≤ 30 يوماً، والتقاضي ≤ 12 شهراً. ما يحدث خارج دبي، أو بلا وصية، أو مع نزاع، لا تغطيه هذه الأرقام.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محاكم دبي: التقارير السنوية 2022–2025 والمكتب الإعلامي لحكومة دبي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الشركات العائلية في الخليج بالأرقام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780276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963156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60%</a:t>
            </a:r>
            <a:endParaRPr lang="ar-AE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963156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الناتج المحلي الخليجي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تساهم به الشركات العائلية</a:t>
            </a:r>
            <a:endParaRPr lang="ar-AE" sz="1250" dirty="0"/>
          </a:p>
        </p:txBody>
      </p:sp>
      <p:sp>
        <p:nvSpPr>
          <p:cNvPr id="7" name="Shape 5"/>
          <p:cNvSpPr/>
          <p:nvPr/>
        </p:nvSpPr>
        <p:spPr>
          <a:xfrm>
            <a:off x="4672584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55464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80%</a:t>
            </a:r>
            <a:endParaRPr lang="ar-AE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4855464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القوى العاملة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يعملون في شركات عائلية</a:t>
            </a:r>
            <a:endParaRPr lang="ar-AE" sz="1250" dirty="0"/>
          </a:p>
        </p:txBody>
      </p:sp>
      <p:sp>
        <p:nvSpPr>
          <p:cNvPr id="10" name="Shape 8"/>
          <p:cNvSpPr/>
          <p:nvPr/>
        </p:nvSpPr>
        <p:spPr>
          <a:xfrm>
            <a:off x="2564892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47772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90%</a:t>
            </a:r>
            <a:endParaRPr lang="ar-AE" sz="3600" dirty="0"/>
          </a:p>
        </p:txBody>
      </p:sp>
      <p:sp>
        <p:nvSpPr>
          <p:cNvPr id="12" name="Text 10"/>
          <p:cNvSpPr txBox="1"/>
          <p:nvPr/>
        </p:nvSpPr>
        <p:spPr>
          <a:xfrm>
            <a:off x="2747772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من القطاع الخاص في الإمارات والسعودية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شركات مملوكة لعائلات</a:t>
            </a:r>
            <a:endParaRPr lang="ar-AE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1188720"/>
            <a:ext cx="1906524" cy="29260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0080" y="1325880"/>
            <a:ext cx="15407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$1T</a:t>
            </a:r>
            <a:endParaRPr lang="ar-AE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2286000"/>
            <a:ext cx="15407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أصول تنتقل بين الأجيال بحلول 2030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في دول مجلس التعاون</a:t>
            </a:r>
            <a:endParaRPr lang="ar-AE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جلف نيوز، فبراير 2023 (Jersey Finance)؛ خليج تايمز، مايو 2026 (جامعة جورجتاون، برنامج دبي).</a:t>
            </a:r>
            <a:endParaRPr lang="ar-AE" sz="8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شركات من كل عشر تصل إلى الجيل الثاني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الأرقام</a:t>
            </a:r>
            <a:endParaRPr lang="ar-AE" sz="1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474720" y="1188720"/>
          <a:ext cx="521208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1188720"/>
            <a:ext cx="2788920" cy="30175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13258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أقل من 30%</a:t>
            </a:r>
            <a:endParaRPr lang="ar-AE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057400"/>
            <a:ext cx="2331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فقط لديها خطة خلافة واضحة ومُبلّغة</a:t>
            </a:r>
            <a:endParaRPr lang="ar-AE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615184"/>
            <a:ext cx="2331720" cy="1545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00" dirty="0">
                <a:solidFill>
                  <a:schemeClr val="accent3"/>
                </a:solidFill>
              </a:rPr>
              <a:t>و22% فقط من أبناء الجيل التالي في الإمارات ينوون الانضمام إلى شركة العائلة. تقدير آخر (Citi، 2023): البقاء 50% للجيل الثاني و10% للثالث.</a:t>
            </a:r>
            <a:endParaRPr lang="ar-AE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418795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800" i="1" dirty="0">
                <a:solidFill>
                  <a:schemeClr val="accent3"/>
                </a:solidFill>
              </a:rPr>
              <a:t>خليج تايمز، مايو 2026 وسبتمبر 2023؛ جلف نيوز، فبراير 2023.</a:t>
            </a:r>
            <a:endParaRPr lang="ar-AE" sz="800" dirty="0"/>
          </a:p>
        </p:txBody>
      </p:sp>
      <p:sp>
        <p:nvSpPr>
          <p:cNvPr id="10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الإطار القانوني في الإمارات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للمستثمر خيارات حقيقية، والمهم اختيار الصحيح منها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جهات تسجيل الوصايا في الإمارات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الإطار القانوني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andmar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566160" y="117043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دبي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وصايا غير المسلمين لدى محاكم دبي، وفق قانون الأحوال الشخصية لغير المسلمين.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andmar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566160" y="1828800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محاكم أبوظبي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تسجيل الوصايا لدى دائرة القضاء في أبوظبي لمن يفضّل هذا المسار.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BuildingColumns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566160" y="2487168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مركز دبي المالي العالمي لغير المسلمين، باللغة الإنجليزية، يغطي الأصول في الدولة.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uildingColumns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3566160" y="3145536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ADGM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سجل وصايا سوق أبوظبي العالمي لغير المسلمين، مسار بديل بالإنجليزية.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caleBalanced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566160" y="3803904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الشريعة الإسلامية أو القانون الأجنبي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نحدد القانون الواجب التطبيق بحسب جنسية الموكل وديانته ورغبته.</a:t>
            </a:r>
            <a:endParaRPr lang="ar-AE" sz="1300" dirty="0"/>
          </a:p>
        </p:txBody>
      </p:sp>
      <p:sp>
        <p:nvSpPr>
          <p:cNvPr id="19" name="Shape 12"/>
          <p:cNvSpPr/>
          <p:nvPr/>
        </p:nvSpPr>
        <p:spPr>
          <a:xfrm>
            <a:off x="457200" y="1188720"/>
            <a:ext cx="2743200" cy="324612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20" name="Shape 13"/>
          <p:cNvSpPr/>
          <p:nvPr/>
        </p:nvSpPr>
        <p:spPr>
          <a:xfrm>
            <a:off x="566928" y="1298448"/>
            <a:ext cx="2523744" cy="3026664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777240" y="150876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كل موكل حالة مستقلة</a:t>
            </a:r>
            <a:endParaRPr lang="ar-AE" sz="1600" dirty="0"/>
          </a:p>
        </p:txBody>
      </p:sp>
      <p:sp>
        <p:nvSpPr>
          <p:cNvPr id="22" name="Text 15"/>
          <p:cNvSpPr txBox="1"/>
          <p:nvPr/>
        </p:nvSpPr>
        <p:spPr>
          <a:xfrm>
            <a:off x="777240" y="2194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bg2"/>
                </a:solidFill>
              </a:rPr>
              <a:t>الجنسية، الديانة، الحالة العائلية، وموقع الأصول تحدد المسار الأنسب. لذلك نبدأ دائماً بجلسة اكتشاف لا بنوع الوصية.</a:t>
            </a:r>
            <a:endParaRPr lang="ar-AE" sz="1150" dirty="0"/>
          </a:p>
        </p:txBody>
      </p:sp>
      <p:sp>
        <p:nvSpPr>
          <p:cNvPr id="2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المسارات الرئيسية بنظرة واحدة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مقارنة عامة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331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المحاكم المحلية (دبي / أبوظبي)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60960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331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تسجيل وصايا غير المسلمين محلياً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بالعربية مع ترجمة معتمدة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مناسبة لمن يفضّل المسار المحلي</a:t>
            </a:r>
            <a:endParaRPr lang="ar-AE" sz="1100" dirty="0"/>
          </a:p>
        </p:txBody>
      </p:sp>
      <p:sp>
        <p:nvSpPr>
          <p:cNvPr id="8" name="Shape 6"/>
          <p:cNvSpPr/>
          <p:nvPr/>
        </p:nvSpPr>
        <p:spPr>
          <a:xfrm>
            <a:off x="3276600" y="1188720"/>
            <a:ext cx="2590800" cy="548640"/>
          </a:xfrm>
          <a:prstGeom prst="rect">
            <a:avLst/>
          </a:prstGeom>
          <a:solidFill>
            <a:srgbClr val="B5723B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137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DIFC Wills</a:t>
            </a:r>
            <a:endParaRPr lang="ar-AE" sz="1300" dirty="0"/>
          </a:p>
        </p:txBody>
      </p:sp>
      <p:sp>
        <p:nvSpPr>
          <p:cNvPr id="10" name="Shape 8"/>
          <p:cNvSpPr/>
          <p:nvPr/>
        </p:nvSpPr>
        <p:spPr>
          <a:xfrm>
            <a:off x="32766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137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سجل وصايا لغير المسلمين في دبي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بالإنجليزية تغطي الأصول في الدولة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خيار شائع للأوروبيين والروس والهنود</a:t>
            </a:r>
            <a:endParaRPr lang="ar-AE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1188720"/>
            <a:ext cx="2590800" cy="548640"/>
          </a:xfrm>
          <a:prstGeom prst="rect">
            <a:avLst/>
          </a:prstGeom>
          <a:solidFill>
            <a:srgbClr val="0E2238"/>
          </a:solidFill>
          <a:ln w="12700">
            <a:solidFill>
              <a:srgbClr val="0E223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94360" y="1188720"/>
            <a:ext cx="2316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accent2"/>
                </a:solidFill>
              </a:rPr>
              <a:t>ADGM Wills</a:t>
            </a:r>
            <a:endParaRPr lang="ar-AE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1737360"/>
            <a:ext cx="2590800" cy="269748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1874520"/>
            <a:ext cx="231648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سجل وصايا لغير المسلمين في أبوظبي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وثيقة بالإنجليزية</a:t>
            </a:r>
            <a:endParaRPr lang="ar-AE" sz="1100" dirty="0"/>
          </a:p>
          <a:p>
            <a:pPr algn="r" marL="152400" indent="-152400">
              <a:spcAft>
                <a:spcPts val="500"/>
              </a:spcAft>
              <a:buSzPct val="100000"/>
              <a:buChar char="•"/>
            </a:pPr>
            <a:r>
              <a:rPr lang="ar-AE" altLang="en-US" sz="1100" dirty="0">
                <a:solidFill>
                  <a:schemeClr val="tx2"/>
                </a:solidFill>
              </a:rPr>
              <a:t>مسار بديل بحسب موقع الأصول وتفضيل الموكل</a:t>
            </a:r>
            <a:endParaRPr lang="ar-AE" sz="1100" dirty="0"/>
          </a:p>
        </p:txBody>
      </p:sp>
      <p:sp>
        <p:nvSpPr>
          <p:cNvPr id="17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أدوات الحماية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من وصية بسيطة إلى هيكلة ثروة عابرة للأجيال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أدوات الحماية المتاحة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الأدوات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8008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FileSignatur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0020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فردية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أصولك في الدولة، الأوصياء، والمنفذون.</a:t>
            </a:r>
            <a:endParaRPr lang="ar-AE" sz="1250" dirty="0"/>
          </a:p>
        </p:txBody>
      </p:sp>
      <p:sp>
        <p:nvSpPr>
          <p:cNvPr id="7" name="Shape 4"/>
          <p:cNvSpPr/>
          <p:nvPr/>
        </p:nvSpPr>
        <p:spPr>
          <a:xfrm>
            <a:off x="46863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UserGroup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018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874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زوجية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وصيتان متطابقتان تحميان العائلة والأطفال.</a:t>
            </a:r>
            <a:endParaRPr lang="ar-AE" sz="1250" dirty="0"/>
          </a:p>
        </p:txBody>
      </p:sp>
      <p:sp>
        <p:nvSpPr>
          <p:cNvPr id="10" name="Shape 6"/>
          <p:cNvSpPr/>
          <p:nvPr/>
        </p:nvSpPr>
        <p:spPr>
          <a:xfrm>
            <a:off x="257175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Hous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56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77291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عقارية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للعقارات داخل الإمارات فقط.</a:t>
            </a:r>
            <a:endParaRPr lang="ar-AE" sz="1250" dirty="0"/>
          </a:p>
        </p:txBody>
      </p:sp>
      <p:sp>
        <p:nvSpPr>
          <p:cNvPr id="13" name="Shape 8"/>
          <p:cNvSpPr/>
          <p:nvPr/>
        </p:nvSpPr>
        <p:spPr>
          <a:xfrm>
            <a:off x="457200" y="118872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Briefcas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31086" y="1389888"/>
            <a:ext cx="310896" cy="310896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58368" y="182880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وصية أعمال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حصص الشركات واستمرارية الأعمال.</a:t>
            </a:r>
            <a:endParaRPr lang="ar-AE" sz="1250" dirty="0"/>
          </a:p>
        </p:txBody>
      </p:sp>
      <p:sp>
        <p:nvSpPr>
          <p:cNvPr id="16" name="Shape 10"/>
          <p:cNvSpPr/>
          <p:nvPr/>
        </p:nvSpPr>
        <p:spPr>
          <a:xfrm>
            <a:off x="68008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Sitemap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736" y="3127248"/>
            <a:ext cx="310896" cy="310896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70020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Holding / SPV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شركة قابضة مرتبطة بخطة الإرث.</a:t>
            </a:r>
            <a:endParaRPr lang="ar-AE" sz="1250" dirty="0"/>
          </a:p>
        </p:txBody>
      </p:sp>
      <p:sp>
        <p:nvSpPr>
          <p:cNvPr id="19" name="Shape 12"/>
          <p:cNvSpPr/>
          <p:nvPr/>
        </p:nvSpPr>
        <p:spPr>
          <a:xfrm>
            <a:off x="46863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0" name="icon FaLandmark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60186" y="3127248"/>
            <a:ext cx="310896" cy="310896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48874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مؤسسة أو صندوق ائتماني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حماية الثروة عبر الأجيال.</a:t>
            </a:r>
            <a:endParaRPr lang="ar-AE" sz="1250" dirty="0"/>
          </a:p>
        </p:txBody>
      </p:sp>
      <p:sp>
        <p:nvSpPr>
          <p:cNvPr id="22" name="Shape 14"/>
          <p:cNvSpPr/>
          <p:nvPr/>
        </p:nvSpPr>
        <p:spPr>
          <a:xfrm>
            <a:off x="257175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PeopleRoof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5636" y="3127248"/>
            <a:ext cx="310896" cy="310896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277291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حوكمة العائلة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مكتب عائلي واتفاقيات شراكة.</a:t>
            </a:r>
            <a:endParaRPr lang="ar-AE" sz="1250" dirty="0"/>
          </a:p>
        </p:txBody>
      </p:sp>
      <p:sp>
        <p:nvSpPr>
          <p:cNvPr id="25" name="Shape 16"/>
          <p:cNvSpPr/>
          <p:nvPr/>
        </p:nvSpPr>
        <p:spPr>
          <a:xfrm>
            <a:off x="457200" y="2926080"/>
            <a:ext cx="1885950" cy="150876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6" name="icon FaKey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31086" y="3127248"/>
            <a:ext cx="310896" cy="310896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58368" y="3566160"/>
            <a:ext cx="148361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250" b="1" dirty="0">
                <a:solidFill>
                  <a:schemeClr val="tx1"/>
                </a:solidFill>
              </a:rPr>
              <a:t>نقل الملكية</a:t>
            </a:r>
            <a:endParaRPr lang="ar-AE" sz="125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تمثيل الورثة واستكمال الإجراءات.</a:t>
            </a:r>
            <a:endParaRPr lang="ar-AE" sz="1250" dirty="0"/>
          </a:p>
        </p:txBody>
      </p:sp>
      <p:sp>
        <p:nvSpPr>
          <p:cNvPr id="28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ما الذي يجب أن تغطيه خطة جيدة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قائمة التحقق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8229600" y="1188720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ListCheck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1040" y="128016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1170432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كل الأصول في الدولة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العقارات، الحسابات، الشركات، السيارات، الاستثمارات.</a:t>
            </a:r>
            <a:endParaRPr lang="ar-AE" sz="1300" dirty="0"/>
          </a:p>
        </p:txBody>
      </p:sp>
      <p:sp>
        <p:nvSpPr>
          <p:cNvPr id="7" name="Shape 4"/>
          <p:cNvSpPr/>
          <p:nvPr/>
        </p:nvSpPr>
        <p:spPr>
          <a:xfrm>
            <a:off x="8229600" y="1847088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ListCheck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938528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1828800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الأوصياء والمنفذون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من يرعى الأطفال، ومن ينفذ الوصية.</a:t>
            </a:r>
            <a:endParaRPr lang="ar-AE" sz="1300" dirty="0"/>
          </a:p>
        </p:txBody>
      </p:sp>
      <p:sp>
        <p:nvSpPr>
          <p:cNvPr id="10" name="Shape 6"/>
          <p:cNvSpPr/>
          <p:nvPr/>
        </p:nvSpPr>
        <p:spPr>
          <a:xfrm>
            <a:off x="8229600" y="2505456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ListCheck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2596896"/>
            <a:ext cx="274320" cy="2743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57200" y="2487168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الورثة داخل الدولة وخارجها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وتنسيق مع وصاياك في بلدك الأم.</a:t>
            </a:r>
            <a:endParaRPr lang="ar-AE" sz="1300" dirty="0"/>
          </a:p>
        </p:txBody>
      </p:sp>
      <p:sp>
        <p:nvSpPr>
          <p:cNvPr id="13" name="Shape 8"/>
          <p:cNvSpPr/>
          <p:nvPr/>
        </p:nvSpPr>
        <p:spPr>
          <a:xfrm>
            <a:off x="8229600" y="3163824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4" name="icon FaListChe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3255264"/>
            <a:ext cx="274320" cy="2743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57200" y="3145536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القانون الواجب التطبيق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الشريعة أو القانون الأجنبي أو الهيكلة التي تختارها.</a:t>
            </a:r>
            <a:endParaRPr lang="ar-AE" sz="1300" dirty="0"/>
          </a:p>
        </p:txBody>
      </p:sp>
      <p:sp>
        <p:nvSpPr>
          <p:cNvPr id="16" name="Shape 10"/>
          <p:cNvSpPr/>
          <p:nvPr/>
        </p:nvSpPr>
        <p:spPr>
          <a:xfrm>
            <a:off x="8229600" y="3822192"/>
            <a:ext cx="457200" cy="457200"/>
          </a:xfrm>
          <a:prstGeom prst="ellipse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7" name="icon FaListCheck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21040" y="3913632"/>
            <a:ext cx="274320" cy="2743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457200" y="3803904"/>
            <a:ext cx="75895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200"/>
              </a:spcAft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المراجعة الدورية</a:t>
            </a:r>
            <a:endParaRPr lang="ar-AE" sz="1300" dirty="0"/>
          </a:p>
          <a:p>
            <a:pPr algn="r" indent="0" marL="0">
              <a:spcAft>
                <a:spcPts val="200"/>
              </a:spcAft>
              <a:buNone/>
            </a:pPr>
            <a:r>
              <a:rPr lang="ar-AE" altLang="en-US" sz="1100" dirty="0">
                <a:solidFill>
                  <a:schemeClr val="accent3"/>
                </a:solidFill>
              </a:rPr>
              <a:t>تُحدَّث الخطة كلما تغيّرت أصولك أو عائلتك.</a:t>
            </a:r>
            <a:endParaRPr lang="ar-AE" sz="1300" dirty="0"/>
          </a:p>
        </p:txBody>
      </p:sp>
      <p:sp>
        <p:nvSpPr>
          <p:cNvPr id="19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0" y="1463040"/>
            <a:ext cx="1828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274320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rtl="1" algn="r" indent="0" marL="0">
              <a:buNone/>
            </a:pPr>
            <a:r>
              <a:rPr lang="ar-AE" altLang="en-US" sz="3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حالات عملية</a:t>
            </a:r>
            <a:endParaRPr lang="ar-AE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400" dirty="0">
                <a:solidFill>
                  <a:schemeClr val="accent2"/>
                </a:solidFill>
              </a:rPr>
              <a:t>أسماء افتراضية، ومواقف نراها كل أسبوع</a:t>
            </a:r>
            <a:endParaRPr lang="ar-AE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ثلاث حالات نراها كل أسبوع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حالات عملية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60960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5" name="icon FaHous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4736" y="1389888"/>
            <a:ext cx="310896" cy="31089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2971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المستثمر العقاري وعائلته في الخارج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يملك شقتين في دبي، وزوجته وأولاده في أوروبا. الحل: وصية عقارية مسجلة تحدد الورثة والمنفذ، منسقة مع وصيته في بلده.</a:t>
            </a:r>
            <a:endParaRPr lang="ar-AE" sz="1400" dirty="0"/>
          </a:p>
        </p:txBody>
      </p:sp>
      <p:sp>
        <p:nvSpPr>
          <p:cNvPr id="7" name="Shape 4"/>
          <p:cNvSpPr/>
          <p:nvPr/>
        </p:nvSpPr>
        <p:spPr>
          <a:xfrm>
            <a:off x="32766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8" name="icon FaBriefcas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5336" y="1389888"/>
            <a:ext cx="310896" cy="3108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4777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صاحب الشركة مع شركاء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يملك حصة في شركة بدبي مع شريكين. الحل: وصية أعمال واتفاقية شركاء تضمن استمرارية القرارات وانتقال الحصة.</a:t>
            </a:r>
            <a:endParaRPr lang="ar-AE" sz="1400" dirty="0"/>
          </a:p>
        </p:txBody>
      </p:sp>
      <p:sp>
        <p:nvSpPr>
          <p:cNvPr id="10" name="Shape 6"/>
          <p:cNvSpPr/>
          <p:nvPr/>
        </p:nvSpPr>
        <p:spPr>
          <a:xfrm>
            <a:off x="457200" y="1188720"/>
            <a:ext cx="2590800" cy="3246120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hildre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5936" y="1389888"/>
            <a:ext cx="310896" cy="31089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58368" y="1828800"/>
            <a:ext cx="2188464" cy="2450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400" b="1" dirty="0">
                <a:solidFill>
                  <a:schemeClr val="tx1"/>
                </a:solidFill>
              </a:rPr>
              <a:t>الزوجان مع أطفال في الإمارات</a:t>
            </a:r>
            <a:endParaRPr lang="ar-AE" sz="14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150" dirty="0">
                <a:solidFill>
                  <a:schemeClr val="accent3"/>
                </a:solidFill>
              </a:rPr>
              <a:t>مقيمان مع طفلين قاصرين وحسابات محلية. الحل: وصيتان زوجيتان تعيّنان الوصي وتحميان الحسابات والمنزل.</a:t>
            </a:r>
            <a:endParaRPr lang="ar-AE" sz="1400" dirty="0"/>
          </a:p>
        </p:txBody>
      </p:sp>
      <p:sp>
        <p:nvSpPr>
          <p:cNvPr id="13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كيف تبدأ: خمس خطوات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العملية</a:t>
            </a:r>
            <a:endParaRPr lang="ar-AE" sz="1000" dirty="0"/>
          </a:p>
        </p:txBody>
      </p:sp>
      <p:sp>
        <p:nvSpPr>
          <p:cNvPr id="4" name="Shape 2"/>
          <p:cNvSpPr/>
          <p:nvPr/>
        </p:nvSpPr>
        <p:spPr>
          <a:xfrm>
            <a:off x="731520" y="1600200"/>
            <a:ext cx="7680960" cy="0"/>
          </a:xfrm>
          <a:prstGeom prst="line">
            <a:avLst/>
          </a:prstGeom>
          <a:noFill/>
          <a:ln w="9525">
            <a:solidFill>
              <a:srgbClr val="D9B38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138160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138160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172554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جلسة اكتشاف</a:t>
            </a:r>
            <a:endParaRPr lang="ar-AE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172554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جنسيتك، عائلتك، أصولك، شركاتك، أطفالك، حساباتك.</a:t>
            </a:r>
            <a:endParaRPr lang="ar-AE" sz="1050" dirty="0"/>
          </a:p>
        </p:txBody>
      </p:sp>
      <p:sp>
        <p:nvSpPr>
          <p:cNvPr id="9" name="Shape 7"/>
          <p:cNvSpPr/>
          <p:nvPr/>
        </p:nvSpPr>
        <p:spPr>
          <a:xfrm>
            <a:off x="6459322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59322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5493715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تقييم المخاطر</a:t>
            </a:r>
            <a:endParaRPr lang="ar-AE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93715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وصية فقط؟ DIFC أو ADGM؟ هيكلة؟ مؤسسة؟</a:t>
            </a:r>
            <a:endParaRPr lang="ar-AE" sz="1050" dirty="0"/>
          </a:p>
        </p:txBody>
      </p:sp>
      <p:sp>
        <p:nvSpPr>
          <p:cNvPr id="13" name="Shape 11"/>
          <p:cNvSpPr/>
          <p:nvPr/>
        </p:nvSpPr>
        <p:spPr>
          <a:xfrm>
            <a:off x="4780483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80483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3814877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عرض مكتوب</a:t>
            </a:r>
            <a:endParaRPr lang="ar-AE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3814877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النطاق، الأتعاب، الجدول الزمني، رسوم التسجيل.</a:t>
            </a:r>
            <a:endParaRPr lang="ar-AE" sz="1050" dirty="0"/>
          </a:p>
        </p:txBody>
      </p:sp>
      <p:sp>
        <p:nvSpPr>
          <p:cNvPr id="17" name="Shape 15"/>
          <p:cNvSpPr/>
          <p:nvPr/>
        </p:nvSpPr>
        <p:spPr>
          <a:xfrm>
            <a:off x="3101645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101645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2136038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الصياغة</a:t>
            </a:r>
            <a:endParaRPr lang="ar-AE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2136038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الوصية، الترجمة، الشهود، التوثيق.</a:t>
            </a:r>
            <a:endParaRPr lang="ar-AE" sz="1050" dirty="0"/>
          </a:p>
        </p:txBody>
      </p:sp>
      <p:sp>
        <p:nvSpPr>
          <p:cNvPr id="21" name="Shape 19"/>
          <p:cNvSpPr/>
          <p:nvPr/>
        </p:nvSpPr>
        <p:spPr>
          <a:xfrm>
            <a:off x="1422806" y="1325880"/>
            <a:ext cx="548640" cy="548640"/>
          </a:xfrm>
          <a:prstGeom prst="ellipse">
            <a:avLst/>
          </a:prstGeom>
          <a:solidFill>
            <a:srgbClr val="0E2238"/>
          </a:solidFill>
          <a:ln w="12700">
            <a:solidFill>
              <a:srgbClr val="B572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422806" y="1325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2057400"/>
            <a:ext cx="15142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300" b="1" dirty="0">
                <a:solidFill>
                  <a:schemeClr val="tx1"/>
                </a:solidFill>
              </a:rPr>
              <a:t>التسجيل</a:t>
            </a:r>
            <a:endParaRPr lang="ar-AE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606040"/>
            <a:ext cx="151424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1050" dirty="0">
                <a:solidFill>
                  <a:schemeClr val="accent3"/>
                </a:solidFill>
              </a:rPr>
              <a:t>لدى الجهة المختارة مع متابعة مباشرة.</a:t>
            </a:r>
            <a:endParaRPr lang="ar-AE" sz="1050" dirty="0"/>
          </a:p>
        </p:txBody>
      </p:sp>
      <p:sp>
        <p:nvSpPr>
          <p:cNvPr id="25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فحص ذاتي سريع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أجب بنعم أو لا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206240" y="114300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السؤال</a:t>
            </a:r>
            <a:endParaRPr lang="ar-AE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143000"/>
            <a:ext cx="3520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إذا كانت الإجابة نعم</a:t>
            </a:r>
            <a:endParaRPr lang="ar-AE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4630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7" name="icon FaCircleQuesti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9328" y="1536192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206240" y="1463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عقارات داخل الإمارات؟</a:t>
            </a:r>
            <a:endParaRPr lang="ar-AE" sz="11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463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وصية عقارية على الأقل</a:t>
            </a:r>
            <a:endParaRPr lang="ar-AE" sz="1100" dirty="0"/>
          </a:p>
        </p:txBody>
      </p:sp>
      <p:sp>
        <p:nvSpPr>
          <p:cNvPr id="10" name="Shape 7"/>
          <p:cNvSpPr/>
          <p:nvPr/>
        </p:nvSpPr>
        <p:spPr>
          <a:xfrm>
            <a:off x="457200" y="19202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1" name="icon FaCircleQuesti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9328" y="1993392"/>
            <a:ext cx="237744" cy="23774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206240" y="1920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شركات أو حصص؟</a:t>
            </a:r>
            <a:endParaRPr lang="ar-AE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457200" y="19202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وصية أعمال أو هيكلة</a:t>
            </a:r>
            <a:endParaRPr lang="ar-AE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23774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5" name="icon FaCircleQuesti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450592"/>
            <a:ext cx="237744" cy="2377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206240" y="23774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لديك أطفال قاصرون؟</a:t>
            </a:r>
            <a:endParaRPr lang="ar-AE" sz="1150" dirty="0"/>
          </a:p>
        </p:txBody>
      </p:sp>
      <p:sp>
        <p:nvSpPr>
          <p:cNvPr id="17" name="Text 12"/>
          <p:cNvSpPr txBox="1"/>
          <p:nvPr/>
        </p:nvSpPr>
        <p:spPr>
          <a:xfrm>
            <a:off x="457200" y="23774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تعيين وصي رسمياً</a:t>
            </a:r>
            <a:endParaRPr lang="ar-AE" sz="1100" dirty="0"/>
          </a:p>
        </p:txBody>
      </p:sp>
      <p:sp>
        <p:nvSpPr>
          <p:cNvPr id="18" name="Shape 13"/>
          <p:cNvSpPr/>
          <p:nvPr/>
        </p:nvSpPr>
        <p:spPr>
          <a:xfrm>
            <a:off x="457200" y="28346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19" name="icon FaCircleQuesti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2907792"/>
            <a:ext cx="237744" cy="237744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4206240" y="28346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الورثة خارج الإمارات؟</a:t>
            </a:r>
            <a:endParaRPr lang="ar-AE" sz="1150" dirty="0"/>
          </a:p>
        </p:txBody>
      </p:sp>
      <p:sp>
        <p:nvSpPr>
          <p:cNvPr id="21" name="Text 15"/>
          <p:cNvSpPr txBox="1"/>
          <p:nvPr/>
        </p:nvSpPr>
        <p:spPr>
          <a:xfrm>
            <a:off x="457200" y="28346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اختيار الجهة والقانون بعناية</a:t>
            </a:r>
            <a:endParaRPr lang="ar-AE" sz="1100" dirty="0"/>
          </a:p>
        </p:txBody>
      </p:sp>
      <p:sp>
        <p:nvSpPr>
          <p:cNvPr id="22" name="Shape 16"/>
          <p:cNvSpPr/>
          <p:nvPr/>
        </p:nvSpPr>
        <p:spPr>
          <a:xfrm>
            <a:off x="457200" y="3291840"/>
            <a:ext cx="8229600" cy="384048"/>
          </a:xfrm>
          <a:prstGeom prst="rect">
            <a:avLst/>
          </a:prstGeom>
          <a:solidFill>
            <a:srgbClr val="F4F1EB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3" name="icon FaCircleQuesti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9328" y="3364992"/>
            <a:ext cx="237744" cy="237744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4206240" y="32918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تملك أصولاً في أكثر من دولة؟</a:t>
            </a:r>
            <a:endParaRPr lang="ar-AE" sz="1150" dirty="0"/>
          </a:p>
        </p:txBody>
      </p:sp>
      <p:sp>
        <p:nvSpPr>
          <p:cNvPr id="25" name="Text 18"/>
          <p:cNvSpPr txBox="1"/>
          <p:nvPr/>
        </p:nvSpPr>
        <p:spPr>
          <a:xfrm>
            <a:off x="457200" y="32918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خطة موحدة أو هيكلة قابضة</a:t>
            </a:r>
            <a:endParaRPr lang="ar-AE" sz="1100" dirty="0"/>
          </a:p>
        </p:txBody>
      </p:sp>
      <p:sp>
        <p:nvSpPr>
          <p:cNvPr id="26" name="Shape 19"/>
          <p:cNvSpPr/>
          <p:nvPr/>
        </p:nvSpPr>
        <p:spPr>
          <a:xfrm>
            <a:off x="457200" y="3749040"/>
            <a:ext cx="82296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F4F1EB"/>
            </a:solidFill>
            <a:prstDash val="solid"/>
          </a:ln>
        </p:spPr>
      </p:sp>
      <p:pic>
        <p:nvPicPr>
          <p:cNvPr id="27" name="icon FaCircleQuesti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3822192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4206240" y="37490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50" dirty="0">
                <a:solidFill>
                  <a:schemeClr val="tx1"/>
                </a:solidFill>
              </a:rPr>
              <a:t>هل مرّت أكثر من ثلاث سنوات على آخر وصية؟</a:t>
            </a:r>
            <a:endParaRPr lang="ar-AE" sz="1150" dirty="0"/>
          </a:p>
        </p:txBody>
      </p:sp>
      <p:sp>
        <p:nvSpPr>
          <p:cNvPr id="29" name="Text 21"/>
          <p:cNvSpPr txBox="1"/>
          <p:nvPr/>
        </p:nvSpPr>
        <p:spPr>
          <a:xfrm>
            <a:off x="457200" y="374904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100" b="1" dirty="0">
                <a:solidFill>
                  <a:schemeClr val="accent4"/>
                </a:solidFill>
              </a:rPr>
              <a:t>تحتاج مراجعة</a:t>
            </a:r>
            <a:endParaRPr lang="ar-AE" sz="1100" dirty="0"/>
          </a:p>
        </p:txBody>
      </p:sp>
      <p:sp>
        <p:nvSpPr>
          <p:cNvPr id="30" name="Text 22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50" i="1" dirty="0">
                <a:solidFill>
                  <a:schemeClr val="accent3"/>
                </a:solidFill>
              </a:rPr>
              <a:t>إجابة واحدة بنعم تكفي لتستحق استشارة أولية مجانية.</a:t>
            </a:r>
            <a:endParaRPr lang="ar-AE" sz="950" dirty="0"/>
          </a:p>
        </p:txBody>
      </p:sp>
      <p:sp>
        <p:nvSpPr>
          <p:cNvPr id="3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المكتب في أرقام</a:t>
            </a:r>
            <a:endParaRPr lang="ar-AE" sz="2600" dirty="0"/>
          </a:p>
        </p:txBody>
      </p:sp>
      <p:sp>
        <p:nvSpPr>
          <p:cNvPr id="3" name="Shape 1"/>
          <p:cNvSpPr/>
          <p:nvPr/>
        </p:nvSpPr>
        <p:spPr>
          <a:xfrm>
            <a:off x="68008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9837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2014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69837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سنة التأسيس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محاماة مرخّص في دبي</a:t>
            </a:r>
            <a:endParaRPr lang="ar-AE" sz="1300" dirty="0"/>
          </a:p>
        </p:txBody>
      </p:sp>
      <p:sp>
        <p:nvSpPr>
          <p:cNvPr id="6" name="Shape 4"/>
          <p:cNvSpPr/>
          <p:nvPr/>
        </p:nvSpPr>
        <p:spPr>
          <a:xfrm>
            <a:off x="46863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691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10+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48691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مجال قانوني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تقاضٍ واستشارات وصياغة عقود</a:t>
            </a:r>
            <a:endParaRPr lang="ar-AE" sz="1300" dirty="0"/>
          </a:p>
        </p:txBody>
      </p:sp>
      <p:sp>
        <p:nvSpPr>
          <p:cNvPr id="9" name="Shape 7"/>
          <p:cNvSpPr/>
          <p:nvPr/>
        </p:nvSpPr>
        <p:spPr>
          <a:xfrm>
            <a:off x="257175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5463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5463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لغات عمل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العربية · الإنجليزية · الصينية · الروسية</a:t>
            </a:r>
            <a:endParaRPr lang="ar-AE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1371600"/>
            <a:ext cx="1885950" cy="292608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1600200"/>
            <a:ext cx="152019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الخليج وآسيا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2743200"/>
            <a:ext cx="152019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spcAft>
                <a:spcPts val="300"/>
              </a:spcAft>
              <a:buNone/>
            </a:pPr>
            <a:r>
              <a:rPr lang="ar-AE" altLang="en-US" sz="1300" b="1" dirty="0">
                <a:solidFill>
                  <a:schemeClr val="bg1"/>
                </a:solidFill>
              </a:rPr>
              <a:t>حضور إقليمي ودولي</a:t>
            </a:r>
            <a:endParaRPr lang="ar-AE" sz="1300" dirty="0"/>
          </a:p>
          <a:p>
            <a:pPr algn="r" indent="0" marL="0">
              <a:spcAft>
                <a:spcPts val="300"/>
              </a:spcAft>
              <a:buNone/>
            </a:pPr>
            <a:r>
              <a:rPr lang="ar-AE" altLang="en-US" sz="1050" dirty="0">
                <a:solidFill>
                  <a:schemeClr val="accent2"/>
                </a:solidFill>
              </a:rPr>
              <a:t>مكتب صيني متخصص للمستثمرين</a:t>
            </a:r>
            <a:endParaRPr lang="ar-AE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402336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المصادر</a:t>
            </a:r>
            <a:endParaRPr lang="ar-AE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46304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000" b="1" dirty="0">
                <a:solidFill>
                  <a:schemeClr val="accent1"/>
                </a:solidFill>
              </a:rPr>
              <a:t>كل رقم في هذا العرض يعود إلى أحد هذه المصادر</a:t>
            </a:r>
            <a:endParaRPr lang="ar-AE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836676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المركز الاتحادي للتنافسية والإحصاء: سكان الإمارات 2023–2024 (جلف نيوز، 8 سبتمبر 2025).</a:t>
            </a:r>
            <a:endParaRPr lang="ar-AE" sz="850" dirty="0"/>
          </a:p>
        </p:txBody>
      </p:sp>
      <p:sp>
        <p:nvSpPr>
          <p:cNvPr id="6" name="Text 4"/>
          <p:cNvSpPr txBox="1"/>
          <p:nvPr/>
        </p:nvSpPr>
        <p:spPr>
          <a:xfrm>
            <a:off x="836676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مركز دبي للإحصاء: تجاوز 4 ملايين (سبتمبر 2025)؛ 4.58 مليون نهاية 2025 (دبي آي، يوليو 2026).</a:t>
            </a:r>
            <a:endParaRPr lang="ar-AE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36676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66344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المكتب الوطني للإحصاء: 88.5% أجانب من 8.26 مليون (خليج تايمز، 2011).</a:t>
            </a:r>
            <a:endParaRPr lang="ar-AE" sz="850" dirty="0"/>
          </a:p>
        </p:txBody>
      </p:sp>
      <p:sp>
        <p:nvSpPr>
          <p:cNvPr id="10" name="Text 8"/>
          <p:cNvSpPr txBox="1"/>
          <p:nvPr/>
        </p:nvSpPr>
        <p:spPr>
          <a:xfrm>
            <a:off x="836676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بيان 1 نوفمبر 2017 (أكثر من 3,000 وصية)؛ البيان والإمارات اليوم 2019 (4,100 و5,000).</a:t>
            </a:r>
            <a:endParaRPr lang="ar-AE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836676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15 يوليو 2024 (810 وصية، +6%، أكثر من 11,000)؛ 23 يوليو 2025 (922، +14%، أكثر من 13,400).</a:t>
            </a:r>
            <a:endParaRPr lang="ar-AE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DIFC: 11 فبراير 2026 (2,220 وصية في 2025، +22%؛ 41 طلب تنفيذ، +37%)؛ 22 أبريل 2026 (883 في الربع الأول، +120%).</a:t>
            </a:r>
            <a:endParaRPr lang="ar-AE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836676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بوابة إحصاءات محاكم DIFC: 14,373 وصية منذ الإطلاق (النصف الأول 2026).</a:t>
            </a:r>
            <a:endParaRPr lang="ar-AE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36676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دائرة القضاء في أبوظبي: 1,668 وصية و64 جنسية (جلف نيوز، 14 ديسمبر 2019).</a:t>
            </a:r>
            <a:endParaRPr lang="ar-AE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836676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الأسرة المدنية بأبوظبي: 11,000 وصية في 2025، 21,000 تراكمياً (جلف نيوز، 19 يناير 2026)؛ 8,886 معاملة في الربع الأول 2026 (وام).</a:t>
            </a:r>
            <a:endParaRPr lang="ar-AE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160520" y="1188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1188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2022: 3.797 مليار درهم، 1,555 / 500 / 24 تركة (الإمارات اليوم، 8 يوليو 2023).</a:t>
            </a:r>
            <a:endParaRPr lang="ar-AE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160520" y="1544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1544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2023: 580 قضية، 4.116 مليار درهم، 81 / 52 / 28 يوماً، 92.6% (The Law Reporters، 13 يوليو 2024).</a:t>
            </a:r>
            <a:endParaRPr lang="ar-AE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4160520" y="1899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1899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بدبي، أول 11 شهراً: 1,814 ملفاً، 40 يوماً، 32.8 مليار درهم (مكتوم بن محمد، 28 أكتوبر 2024).</a:t>
            </a:r>
            <a:endParaRPr lang="ar-AE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4160520" y="2255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2255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محكمة التركات 2024: 84%، 24 يوماً، 1,407 إشهاداً، 10 و35 مليار درهم (المكتب الإعلامي لحكومة دبي، 29 يناير 2025).</a:t>
            </a:r>
            <a:endParaRPr lang="ar-AE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160520" y="26111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26111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محاكم دبي 2025: 13.8 يوماً، 92.5%، 5.26 مليار درهم، 284 رخصة (البيان، 9 يوليو 2026)؛ 3.5 مليار درهم للورثة ومنصة جبر (جلف نيوز، 25 أبريل 2026).</a:t>
            </a:r>
            <a:endParaRPr lang="ar-AE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4160520" y="29667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9667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YouGov لصالح Blanket، 1,014 مقيماً، سبتمبر 2026: 49%، 56%، 24%، 73%، 28%، 21% (جلف نيوز، 20 أكتوبر 2026).</a:t>
            </a:r>
            <a:endParaRPr lang="ar-AE" sz="850" dirty="0"/>
          </a:p>
        </p:txBody>
      </p:sp>
      <p:sp>
        <p:nvSpPr>
          <p:cNvPr id="34" name="Text 32"/>
          <p:cNvSpPr txBox="1"/>
          <p:nvPr/>
        </p:nvSpPr>
        <p:spPr>
          <a:xfrm>
            <a:off x="4160520" y="33223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33223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استطلاع سجل وصايا DIFC 2017 وتجميد الحسابات (جلف نيوز، 12 نوفمبر 2018)؛ تقديرات الزمن: Caunsel (15 أكتوبر 2026)، Dubai Wills Center (13 يناير 2026).</a:t>
            </a:r>
            <a:endParaRPr lang="ar-AE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4160520" y="36779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36779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الشركات العائلية: جلف نيوز، 9 فبراير 2023 (Jersey Finance)؛ خليج تايمز، 20 مايو 2026 و6 سبتمبر 2023 (Citi).</a:t>
            </a:r>
            <a:endParaRPr lang="ar-AE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4160520" y="4033520"/>
            <a:ext cx="32004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457200" y="4033520"/>
            <a:ext cx="3657600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buNone/>
            </a:pPr>
            <a:r>
              <a:rPr lang="ar-AE" altLang="en-US" sz="850" dirty="0">
                <a:solidFill>
                  <a:schemeClr val="tx2"/>
                </a:solidFill>
              </a:rPr>
              <a:t>الإطار القانوني: قانون دبي 15/2017؛ قانون أبوظبي 14/2021؛ المرسوم الاتحادي 41/2022؛ مرسوم دبي 25/2023.</a:t>
            </a:r>
            <a:endParaRPr lang="ar-AE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31596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900" i="1" dirty="0">
                <a:solidFill>
                  <a:schemeClr val="accent3"/>
                </a:solidFill>
              </a:rPr>
              <a:t>الأرقام المعلّمة بنجمة (*) محسوبة من نسب النمو المعلنة رسمياً وليست منشورة بذاتها.</a:t>
            </a:r>
            <a:endParaRPr lang="ar-AE" sz="900" dirty="0"/>
          </a:p>
        </p:txBody>
      </p:sp>
      <p:sp>
        <p:nvSpPr>
          <p:cNvPr id="41" name="Text 0"/>
          <p:cNvSpPr/>
          <p:nvPr>
            <p:ph idx="101" type="title" hasCustomPrompt="1"/>
          </p:nvPr>
        </p:nvSpPr>
        <p:spPr>
          <a:xfrm>
            <a:off x="457200" y="420624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6E7B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02336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7406640" y="64008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200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1463040"/>
            <a:ext cx="7315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200" i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لا تفكّر في «الوصية». فكّر في «حماية الأصول»: الوصية مرتبطة بالموت، أما الحماية فمرتبطة بالاستثمار والأمان.</a:t>
            </a:r>
            <a:endParaRPr lang="ar-AE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3566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accent2"/>
                </a:solidFill>
              </a:rPr>
              <a:t>الخلاصة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8229600" cy="4229100"/>
          </a:xfrm>
          <a:prstGeom prst="rect">
            <a:avLst/>
          </a:prstGeom>
          <a:ln w="9525">
            <a:solidFill>
              <a:srgbClr val="B5723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868680" y="777240"/>
            <a:ext cx="7406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2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أسئلة وأجوبة</a:t>
            </a:r>
            <a:endParaRPr lang="ar-AE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554480"/>
            <a:ext cx="7406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300" dirty="0">
                <a:solidFill>
                  <a:schemeClr val="accent2"/>
                </a:solidFill>
              </a:rPr>
              <a:t>استشارة أولية مجانية لكل الحضور، بلغتك، في المكان الذي يناسبك</a:t>
            </a:r>
            <a:endParaRPr lang="ar-AE" sz="1300" dirty="0"/>
          </a:p>
        </p:txBody>
      </p:sp>
      <p:pic>
        <p:nvPicPr>
          <p:cNvPr id="5" name="icon FaLocationDot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0" y="228600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868680" y="224028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شارع الشيخ زايد، برج سعيد 2، مكتب 501، دبي، الإمارات العربية المتحدة</a:t>
            </a:r>
            <a:endParaRPr lang="ar-AE" sz="1200" dirty="0"/>
          </a:p>
        </p:txBody>
      </p:sp>
      <p:pic>
        <p:nvPicPr>
          <p:cNvPr id="7" name="icon FaPh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2788920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68680" y="274320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+971 4 359 5552  |  جوال وواتساب: +971 52 107 4972</a:t>
            </a:r>
            <a:endParaRPr lang="ar-AE" sz="1200" dirty="0"/>
          </a:p>
        </p:txBody>
      </p:sp>
      <p:pic>
        <p:nvPicPr>
          <p:cNvPr id="9" name="icon FaEnvelop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291840"/>
            <a:ext cx="274320" cy="2743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868680" y="32461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ward.shueibi@rk-advocates.com  |  rk-advocates.com</a:t>
            </a:r>
            <a:endParaRPr lang="ar-AE" sz="1200" dirty="0"/>
          </a:p>
        </p:txBody>
      </p:sp>
      <p:pic>
        <p:nvPicPr>
          <p:cNvPr id="11" name="icon FaClock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3794760"/>
            <a:ext cx="274320" cy="2743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68680" y="3749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AE" altLang="en-US" sz="1200" dirty="0">
                <a:solidFill>
                  <a:schemeClr val="bg2"/>
                </a:solidFill>
              </a:rPr>
              <a:t>الاثنين – الجمعة، 8:30 – 17:30  |  العربية · English · 中文 · Русский</a:t>
            </a:r>
            <a:endParaRPr lang="ar-AE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626864"/>
            <a:ext cx="548640" cy="38404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anchor="ctr"/>
          <a:lstStyle>
            <a:lvl1pPr>
              <a:defRPr sz="900">
                <a:solidFill>
                  <a:srgbClr val="D9B38C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night Copper">
  <a:themeElements>
    <a:clrScheme name="Midnight Copper">
      <a:dk1>
        <a:srgbClr val="0E2238"/>
      </a:dk1>
      <a:lt1>
        <a:srgbClr val="FFFFFF"/>
      </a:lt1>
      <a:dk2>
        <a:srgbClr val="1F3A52"/>
      </a:dk2>
      <a:lt2>
        <a:srgbClr val="F4F1EB"/>
      </a:lt2>
      <a:accent1>
        <a:srgbClr val="B5723B"/>
      </a:accent1>
      <a:accent2>
        <a:srgbClr val="D9B38C"/>
      </a:accent2>
      <a:accent3>
        <a:srgbClr val="6E7B88"/>
      </a:accent3>
      <a:accent4>
        <a:srgbClr val="8C5527"/>
      </a:accent4>
      <a:accent5>
        <a:srgbClr val="E6E1D8"/>
      </a:accent5>
      <a:accent6>
        <a:srgbClr val="5B7A8C"/>
      </a:accent6>
      <a:hlink>
        <a:srgbClr val="B5723B"/>
      </a:hlink>
      <a:folHlink>
        <a:srgbClr val="8C5527"/>
      </a:folHlink>
    </a:clrScheme>
    <a:fontScheme name="Midnight Copp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Rashid Alkaitoob Advocates &amp; Legal Consultants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كيف تحمي المستثمر الأجنبي في الإمارات</dc:title>
  <dc:subject>PptxGenJS Presentation</dc:subject>
  <dc:creator>Rashid Alkaitoob Advocates &amp; Legal Consultants</dc:creator>
  <cp:lastModifiedBy>Rashid Alkaitoob Advocates &amp; Legal Consultants</cp:lastModifiedBy>
  <cp:revision>1</cp:revision>
  <dcterms:created xsi:type="dcterms:W3CDTF">2026-10-27T14:33:27Z</dcterms:created>
  <dcterms:modified xsi:type="dcterms:W3CDTF">2026-10-27T14:33:27Z</dcterms:modified>
</cp:coreProperties>
</file>