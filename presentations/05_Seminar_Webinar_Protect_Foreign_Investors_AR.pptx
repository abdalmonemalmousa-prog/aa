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لمقدمة" id="{0717fa5f-2830-45b5-93fb-ba1c13830ee6}">
          <p14:sldIdLst>
            <p14:sldId id="256"/>
            <p14:sldId id="257"/>
          </p14:sldIdLst>
        </p14:section>
        <p14:section name="الواقع" id="{4a89a49e-46f5-91af-3254-8fdfeeb89919}">
          <p14:sldIdLst>
            <p14:sldId id="258"/>
            <p14:sldId id="259"/>
            <p14:sldId id="260"/>
          </p14:sldIdLst>
        </p14:section>
        <p14:section name="الإطار القانوني" id="{38a42c57-25da-bca5-a3df-2cf27c8f707c}">
          <p14:sldIdLst>
            <p14:sldId id="261"/>
            <p14:sldId id="262"/>
            <p14:sldId id="263"/>
          </p14:sldIdLst>
        </p14:section>
        <p14:section name="الأدوات" id="{2d91d3aa-130b-179f-8de0-d5d7b8507b6b}">
          <p14:sldIdLst>
            <p14:sldId id="264"/>
            <p14:sldId id="265"/>
            <p14:sldId id="266"/>
          </p14:sldIdLst>
        </p14:section>
        <p14:section name="الحالات" id="{c18ebcdb-b6d9-09a6-4ae7-3ed16f10eabd}">
          <p14:sldIdLst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التأكيد للحضور: المسار الصحيح يُحدَّد لكل شخص بعد جلسة اكتشاف، ولا توجد إجابة واحدة للجميع.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E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aa/b81485da-2e22-5d10-878f-01904e6d5dc6/scratchpad/r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2823" y="4681728"/>
            <a:ext cx="1675417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aa/b81485da-2e22-5d10-878f-01904e6d5dc6/scratchpad/rk/log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2823" y="4681728"/>
            <a:ext cx="1675417" cy="2743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2600" b="1" dirty="0">
                <a:solidFill>
                  <a:srgbClr val="0E2238"/>
                </a:solidFill>
              </a:defRPr>
            </a:lvl1pPr>
          </a:lstStyle>
          <a:p>
            <a:pPr algn="r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_DARK">
    <p:bg>
      <p:bgPr>
        <a:solidFill>
          <a:srgbClr val="0E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422910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pic>
        <p:nvPicPr>
          <p:cNvPr id="3" name="Image 0" descr="/tmp/claude-0/-home-user-aa/b81485da-2e22-5d10-878f-01904e6d5dc6/scratchpad/r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4320" y="868680"/>
            <a:ext cx="4021000" cy="65836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68680" y="1965960"/>
            <a:ext cx="7406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كيف تحمي المستثمر الأجنبي في الإمارات</a:t>
            </a:r>
            <a:endParaRPr lang="ar-AE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868680" y="33832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500" dirty="0">
                <a:solidFill>
                  <a:schemeClr val="accent2"/>
                </a:solidFill>
              </a:rPr>
              <a:t>ندوة حول الوصايا وحماية الأصول والتخطيط للتركات للمستثمرين ومالكي العقارات</a:t>
            </a:r>
            <a:endParaRPr lang="ar-AE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402336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dirty="0">
                <a:solidFill>
                  <a:schemeClr val="accent3"/>
                </a:solidFill>
              </a:rPr>
              <a:t>راشد الكيتوب للمحاماة والاستشارات القانونية · دبي</a:t>
            </a:r>
            <a:endParaRPr lang="ar-AE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ماذا سنتناول اليوم</a:t>
            </a:r>
            <a:endParaRPr lang="ar-AE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23444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663440" y="1234440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350" dirty="0">
                <a:solidFill>
                  <a:schemeClr val="tx1"/>
                </a:solidFill>
              </a:rPr>
              <a:t>الواقع: أخطاء يقع فيها المستثمرون الأجانب</a:t>
            </a:r>
            <a:endParaRPr lang="ar-AE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801368"/>
            <a:ext cx="4023360" cy="0"/>
          </a:xfrm>
          <a:prstGeom prst="line">
            <a:avLst/>
          </a:prstGeom>
          <a:noFill/>
          <a:ln w="6350">
            <a:solidFill>
              <a:srgbClr val="E6E1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0" y="1856232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85623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350" dirty="0">
                <a:solidFill>
                  <a:schemeClr val="tx1"/>
                </a:solidFill>
              </a:rPr>
              <a:t>ماذا يحدث فعلاً عند غياب التخطيط</a:t>
            </a:r>
            <a:endParaRPr lang="ar-AE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4023360" cy="0"/>
          </a:xfrm>
          <a:prstGeom prst="line">
            <a:avLst/>
          </a:prstGeom>
          <a:noFill/>
          <a:ln w="6350">
            <a:solidFill>
              <a:srgbClr val="E6E1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0" y="2478024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478024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350" dirty="0">
                <a:solidFill>
                  <a:schemeClr val="tx1"/>
                </a:solidFill>
              </a:rPr>
              <a:t>الإطار القانوني في الإمارات: الجهات والخيارات</a:t>
            </a:r>
            <a:endParaRPr lang="ar-AE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3044952"/>
            <a:ext cx="4023360" cy="0"/>
          </a:xfrm>
          <a:prstGeom prst="line">
            <a:avLst/>
          </a:prstGeom>
          <a:noFill/>
          <a:ln w="6350">
            <a:solidFill>
              <a:srgbClr val="E6E1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23360" y="123444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234440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350" dirty="0">
                <a:solidFill>
                  <a:schemeClr val="tx1"/>
                </a:solidFill>
              </a:rPr>
              <a:t>أدوات الحماية: من الوصية إلى هيكلة الثروة</a:t>
            </a:r>
            <a:endParaRPr lang="ar-AE" sz="1350" dirty="0"/>
          </a:p>
        </p:txBody>
      </p:sp>
      <p:sp>
        <p:nvSpPr>
          <p:cNvPr id="14" name="Shape 12"/>
          <p:cNvSpPr/>
          <p:nvPr/>
        </p:nvSpPr>
        <p:spPr>
          <a:xfrm>
            <a:off x="4663440" y="1801368"/>
            <a:ext cx="4023360" cy="0"/>
          </a:xfrm>
          <a:prstGeom prst="line">
            <a:avLst/>
          </a:prstGeom>
          <a:noFill/>
          <a:ln w="6350">
            <a:solidFill>
              <a:srgbClr val="E6E1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023360" y="1856232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185623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350" dirty="0">
                <a:solidFill>
                  <a:schemeClr val="tx1"/>
                </a:solidFill>
              </a:rPr>
              <a:t>ثلاث حالات عملية</a:t>
            </a:r>
            <a:endParaRPr lang="ar-AE" sz="1350" dirty="0"/>
          </a:p>
        </p:txBody>
      </p:sp>
      <p:sp>
        <p:nvSpPr>
          <p:cNvPr id="17" name="Shape 15"/>
          <p:cNvSpPr/>
          <p:nvPr/>
        </p:nvSpPr>
        <p:spPr>
          <a:xfrm>
            <a:off x="4663440" y="2423160"/>
            <a:ext cx="4023360" cy="0"/>
          </a:xfrm>
          <a:prstGeom prst="line">
            <a:avLst/>
          </a:prstGeom>
          <a:noFill/>
          <a:ln w="6350">
            <a:solidFill>
              <a:srgbClr val="E6E1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023360" y="2478024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2478024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350" dirty="0">
                <a:solidFill>
                  <a:schemeClr val="tx1"/>
                </a:solidFill>
              </a:rPr>
              <a:t>فحص ذاتي سريع وأسئلة وأجوبة</a:t>
            </a:r>
            <a:endParaRPr lang="ar-AE" sz="1350" dirty="0"/>
          </a:p>
        </p:txBody>
      </p:sp>
      <p:sp>
        <p:nvSpPr>
          <p:cNvPr id="20" name="Shape 18"/>
          <p:cNvSpPr/>
          <p:nvPr/>
        </p:nvSpPr>
        <p:spPr>
          <a:xfrm>
            <a:off x="4663440" y="3044952"/>
            <a:ext cx="4023360" cy="0"/>
          </a:xfrm>
          <a:prstGeom prst="line">
            <a:avLst/>
          </a:prstGeom>
          <a:noFill/>
          <a:ln w="6350">
            <a:solidFill>
              <a:srgbClr val="E6E1D8"/>
            </a:solidFill>
            <a:prstDash val="solid"/>
          </a:ln>
        </p:spPr>
      </p:sp>
      <p:sp>
        <p:nvSpPr>
          <p:cNvPr id="21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0" y="14630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7432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ar-AE" alt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الواقع</a:t>
            </a:r>
            <a:endParaRPr lang="ar-AE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6758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accent2"/>
                </a:solidFill>
              </a:rPr>
              <a:t>يشتري المستثمر الأجنبي بملايين الدراهم ثم ينسى سؤالاً واحداً: ماذا بعد؟</a:t>
            </a:r>
            <a:endParaRPr lang="ar-AE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أخطاء شائعة يقع فيها المستثمرون الأجانب</a:t>
            </a:r>
            <a:endParaRPr lang="ar-AE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الأخطاء</a:t>
            </a:r>
            <a:endParaRPr lang="ar-AE" sz="1000" dirty="0"/>
          </a:p>
        </p:txBody>
      </p:sp>
      <p:sp>
        <p:nvSpPr>
          <p:cNvPr id="4" name="Shape 2"/>
          <p:cNvSpPr/>
          <p:nvPr/>
        </p:nvSpPr>
        <p:spPr>
          <a:xfrm>
            <a:off x="8229600" y="118872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TriangleExclamati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2801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566160" y="1170432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الاعتقاد أن قانون بلدك يُطبّق تلقائياً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الإجراءات في الإمارات تختلف بحسب الجنسية والديانة والحالة، وقد لا تكون كما تتوقع.</a:t>
            </a:r>
            <a:endParaRPr lang="ar-AE" sz="1300" dirty="0"/>
          </a:p>
        </p:txBody>
      </p:sp>
      <p:sp>
        <p:nvSpPr>
          <p:cNvPr id="7" name="Shape 4"/>
          <p:cNvSpPr/>
          <p:nvPr/>
        </p:nvSpPr>
        <p:spPr>
          <a:xfrm>
            <a:off x="8229600" y="1847088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TriangleExclamati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938528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566160" y="1828800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شراء العقار بدون أي وصية أو هيكلة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أغلب المشترين لا يعرفون قوانين الإرث في الدولة.</a:t>
            </a:r>
            <a:endParaRPr lang="ar-AE" sz="1300" dirty="0"/>
          </a:p>
        </p:txBody>
      </p:sp>
      <p:sp>
        <p:nvSpPr>
          <p:cNvPr id="10" name="Shape 6"/>
          <p:cNvSpPr/>
          <p:nvPr/>
        </p:nvSpPr>
        <p:spPr>
          <a:xfrm>
            <a:off x="8229600" y="2505456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TriangleExclamati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596896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566160" y="2487168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أصول في عدة دول بلا خطة موحدة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وصايا متعارضة أو غائبة تعني تأخيراً ونزاعات.</a:t>
            </a:r>
            <a:endParaRPr lang="ar-AE" sz="1300" dirty="0"/>
          </a:p>
        </p:txBody>
      </p:sp>
      <p:sp>
        <p:nvSpPr>
          <p:cNvPr id="13" name="Shape 8"/>
          <p:cNvSpPr/>
          <p:nvPr/>
        </p:nvSpPr>
        <p:spPr>
          <a:xfrm>
            <a:off x="8229600" y="3163824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TriangleExclamati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3255264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566160" y="3145536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عدم ترتيب الوصاية على الأطفال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لا أحد معيّن رسمياً لرعاية القاصرين.</a:t>
            </a:r>
            <a:endParaRPr lang="ar-AE" sz="1300" dirty="0"/>
          </a:p>
        </p:txBody>
      </p:sp>
      <p:sp>
        <p:nvSpPr>
          <p:cNvPr id="16" name="Shape 10"/>
          <p:cNvSpPr/>
          <p:nvPr/>
        </p:nvSpPr>
        <p:spPr>
          <a:xfrm>
            <a:off x="8229600" y="3822192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7" name="icon FaTriangleExclamati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3913632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3566160" y="3803904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حصص الشركات خارج أي تخطيط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توقف الأعمال وتعطّل قرارات الشركاء.</a:t>
            </a:r>
            <a:endParaRPr lang="ar-AE" sz="1300" dirty="0"/>
          </a:p>
        </p:txBody>
      </p:sp>
      <p:sp>
        <p:nvSpPr>
          <p:cNvPr id="19" name="Shape 12"/>
          <p:cNvSpPr/>
          <p:nvPr/>
        </p:nvSpPr>
        <p:spPr>
          <a:xfrm>
            <a:off x="457200" y="1188720"/>
            <a:ext cx="2743200" cy="324612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566928" y="1298448"/>
            <a:ext cx="2523744" cy="3026664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777240" y="15087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لماذا يحدث هذا؟</a:t>
            </a:r>
            <a:endParaRPr lang="ar-AE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777240" y="228600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150" dirty="0">
                <a:solidFill>
                  <a:schemeClr val="bg2"/>
                </a:solidFill>
              </a:rPr>
              <a:t>لأن أحداً لم يسأل المستثمر السؤال الصحيح في اللحظة الصحيحة. اليوم نسأله.</a:t>
            </a:r>
            <a:endParaRPr lang="ar-AE" sz="1150" dirty="0"/>
          </a:p>
        </p:txBody>
      </p:sp>
      <p:sp>
        <p:nvSpPr>
          <p:cNvPr id="23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ماذا يحدث فعلاً عند غياب التخطيط</a:t>
            </a:r>
            <a:endParaRPr lang="ar-AE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النتائج</a:t>
            </a:r>
            <a:endParaRPr lang="ar-AE" sz="1000" dirty="0"/>
          </a:p>
        </p:txBody>
      </p:sp>
      <p:sp>
        <p:nvSpPr>
          <p:cNvPr id="4" name="Shape 2"/>
          <p:cNvSpPr/>
          <p:nvPr/>
        </p:nvSpPr>
        <p:spPr>
          <a:xfrm>
            <a:off x="6800850" y="1188720"/>
            <a:ext cx="188595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Lo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4736" y="1389888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002018" y="1828800"/>
            <a:ext cx="148361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400" b="1" dirty="0">
                <a:solidFill>
                  <a:schemeClr val="tx1"/>
                </a:solidFill>
              </a:rPr>
              <a:t>تجميد الحسابات</a:t>
            </a:r>
            <a:endParaRPr lang="ar-AE" sz="140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150" dirty="0">
                <a:solidFill>
                  <a:schemeClr val="accent3"/>
                </a:solidFill>
              </a:rPr>
              <a:t>قد تُجمّد الحسابات البنكية حتى صدور قرار توزيع التركة، فتتوقف مصاريف العائلة.</a:t>
            </a:r>
            <a:endParaRPr lang="ar-AE" sz="1400" dirty="0"/>
          </a:p>
        </p:txBody>
      </p:sp>
      <p:sp>
        <p:nvSpPr>
          <p:cNvPr id="7" name="Shape 4"/>
          <p:cNvSpPr/>
          <p:nvPr/>
        </p:nvSpPr>
        <p:spPr>
          <a:xfrm>
            <a:off x="4686300" y="1188720"/>
            <a:ext cx="188595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HouseLo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0186" y="1389888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887468" y="1828800"/>
            <a:ext cx="148361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400" b="1" dirty="0">
                <a:solidFill>
                  <a:schemeClr val="tx1"/>
                </a:solidFill>
              </a:rPr>
              <a:t>تعطّل نقل الملكية</a:t>
            </a:r>
            <a:endParaRPr lang="ar-AE" sz="140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150" dirty="0">
                <a:solidFill>
                  <a:schemeClr val="accent3"/>
                </a:solidFill>
              </a:rPr>
              <a:t>يبقى العقار في انتظار إجراءات قد تطول وتتعقد.</a:t>
            </a:r>
            <a:endParaRPr lang="ar-AE" sz="1400" dirty="0"/>
          </a:p>
        </p:txBody>
      </p:sp>
      <p:sp>
        <p:nvSpPr>
          <p:cNvPr id="10" name="Shape 6"/>
          <p:cNvSpPr/>
          <p:nvPr/>
        </p:nvSpPr>
        <p:spPr>
          <a:xfrm>
            <a:off x="2571750" y="1188720"/>
            <a:ext cx="188595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PeopleArrow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5636" y="1389888"/>
            <a:ext cx="310896" cy="31089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772918" y="1828800"/>
            <a:ext cx="148361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400" b="1" dirty="0">
                <a:solidFill>
                  <a:schemeClr val="tx1"/>
                </a:solidFill>
              </a:rPr>
              <a:t>نزاعات عائلية</a:t>
            </a:r>
            <a:endParaRPr lang="ar-AE" sz="140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150" dirty="0">
                <a:solidFill>
                  <a:schemeClr val="accent3"/>
                </a:solidFill>
              </a:rPr>
              <a:t>غياب الوضوح يفتح الباب للخلاف بين الورثة.</a:t>
            </a:r>
            <a:endParaRPr lang="ar-AE" sz="1400" dirty="0"/>
          </a:p>
        </p:txBody>
      </p:sp>
      <p:sp>
        <p:nvSpPr>
          <p:cNvPr id="13" name="Shape 8"/>
          <p:cNvSpPr/>
          <p:nvPr/>
        </p:nvSpPr>
        <p:spPr>
          <a:xfrm>
            <a:off x="457200" y="1188720"/>
            <a:ext cx="188595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Childre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1086" y="1389888"/>
            <a:ext cx="310896" cy="31089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58368" y="1828800"/>
            <a:ext cx="148361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400" b="1" dirty="0">
                <a:solidFill>
                  <a:schemeClr val="tx1"/>
                </a:solidFill>
              </a:rPr>
              <a:t>مشاكل الأطفال والورثة</a:t>
            </a:r>
            <a:endParaRPr lang="ar-AE" sz="140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150" dirty="0">
                <a:solidFill>
                  <a:schemeClr val="accent3"/>
                </a:solidFill>
              </a:rPr>
              <a:t>لا وصي معيّن، ولا مسار واضح للحصص داخل الدولة وخارجها.</a:t>
            </a:r>
            <a:endParaRPr lang="ar-AE" sz="1400" dirty="0"/>
          </a:p>
        </p:txBody>
      </p:sp>
      <p:sp>
        <p:nvSpPr>
          <p:cNvPr id="16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0" y="14630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7432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ar-AE" alt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الإطار القانوني في الإمارات</a:t>
            </a:r>
            <a:endParaRPr lang="ar-AE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6758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accent2"/>
                </a:solidFill>
              </a:rPr>
              <a:t>للمستثمر خيارات حقيقية، والمهم اختيار الصحيح منها</a:t>
            </a:r>
            <a:endParaRPr lang="ar-AE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جهات تسجيل الوصايا في الإمارات</a:t>
            </a:r>
            <a:endParaRPr lang="ar-AE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الإطار القانوني</a:t>
            </a:r>
            <a:endParaRPr lang="ar-AE" sz="1000" dirty="0"/>
          </a:p>
        </p:txBody>
      </p:sp>
      <p:sp>
        <p:nvSpPr>
          <p:cNvPr id="4" name="Shape 2"/>
          <p:cNvSpPr/>
          <p:nvPr/>
        </p:nvSpPr>
        <p:spPr>
          <a:xfrm>
            <a:off x="8229600" y="118872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Landmar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2801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566160" y="1170432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محاكم دبي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تسجيل وصايا غير المسلمين لدى محاكم دبي، وفق قانون الأحوال الشخصية لغير المسلمين.</a:t>
            </a:r>
            <a:endParaRPr lang="ar-AE" sz="1300" dirty="0"/>
          </a:p>
        </p:txBody>
      </p:sp>
      <p:sp>
        <p:nvSpPr>
          <p:cNvPr id="7" name="Shape 4"/>
          <p:cNvSpPr/>
          <p:nvPr/>
        </p:nvSpPr>
        <p:spPr>
          <a:xfrm>
            <a:off x="8229600" y="1847088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Land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938528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566160" y="1828800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محاكم أبوظبي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تسجيل الوصايا لدى دائرة القضاء في أبوظبي لمن يفضّل هذا المسار.</a:t>
            </a:r>
            <a:endParaRPr lang="ar-AE" sz="1300" dirty="0"/>
          </a:p>
        </p:txBody>
      </p:sp>
      <p:sp>
        <p:nvSpPr>
          <p:cNvPr id="10" name="Shape 6"/>
          <p:cNvSpPr/>
          <p:nvPr/>
        </p:nvSpPr>
        <p:spPr>
          <a:xfrm>
            <a:off x="8229600" y="2505456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BuildingColumn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596896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566160" y="2487168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DIFC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سجل وصايا مركز دبي المالي العالمي لغير المسلمين، باللغة الإنجليزية، يغطي الأصول في الدولة.</a:t>
            </a:r>
            <a:endParaRPr lang="ar-AE" sz="1300" dirty="0"/>
          </a:p>
        </p:txBody>
      </p:sp>
      <p:sp>
        <p:nvSpPr>
          <p:cNvPr id="13" name="Shape 8"/>
          <p:cNvSpPr/>
          <p:nvPr/>
        </p:nvSpPr>
        <p:spPr>
          <a:xfrm>
            <a:off x="8229600" y="3163824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BuildingColumns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3255264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566160" y="3145536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ADGM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سجل وصايا سوق أبوظبي العالمي لغير المسلمين، مسار بديل بالإنجليزية.</a:t>
            </a:r>
            <a:endParaRPr lang="ar-AE" sz="1300" dirty="0"/>
          </a:p>
        </p:txBody>
      </p:sp>
      <p:sp>
        <p:nvSpPr>
          <p:cNvPr id="16" name="Shape 10"/>
          <p:cNvSpPr/>
          <p:nvPr/>
        </p:nvSpPr>
        <p:spPr>
          <a:xfrm>
            <a:off x="8229600" y="3822192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7" name="icon FaScaleBalanced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3913632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3566160" y="3803904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الشريعة الإسلامية أو القانون الأجنبي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نحدد القانون الواجب التطبيق بحسب جنسية الموكل وديانته ورغبته.</a:t>
            </a:r>
            <a:endParaRPr lang="ar-AE" sz="1300" dirty="0"/>
          </a:p>
        </p:txBody>
      </p:sp>
      <p:sp>
        <p:nvSpPr>
          <p:cNvPr id="19" name="Shape 12"/>
          <p:cNvSpPr/>
          <p:nvPr/>
        </p:nvSpPr>
        <p:spPr>
          <a:xfrm>
            <a:off x="457200" y="1188720"/>
            <a:ext cx="2743200" cy="324612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566928" y="1298448"/>
            <a:ext cx="2523744" cy="3026664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777240" y="15087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كل موكل حالة مستقلة</a:t>
            </a:r>
            <a:endParaRPr lang="ar-AE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777240" y="228600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150" dirty="0">
                <a:solidFill>
                  <a:schemeClr val="bg2"/>
                </a:solidFill>
              </a:rPr>
              <a:t>الجنسية، الديانة، الحالة العائلية، وموقع الأصول تحدد المسار الأنسب. لذلك نبدأ دائماً بجلسة اكتشاف لا بنوع الوصية.</a:t>
            </a:r>
            <a:endParaRPr lang="ar-AE" sz="1150" dirty="0"/>
          </a:p>
        </p:txBody>
      </p:sp>
      <p:sp>
        <p:nvSpPr>
          <p:cNvPr id="23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المسارات الرئيسية بنظرة واحدة</a:t>
            </a:r>
            <a:endParaRPr lang="ar-AE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مقارنة عامة</a:t>
            </a:r>
            <a:endParaRPr lang="ar-AE" sz="1000" dirty="0"/>
          </a:p>
        </p:txBody>
      </p:sp>
      <p:sp>
        <p:nvSpPr>
          <p:cNvPr id="4" name="Shape 2"/>
          <p:cNvSpPr/>
          <p:nvPr/>
        </p:nvSpPr>
        <p:spPr>
          <a:xfrm>
            <a:off x="6096000" y="1188720"/>
            <a:ext cx="2590800" cy="54864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33160" y="1188720"/>
            <a:ext cx="231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300" b="1" dirty="0">
                <a:solidFill>
                  <a:schemeClr val="accent2"/>
                </a:solidFill>
              </a:rPr>
              <a:t>المحاكم المحلية (دبي / أبوظبي)</a:t>
            </a:r>
            <a:endParaRPr lang="ar-AE" sz="1300" dirty="0"/>
          </a:p>
        </p:txBody>
      </p:sp>
      <p:sp>
        <p:nvSpPr>
          <p:cNvPr id="6" name="Shape 4"/>
          <p:cNvSpPr/>
          <p:nvPr/>
        </p:nvSpPr>
        <p:spPr>
          <a:xfrm>
            <a:off x="6096000" y="1737360"/>
            <a:ext cx="2590800" cy="26974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33160" y="1874520"/>
            <a:ext cx="2316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ar-AE" altLang="en-US" sz="1100" dirty="0">
                <a:solidFill>
                  <a:schemeClr val="tx2"/>
                </a:solidFill>
              </a:rPr>
              <a:t>تسجيل وصايا غير المسلمين محلياً</a:t>
            </a:r>
            <a:endParaRPr lang="ar-AE" sz="110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ar-AE" altLang="en-US" sz="1100" dirty="0">
                <a:solidFill>
                  <a:schemeClr val="tx2"/>
                </a:solidFill>
              </a:rPr>
              <a:t>وثيقة بالعربية مع ترجمة معتمدة</a:t>
            </a:r>
            <a:endParaRPr lang="ar-AE" sz="110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ar-AE" altLang="en-US" sz="1100" dirty="0">
                <a:solidFill>
                  <a:schemeClr val="tx2"/>
                </a:solidFill>
              </a:rPr>
              <a:t>مناسبة لمن يفضّل المسار المحلي</a:t>
            </a:r>
            <a:endParaRPr lang="ar-AE" sz="1100" dirty="0"/>
          </a:p>
        </p:txBody>
      </p:sp>
      <p:sp>
        <p:nvSpPr>
          <p:cNvPr id="8" name="Shape 6"/>
          <p:cNvSpPr/>
          <p:nvPr/>
        </p:nvSpPr>
        <p:spPr>
          <a:xfrm>
            <a:off x="3276600" y="1188720"/>
            <a:ext cx="2590800" cy="548640"/>
          </a:xfrm>
          <a:prstGeom prst="rect">
            <a:avLst/>
          </a:prstGeom>
          <a:solidFill>
            <a:srgbClr val="B5723B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13760" y="1188720"/>
            <a:ext cx="231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DIFC Wills</a:t>
            </a:r>
            <a:endParaRPr lang="ar-AE" sz="1300" dirty="0"/>
          </a:p>
        </p:txBody>
      </p:sp>
      <p:sp>
        <p:nvSpPr>
          <p:cNvPr id="10" name="Shape 8"/>
          <p:cNvSpPr/>
          <p:nvPr/>
        </p:nvSpPr>
        <p:spPr>
          <a:xfrm>
            <a:off x="3276600" y="1737360"/>
            <a:ext cx="2590800" cy="26974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13760" y="1874520"/>
            <a:ext cx="2316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ar-AE" altLang="en-US" sz="1100" dirty="0">
                <a:solidFill>
                  <a:schemeClr val="tx2"/>
                </a:solidFill>
              </a:rPr>
              <a:t>سجل وصايا لغير المسلمين في دبي</a:t>
            </a:r>
            <a:endParaRPr lang="ar-AE" sz="110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ar-AE" altLang="en-US" sz="1100" dirty="0">
                <a:solidFill>
                  <a:schemeClr val="tx2"/>
                </a:solidFill>
              </a:rPr>
              <a:t>وثيقة بالإنجليزية تغطي الأصول في الدولة</a:t>
            </a:r>
            <a:endParaRPr lang="ar-AE" sz="110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ar-AE" altLang="en-US" sz="1100" dirty="0">
                <a:solidFill>
                  <a:schemeClr val="tx2"/>
                </a:solidFill>
              </a:rPr>
              <a:t>خيار شائع للأوروبيين والروس والهنود</a:t>
            </a:r>
            <a:endParaRPr lang="ar-AE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188720"/>
            <a:ext cx="2590800" cy="54864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1188720"/>
            <a:ext cx="231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300" b="1" dirty="0">
                <a:solidFill>
                  <a:schemeClr val="accent2"/>
                </a:solidFill>
              </a:rPr>
              <a:t>ADGM Wills</a:t>
            </a:r>
            <a:endParaRPr lang="ar-AE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1737360"/>
            <a:ext cx="2590800" cy="26974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1874520"/>
            <a:ext cx="2316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ar-AE" altLang="en-US" sz="1100" dirty="0">
                <a:solidFill>
                  <a:schemeClr val="tx2"/>
                </a:solidFill>
              </a:rPr>
              <a:t>سجل وصايا لغير المسلمين في أبوظبي</a:t>
            </a:r>
            <a:endParaRPr lang="ar-AE" sz="110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ar-AE" altLang="en-US" sz="1100" dirty="0">
                <a:solidFill>
                  <a:schemeClr val="tx2"/>
                </a:solidFill>
              </a:rPr>
              <a:t>وثيقة بالإنجليزية</a:t>
            </a:r>
            <a:endParaRPr lang="ar-AE" sz="110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ar-AE" altLang="en-US" sz="1100" dirty="0">
                <a:solidFill>
                  <a:schemeClr val="tx2"/>
                </a:solidFill>
              </a:rPr>
              <a:t>مسار بديل بحسب موقع الأصول وتفضيل الموكل</a:t>
            </a:r>
            <a:endParaRPr lang="ar-AE" sz="1100" dirty="0"/>
          </a:p>
        </p:txBody>
      </p:sp>
      <p:sp>
        <p:nvSpPr>
          <p:cNvPr id="17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0" y="14630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7432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ar-AE" alt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أدوات الحماية</a:t>
            </a:r>
            <a:endParaRPr lang="ar-AE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6758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accent2"/>
                </a:solidFill>
              </a:rPr>
              <a:t>من وصية بسيطة إلى هيكلة ثروة عابرة للأجيال</a:t>
            </a:r>
            <a:endParaRPr lang="ar-AE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أدوات الحماية المتاحة</a:t>
            </a:r>
            <a:endParaRPr lang="ar-AE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الأدوات</a:t>
            </a:r>
            <a:endParaRPr lang="ar-AE" sz="1000" dirty="0"/>
          </a:p>
        </p:txBody>
      </p:sp>
      <p:sp>
        <p:nvSpPr>
          <p:cNvPr id="4" name="Shape 2"/>
          <p:cNvSpPr/>
          <p:nvPr/>
        </p:nvSpPr>
        <p:spPr>
          <a:xfrm>
            <a:off x="6800850" y="1188720"/>
            <a:ext cx="188595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FileSignatur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4736" y="1389888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002018" y="1828800"/>
            <a:ext cx="14836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250" b="1" dirty="0">
                <a:solidFill>
                  <a:schemeClr val="tx1"/>
                </a:solidFill>
              </a:rPr>
              <a:t>وصية فردية</a:t>
            </a:r>
            <a:endParaRPr lang="ar-AE" sz="125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050" dirty="0">
                <a:solidFill>
                  <a:schemeClr val="accent3"/>
                </a:solidFill>
              </a:rPr>
              <a:t>أصولك في الدولة، الأوصياء، والمنفذون.</a:t>
            </a:r>
            <a:endParaRPr lang="ar-AE" sz="1250" dirty="0"/>
          </a:p>
        </p:txBody>
      </p:sp>
      <p:sp>
        <p:nvSpPr>
          <p:cNvPr id="7" name="Shape 4"/>
          <p:cNvSpPr/>
          <p:nvPr/>
        </p:nvSpPr>
        <p:spPr>
          <a:xfrm>
            <a:off x="4686300" y="1188720"/>
            <a:ext cx="188595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UserGroup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0186" y="1389888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887468" y="1828800"/>
            <a:ext cx="14836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250" b="1" dirty="0">
                <a:solidFill>
                  <a:schemeClr val="tx1"/>
                </a:solidFill>
              </a:rPr>
              <a:t>وصية زوجية</a:t>
            </a:r>
            <a:endParaRPr lang="ar-AE" sz="125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050" dirty="0">
                <a:solidFill>
                  <a:schemeClr val="accent3"/>
                </a:solidFill>
              </a:rPr>
              <a:t>وصيتان متطابقتان تحميان العائلة والأطفال.</a:t>
            </a:r>
            <a:endParaRPr lang="ar-AE" sz="1250" dirty="0"/>
          </a:p>
        </p:txBody>
      </p:sp>
      <p:sp>
        <p:nvSpPr>
          <p:cNvPr id="10" name="Shape 6"/>
          <p:cNvSpPr/>
          <p:nvPr/>
        </p:nvSpPr>
        <p:spPr>
          <a:xfrm>
            <a:off x="2571750" y="1188720"/>
            <a:ext cx="188595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Hous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5636" y="1389888"/>
            <a:ext cx="310896" cy="31089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772918" y="1828800"/>
            <a:ext cx="14836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250" b="1" dirty="0">
                <a:solidFill>
                  <a:schemeClr val="tx1"/>
                </a:solidFill>
              </a:rPr>
              <a:t>وصية عقارية</a:t>
            </a:r>
            <a:endParaRPr lang="ar-AE" sz="125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050" dirty="0">
                <a:solidFill>
                  <a:schemeClr val="accent3"/>
                </a:solidFill>
              </a:rPr>
              <a:t>للعقارات داخل الإمارات فقط.</a:t>
            </a:r>
            <a:endParaRPr lang="ar-AE" sz="1250" dirty="0"/>
          </a:p>
        </p:txBody>
      </p:sp>
      <p:sp>
        <p:nvSpPr>
          <p:cNvPr id="13" name="Shape 8"/>
          <p:cNvSpPr/>
          <p:nvPr/>
        </p:nvSpPr>
        <p:spPr>
          <a:xfrm>
            <a:off x="457200" y="1188720"/>
            <a:ext cx="188595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Briefcas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1086" y="1389888"/>
            <a:ext cx="310896" cy="31089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58368" y="1828800"/>
            <a:ext cx="14836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250" b="1" dirty="0">
                <a:solidFill>
                  <a:schemeClr val="tx1"/>
                </a:solidFill>
              </a:rPr>
              <a:t>وصية أعمال</a:t>
            </a:r>
            <a:endParaRPr lang="ar-AE" sz="125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050" dirty="0">
                <a:solidFill>
                  <a:schemeClr val="accent3"/>
                </a:solidFill>
              </a:rPr>
              <a:t>حصص الشركات واستمرارية الأعمال.</a:t>
            </a:r>
            <a:endParaRPr lang="ar-AE" sz="1250" dirty="0"/>
          </a:p>
        </p:txBody>
      </p:sp>
      <p:sp>
        <p:nvSpPr>
          <p:cNvPr id="16" name="Shape 10"/>
          <p:cNvSpPr/>
          <p:nvPr/>
        </p:nvSpPr>
        <p:spPr>
          <a:xfrm>
            <a:off x="6800850" y="2926080"/>
            <a:ext cx="188595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7" name="icon FaSitemap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4736" y="3127248"/>
            <a:ext cx="310896" cy="310896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7002018" y="3566160"/>
            <a:ext cx="14836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250" b="1" dirty="0">
                <a:solidFill>
                  <a:schemeClr val="tx1"/>
                </a:solidFill>
              </a:rPr>
              <a:t>Holding / SPV</a:t>
            </a:r>
            <a:endParaRPr lang="ar-AE" sz="125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050" dirty="0">
                <a:solidFill>
                  <a:schemeClr val="accent3"/>
                </a:solidFill>
              </a:rPr>
              <a:t>شركة قابضة مرتبطة بخطة الإرث.</a:t>
            </a:r>
            <a:endParaRPr lang="ar-AE" sz="1250" dirty="0"/>
          </a:p>
        </p:txBody>
      </p:sp>
      <p:sp>
        <p:nvSpPr>
          <p:cNvPr id="19" name="Shape 12"/>
          <p:cNvSpPr/>
          <p:nvPr/>
        </p:nvSpPr>
        <p:spPr>
          <a:xfrm>
            <a:off x="4686300" y="2926080"/>
            <a:ext cx="188595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20" name="icon FaLandmark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0186" y="3127248"/>
            <a:ext cx="310896" cy="310896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4887468" y="3566160"/>
            <a:ext cx="14836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250" b="1" dirty="0">
                <a:solidFill>
                  <a:schemeClr val="tx1"/>
                </a:solidFill>
              </a:rPr>
              <a:t>مؤسسة أو صندوق ائتماني</a:t>
            </a:r>
            <a:endParaRPr lang="ar-AE" sz="125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050" dirty="0">
                <a:solidFill>
                  <a:schemeClr val="accent3"/>
                </a:solidFill>
              </a:rPr>
              <a:t>حماية الثروة عبر الأجيال.</a:t>
            </a:r>
            <a:endParaRPr lang="ar-AE" sz="1250" dirty="0"/>
          </a:p>
        </p:txBody>
      </p:sp>
      <p:sp>
        <p:nvSpPr>
          <p:cNvPr id="22" name="Shape 14"/>
          <p:cNvSpPr/>
          <p:nvPr/>
        </p:nvSpPr>
        <p:spPr>
          <a:xfrm>
            <a:off x="2571750" y="2926080"/>
            <a:ext cx="188595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23" name="icon FaPeopleRoof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45636" y="3127248"/>
            <a:ext cx="310896" cy="310896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2772918" y="3566160"/>
            <a:ext cx="14836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250" b="1" dirty="0">
                <a:solidFill>
                  <a:schemeClr val="tx1"/>
                </a:solidFill>
              </a:rPr>
              <a:t>حوكمة العائلة</a:t>
            </a:r>
            <a:endParaRPr lang="ar-AE" sz="125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050" dirty="0">
                <a:solidFill>
                  <a:schemeClr val="accent3"/>
                </a:solidFill>
              </a:rPr>
              <a:t>مكتب عائلي واتفاقيات شراكة.</a:t>
            </a:r>
            <a:endParaRPr lang="ar-AE" sz="1250" dirty="0"/>
          </a:p>
        </p:txBody>
      </p:sp>
      <p:sp>
        <p:nvSpPr>
          <p:cNvPr id="25" name="Shape 16"/>
          <p:cNvSpPr/>
          <p:nvPr/>
        </p:nvSpPr>
        <p:spPr>
          <a:xfrm>
            <a:off x="457200" y="2926080"/>
            <a:ext cx="188595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26" name="icon FaKey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31086" y="3127248"/>
            <a:ext cx="310896" cy="310896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658368" y="3566160"/>
            <a:ext cx="14836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250" b="1" dirty="0">
                <a:solidFill>
                  <a:schemeClr val="tx1"/>
                </a:solidFill>
              </a:rPr>
              <a:t>نقل الملكية</a:t>
            </a:r>
            <a:endParaRPr lang="ar-AE" sz="125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050" dirty="0">
                <a:solidFill>
                  <a:schemeClr val="accent3"/>
                </a:solidFill>
              </a:rPr>
              <a:t>تمثيل الورثة واستكمال الإجراءات.</a:t>
            </a:r>
            <a:endParaRPr lang="ar-AE" sz="1250" dirty="0"/>
          </a:p>
        </p:txBody>
      </p:sp>
      <p:sp>
        <p:nvSpPr>
          <p:cNvPr id="28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ما الذي يجب أن تغطيه خطة جيدة</a:t>
            </a:r>
            <a:endParaRPr lang="ar-AE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قائمة التحقق</a:t>
            </a:r>
            <a:endParaRPr lang="ar-AE" sz="1000" dirty="0"/>
          </a:p>
        </p:txBody>
      </p:sp>
      <p:sp>
        <p:nvSpPr>
          <p:cNvPr id="4" name="Shape 2"/>
          <p:cNvSpPr/>
          <p:nvPr/>
        </p:nvSpPr>
        <p:spPr>
          <a:xfrm>
            <a:off x="8229600" y="118872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ListChe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2801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1170432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كل الأصول في الدولة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العقارات، الحسابات، الشركات، السيارات، الاستثمارات.</a:t>
            </a:r>
            <a:endParaRPr lang="ar-AE" sz="1300" dirty="0"/>
          </a:p>
        </p:txBody>
      </p:sp>
      <p:sp>
        <p:nvSpPr>
          <p:cNvPr id="7" name="Shape 4"/>
          <p:cNvSpPr/>
          <p:nvPr/>
        </p:nvSpPr>
        <p:spPr>
          <a:xfrm>
            <a:off x="8229600" y="1847088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ListChe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938528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1828800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الأوصياء والمنفذون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من يرعى الأطفال، ومن ينفذ الوصية.</a:t>
            </a:r>
            <a:endParaRPr lang="ar-AE" sz="1300" dirty="0"/>
          </a:p>
        </p:txBody>
      </p:sp>
      <p:sp>
        <p:nvSpPr>
          <p:cNvPr id="10" name="Shape 6"/>
          <p:cNvSpPr/>
          <p:nvPr/>
        </p:nvSpPr>
        <p:spPr>
          <a:xfrm>
            <a:off x="8229600" y="2505456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ListChec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596896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57200" y="2487168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الورثة داخل الدولة وخارجها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وتنسيق مع وصاياك في بلدك الأم.</a:t>
            </a:r>
            <a:endParaRPr lang="ar-AE" sz="1300" dirty="0"/>
          </a:p>
        </p:txBody>
      </p:sp>
      <p:sp>
        <p:nvSpPr>
          <p:cNvPr id="13" name="Shape 8"/>
          <p:cNvSpPr/>
          <p:nvPr/>
        </p:nvSpPr>
        <p:spPr>
          <a:xfrm>
            <a:off x="8229600" y="3163824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ListChe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3255264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57200" y="3145536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القانون الواجب التطبيق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الشريعة أو القانون الأجنبي أو الهيكلة التي تختارها.</a:t>
            </a:r>
            <a:endParaRPr lang="ar-AE" sz="1300" dirty="0"/>
          </a:p>
        </p:txBody>
      </p:sp>
      <p:sp>
        <p:nvSpPr>
          <p:cNvPr id="16" name="Shape 10"/>
          <p:cNvSpPr/>
          <p:nvPr/>
        </p:nvSpPr>
        <p:spPr>
          <a:xfrm>
            <a:off x="8229600" y="3822192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7" name="icon FaListCheck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3913632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457200" y="3803904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المراجعة الدورية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تُحدَّث الخطة كلما تغيّرت أصولك أو عائلتك.</a:t>
            </a:r>
            <a:endParaRPr lang="ar-AE" sz="1300" dirty="0"/>
          </a:p>
        </p:txBody>
      </p:sp>
      <p:sp>
        <p:nvSpPr>
          <p:cNvPr id="19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0" y="14630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7432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ar-AE" alt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ثلاث حالات عملية</a:t>
            </a:r>
            <a:endParaRPr lang="ar-AE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6758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accent2"/>
                </a:solidFill>
              </a:rPr>
              <a:t>أسماء افتراضية، ومواقف نراها كل أسبوع</a:t>
            </a:r>
            <a:endParaRPr lang="ar-AE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ثلاث حالات نراها كل أسبوع</a:t>
            </a:r>
            <a:endParaRPr lang="ar-AE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حالات عملية</a:t>
            </a:r>
            <a:endParaRPr lang="ar-AE" sz="1000" dirty="0"/>
          </a:p>
        </p:txBody>
      </p:sp>
      <p:sp>
        <p:nvSpPr>
          <p:cNvPr id="4" name="Shape 2"/>
          <p:cNvSpPr/>
          <p:nvPr/>
        </p:nvSpPr>
        <p:spPr>
          <a:xfrm>
            <a:off x="6096000" y="1188720"/>
            <a:ext cx="259080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Hous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4736" y="1389888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297168" y="1828800"/>
            <a:ext cx="218846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400" b="1" dirty="0">
                <a:solidFill>
                  <a:schemeClr val="tx1"/>
                </a:solidFill>
              </a:rPr>
              <a:t>المستثمر العقاري وعائلته في الخارج</a:t>
            </a:r>
            <a:endParaRPr lang="ar-AE" sz="140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150" dirty="0">
                <a:solidFill>
                  <a:schemeClr val="accent3"/>
                </a:solidFill>
              </a:rPr>
              <a:t>يملك شقتين في دبي، وزوجته وأولاده في أوروبا. الحل: وصية عقارية مسجلة تحدد الورثة والمنفذ، منسقة مع وصيته في بلده.</a:t>
            </a:r>
            <a:endParaRPr lang="ar-AE" sz="1400" dirty="0"/>
          </a:p>
        </p:txBody>
      </p:sp>
      <p:sp>
        <p:nvSpPr>
          <p:cNvPr id="7" name="Shape 4"/>
          <p:cNvSpPr/>
          <p:nvPr/>
        </p:nvSpPr>
        <p:spPr>
          <a:xfrm>
            <a:off x="3276600" y="1188720"/>
            <a:ext cx="259080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Briefcas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5336" y="1389888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477768" y="1828800"/>
            <a:ext cx="218846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400" b="1" dirty="0">
                <a:solidFill>
                  <a:schemeClr val="tx1"/>
                </a:solidFill>
              </a:rPr>
              <a:t>صاحب الشركة مع شركاء</a:t>
            </a:r>
            <a:endParaRPr lang="ar-AE" sz="140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150" dirty="0">
                <a:solidFill>
                  <a:schemeClr val="accent3"/>
                </a:solidFill>
              </a:rPr>
              <a:t>يملك حصة في شركة بدبي مع شريكين. الحل: وصية أعمال واتفاقية شركاء تضمن استمرارية القرارات وانتقال الحصة.</a:t>
            </a:r>
            <a:endParaRPr lang="ar-AE" sz="1400" dirty="0"/>
          </a:p>
        </p:txBody>
      </p:sp>
      <p:sp>
        <p:nvSpPr>
          <p:cNvPr id="10" name="Shape 6"/>
          <p:cNvSpPr/>
          <p:nvPr/>
        </p:nvSpPr>
        <p:spPr>
          <a:xfrm>
            <a:off x="457200" y="1188720"/>
            <a:ext cx="259080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Childre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5936" y="1389888"/>
            <a:ext cx="310896" cy="31089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58368" y="1828800"/>
            <a:ext cx="218846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400" b="1" dirty="0">
                <a:solidFill>
                  <a:schemeClr val="tx1"/>
                </a:solidFill>
              </a:rPr>
              <a:t>الزوجان مع أطفال في الإمارات</a:t>
            </a:r>
            <a:endParaRPr lang="ar-AE" sz="140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150" dirty="0">
                <a:solidFill>
                  <a:schemeClr val="accent3"/>
                </a:solidFill>
              </a:rPr>
              <a:t>مقيمان مع طفلين قاصرين وحسابات محلية. الحل: وصيتان زوجيتان تعيّنان الوصي وتحميان الحسابات والمنزل.</a:t>
            </a:r>
            <a:endParaRPr lang="ar-AE" sz="1400" dirty="0"/>
          </a:p>
        </p:txBody>
      </p:sp>
      <p:sp>
        <p:nvSpPr>
          <p:cNvPr id="13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كيف تبدأ: خمس خطوات</a:t>
            </a:r>
            <a:endParaRPr lang="ar-AE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العملية</a:t>
            </a:r>
            <a:endParaRPr lang="ar-AE" sz="10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7680960" cy="0"/>
          </a:xfrm>
          <a:prstGeom prst="line">
            <a:avLst/>
          </a:prstGeom>
          <a:noFill/>
          <a:ln w="9525">
            <a:solidFill>
              <a:srgbClr val="D9B3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38160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13816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172554" y="2057400"/>
            <a:ext cx="15142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جلسة اكتشاف</a:t>
            </a:r>
            <a:endParaRPr lang="ar-AE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72554" y="2606040"/>
            <a:ext cx="151424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050" dirty="0">
                <a:solidFill>
                  <a:schemeClr val="accent3"/>
                </a:solidFill>
              </a:rPr>
              <a:t>جنسيتك، عائلتك، أصولك، شركاتك، أطفالك، حساباتك.</a:t>
            </a:r>
            <a:endParaRPr lang="ar-AE" sz="1050" dirty="0"/>
          </a:p>
        </p:txBody>
      </p:sp>
      <p:sp>
        <p:nvSpPr>
          <p:cNvPr id="9" name="Shape 7"/>
          <p:cNvSpPr/>
          <p:nvPr/>
        </p:nvSpPr>
        <p:spPr>
          <a:xfrm>
            <a:off x="6459322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59322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93715" y="2057400"/>
            <a:ext cx="15142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تقييم المخاطر</a:t>
            </a:r>
            <a:endParaRPr lang="ar-AE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93715" y="2606040"/>
            <a:ext cx="151424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050" dirty="0">
                <a:solidFill>
                  <a:schemeClr val="accent3"/>
                </a:solidFill>
              </a:rPr>
              <a:t>وصية فقط؟ DIFC أو ADGM؟ هيكلة؟ مؤسسة؟</a:t>
            </a:r>
            <a:endParaRPr lang="ar-AE" sz="1050" dirty="0"/>
          </a:p>
        </p:txBody>
      </p:sp>
      <p:sp>
        <p:nvSpPr>
          <p:cNvPr id="13" name="Shape 11"/>
          <p:cNvSpPr/>
          <p:nvPr/>
        </p:nvSpPr>
        <p:spPr>
          <a:xfrm>
            <a:off x="4780483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80483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814877" y="2057400"/>
            <a:ext cx="15142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عرض مكتوب</a:t>
            </a:r>
            <a:endParaRPr lang="ar-AE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814877" y="2606040"/>
            <a:ext cx="151424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050" dirty="0">
                <a:solidFill>
                  <a:schemeClr val="accent3"/>
                </a:solidFill>
              </a:rPr>
              <a:t>النطاق، الأتعاب، الجدول الزمني، رسوم التسجيل.</a:t>
            </a:r>
            <a:endParaRPr lang="ar-AE" sz="1050" dirty="0"/>
          </a:p>
        </p:txBody>
      </p:sp>
      <p:sp>
        <p:nvSpPr>
          <p:cNvPr id="17" name="Shape 15"/>
          <p:cNvSpPr/>
          <p:nvPr/>
        </p:nvSpPr>
        <p:spPr>
          <a:xfrm>
            <a:off x="3101645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101645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2136038" y="2057400"/>
            <a:ext cx="15142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الصياغة</a:t>
            </a:r>
            <a:endParaRPr lang="ar-AE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136038" y="2606040"/>
            <a:ext cx="151424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050" dirty="0">
                <a:solidFill>
                  <a:schemeClr val="accent3"/>
                </a:solidFill>
              </a:rPr>
              <a:t>الوصية، الترجمة، الشهود، التوثيق.</a:t>
            </a:r>
            <a:endParaRPr lang="ar-AE" sz="1050" dirty="0"/>
          </a:p>
        </p:txBody>
      </p:sp>
      <p:sp>
        <p:nvSpPr>
          <p:cNvPr id="21" name="Shape 19"/>
          <p:cNvSpPr/>
          <p:nvPr/>
        </p:nvSpPr>
        <p:spPr>
          <a:xfrm>
            <a:off x="1422806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422806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2057400"/>
            <a:ext cx="15142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التسجيل</a:t>
            </a:r>
            <a:endParaRPr lang="ar-AE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2606040"/>
            <a:ext cx="151424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050" dirty="0">
                <a:solidFill>
                  <a:schemeClr val="accent3"/>
                </a:solidFill>
              </a:rPr>
              <a:t>لدى الجهة المختارة مع متابعة مباشرة.</a:t>
            </a:r>
            <a:endParaRPr lang="ar-AE" sz="1050" dirty="0"/>
          </a:p>
        </p:txBody>
      </p:sp>
      <p:sp>
        <p:nvSpPr>
          <p:cNvPr id="25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فحص ذاتي سريع</a:t>
            </a:r>
            <a:endParaRPr lang="ar-AE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أجب بنعم أو لا</a:t>
            </a:r>
            <a:endParaRPr lang="ar-AE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206240" y="11430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السؤال</a:t>
            </a:r>
            <a:endParaRPr lang="ar-AE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430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إذا كانت الإجابة نعم</a:t>
            </a:r>
            <a:endParaRPr lang="ar-AE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384048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7" name="icon FaCircleQuesti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9328" y="1536192"/>
            <a:ext cx="237744" cy="2377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206240" y="14630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150" dirty="0">
                <a:solidFill>
                  <a:schemeClr val="tx1"/>
                </a:solidFill>
              </a:rPr>
              <a:t>هل تملك عقارات داخل الإمارات؟</a:t>
            </a:r>
            <a:endParaRPr lang="ar-AE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4630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100" b="1" dirty="0">
                <a:solidFill>
                  <a:schemeClr val="accent4"/>
                </a:solidFill>
              </a:rPr>
              <a:t>تحتاج وصية عقارية على الأقل</a:t>
            </a:r>
            <a:endParaRPr lang="ar-AE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1920240"/>
            <a:ext cx="8229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CircleQuesti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1993392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206240" y="1920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150" dirty="0">
                <a:solidFill>
                  <a:schemeClr val="tx1"/>
                </a:solidFill>
              </a:rPr>
              <a:t>هل لديك شركات أو حصص؟</a:t>
            </a:r>
            <a:endParaRPr lang="ar-AE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19202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100" b="1" dirty="0">
                <a:solidFill>
                  <a:schemeClr val="accent4"/>
                </a:solidFill>
              </a:rPr>
              <a:t>تحتاج وصية أعمال أو هيكلة</a:t>
            </a:r>
            <a:endParaRPr lang="ar-AE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2377440"/>
            <a:ext cx="8229600" cy="384048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5" name="icon FaCircleQuesti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2450592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206240" y="23774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150" dirty="0">
                <a:solidFill>
                  <a:schemeClr val="tx1"/>
                </a:solidFill>
              </a:rPr>
              <a:t>هل لديك أطفال قاصرون؟</a:t>
            </a:r>
            <a:endParaRPr lang="ar-AE" sz="1150" dirty="0"/>
          </a:p>
        </p:txBody>
      </p:sp>
      <p:sp>
        <p:nvSpPr>
          <p:cNvPr id="17" name="Text 12"/>
          <p:cNvSpPr txBox="1"/>
          <p:nvPr/>
        </p:nvSpPr>
        <p:spPr>
          <a:xfrm>
            <a:off x="457200" y="23774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100" b="1" dirty="0">
                <a:solidFill>
                  <a:schemeClr val="accent4"/>
                </a:solidFill>
              </a:rPr>
              <a:t>تحتاج تعيين وصي رسمياً</a:t>
            </a:r>
            <a:endParaRPr lang="ar-AE" sz="1100" dirty="0"/>
          </a:p>
        </p:txBody>
      </p:sp>
      <p:sp>
        <p:nvSpPr>
          <p:cNvPr id="18" name="Shape 13"/>
          <p:cNvSpPr/>
          <p:nvPr/>
        </p:nvSpPr>
        <p:spPr>
          <a:xfrm>
            <a:off x="457200" y="2834640"/>
            <a:ext cx="8229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9" name="icon FaCircleQuesti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328" y="2907792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206240" y="28346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150" dirty="0">
                <a:solidFill>
                  <a:schemeClr val="tx1"/>
                </a:solidFill>
              </a:rPr>
              <a:t>هل الورثة خارج الإمارات؟</a:t>
            </a:r>
            <a:endParaRPr lang="ar-AE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457200" y="28346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100" b="1" dirty="0">
                <a:solidFill>
                  <a:schemeClr val="accent4"/>
                </a:solidFill>
              </a:rPr>
              <a:t>تحتاج اختيار الجهة والقانون بعناية</a:t>
            </a:r>
            <a:endParaRPr lang="ar-AE" sz="1100" dirty="0"/>
          </a:p>
        </p:txBody>
      </p:sp>
      <p:sp>
        <p:nvSpPr>
          <p:cNvPr id="22" name="Shape 16"/>
          <p:cNvSpPr/>
          <p:nvPr/>
        </p:nvSpPr>
        <p:spPr>
          <a:xfrm>
            <a:off x="457200" y="3291840"/>
            <a:ext cx="8229600" cy="384048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23" name="icon FaCircleQuesti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9328" y="3364992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4206240" y="32918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150" dirty="0">
                <a:solidFill>
                  <a:schemeClr val="tx1"/>
                </a:solidFill>
              </a:rPr>
              <a:t>هل تملك أصولاً في أكثر من دولة؟</a:t>
            </a:r>
            <a:endParaRPr lang="ar-AE" sz="1150" dirty="0"/>
          </a:p>
        </p:txBody>
      </p:sp>
      <p:sp>
        <p:nvSpPr>
          <p:cNvPr id="25" name="Text 18"/>
          <p:cNvSpPr txBox="1"/>
          <p:nvPr/>
        </p:nvSpPr>
        <p:spPr>
          <a:xfrm>
            <a:off x="457200" y="32918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100" b="1" dirty="0">
                <a:solidFill>
                  <a:schemeClr val="accent4"/>
                </a:solidFill>
              </a:rPr>
              <a:t>تحتاج خطة موحدة أو هيكلة قابضة</a:t>
            </a:r>
            <a:endParaRPr lang="ar-AE" sz="1100" dirty="0"/>
          </a:p>
        </p:txBody>
      </p:sp>
      <p:sp>
        <p:nvSpPr>
          <p:cNvPr id="26" name="Shape 19"/>
          <p:cNvSpPr/>
          <p:nvPr/>
        </p:nvSpPr>
        <p:spPr>
          <a:xfrm>
            <a:off x="457200" y="3749040"/>
            <a:ext cx="8229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27" name="icon FaCircleQuesti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9328" y="3822192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4206240" y="37490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150" dirty="0">
                <a:solidFill>
                  <a:schemeClr val="tx1"/>
                </a:solidFill>
              </a:rPr>
              <a:t>هل مرّت أكثر من ثلاث سنوات على آخر وصية؟</a:t>
            </a:r>
            <a:endParaRPr lang="ar-AE" sz="1150" dirty="0"/>
          </a:p>
        </p:txBody>
      </p:sp>
      <p:sp>
        <p:nvSpPr>
          <p:cNvPr id="29" name="Text 21"/>
          <p:cNvSpPr txBox="1"/>
          <p:nvPr/>
        </p:nvSpPr>
        <p:spPr>
          <a:xfrm>
            <a:off x="457200" y="37490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100" b="1" dirty="0">
                <a:solidFill>
                  <a:schemeClr val="accent4"/>
                </a:solidFill>
              </a:rPr>
              <a:t>تحتاج مراجعة</a:t>
            </a:r>
            <a:endParaRPr lang="ar-AE" sz="1100" dirty="0"/>
          </a:p>
        </p:txBody>
      </p:sp>
      <p:sp>
        <p:nvSpPr>
          <p:cNvPr id="30" name="Text 22"/>
          <p:cNvSpPr txBox="1"/>
          <p:nvPr/>
        </p:nvSpPr>
        <p:spPr>
          <a:xfrm>
            <a:off x="457200" y="43159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950" i="1" dirty="0">
                <a:solidFill>
                  <a:schemeClr val="accent3"/>
                </a:solidFill>
              </a:rPr>
              <a:t>إجابة واحدة بنعم تكفي لتستحق استشارة أولية مجانية.</a:t>
            </a:r>
            <a:endParaRPr lang="ar-AE" sz="950" dirty="0"/>
          </a:p>
        </p:txBody>
      </p:sp>
      <p:sp>
        <p:nvSpPr>
          <p:cNvPr id="31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المكتب في أرقام</a:t>
            </a:r>
            <a:endParaRPr lang="ar-AE" sz="2600" dirty="0"/>
          </a:p>
        </p:txBody>
      </p:sp>
      <p:sp>
        <p:nvSpPr>
          <p:cNvPr id="3" name="Shape 1"/>
          <p:cNvSpPr/>
          <p:nvPr/>
        </p:nvSpPr>
        <p:spPr>
          <a:xfrm>
            <a:off x="6800850" y="1371600"/>
            <a:ext cx="1885950" cy="292608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983730" y="1600200"/>
            <a:ext cx="152019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2014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983730" y="2743200"/>
            <a:ext cx="152019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300" b="1" dirty="0">
                <a:solidFill>
                  <a:schemeClr val="bg1"/>
                </a:solidFill>
              </a:rPr>
              <a:t>سنة التأسيس</a:t>
            </a:r>
            <a:endParaRPr lang="ar-AE" sz="130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050" dirty="0">
                <a:solidFill>
                  <a:schemeClr val="accent2"/>
                </a:solidFill>
              </a:rPr>
              <a:t>مكتب محاماة مرخّص في دبي</a:t>
            </a:r>
            <a:endParaRPr lang="ar-AE" sz="1300" dirty="0"/>
          </a:p>
        </p:txBody>
      </p:sp>
      <p:sp>
        <p:nvSpPr>
          <p:cNvPr id="6" name="Shape 4"/>
          <p:cNvSpPr/>
          <p:nvPr/>
        </p:nvSpPr>
        <p:spPr>
          <a:xfrm>
            <a:off x="4686300" y="1371600"/>
            <a:ext cx="1885950" cy="292608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69180" y="1600200"/>
            <a:ext cx="152019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10+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4869180" y="2743200"/>
            <a:ext cx="152019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300" b="1" dirty="0">
                <a:solidFill>
                  <a:schemeClr val="bg1"/>
                </a:solidFill>
              </a:rPr>
              <a:t>مجال قانوني</a:t>
            </a:r>
            <a:endParaRPr lang="ar-AE" sz="130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050" dirty="0">
                <a:solidFill>
                  <a:schemeClr val="accent2"/>
                </a:solidFill>
              </a:rPr>
              <a:t>تقاضٍ واستشارات وصياغة عقود</a:t>
            </a:r>
            <a:endParaRPr lang="ar-AE" sz="1300" dirty="0"/>
          </a:p>
        </p:txBody>
      </p:sp>
      <p:sp>
        <p:nvSpPr>
          <p:cNvPr id="9" name="Shape 7"/>
          <p:cNvSpPr/>
          <p:nvPr/>
        </p:nvSpPr>
        <p:spPr>
          <a:xfrm>
            <a:off x="2571750" y="1371600"/>
            <a:ext cx="1885950" cy="292608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54630" y="1600200"/>
            <a:ext cx="152019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2754630" y="2743200"/>
            <a:ext cx="152019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300" b="1" dirty="0">
                <a:solidFill>
                  <a:schemeClr val="bg1"/>
                </a:solidFill>
              </a:rPr>
              <a:t>لغات عمل</a:t>
            </a:r>
            <a:endParaRPr lang="ar-AE" sz="130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050" dirty="0">
                <a:solidFill>
                  <a:schemeClr val="accent2"/>
                </a:solidFill>
              </a:rPr>
              <a:t>العربية · الإنجليزية · الصينية · الروسية</a:t>
            </a:r>
            <a:endParaRPr lang="ar-AE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1885950" cy="292608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1600200"/>
            <a:ext cx="152019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الخليج وآسيا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743200"/>
            <a:ext cx="152019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300" b="1" dirty="0">
                <a:solidFill>
                  <a:schemeClr val="bg1"/>
                </a:solidFill>
              </a:rPr>
              <a:t>حضور إقليمي ودولي</a:t>
            </a:r>
            <a:endParaRPr lang="ar-AE" sz="130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050" dirty="0">
                <a:solidFill>
                  <a:schemeClr val="accent2"/>
                </a:solidFill>
              </a:rPr>
              <a:t>مكتب صيني متخصص للمستثمرين</a:t>
            </a:r>
            <a:endParaRPr lang="ar-AE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402336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406640" y="64008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46304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22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لا تفكّر في «الوصية». فكّر في «حماية الأصول»: الوصية مرتبطة بالموت، أما الحماية فمرتبطة بالاستثمار والأمان.</a:t>
            </a:r>
            <a:endParaRPr lang="ar-AE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200" dirty="0">
                <a:solidFill>
                  <a:schemeClr val="accent2"/>
                </a:solidFill>
              </a:rPr>
              <a:t>الخلاصة</a:t>
            </a:r>
            <a:endParaRPr lang="ar-AE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422910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68680" y="777240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أسئلة وأجوبة</a:t>
            </a:r>
            <a:endParaRPr lang="ar-AE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15544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300" dirty="0">
                <a:solidFill>
                  <a:schemeClr val="accent2"/>
                </a:solidFill>
              </a:rPr>
              <a:t>استشارة أولية مجانية لكل الحضور، بلغتك، في المكان الذي يناسبك</a:t>
            </a:r>
            <a:endParaRPr lang="ar-AE" sz="1300" dirty="0"/>
          </a:p>
        </p:txBody>
      </p:sp>
      <p:pic>
        <p:nvPicPr>
          <p:cNvPr id="5" name="icon FaLocationDo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22860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2402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200" dirty="0">
                <a:solidFill>
                  <a:schemeClr val="bg2"/>
                </a:solidFill>
              </a:rPr>
              <a:t>شارع الشيخ زايد، برج سعيد 2، مكتب 501، دبي، الإمارات العربية المتحدة</a:t>
            </a:r>
            <a:endParaRPr lang="ar-AE" sz="1200" dirty="0"/>
          </a:p>
        </p:txBody>
      </p:sp>
      <p:pic>
        <p:nvPicPr>
          <p:cNvPr id="7" name="icon FaPh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278892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68680" y="27432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200" dirty="0">
                <a:solidFill>
                  <a:schemeClr val="bg2"/>
                </a:solidFill>
              </a:rPr>
              <a:t>+971 4 359 5552  |  جوال وواتساب: +971 52 107 4972</a:t>
            </a:r>
            <a:endParaRPr lang="ar-AE" sz="1200" dirty="0"/>
          </a:p>
        </p:txBody>
      </p:sp>
      <p:pic>
        <p:nvPicPr>
          <p:cNvPr id="9" name="icon FaEnvelop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29184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68680" y="32461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200" dirty="0">
                <a:solidFill>
                  <a:schemeClr val="bg2"/>
                </a:solidFill>
              </a:rPr>
              <a:t>ward.shueibi@rk-advocates.com  |  rk-advocates.com</a:t>
            </a:r>
            <a:endParaRPr lang="ar-AE" sz="1200" dirty="0"/>
          </a:p>
        </p:txBody>
      </p:sp>
      <p:pic>
        <p:nvPicPr>
          <p:cNvPr id="11" name="icon FaClo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3794760"/>
            <a:ext cx="274320" cy="27432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868680" y="3749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200" dirty="0">
                <a:solidFill>
                  <a:schemeClr val="bg2"/>
                </a:solidFill>
              </a:rPr>
              <a:t>الاثنين – الجمعة، 8:30 – 17:30  |  العربية · English · 中文 · Русский</a:t>
            </a:r>
            <a:endParaRPr lang="ar-AE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dnight Copper">
  <a:themeElements>
    <a:clrScheme name="Midnight Copper">
      <a:dk1>
        <a:srgbClr val="0E2238"/>
      </a:dk1>
      <a:lt1>
        <a:srgbClr val="FFFFFF"/>
      </a:lt1>
      <a:dk2>
        <a:srgbClr val="1F3A52"/>
      </a:dk2>
      <a:lt2>
        <a:srgbClr val="F4F1EB"/>
      </a:lt2>
      <a:accent1>
        <a:srgbClr val="B5723B"/>
      </a:accent1>
      <a:accent2>
        <a:srgbClr val="D9B38C"/>
      </a:accent2>
      <a:accent3>
        <a:srgbClr val="6E7B88"/>
      </a:accent3>
      <a:accent4>
        <a:srgbClr val="8C5527"/>
      </a:accent4>
      <a:accent5>
        <a:srgbClr val="E6E1D8"/>
      </a:accent5>
      <a:accent6>
        <a:srgbClr val="5B7A8C"/>
      </a:accent6>
      <a:hlink>
        <a:srgbClr val="B5723B"/>
      </a:hlink>
      <a:folHlink>
        <a:srgbClr val="8C5527"/>
      </a:folHlink>
    </a:clrScheme>
    <a:fontScheme name="Midnight Copp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Rashid Alkaitoob Advocates &amp; Legal Consultants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كيف تحمي المستثمر الأجنبي في الإمارات</dc:title>
  <dc:subject>PptxGenJS Presentation</dc:subject>
  <dc:creator>Rashid Alkaitoob Advocates &amp; Legal Consultants</dc:creator>
  <cp:lastModifiedBy>Rashid Alkaitoob Advocates &amp; Legal Consultants</cp:lastModifiedBy>
  <cp:revision>1</cp:revision>
  <dcterms:created xsi:type="dcterms:W3CDTF">2026-10-27T13:23:58Z</dcterms:created>
  <dcterms:modified xsi:type="dcterms:W3CDTF">2026-10-27T13:23:58Z</dcterms:modified>
</cp:coreProperties>
</file>