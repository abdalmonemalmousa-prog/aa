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8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740c1c4d-ce2c-0611-b42a-85c8a2d9e306}">
          <p14:sldIdLst>
            <p14:sldId id="256"/>
            <p14:sldId id="257"/>
            <p14:sldId id="258"/>
          </p14:sldIdLst>
        </p14:section>
        <p14:section name="Контекст" id="{42b13ab7-0f49-e95e-7a6f-64933240c404}">
          <p14:sldIdLst>
            <p14:sldId id="259"/>
            <p14:sldId id="260"/>
          </p14:sldIdLst>
        </p14:section>
        <p14:section name="У кого есть завещание" id="{7be80a63-8a30-bf2d-8e5a-0804a8cf8336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Скорость и проблемы" id="{aaa5842d-6951-66ba-1a03-a6b74e172bf0}">
          <p14:sldIdLst>
            <p14:sldId id="268"/>
            <p14:sldId id="269"/>
            <p14:sldId id="270"/>
            <p14:sldId id="271"/>
            <p14:sldId id="272"/>
          </p14:sldIdLst>
        </p14:section>
        <p14:section name="Бизнес" id="{60c28294-84c6-ff31-11f2-75c6cfc293fc}">
          <p14:sldIdLst>
            <p14:sldId id="273"/>
            <p14:sldId id="274"/>
            <p14:sldId id="275"/>
            <p14:sldId id="276"/>
          </p14:sldIdLst>
        </p14:section>
        <p14:section name="Границы данных" id="{78ddb976-3982-915f-6cea-6def1c66a796}">
          <p14:sldIdLst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3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0E2238"/>
                </a:solidFill>
                <a:latin typeface="+mj-lt"/>
              </a:rPr>
              <a:t>Население, млн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Население (млн)</c:v>
                </c:pt>
              </c:strCache>
            </c:strRef>
          </c:tx>
          <c:spPr>
            <a:solidFill>
              <a:srgbClr val="B5723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ОАЭ 2023</c:v>
                  </c:pt>
                  <c:pt idx="1">
                    <c:v>ОАЭ 2024</c:v>
                  </c:pt>
                  <c:pt idx="2">
                    <c:v>Дубай 2024</c:v>
                  </c:pt>
                  <c:pt idx="3">
                    <c:v>Дубай 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10.68</c:v>
                </c:pt>
                <c:pt idx="1">
                  <c:v>11.29</c:v>
                </c:pt>
                <c:pt idx="2">
                  <c:v>3.86</c:v>
                </c:pt>
                <c:pt idx="3">
                  <c:v>4.58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000" u="none">
                  <a:solidFill>
                    <a:srgbClr val="0E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3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0E2238"/>
                </a:solidFill>
                <a:latin typeface="+mj-lt"/>
              </a:rPr>
              <a:t>Накопленное число завещаний (объявленный минимум)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Всего зарегистрировано завещаний</c:v>
                </c:pt>
              </c:strCache>
            </c:strRef>
          </c:tx>
          <c:spPr>
            <a:solidFill>
              <a:srgbClr val="B5723B"/>
            </a:solidFill>
            <a:ln w="31750" cap="flat">
              <a:solidFill>
                <a:srgbClr val="B572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5723B"/>
              </a:solidFill>
              <a:ln w="9525" cap="flat">
                <a:solidFill>
                  <a:srgbClr val="B572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2017</c:v>
                  </c:pt>
                  <c:pt idx="1">
                    <c:v>2019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3000</c:v>
                </c:pt>
                <c:pt idx="1">
                  <c:v>5000</c:v>
                </c:pt>
                <c:pt idx="2">
                  <c:v>11000</c:v>
                </c:pt>
                <c:pt idx="3">
                  <c:v>13400</c:v>
                </c:pt>
                <c:pt idx="4">
                  <c:v>14373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E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3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0E2238"/>
                </a:solidFill>
                <a:latin typeface="+mj-lt"/>
              </a:rPr>
              <a:t>Число зарегистрированных завещаний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Зарегистрировано завещаний</c:v>
                </c:pt>
              </c:strCache>
            </c:strRef>
          </c:tx>
          <c:spPr>
            <a:solidFill>
              <a:srgbClr val="B572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 пол. 2023*</c:v>
                  </c:pt>
                  <c:pt idx="1">
                    <c:v>1 пол. 2024</c:v>
                  </c:pt>
                  <c:pt idx="2">
                    <c:v>1 пол. 2025</c:v>
                  </c:pt>
                  <c:pt idx="3">
                    <c:v>2024 год*</c:v>
                  </c:pt>
                  <c:pt idx="4">
                    <c:v>2025 год</c:v>
                  </c:pt>
                  <c:pt idx="5">
                    <c:v>1 кв. 2026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764</c:v>
                </c:pt>
                <c:pt idx="1">
                  <c:v>810</c:v>
                </c:pt>
                <c:pt idx="2">
                  <c:v>922</c:v>
                </c:pt>
                <c:pt idx="3">
                  <c:v>1820</c:v>
                </c:pt>
                <c:pt idx="4">
                  <c:v>2220</c:v>
                </c:pt>
                <c:pt idx="5">
                  <c:v>883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E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3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0E2238"/>
                </a:solidFill>
                <a:latin typeface="+mj-lt"/>
              </a:rPr>
              <a:t>Завещания, зарегистрированные в Абу-Даби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Зарегистрировано завещаний</c:v>
                </c:pt>
              </c:strCache>
            </c:strRef>
          </c:tx>
          <c:spPr>
            <a:solidFill>
              <a:srgbClr val="B572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2017–2019 (накопл.)</c:v>
                  </c:pt>
                  <c:pt idx="1">
                    <c:v>2024*</c:v>
                  </c:pt>
                  <c:pt idx="2">
                    <c:v>2025</c:v>
                  </c:pt>
                  <c:pt idx="3">
                    <c:v>Всего к янв.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1668</c:v>
                </c:pt>
                <c:pt idx="1">
                  <c:v>5000</c:v>
                </c:pt>
                <c:pt idx="2">
                  <c:v>11000</c:v>
                </c:pt>
                <c:pt idx="3">
                  <c:v>21000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E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3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0E2238"/>
                </a:solidFill>
                <a:latin typeface="+mj-lt"/>
              </a:rPr>
              <a:t>Средний срок в днях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Дней</c:v>
                </c:pt>
              </c:strCache>
            </c:strRef>
          </c:tx>
          <c:spPr>
            <a:solidFill>
              <a:srgbClr val="B5723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2023: суд, от подачи до решения</c:v>
                  </c:pt>
                  <c:pt idx="1">
                    <c:v>2023–24: первые 11 мес., мировое</c:v>
                  </c:pt>
                  <c:pt idx="2">
                    <c:v>2024: мировое</c:v>
                  </c:pt>
                  <c:pt idx="3">
                    <c:v>2025: мировое (раб. дни)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</c:v>
                </c:pt>
                <c:pt idx="1">
                  <c:v>40</c:v>
                </c:pt>
                <c:pt idx="2">
                  <c:v>24</c:v>
                </c:pt>
                <c:pt idx="3">
                  <c:v>13.8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000" u="none">
                  <a:solidFill>
                    <a:srgbClr val="0E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3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0E2238"/>
                </a:solidFill>
                <a:latin typeface="+mj-lt"/>
              </a:rPr>
              <a:t>Доля сохранившихся семейных компаний (мировые данные)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выживших</c:v>
                </c:pt>
              </c:strCache>
            </c:strRef>
          </c:tx>
          <c:spPr>
            <a:solidFill>
              <a:srgbClr val="B5723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2-е поколение</c:v>
                  </c:pt>
                  <c:pt idx="1">
                    <c:v>3-е поколение</c:v>
                  </c:pt>
                  <c:pt idx="2">
                    <c:v>4-е поколение и далее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12</c:v>
                </c:pt>
                <c:pt idx="2">
                  <c:v>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0E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Источники: Caunsel (окт. 2026), Dubai Wills Center (янв. 2026), Gulf News (ноя. 2018). Это оценки поставщиков услуг, а не официальная статистика.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a/b81485da-2e22-5d10-878f-01904e6d5dc6/scratchpad/r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81728"/>
            <a:ext cx="1675417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a/b81485da-2e22-5d10-878f-01904e6d5dc6/scratchpad/rk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81728"/>
            <a:ext cx="1675417" cy="2743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2238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_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pic>
        <p:nvPicPr>
          <p:cNvPr id="3" name="Image 0" descr="/tmp/claude-0/-home-user-aa/b81485da-2e22-5d10-878f-01904e6d5dc6/scratchpad/r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868680"/>
            <a:ext cx="4021000" cy="6583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8680" y="196596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Завещания и наследство в ОАЭ: что говорят цифры</a:t>
            </a:r>
            <a:endParaRPr lang="ru-RU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33832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chemeClr val="accent2"/>
                </a:solidFill>
              </a:rPr>
              <a:t>Документированная статистика 2000–2026: у кого есть завещание, у кого нет, сколько длится раздел наследства и что это значит для бизнеса и инвестиций</a:t>
            </a:r>
            <a:endParaRPr lang="ru-RU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40233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Rashid Alkaitoob Advocates &amp; Legal Consultants · Дубай · Октябрь 2026</a:t>
            </a:r>
            <a:endParaRPr lang="ru-RU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Главное в четырёх цифрах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КРАТКОЕ РЕЗЮМЕ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ru-RU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экспатов ОАЭ ещё не начали составлять завещание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Опрос YouGov, сентябрь 2026</a:t>
            </a:r>
            <a:endParaRPr lang="ru-RU" sz="1250" dirty="0"/>
          </a:p>
        </p:txBody>
      </p:sp>
      <p:sp>
        <p:nvSpPr>
          <p:cNvPr id="7" name="Shape 5"/>
          <p:cNvSpPr/>
          <p:nvPr/>
        </p:nvSpPr>
        <p:spPr>
          <a:xfrm>
            <a:off x="2564892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7772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35,000+</a:t>
            </a:r>
            <a:endParaRPr lang="ru-RU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747772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зарегистрированных завещаний немусульман с 2015 г.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DIFC (более 14 000) плюс Абу-Даби (21 000) при населении свыше 11 млн</a:t>
            </a:r>
            <a:endParaRPr lang="ru-RU" sz="1250" dirty="0"/>
          </a:p>
        </p:txBody>
      </p:sp>
      <p:sp>
        <p:nvSpPr>
          <p:cNvPr id="10" name="Shape 8"/>
          <p:cNvSpPr/>
          <p:nvPr/>
        </p:nvSpPr>
        <p:spPr>
          <a:xfrm>
            <a:off x="4672584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55464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13.8</a:t>
            </a:r>
            <a:endParaRPr lang="ru-RU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855464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рабочих дней: средний срок мирового урегулирования наследства в Дубае (2025)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против 24 дней в 2024 г. и 81 дня для судебных дел в 2023 г.</a:t>
            </a:r>
            <a:endParaRPr lang="ru-RU" sz="1250" dirty="0"/>
          </a:p>
        </p:txBody>
      </p:sp>
      <p:sp>
        <p:nvSpPr>
          <p:cNvPr id="13" name="Shape 11"/>
          <p:cNvSpPr/>
          <p:nvPr/>
        </p:nvSpPr>
        <p:spPr>
          <a:xfrm>
            <a:off x="6780276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63156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 трлн</a:t>
            </a:r>
            <a:endParaRPr lang="ru-RU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963156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активов семей стран Залива перейдёт следующему поколению к 2030 г.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и менее трети семейных компаний имеют план преемственности</a:t>
            </a:r>
            <a:endParaRPr lang="ru-RU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i="1" dirty="0">
                <a:solidFill>
                  <a:schemeClr val="accent3"/>
                </a:solidFill>
              </a:rPr>
              <a:t>Источники приведены на последнем слайде.</a:t>
            </a:r>
            <a:endParaRPr lang="ru-RU" sz="800" dirty="0"/>
          </a:p>
        </p:txBody>
      </p:sp>
      <p:sp>
        <p:nvSpPr>
          <p:cNvPr id="17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Содержание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2344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50" dirty="0">
                <a:solidFill>
                  <a:schemeClr val="tx1"/>
                </a:solidFill>
              </a:rPr>
              <a:t>Контекст: кто живёт в ОАЭ и кто владеет здесь активами</a:t>
            </a:r>
            <a:endParaRPr lang="ru-RU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801368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8562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562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50" dirty="0">
                <a:solidFill>
                  <a:schemeClr val="tx1"/>
                </a:solidFill>
              </a:rPr>
              <a:t>У кого есть завещание, а у кого нет: реестры и опросы</a:t>
            </a:r>
            <a:endParaRPr lang="ru-RU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47802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4780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50" dirty="0">
                <a:solidFill>
                  <a:schemeClr val="tx1"/>
                </a:solidFill>
              </a:rPr>
              <a:t>Скорость раздела наследства и возникающие проблемы</a:t>
            </a:r>
            <a:endParaRPr lang="ru-RU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044952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2344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12344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50" dirty="0">
                <a:solidFill>
                  <a:schemeClr val="tx1"/>
                </a:solidFill>
              </a:rPr>
              <a:t>Влияние отсутствия планирования на бизнес и инвестиции</a:t>
            </a:r>
            <a:endParaRPr lang="ru-RU" sz="1350" dirty="0"/>
          </a:p>
        </p:txBody>
      </p:sp>
      <p:sp>
        <p:nvSpPr>
          <p:cNvPr id="14" name="Shape 12"/>
          <p:cNvSpPr/>
          <p:nvPr/>
        </p:nvSpPr>
        <p:spPr>
          <a:xfrm>
            <a:off x="4663440" y="1801368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18562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18562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50" dirty="0">
                <a:solidFill>
                  <a:schemeClr val="tx1"/>
                </a:solidFill>
              </a:rPr>
              <a:t>Что цифры могут и чего не могут сказать</a:t>
            </a:r>
            <a:endParaRPr lang="ru-RU" sz="1350" dirty="0"/>
          </a:p>
        </p:txBody>
      </p:sp>
      <p:sp>
        <p:nvSpPr>
          <p:cNvPr id="17" name="Shape 15"/>
          <p:cNvSpPr/>
          <p:nvPr/>
        </p:nvSpPr>
        <p:spPr>
          <a:xfrm>
            <a:off x="4663440" y="2423160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3440" y="247802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24780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50" dirty="0">
                <a:solidFill>
                  <a:schemeClr val="tx1"/>
                </a:solidFill>
              </a:rPr>
              <a:t>Источники</a:t>
            </a:r>
            <a:endParaRPr lang="ru-RU" sz="1350" dirty="0"/>
          </a:p>
        </p:txBody>
      </p:sp>
      <p:sp>
        <p:nvSpPr>
          <p:cNvPr id="20" name="Shape 18"/>
          <p:cNvSpPr/>
          <p:nvPr/>
        </p:nvSpPr>
        <p:spPr>
          <a:xfrm>
            <a:off x="4663440" y="3044952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21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ru-RU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Демографический контекст</a:t>
            </a:r>
            <a:endParaRPr lang="ru-RU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chemeClr val="accent2"/>
                </a:solidFill>
              </a:rPr>
              <a:t>Страна, где экспаты составляют подавляющее большинство жителей и владельцев активов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Более 11 миллионов человек, и число быстро растёт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НАСЕЛЕНИЕ</a:t>
            </a:r>
            <a:endParaRPr lang="ru-RU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188720"/>
            <a:ext cx="2788920" cy="30175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1325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88.5%</a:t>
            </a:r>
            <a:endParaRPr lang="ru-RU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05740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доля экспатов среди жителей</a:t>
            </a:r>
            <a:endParaRPr lang="ru-RU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615184"/>
            <a:ext cx="233172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Последняя официально опубликованная доля (Национальное бюро статистики, перепись 2010: 7,3 млн экспатов из 8,26 млн). Более новой официальной доли нет; текущие оценки остаются на уровне 88–90%.</a:t>
            </a:r>
            <a:endParaRPr lang="ru-RU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i="1" dirty="0">
                <a:solidFill>
                  <a:schemeClr val="accent3"/>
                </a:solidFill>
              </a:rPr>
              <a:t>ФЦКС (11 294 243 на конец 2024); Статистический центр Дубая (свыше 4 млн в сент. 2025; 4,58 млн на конец 2025).</a:t>
            </a:r>
            <a:endParaRPr lang="ru-RU" sz="800" dirty="0"/>
          </a:p>
        </p:txBody>
      </p:sp>
      <p:sp>
        <p:nvSpPr>
          <p:cNvPr id="1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ru-RU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 кого есть завещание, а у кого нет</a:t>
            </a:r>
            <a:endParaRPr lang="ru-RU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chemeClr val="accent2"/>
                </a:solidFill>
              </a:rPr>
              <a:t>Официального реестра умерших без завещания нет. Есть: число зарегистрированных завещаний, опросы и дела о наследстве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2000–2026: когда регистрация завещания вообще стала возможной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ПРАВОВАЯ ХРОНОЛОГИЯ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7680960" cy="0"/>
          </a:xfrm>
          <a:prstGeom prst="line">
            <a:avLst/>
          </a:prstGeom>
          <a:noFill/>
          <a:ln w="9525">
            <a:solidFill>
              <a:srgbClr val="D9B3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2000–2014</a:t>
            </a:r>
            <a:endParaRPr lang="ru-RU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0604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Нет реестра завещаний для немусульман. Наследство по умолчанию делится по нормам шариата; споры часты.</a:t>
            </a:r>
            <a:endParaRPr lang="ru-RU" sz="1050" dirty="0"/>
          </a:p>
        </p:txBody>
      </p:sp>
      <p:sp>
        <p:nvSpPr>
          <p:cNvPr id="9" name="Shape 7"/>
          <p:cNvSpPr/>
          <p:nvPr/>
        </p:nvSpPr>
        <p:spPr>
          <a:xfrm>
            <a:off x="1856232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56232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856232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2015</a:t>
            </a:r>
            <a:endParaRPr lang="ru-RU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856232" y="260604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DIFC Courts запускает реестр завещаний для немусульман.</a:t>
            </a:r>
            <a:endParaRPr lang="ru-RU" sz="1050" dirty="0"/>
          </a:p>
        </p:txBody>
      </p:sp>
      <p:sp>
        <p:nvSpPr>
          <p:cNvPr id="13" name="Shape 11"/>
          <p:cNvSpPr/>
          <p:nvPr/>
        </p:nvSpPr>
        <p:spPr>
          <a:xfrm>
            <a:off x="3255264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5526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255264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2017</a:t>
            </a:r>
            <a:endParaRPr lang="ru-RU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255264" y="260604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Закон Дубая № 15 о наследстве немусульман; Судебный департамент Абу-Даби начинает регистрацию завещаний.</a:t>
            </a:r>
            <a:endParaRPr lang="ru-RU" sz="1050" dirty="0"/>
          </a:p>
        </p:txBody>
      </p:sp>
      <p:sp>
        <p:nvSpPr>
          <p:cNvPr id="17" name="Shape 15"/>
          <p:cNvSpPr/>
          <p:nvPr/>
        </p:nvSpPr>
        <p:spPr>
          <a:xfrm>
            <a:off x="4654296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5429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654296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2019–2021</a:t>
            </a:r>
            <a:endParaRPr lang="ru-RU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654296" y="260604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DIFC расширяет охват на активы по всем ОАЭ и за рубежом (2019); закон Абу-Даби 14/2021 создаёт Гражданский семейный суд.</a:t>
            </a:r>
            <a:endParaRPr lang="ru-RU" sz="1050" dirty="0"/>
          </a:p>
        </p:txBody>
      </p:sp>
      <p:sp>
        <p:nvSpPr>
          <p:cNvPr id="21" name="Shape 19"/>
          <p:cNvSpPr/>
          <p:nvPr/>
        </p:nvSpPr>
        <p:spPr>
          <a:xfrm>
            <a:off x="6053328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5332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053328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2022–2023</a:t>
            </a:r>
            <a:endParaRPr lang="ru-RU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053328" y="260604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Федеральный декрет-закон 41/2022 о гражданском статусе немусульман; создан Суд по наследству Дубая (декрет 25/2023).</a:t>
            </a:r>
            <a:endParaRPr lang="ru-RU" sz="1050" dirty="0"/>
          </a:p>
        </p:txBody>
      </p:sp>
      <p:sp>
        <p:nvSpPr>
          <p:cNvPr id="25" name="Shape 23"/>
          <p:cNvSpPr/>
          <p:nvPr/>
        </p:nvSpPr>
        <p:spPr>
          <a:xfrm>
            <a:off x="7452360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523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2024–2026</a:t>
            </a:r>
            <a:endParaRPr lang="ru-RU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452360" y="260604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Рекордный рост: регистрации в DIFC +22% в 2025 г.; завещания в Абу-Даби удвоились до 11 000 в 2025 г.</a:t>
            </a:r>
            <a:endParaRPr lang="ru-RU" sz="1050" dirty="0"/>
          </a:p>
        </p:txBody>
      </p:sp>
      <p:sp>
        <p:nvSpPr>
          <p:cNvPr id="2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Завещания в DIFC: от 3 000 до более 14 000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НАКОПЛЕННЫЙ РЕЕСТР С 2015 Г.</a:t>
            </a:r>
            <a:endParaRPr lang="ru-RU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188720"/>
            <a:ext cx="2788920" cy="30175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1325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14,373</a:t>
            </a:r>
            <a:endParaRPr lang="ru-RU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05740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завещаний зарегистрировано к середине 2026 г.</a:t>
            </a:r>
            <a:endParaRPr lang="ru-RU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615184"/>
            <a:ext cx="233172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Ноя. 2017: свыше 3 000. Июл. 2019: свыше 5 000. Июл. 2024: свыше 11 000. Июл. 2025: свыше 13 400. Апр. 2026: свыше 14 000.</a:t>
            </a:r>
            <a:endParaRPr lang="ru-RU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i="1" dirty="0">
                <a:solidFill>
                  <a:schemeClr val="accent3"/>
                </a:solidFill>
              </a:rPr>
              <a:t>Пресс-релизы DIFC Courts 2017–2026 и статистический портал</a:t>
            </a:r>
            <a:endParaRPr lang="ru-RU" sz="800" dirty="0"/>
          </a:p>
        </p:txBody>
      </p:sp>
      <p:sp>
        <p:nvSpPr>
          <p:cNvPr id="1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DIFC: ежегодные регистрации ускоряются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РЕГИСТРАЦИИ ПО ПЕРИОДАМ</a:t>
            </a:r>
            <a:endParaRPr lang="ru-RU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188720"/>
            <a:ext cx="2788920" cy="30175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1325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+120%</a:t>
            </a:r>
            <a:endParaRPr lang="ru-RU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05740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рост в 1 кв. 2026 к 1 кв. 2025</a:t>
            </a:r>
            <a:endParaRPr lang="ru-RU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615184"/>
            <a:ext cx="233172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2025: 2 220 завещаний (+22%). Заявления об исполнении завещаний: 41 в 2025 г. (+37%), 27 приказов только за 1 пол. 2025.</a:t>
            </a:r>
            <a:endParaRPr lang="ru-RU" sz="1000" dirty="0"/>
          </a:p>
          <a:p>
            <a:pPr algn="l" indent="0" marL="0"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* Рассчитано по объявленным темпам роста.</a:t>
            </a:r>
            <a:endParaRPr lang="ru-RU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i="1" dirty="0">
                <a:solidFill>
                  <a:schemeClr val="accent3"/>
                </a:solidFill>
              </a:rPr>
              <a:t>Пресс-релизы DIFC Courts 2017–2026 и статистический портал</a:t>
            </a:r>
            <a:endParaRPr lang="ru-RU" sz="800" dirty="0"/>
          </a:p>
        </p:txBody>
      </p:sp>
      <p:sp>
        <p:nvSpPr>
          <p:cNvPr id="1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Абу-Даби: гражданские завещания удвоились за год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СУДЕБНЫЙ ДЕПАРТАМЕНТ АБУ-ДАБИ</a:t>
            </a:r>
            <a:endParaRPr lang="ru-RU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188720"/>
            <a:ext cx="2788920" cy="30175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1325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ru-RU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057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национальностей зарегистрировали завещания в Абу-Даби к 2019 г.</a:t>
            </a:r>
            <a:endParaRPr lang="ru-RU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83464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Из 1 668 завещаний: 872 индийца, 189 британцев, 96 южноафриканцев. В 2025 г. около 11 000 завещаний, «более чем вдвое» больше 2024 (* оценка 2024: менее 5 500). 1 кв. 2026: 8 886 операций по гражданским бракам и завещаниям.</a:t>
            </a:r>
            <a:endParaRPr lang="ru-RU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i="1" dirty="0">
                <a:solidFill>
                  <a:schemeClr val="accent3"/>
                </a:solidFill>
              </a:rPr>
              <a:t>Судебный департамент Абу-Даби, по данным Gulf News (дек. 2019, янв. 2026)</a:t>
            </a:r>
            <a:endParaRPr lang="ru-RU" sz="800" dirty="0"/>
          </a:p>
        </p:txBody>
      </p:sp>
      <p:sp>
        <p:nvSpPr>
          <p:cNvPr id="1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 кого нет завещания: данные опросов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ОПРОСЫ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ru-RU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не начали составлять завещание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экспатов ОАЭ, 2026</a:t>
            </a:r>
            <a:endParaRPr lang="ru-RU" sz="1250" dirty="0"/>
          </a:p>
        </p:txBody>
      </p:sp>
      <p:sp>
        <p:nvSpPr>
          <p:cNvPr id="7" name="Shape 5"/>
          <p:cNvSpPr/>
          <p:nvPr/>
        </p:nvSpPr>
        <p:spPr>
          <a:xfrm>
            <a:off x="2564892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7772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</a:t>
            </a:r>
            <a:endParaRPr lang="ru-RU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747772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считают, что супруг автоматически наследует всё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юридически ошибочное мнение</a:t>
            </a:r>
            <a:endParaRPr lang="ru-RU" sz="1250" dirty="0"/>
          </a:p>
        </p:txBody>
      </p:sp>
      <p:sp>
        <p:nvSpPr>
          <p:cNvPr id="10" name="Shape 8"/>
          <p:cNvSpPr/>
          <p:nvPr/>
        </p:nvSpPr>
        <p:spPr>
          <a:xfrm>
            <a:off x="4672584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55464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ru-RU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855464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родителей несовершеннолетних оформили опеку документально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при этом 73% полагают, что семья знает их пожелания</a:t>
            </a:r>
            <a:endParaRPr lang="ru-RU" sz="1250" dirty="0"/>
          </a:p>
        </p:txBody>
      </p:sp>
      <p:sp>
        <p:nvSpPr>
          <p:cNvPr id="13" name="Shape 11"/>
          <p:cNvSpPr/>
          <p:nvPr/>
        </p:nvSpPr>
        <p:spPr>
          <a:xfrm>
            <a:off x="6780276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63156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</a:t>
            </a:r>
            <a:endParaRPr lang="ru-RU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963156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владельцев активов в Дубае не имели зарегистрированного в ОАЭ завещания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Опрос реестра DIFC, 2017: завещание было у «чуть более 10%»</a:t>
            </a:r>
            <a:endParaRPr lang="ru-RU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i="1" dirty="0">
                <a:solidFill>
                  <a:schemeClr val="accent3"/>
                </a:solidFill>
              </a:rPr>
              <a:t>YouGov для Blanket, 1 014 респондентов, сент. 2026 (Gulf News, окт. 2026); опрос реестра DIFC 2017 (Gulf News, ноя. 2018). Причины: 28% «недостаточно активов», 21% «не знаю, с чего начать».</a:t>
            </a:r>
            <a:endParaRPr lang="ru-RU" sz="800" dirty="0"/>
          </a:p>
        </p:txBody>
      </p:sp>
      <p:sp>
        <p:nvSpPr>
          <p:cNvPr id="17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Менее 1%</a:t>
            </a:r>
            <a:endParaRPr lang="ru-RU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23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экспатов имеют завещание, зарегистрированное в ОАЭ</a:t>
            </a:r>
            <a:endParaRPr lang="ru-RU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chemeClr val="accent2"/>
                </a:solidFill>
              </a:rPr>
              <a:t>Наша ориентировочная оценка: около 35 000 зарегистрированных завещаний немусульман (DIFC более 14 000 плюс Абу-Даби 21 000, плюс неопубликованный реестр судов Дубая) на примерно 10 млн экспатов. Даже при утроении числа доля остаётся ниже 1%.</a:t>
            </a:r>
            <a:endParaRPr lang="ru-RU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245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00" i="1" dirty="0">
                <a:solidFill>
                  <a:schemeClr val="accent3"/>
                </a:solidFill>
              </a:rPr>
              <a:t>Расчёт Rashid Alkaitoob Advocates на основе официальных данных из этой презентации. Не является официальной статистикой.</a:t>
            </a:r>
            <a:endParaRPr lang="ru-RU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ru-RU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Скорость раздела наследства и проблемы</a:t>
            </a:r>
            <a:endParaRPr lang="ru-RU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chemeClr val="accent2"/>
                </a:solidFill>
              </a:rPr>
              <a:t>Официальные данные судов Дубая и оценки практиков при наличии и отсутствии завещания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Наследственные дела судов Дубая 2022–2025 в цифрах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ОФИЦИАЛЬНЫЕ ДАННЫЕ</a:t>
            </a:r>
            <a:endParaRPr lang="ru-RU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377440"/>
                <a:gridCol w="1828800"/>
                <a:gridCol w="173736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Год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Объём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Стоимость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Срок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Мировое урегулирование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2022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2 079 дел: 1 555 мусульман, 500 немусульман, 24 частных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3,80 млрд дирхамов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Не опубликован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Не опубликовано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2023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580 дел: 512 мусульман, 38 немусульман, 30 частных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4,12 млрд дирхамов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81 день от регистрации до решения; 28 дней до первого заседания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92,6%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2024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1 814 дел за первые 11 месяцев Суда по наследству; 1 407 свидетельств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Свыше 10 млрд дирхамов урегулировано; 35 млрд в исках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24 дня мировое урегулирование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84%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2025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1 101 соглашение; 1 052 объекта; 284 лицензии; 357 автомобилей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5,26 млрд урегулировано; 3,5 млрд выплачено наследникам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13,8 рабочих дня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92,5%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50" i="1" dirty="0">
                <a:solidFill>
                  <a:schemeClr val="accent3"/>
                </a:solidFill>
              </a:rPr>
              <a:t>Единицы измерения различаются по годам (дела, файлы, соглашения) и несопоставимы напрямую. Источник: годовые отчёты судов Дубая и Медиа-офис Дубая.</a:t>
            </a:r>
            <a:endParaRPr lang="ru-RU" sz="950" dirty="0"/>
          </a:p>
        </p:txBody>
      </p:sp>
      <p:sp>
        <p:nvSpPr>
          <p:cNvPr id="6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Дубай сократил срок урегулирования наследства с 81 дня до 13,8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СРОК</a:t>
            </a:r>
            <a:endParaRPr lang="ru-RU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188720"/>
            <a:ext cx="2788920" cy="30175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1325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 → 3</a:t>
            </a:r>
            <a:endParaRPr lang="ru-RU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057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дней: срок процедур после запуска платформы «Джабр» (окт. 2025)</a:t>
            </a:r>
            <a:endParaRPr lang="ru-RU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83464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Требования сокращены с 10 до 4; 1 103 дела за первые три месяца. Правила Суда по наследству: подготовка ≤ 30 дней, процесс ≤ 12 месяцев. Дела вне Дубая, без завещания или спорные этими цифрами не охвачены.</a:t>
            </a:r>
            <a:endParaRPr lang="ru-RU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i="1" dirty="0">
                <a:solidFill>
                  <a:schemeClr val="accent3"/>
                </a:solidFill>
              </a:rPr>
              <a:t>Суды Дубая: годовые отчёты 2022–2025 и Медиа-офис правительства Дубая</a:t>
            </a:r>
            <a:endParaRPr lang="ru-RU" sz="800" dirty="0"/>
          </a:p>
        </p:txBody>
      </p:sp>
      <p:sp>
        <p:nvSpPr>
          <p:cNvPr id="1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 зарегистрированным завещанием и без него: оценки практиков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ОФИЦИАЛЬНОЙ СРАВНИТЕЛЬНОЙ СТАТИСТИКИ НЕТ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00500" cy="548640"/>
          </a:xfrm>
          <a:prstGeom prst="rect">
            <a:avLst/>
          </a:prstGeom>
          <a:solidFill>
            <a:srgbClr val="B5723B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С зарегистрированным завещанием (DIFC / Абу-Даби / суды Дубая)</a:t>
            </a:r>
            <a:endParaRPr lang="ru-RU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Исполнение и распределение за 4–8 недель (оценка 2026)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Другая оценка: 2–4 месяца при ясном завещании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Наследники, опекуны и исполнители определены заранее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Не нужно легализовать иностранные документы и доказывать иностранное право</a:t>
            </a:r>
            <a:endParaRPr lang="ru-RU" sz="1100" dirty="0"/>
          </a:p>
        </p:txBody>
      </p:sp>
      <p:sp>
        <p:nvSpPr>
          <p:cNvPr id="8" name="Shape 6"/>
          <p:cNvSpPr/>
          <p:nvPr/>
        </p:nvSpPr>
        <p:spPr>
          <a:xfrm>
            <a:off x="4686300" y="1188720"/>
            <a:ext cx="4000500" cy="54864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accent2"/>
                </a:solidFill>
              </a:rPr>
              <a:t>Без завещания</a:t>
            </a:r>
            <a:endParaRPr lang="ru-RU" sz="1300" dirty="0"/>
          </a:p>
        </p:txBody>
      </p:sp>
      <p:sp>
        <p:nvSpPr>
          <p:cNvPr id="10" name="Shape 8"/>
          <p:cNvSpPr/>
          <p:nvPr/>
        </p:nvSpPr>
        <p:spPr>
          <a:xfrm>
            <a:off x="46863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34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От 3 до 12 месяцев через суды по личному статусу и легализацию документов (оценка 2026)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Другая оценка: от 4 до 9+ месяцев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Спорные дела: год и более; апелляции до 5 лет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Распределение по закону по умолчанию, а не по воле умершего</a:t>
            </a:r>
            <a:endParaRPr lang="ru-RU" sz="1100" dirty="0"/>
          </a:p>
        </p:txBody>
      </p:sp>
      <p:sp>
        <p:nvSpPr>
          <p:cNvPr id="1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Проблемы, которые возникают на практике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ЗА ЦИФРАМИ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Lo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Банковские счета блокируются сразу, включая совместные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Остаются заблокированными до приказов о распределении; частичный доступ редок, разблокировка после приказов занимает ещё 2–6 недель.</a:t>
            </a:r>
            <a:endParaRPr lang="ru-RU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House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828800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Блокировка перехода недвижимости, автомобилей и лицензий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Только в Дубае в 2025 г. через урегулирование наследства прошли 1 052 объекта, 357 автомобилей, 240 номеров и 284 лицензии.</a:t>
            </a:r>
            <a:endParaRPr lang="ru-RU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Childre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48716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Неоформленная опека над детьми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Лишь 24% родителей оформили опеку; 28% считают, что у них недостаточно активов для завещания.</a:t>
            </a:r>
            <a:endParaRPr lang="ru-RU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PeopleArrow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145536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Споры между наследниками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Иски на 35 млрд дирхамов в Суде по наследству Дубая в 2024 г.; 7,5% дел 2025 г. не урегулированы мирно.</a:t>
            </a:r>
            <a:endParaRPr lang="ru-RU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FileCircleExclamati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803904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Иностранные документы требуют легализации и перевода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Без местного завещания нужно легализовать свидетельства о браке и рождении и доказать иностранное право — главный источник задержек.</a:t>
            </a:r>
            <a:endParaRPr lang="ru-RU" sz="1300" dirty="0"/>
          </a:p>
        </p:txBody>
      </p:sp>
      <p:sp>
        <p:nvSpPr>
          <p:cNvPr id="1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ru-RU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Влияние на бизнес и инвестиции</a:t>
            </a:r>
            <a:endParaRPr lang="ru-RU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chemeClr val="accent2"/>
                </a:solidFill>
              </a:rPr>
              <a:t>Семейный бизнес — основа экономики Залива, и у большинства нет плана преемственности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Семейный бизнес Залива в цифрах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МАСШТАБ РИСКА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ru-RU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ВВП стран Залива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создаётся семейными компаниями</a:t>
            </a:r>
            <a:endParaRPr lang="ru-RU" sz="1250" dirty="0"/>
          </a:p>
        </p:txBody>
      </p:sp>
      <p:sp>
        <p:nvSpPr>
          <p:cNvPr id="7" name="Shape 5"/>
          <p:cNvSpPr/>
          <p:nvPr/>
        </p:nvSpPr>
        <p:spPr>
          <a:xfrm>
            <a:off x="2564892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7772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ru-RU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747772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рабочей силы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занято в семейных компаниях</a:t>
            </a:r>
            <a:endParaRPr lang="ru-RU" sz="1250" dirty="0"/>
          </a:p>
        </p:txBody>
      </p:sp>
      <p:sp>
        <p:nvSpPr>
          <p:cNvPr id="10" name="Shape 8"/>
          <p:cNvSpPr/>
          <p:nvPr/>
        </p:nvSpPr>
        <p:spPr>
          <a:xfrm>
            <a:off x="4672584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55464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ru-RU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855464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частного сектора ОАЭ и Саудовской Аравии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принадлежит семьям</a:t>
            </a:r>
            <a:endParaRPr lang="ru-RU" sz="1250" dirty="0"/>
          </a:p>
        </p:txBody>
      </p:sp>
      <p:sp>
        <p:nvSpPr>
          <p:cNvPr id="13" name="Shape 11"/>
          <p:cNvSpPr/>
          <p:nvPr/>
        </p:nvSpPr>
        <p:spPr>
          <a:xfrm>
            <a:off x="6780276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63156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$1T</a:t>
            </a:r>
            <a:endParaRPr lang="ru-RU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963156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активов перейдёт между поколениями к 2030 г.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по странам Залива</a:t>
            </a:r>
            <a:endParaRPr lang="ru-RU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i="1" dirty="0">
                <a:solidFill>
                  <a:schemeClr val="accent3"/>
                </a:solidFill>
              </a:rPr>
              <a:t>Gulf News, фев. 2023 (Jersey Finance); Khaleej Times, май 2026 (Georgetown McDonough, программа в Дубае).</a:t>
            </a:r>
            <a:endParaRPr lang="ru-RU" sz="800" dirty="0"/>
          </a:p>
        </p:txBody>
      </p:sp>
      <p:sp>
        <p:nvSpPr>
          <p:cNvPr id="17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Лишь три из десяти семейных компаний доживают до второго поколения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ВЫЖИВАЕМОСТЬ ПО ПОКОЛЕНИЯМ</a:t>
            </a:r>
            <a:endParaRPr lang="ru-RU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188720"/>
            <a:ext cx="2788920" cy="30175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1325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&lt;30%</a:t>
            </a:r>
            <a:endParaRPr lang="ru-RU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057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имеют чёткий и доведённый до сведения план преемственности</a:t>
            </a:r>
            <a:endParaRPr lang="ru-RU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83464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Лишь 22% следующего поколения в ОАЭ планируют войти в семейный бизнес. Другая оценка (Citi, 2023): 50% доживают до 2-го поколения и 10% до 3-го.</a:t>
            </a:r>
            <a:endParaRPr lang="ru-RU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i="1" dirty="0">
                <a:solidFill>
                  <a:schemeClr val="accent3"/>
                </a:solidFill>
              </a:rPr>
              <a:t>Khaleej Times, май 2026 и сент. 2023; Gulf News, фев. 2023.</a:t>
            </a:r>
            <a:endParaRPr lang="ru-RU" sz="800" dirty="0"/>
          </a:p>
        </p:txBody>
      </p:sp>
      <p:sp>
        <p:nvSpPr>
          <p:cNvPr id="1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страдают бизнес и инвестиции на практике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ПРЯМОЕ ВЛИЯНИЕ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Briefcas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Доли и лицензии попадают в наследственную массу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284 торговые лицензии прошли через урегулирование наследства в Дубае в 2025 г. До завершения дела решения партнёров и банковские подписи блокируются.</a:t>
            </a:r>
            <a:endParaRPr lang="ru-RU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BuildingColumn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828800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Оборотная ликвидность замораживается вместе с личными счетами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Личные и совместные счета владельца блокируются немедленно; многие малые компании зависят от них.</a:t>
            </a:r>
            <a:endParaRPr lang="ru-RU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Hous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48716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Инвестиционную недвижимость нельзя продать или сдать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1 353 объекта в 2024 г. и 1 052 в 2025 г. требовали урегулирования в Дубае до любых сделок.</a:t>
            </a:r>
            <a:endParaRPr lang="ru-RU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ScaleBalance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145536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Спорные требования исчисляются десятками миллиардов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32,8 млрд дирхамов исков за первые 11 месяцев работы Суда по наследству и 35 млрд в 2024 г.</a:t>
            </a:r>
            <a:endParaRPr lang="ru-RU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Sitemap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803904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Инструмент существует: завещание владельца бизнеса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DIFC регистрирует отдельное завещание на доли в компаниях (до 5), наряду с завещаниями на недвижимость, финансовые активы и полным завещанием.</a:t>
            </a:r>
            <a:endParaRPr lang="ru-RU" sz="1300" dirty="0"/>
          </a:p>
        </p:txBody>
      </p:sp>
      <p:sp>
        <p:nvSpPr>
          <p:cNvPr id="1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ru-RU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цифры могут и чего не могут сказать</a:t>
            </a:r>
            <a:endParaRPr lang="ru-RU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chemeClr val="accent2"/>
                </a:solidFill>
              </a:rPr>
              <a:t>Прозрачность источников — часть достоверности презентации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задокументировано, а чего не существует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ГРАНИЦЫ ДАННЫХ 2000–2026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00500" cy="548640"/>
          </a:xfrm>
          <a:prstGeom prst="rect">
            <a:avLst/>
          </a:prstGeom>
          <a:solidFill>
            <a:srgbClr val="B5723B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Официально задокументировано</a:t>
            </a:r>
            <a:endParaRPr lang="ru-RU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Число завещаний в DIFC (с 2015) и Абу-Даби (с 2017)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Дела, суммы и сроки в судах Дубая (2022–2025)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Разделение дел Дубая на мусульман и немусульман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Общая численность населения и её рост (федеральная статистика)</a:t>
            </a:r>
            <a:endParaRPr lang="ru-RU" sz="1100" dirty="0"/>
          </a:p>
        </p:txBody>
      </p:sp>
      <p:sp>
        <p:nvSpPr>
          <p:cNvPr id="8" name="Shape 6"/>
          <p:cNvSpPr/>
          <p:nvPr/>
        </p:nvSpPr>
        <p:spPr>
          <a:xfrm>
            <a:off x="4686300" y="1188720"/>
            <a:ext cx="4000500" cy="54864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accent2"/>
                </a:solidFill>
              </a:rPr>
              <a:t>Отсутствует или не публикуется</a:t>
            </a:r>
            <a:endParaRPr lang="ru-RU" sz="1300" dirty="0"/>
          </a:p>
        </p:txBody>
      </p:sp>
      <p:sp>
        <p:nvSpPr>
          <p:cNvPr id="10" name="Shape 8"/>
          <p:cNvSpPr/>
          <p:nvPr/>
        </p:nvSpPr>
        <p:spPr>
          <a:xfrm>
            <a:off x="46863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34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Официальное число умерших без завещания за любой год 2000–2026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Число завещаний в реестре судов Дубая для немусульман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Официальное сравнение сроков с завещанием и без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Свежая официальная доля экспатов после переписи 2010 г.</a:t>
            </a:r>
            <a:endParaRPr lang="ru-RU" sz="1100" dirty="0"/>
          </a:p>
        </p:txBody>
      </p:sp>
      <p:sp>
        <p:nvSpPr>
          <p:cNvPr id="12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Источники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КАЖДАЯ ЦИФРА В ПРЕЗЕНТАЦИИ ВОСХОДИТ К ОДНОМУ ИЗ ЭТИХ ИСТОЧНИКОВ</a:t>
            </a:r>
            <a:endParaRPr lang="ru-RU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1887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ФЦКС: население ОАЭ 2023–2024 (Gulf News, 8 сент. 2025).</a:t>
            </a:r>
            <a:endParaRPr lang="ru-RU" sz="8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443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5443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Статцентр Дубая: более 4 млн (сент. 2025); 4,58 млн на конец 2025 (Dubai Eye, июль 2026).</a:t>
            </a:r>
            <a:endParaRPr lang="ru-RU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999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8999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Национальное бюро статистики: 88,5% экспатов из 8,26 млн (Khaleej Times, 2011).</a:t>
            </a:r>
            <a:endParaRPr lang="ru-RU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2555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2555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DIFC Courts: релиз 1 ноя. 2017 (более 3 000); Al Bayan и Emarat Al Youm 2019 (4 100 и 5 000).</a:t>
            </a:r>
            <a:endParaRPr lang="ru-RU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111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6111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DIFC Courts: 15 июля 2024 (810, +6%, более 11 000); 23 июля 2025 (922, +14%, более 13 400).</a:t>
            </a:r>
            <a:endParaRPr lang="ru-RU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9667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9667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DIFC Courts: 11 фев. 2026 (2 220 в 2025, +22%; 41 заявление, +37%); 22 апр. 2026 (883 в 1 кв., +120%).</a:t>
            </a:r>
            <a:endParaRPr lang="ru-RU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3223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3223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Статпортал DIFC Courts: 14 373 завещания с момента запуска (1 пол. 2026).</a:t>
            </a:r>
            <a:endParaRPr lang="ru-RU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6779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6779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Судебный департамент Абу-Даби: 1 668 завещаний, 64 национальности (Gulf News, 14 дек. 2019).</a:t>
            </a:r>
            <a:endParaRPr lang="ru-RU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0335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0335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Гражданский семейный суд Абу-Даби: 11 000 в 2025, 21 000 всего (Gulf News, 19 янв. 2026); 8 886 операций в 1 кв. 2026 (WAM).</a:t>
            </a:r>
            <a:endParaRPr lang="ru-RU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11887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11887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Суды Дубая 2022: 3,797 млрд дирхамов; 1 555 / 500 / 24 дела (Emarat Al Youm, 8 июля 2023).</a:t>
            </a:r>
            <a:endParaRPr lang="ru-RU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15443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15443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Суды Дубая 2023: 580 дел, 4,116 млрд, 81 / 52 / 28 дней, 92,6% (The Law Reporters, 13 июля 2024).</a:t>
            </a:r>
            <a:endParaRPr lang="ru-RU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18999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0" y="18999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Суд по наследству Дубая, первые 11 месяцев: 1 814 дел, 40 дней, 32,8 млрд (Мактум бин Мохаммед, 28 окт. 2024).</a:t>
            </a:r>
            <a:endParaRPr lang="ru-RU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22555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0" y="22555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Суд по наследству 2024: 84%, 24 дня, 1 407 свидетельств, 10 и 35 млрд (Медиа-офис Дубая, 29 янв. 2025).</a:t>
            </a:r>
            <a:endParaRPr lang="ru-RU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663440" y="26111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0" y="26111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Суды Дубая 2025: 13,8 дня, 92,5%, 5,26 млрд, 284 лицензии (Al Bayan, 9 июля 2026); 3,5 млрд наследникам и платформа «Джабр» (Gulf News, 25 апр. 2026).</a:t>
            </a:r>
            <a:endParaRPr lang="ru-RU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4663440" y="29667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0" y="29667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YouGov для Blanket, 1 014 респондентов, сент. 2026: 49%, 56%, 24%, 73%, 28%, 21% (Gulf News, 20 окт. 2026).</a:t>
            </a:r>
            <a:endParaRPr lang="ru-RU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4663440" y="33223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0" y="33223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Опрос реестра DIFC 2017 и заморозка счетов (Gulf News, 12 ноя. 2018); оценки сроков: Caunsel (15 окт. 2026), Dubai Wills Center (13 янв. 2026).</a:t>
            </a:r>
            <a:endParaRPr lang="ru-RU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4663440" y="36779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029200" y="36779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Семейный бизнес: Gulf News, 9 фев. 2023 (Jersey Finance); Khaleej Times, 20 мая 2026 и 6 сент. 2023 (Citi).</a:t>
            </a:r>
            <a:endParaRPr lang="ru-RU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663440" y="40335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029200" y="40335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Правовая база: закон Дубая 15/2017; закон Абу-Даби 14/2021; федеральный декрет-закон 41/2022; декрет Дубая 25/2023.</a:t>
            </a:r>
            <a:endParaRPr lang="ru-RU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00" i="1" dirty="0">
                <a:solidFill>
                  <a:schemeClr val="accent3"/>
                </a:solidFill>
              </a:rPr>
              <a:t>Цифры со звёздочкой (*) рассчитаны по официально объявленным темпам роста и отдельно не публиковались.</a:t>
            </a:r>
            <a:endParaRPr lang="ru-RU" sz="900" dirty="0"/>
          </a:p>
        </p:txBody>
      </p:sp>
      <p:sp>
        <p:nvSpPr>
          <p:cNvPr id="41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02336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4630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Более 11 миллионов жителей и около 35 000 зарегистрированных завещаний. Пробел не в законе — инструменты существуют с 2015 года. Пробел в осведомлённости и планировании.</a:t>
            </a:r>
            <a:endParaRPr lang="ru-RU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accent2"/>
                </a:solidFill>
              </a:rPr>
              <a:t>Вывод из цифр</a:t>
            </a:r>
            <a:endParaRPr lang="ru-RU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77724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Rashid Alkaitoob Advocates &amp; Legal Consultants</a:t>
            </a:r>
            <a:endParaRPr lang="ru-RU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5544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chemeClr val="accent2"/>
                </a:solidFill>
              </a:rPr>
              <a:t>Завещания, защита активов и наследственное планирование для инвесторов и компаний в ОАЭ</a:t>
            </a:r>
            <a:endParaRPr lang="ru-RU" sz="1300" dirty="0"/>
          </a:p>
        </p:txBody>
      </p:sp>
      <p:pic>
        <p:nvPicPr>
          <p:cNvPr id="5" name="icon FaLocationDo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2240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bg2"/>
                </a:solidFill>
              </a:rPr>
              <a:t>Шейх Зайед Роуд, Saeed Tower 2, офис 501, Дубай, ОАЭ</a:t>
            </a:r>
            <a:endParaRPr lang="ru-RU" sz="1200" dirty="0"/>
          </a:p>
        </p:txBody>
      </p:sp>
      <p:pic>
        <p:nvPicPr>
          <p:cNvPr id="7" name="icon FaPh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889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743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bg2"/>
                </a:solidFill>
              </a:rPr>
              <a:t>+971 4 359 5552  |  Моб. и WhatsApp: +971 52 107 4972</a:t>
            </a:r>
            <a:endParaRPr lang="ru-RU" sz="1200" dirty="0"/>
          </a:p>
        </p:txBody>
      </p:sp>
      <p:pic>
        <p:nvPicPr>
          <p:cNvPr id="9" name="icon FaEnvelop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918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25880" y="32461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bg2"/>
                </a:solidFill>
              </a:rPr>
              <a:t>ward.shueibi@rk-advocates.com  |  rk-advocates.com</a:t>
            </a:r>
            <a:endParaRPr lang="ru-RU" sz="1200" dirty="0"/>
          </a:p>
        </p:txBody>
      </p:sp>
      <p:pic>
        <p:nvPicPr>
          <p:cNvPr id="11" name="icon FaClo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9476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25880" y="3749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bg2"/>
                </a:solidFill>
              </a:rPr>
              <a:t>Пн – Пт, 8:30 – 17:30  |  Арабский · Английский · Китайский · Русский</a:t>
            </a:r>
            <a:endParaRPr lang="ru-RU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 Copper">
  <a:themeElements>
    <a:clrScheme name="Midnight Copper">
      <a:dk1>
        <a:srgbClr val="0E2238"/>
      </a:dk1>
      <a:lt1>
        <a:srgbClr val="FFFFFF"/>
      </a:lt1>
      <a:dk2>
        <a:srgbClr val="1F3A52"/>
      </a:dk2>
      <a:lt2>
        <a:srgbClr val="F4F1EB"/>
      </a:lt2>
      <a:accent1>
        <a:srgbClr val="B5723B"/>
      </a:accent1>
      <a:accent2>
        <a:srgbClr val="D9B38C"/>
      </a:accent2>
      <a:accent3>
        <a:srgbClr val="6E7B88"/>
      </a:accent3>
      <a:accent4>
        <a:srgbClr val="8C5527"/>
      </a:accent4>
      <a:accent5>
        <a:srgbClr val="E6E1D8"/>
      </a:accent5>
      <a:accent6>
        <a:srgbClr val="5B7A8C"/>
      </a:accent6>
      <a:hlink>
        <a:srgbClr val="B5723B"/>
      </a:hlink>
      <a:folHlink>
        <a:srgbClr val="8C5527"/>
      </a:folHlink>
    </a:clrScheme>
    <a:fontScheme name="Midnight Copp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Rashid Alkaitoob Advocates &amp; Legal Consultants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Завещания и наследство в ОАЭ: что говорят цифры</dc:title>
  <dc:subject>PptxGenJS Presentation</dc:subject>
  <dc:creator>Rashid Alkaitoob Advocates &amp; Legal Consultants</dc:creator>
  <cp:lastModifiedBy>Rashid Alkaitoob Advocates &amp; Legal Consultants</cp:lastModifiedBy>
  <cp:revision>1</cp:revision>
  <dcterms:created xsi:type="dcterms:W3CDTF">2026-10-27T13:15:43Z</dcterms:created>
  <dcterms:modified xsi:type="dcterms:W3CDTF">2026-10-27T13:15:43Z</dcterms:modified>
</cp:coreProperties>
</file>