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17c0ad78-1d96-8f76-2734-198100b1ae07}">
          <p14:sldIdLst>
            <p14:sldId id="256"/>
            <p14:sldId id="257"/>
          </p14:sldIdLst>
        </p14:section>
        <p14:section name="The idea" id="{32420ce4-541f-8ffc-8464-7e34745d3877}">
          <p14:sldIdLst>
            <p14:sldId id="258"/>
            <p14:sldId id="259"/>
            <p14:sldId id="260"/>
            <p14:sldId id="261"/>
          </p14:sldIdLst>
        </p14:section>
        <p14:section name="Brokers" id="{067b3689-1fbb-9aac-ba09-9115161a0b3b}">
          <p14:sldIdLst>
            <p14:sldId id="262"/>
            <p14:sldId id="263"/>
            <p14:sldId id="264"/>
          </p14:sldIdLst>
        </p14:section>
        <p14:section name="Cooperation model" id="{fea2c0a7-8bc0-079e-d0a7-dab32e9809b4}">
          <p14:sldIdLst>
            <p14:sldId id="265"/>
            <p14:sldId id="266"/>
            <p14:sldId id="267"/>
          </p14:sldIdLst>
        </p14:section>
        <p14:section name="Workflow" id="{453ea123-2943-dc03-d6a7-9e9418dacc1b}">
          <p14:sldIdLst>
            <p14:sldId id="268"/>
            <p14:sldId id="269"/>
            <p14:sldId id="270"/>
            <p14:sldId id="271"/>
          </p14:sldIdLst>
        </p14:section>
        <p14:section name="Revenue and marketing" id="{4fd22d8c-69e7-ff20-9093-5a61b02737d5}">
          <p14:sldIdLst>
            <p14:sldId id="272"/>
            <p14:sldId id="273"/>
            <p14:sldId id="274"/>
            <p14:sldId id="275"/>
          </p14:sldIdLst>
        </p14:section>
        <p14:section name="Roles and launch" id="{e64db353-80f5-a332-7fb2-69390dfd3fa1}">
          <p14:sldIdLst>
            <p14:sldId id="276"/>
            <p14:sldId id="277"/>
            <p14:sldId id="278"/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4626864"/>
            <a:ext cx="384048" cy="384048"/>
          </a:xfrm>
          <a:prstGeom prst="rect">
            <a:avLst/>
          </a:prstGeom>
          <a:solidFill>
            <a:srgbClr val="0B0B0B"/>
          </a:solidFill>
          <a:ln w="9525">
            <a:solidFill>
              <a:srgbClr val="B08D5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626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8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RK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22960" y="4626864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D8C39A"/>
                </a:solidFill>
              </a:rPr>
              <a:t>Rashid Alkaitoob Advocates &amp; Legal Consultants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8C3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4626864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B08D5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626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8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RK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22960" y="4626864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Rashid Alkaitoob Advocates &amp; Legal Consultants</a:t>
            </a:r>
            <a:endParaRPr lang="en-US" sz="900" dirty="0"/>
          </a:p>
        </p:txBody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0B0B0B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_DARK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8C3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229100"/>
          </a:xfrm>
          <a:prstGeom prst="rect">
            <a:avLst/>
          </a:prstGeom>
          <a:ln w="9525">
            <a:solidFill>
              <a:srgbClr val="B08D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" y="868680"/>
            <a:ext cx="822960" cy="822960"/>
          </a:xfrm>
          <a:prstGeom prst="rect">
            <a:avLst/>
          </a:prstGeom>
          <a:solidFill>
            <a:srgbClr val="0B0B0B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8686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RK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874520" y="86868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chemeClr val="accent2"/>
                </a:solidFill>
              </a:rPr>
              <a:t>Rashid Alkaitoob Advocates &amp; Legal Consultants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1965960"/>
            <a:ext cx="7406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Asset Protection &amp; Wills Service Strategy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383280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chemeClr val="accent2"/>
                </a:solidFill>
              </a:rPr>
              <a:t>Internal briefing for management and staff — Phase one: entering through real estate brokerages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02336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dirty="0">
                <a:solidFill>
                  <a:schemeClr val="accent3"/>
                </a:solidFill>
              </a:rPr>
              <a:t>October 2026 · Internal use only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8C3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Agenda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1234440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50" dirty="0">
                <a:solidFill>
                  <a:schemeClr val="tx1"/>
                </a:solidFill>
              </a:rPr>
              <a:t>The idea: from law firm to Legal Protection Partner for Investors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801368"/>
            <a:ext cx="4023360" cy="0"/>
          </a:xfrm>
          <a:prstGeom prst="line">
            <a:avLst/>
          </a:prstGeom>
          <a:noFill/>
          <a:ln w="6350">
            <a:solidFill>
              <a:srgbClr val="E9E4D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856232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856232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50" dirty="0">
                <a:solidFill>
                  <a:schemeClr val="tx1"/>
                </a:solidFill>
              </a:rPr>
              <a:t>Why real estate brokerages are the entry point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423160"/>
            <a:ext cx="4023360" cy="0"/>
          </a:xfrm>
          <a:prstGeom prst="line">
            <a:avLst/>
          </a:prstGeom>
          <a:noFill/>
          <a:ln w="6350">
            <a:solidFill>
              <a:srgbClr val="E9E4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478024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2478024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50" dirty="0">
                <a:solidFill>
                  <a:schemeClr val="tx1"/>
                </a:solidFill>
              </a:rPr>
              <a:t>The cooperation model and legal structure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57200" y="3044952"/>
            <a:ext cx="4023360" cy="0"/>
          </a:xfrm>
          <a:prstGeom prst="line">
            <a:avLst/>
          </a:prstGeom>
          <a:noFill/>
          <a:ln w="6350">
            <a:solidFill>
              <a:srgbClr val="E9E4D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1234440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212080" y="1234440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50" dirty="0">
                <a:solidFill>
                  <a:schemeClr val="tx1"/>
                </a:solidFill>
              </a:rPr>
              <a:t>The workflow from broker to client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663440" y="1801368"/>
            <a:ext cx="4023360" cy="0"/>
          </a:xfrm>
          <a:prstGeom prst="line">
            <a:avLst/>
          </a:prstGeom>
          <a:noFill/>
          <a:ln w="6350">
            <a:solidFill>
              <a:srgbClr val="E9E4D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63440" y="1856232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5212080" y="1856232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50" dirty="0">
                <a:solidFill>
                  <a:schemeClr val="tx1"/>
                </a:solidFill>
              </a:rPr>
              <a:t>Revenue model and marketing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663440" y="2423160"/>
            <a:ext cx="4023360" cy="0"/>
          </a:xfrm>
          <a:prstGeom prst="line">
            <a:avLst/>
          </a:prstGeom>
          <a:noFill/>
          <a:ln w="6350">
            <a:solidFill>
              <a:srgbClr val="E9E4D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663440" y="2478024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212080" y="2478024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50" dirty="0">
                <a:solidFill>
                  <a:schemeClr val="tx1"/>
                </a:solidFill>
              </a:rPr>
              <a:t>Internal roles and launch plan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4663440" y="3044952"/>
            <a:ext cx="4023360" cy="0"/>
          </a:xfrm>
          <a:prstGeom prst="line">
            <a:avLst/>
          </a:prstGeom>
          <a:noFill/>
          <a:ln w="6350">
            <a:solidFill>
              <a:srgbClr val="E9E4DA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83464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idea and positioning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566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chemeClr val="accent2"/>
                </a:solidFill>
              </a:rPr>
              <a:t>The service is not “writing a will”. It is integrated protection for the investor's assets and family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8C3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From “law firm” to Legal Protection Partner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THE RIGHT POSITIONING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291840" cy="32461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pic>
        <p:nvPicPr>
          <p:cNvPr id="5" name="icon FaShieldHalved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0876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21031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Legal Protection Partner for Investors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301752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150" dirty="0">
                <a:solidFill>
                  <a:schemeClr val="bg2"/>
                </a:solidFill>
              </a:rPr>
              <a:t>We help our partners protect their clients, raise the value of their services, and increase investor confidence.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4023360" y="1188720"/>
            <a:ext cx="46634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buSzPct val="100000"/>
              <a:buChar char="•"/>
            </a:pPr>
            <a:r>
              <a:rPr lang="en-US" altLang="en-US" sz="1300" b="1" dirty="0">
                <a:solidFill>
                  <a:schemeClr val="tx1"/>
                </a:solidFill>
              </a:rPr>
              <a:t>Protect assets and property in the UAE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A legal arrangement that prevents accounts or property being frozen after death.</a:t>
            </a:r>
            <a:endParaRPr lang="en-US" sz="1300" dirty="0"/>
          </a:p>
          <a:p>
            <a:pPr algn="l" marL="177800" indent="-177800">
              <a:spcBef>
                <a:spcPts val="600"/>
              </a:spcBef>
              <a:buSzPct val="100000"/>
              <a:buChar char="•"/>
            </a:pPr>
            <a:r>
              <a:rPr lang="en-US" altLang="en-US" sz="1300" b="1" dirty="0">
                <a:solidFill>
                  <a:schemeClr val="tx1"/>
                </a:solidFill>
              </a:rPr>
              <a:t>Protect heirs and children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Appointing guardians and fixing the succession path in advance.</a:t>
            </a:r>
            <a:endParaRPr lang="en-US" sz="1300" dirty="0"/>
          </a:p>
          <a:p>
            <a:pPr algn="l" marL="177800" indent="-177800">
              <a:spcBef>
                <a:spcPts val="600"/>
              </a:spcBef>
              <a:buSzPct val="100000"/>
              <a:buChar char="•"/>
            </a:pPr>
            <a:r>
              <a:rPr lang="en-US" altLang="en-US" sz="1300" b="1" dirty="0">
                <a:solidFill>
                  <a:schemeClr val="tx1"/>
                </a:solidFill>
              </a:rPr>
              <a:t>Wills compatible with every authority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Dubai Courts, Abu Dhabi Courts, DIFC, ADGM, and Sharia or foreign law per the client's case.</a:t>
            </a:r>
            <a:endParaRPr lang="en-US" sz="1300" dirty="0"/>
          </a:p>
          <a:p>
            <a:pPr algn="l" marL="177800" indent="-177800">
              <a:spcBef>
                <a:spcPts val="600"/>
              </a:spcBef>
              <a:buSzPct val="100000"/>
              <a:buChar char="•"/>
            </a:pPr>
            <a:r>
              <a:rPr lang="en-US" altLang="en-US" sz="1300" b="1" dirty="0">
                <a:solidFill>
                  <a:schemeClr val="tx1"/>
                </a:solidFill>
              </a:rPr>
              <a:t>We never tell a broker “we offer wills”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We say: we protect you, we protect your clients, and we raise the value of what you sell.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Our asset protection and estate services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SERVICE CATALOGUE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885950" cy="150876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5" name="icon FaFileSignatur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389888"/>
            <a:ext cx="310896" cy="310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182880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Will drafting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A legally sound will tailored to the client's nationality, family and assets.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2571750" y="1188720"/>
            <a:ext cx="1885950" cy="150876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8" name="icon FaStamp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2918" y="1389888"/>
            <a:ext cx="310896" cy="3108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772918" y="182880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Will registration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Registration with the right authority: Dubai Courts, Abu Dhabi, DIFC or ADGM.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4686300" y="1188720"/>
            <a:ext cx="1885950" cy="150876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1" name="icon FaSitemap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7468" y="1389888"/>
            <a:ext cx="310896" cy="31089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887468" y="182880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Estate and asset structuring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Arranging succession in advance to prevent freezes and disputes.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6800850" y="1188720"/>
            <a:ext cx="1885950" cy="150876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4" name="icon FaUserShield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2018" y="1389888"/>
            <a:ext cx="310896" cy="31089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002018" y="182880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Foreign investor protection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Solutions under Sharia or foreign law, according to each client's situation.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457200" y="2926080"/>
            <a:ext cx="1885950" cy="150876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7" name="icon FaKey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127248"/>
            <a:ext cx="310896" cy="310896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58368" y="356616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Ownership transfer after death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Representing heirs and completing property and account transfers.</a:t>
            </a:r>
            <a:endParaRPr lang="en-US" sz="1250" dirty="0"/>
          </a:p>
        </p:txBody>
      </p:sp>
      <p:sp>
        <p:nvSpPr>
          <p:cNvPr id="19" name="Shape 12"/>
          <p:cNvSpPr/>
          <p:nvPr/>
        </p:nvSpPr>
        <p:spPr>
          <a:xfrm>
            <a:off x="2571750" y="2926080"/>
            <a:ext cx="1885950" cy="150876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20" name="icon FaBuilding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72918" y="3127248"/>
            <a:ext cx="310896" cy="310896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2772918" y="356616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Holding / SPV formation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Holding structures linked to the succession plan to protect investments.</a:t>
            </a:r>
            <a:endParaRPr lang="en-US" sz="1250" dirty="0"/>
          </a:p>
        </p:txBody>
      </p:sp>
      <p:sp>
        <p:nvSpPr>
          <p:cNvPr id="22" name="Shape 14"/>
          <p:cNvSpPr/>
          <p:nvPr/>
        </p:nvSpPr>
        <p:spPr>
          <a:xfrm>
            <a:off x="4686300" y="2926080"/>
            <a:ext cx="1885950" cy="150876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23" name="icon FaHous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87468" y="3127248"/>
            <a:ext cx="310896" cy="310896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4887468" y="356616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Property and business wills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Wills limited to real estate, or covering company shares and businesses.</a:t>
            </a:r>
            <a:endParaRPr lang="en-US" sz="1250" dirty="0"/>
          </a:p>
        </p:txBody>
      </p:sp>
      <p:sp>
        <p:nvSpPr>
          <p:cNvPr id="25" name="Shape 16"/>
          <p:cNvSpPr/>
          <p:nvPr/>
        </p:nvSpPr>
        <p:spPr>
          <a:xfrm>
            <a:off x="6800850" y="2926080"/>
            <a:ext cx="1885950" cy="150876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26" name="icon FaPeopleRoof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02018" y="3127248"/>
            <a:ext cx="310896" cy="310896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7002018" y="356616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250" b="1" dirty="0">
                <a:solidFill>
                  <a:schemeClr val="tx1"/>
                </a:solidFill>
              </a:rPr>
              <a:t>Family governance</a:t>
            </a:r>
            <a:endParaRPr lang="en-US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Family office, foundations and trusts, and partnership agreements.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Where wills are registered in the UAE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LEGAL FRAMEWORK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5" name="icon FaLandmar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7280" y="1170432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Dubai Courts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Registration of non-Muslim wills with Dubai Courts under the non-Muslim personal status rules.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847088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8" name="icon FaLandmar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38528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280" y="1828800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Abu Dhabi Courts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Registration with the Abu Dhabi Judicial Department for clients who prefer this route.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2505456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1" name="icon FaBuildingColumns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59689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0" y="2487168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DIFC Wills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The DIFC wills registry for non-Muslims, in English, covering assets in the UAE.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457200" y="3163824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4" name="icon FaBuildingColumns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55264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97280" y="3145536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ADGM Wills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The ADGM wills registry for non-Muslims, an alternative English-language route.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457200" y="3822192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7" name="icon FaScaleBalanced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913632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97280" y="3803904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Sharia or foreign law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We determine the applicable law by the client's nationality, religion and wishes.</a:t>
            </a:r>
            <a:endParaRPr lang="en-US" sz="1300" dirty="0"/>
          </a:p>
        </p:txBody>
      </p:sp>
      <p:sp>
        <p:nvSpPr>
          <p:cNvPr id="19" name="Shape 12"/>
          <p:cNvSpPr/>
          <p:nvPr/>
        </p:nvSpPr>
        <p:spPr>
          <a:xfrm>
            <a:off x="5943600" y="1188720"/>
            <a:ext cx="2743200" cy="32461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3"/>
          <p:cNvSpPr/>
          <p:nvPr/>
        </p:nvSpPr>
        <p:spPr>
          <a:xfrm>
            <a:off x="6053328" y="1298448"/>
            <a:ext cx="2523744" cy="3026664"/>
          </a:xfrm>
          <a:prstGeom prst="rect">
            <a:avLst/>
          </a:prstGeom>
          <a:ln w="9525">
            <a:solidFill>
              <a:srgbClr val="B08D57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6263640" y="15087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client is a distinct case</a:t>
            </a:r>
            <a:endParaRPr lang="en-US" sz="1600" dirty="0"/>
          </a:p>
        </p:txBody>
      </p:sp>
      <p:sp>
        <p:nvSpPr>
          <p:cNvPr id="22" name="Text 15"/>
          <p:cNvSpPr txBox="1"/>
          <p:nvPr/>
        </p:nvSpPr>
        <p:spPr>
          <a:xfrm>
            <a:off x="6263640" y="2286000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150" dirty="0">
                <a:solidFill>
                  <a:schemeClr val="bg2"/>
                </a:solidFill>
              </a:rPr>
              <a:t>Nationality, religion, family status and where the assets sit decide the right route. That is why we always start with a discovery session, not with a will type.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83464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real estate brokerages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566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chemeClr val="accent2"/>
                </a:solidFill>
              </a:rPr>
              <a:t>The broker reaches the foreign investor at the exact moment protection is needed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8C3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Why the broker is the gateway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ENTRY LOGIC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5" name="icon FaCircleQuesti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7280" y="1170432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Most foreign buyers do not know UAE inheritance rules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They buy for millions of dirhams with no will and no legal structure.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2011680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8" name="icon FaHous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03120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280" y="1993392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A property buyer usually needs a will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The purchase moment is the best time to raise protection.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2834640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1" name="icon FaGem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926080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0" y="2816352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Brokers hold a high-net-worth client base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Especially those selling luxury, investment and off-plan properties.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457200" y="3657600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4" name="icon FaPlus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749040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97280" y="3639312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Brokers need a value-added service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We give them a differentiator with no legal burden on their side.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5943600" y="1188720"/>
            <a:ext cx="2743200" cy="32461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6053328" y="1298448"/>
            <a:ext cx="2523744" cy="3026664"/>
          </a:xfrm>
          <a:prstGeom prst="rect">
            <a:avLst/>
          </a:prstGeom>
          <a:ln w="9525">
            <a:solidFill>
              <a:srgbClr val="B08D57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263640" y="15087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broker gains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6263640" y="2286000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150" dirty="0">
                <a:solidFill>
                  <a:schemeClr val="bg2"/>
                </a:solidFill>
              </a:rPr>
              <a:t>1. Client trust: the broker is seen to care about protection, not only the sale.</a:t>
            </a:r>
            <a:endParaRPr lang="en-US" sz="1150" dirty="0"/>
          </a:p>
          <a:p>
            <a:pPr algn="l" indent="0" marL="0">
              <a:buNone/>
            </a:pPr>
            <a:r>
              <a:rPr lang="en-US" altLang="en-US" sz="1150" dirty="0">
                <a:solidFill>
                  <a:schemeClr val="bg2"/>
                </a:solidFill>
              </a:rPr>
              <a:t>2. Higher closing rate: investors relax when legal protection exists.</a:t>
            </a:r>
            <a:endParaRPr lang="en-US" sz="1150" dirty="0"/>
          </a:p>
          <a:p>
            <a:pPr algn="l" indent="0" marL="0">
              <a:buNone/>
            </a:pPr>
            <a:r>
              <a:rPr lang="en-US" altLang="en-US" sz="1150" dirty="0">
                <a:solidFill>
                  <a:schemeClr val="bg2"/>
                </a:solidFill>
              </a:rPr>
              <a:t>3. VIP service: the broker becomes a full investment advisor.</a:t>
            </a:r>
            <a:endParaRPr lang="en-US" sz="1150" dirty="0"/>
          </a:p>
          <a:p>
            <a:pPr algn="l" indent="0" marL="0">
              <a:buNone/>
            </a:pPr>
            <a:r>
              <a:rPr lang="en-US" altLang="en-US" sz="1150" dirty="0">
                <a:solidFill>
                  <a:schemeClr val="bg2"/>
                </a:solidFill>
              </a:rPr>
              <a:t>4. Extra income through the referral structure.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Who we target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TARGET SEGMENTS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000500" cy="548640"/>
          </a:xfrm>
          <a:prstGeom prst="rect">
            <a:avLst/>
          </a:prstGeom>
          <a:solidFill>
            <a:srgbClr val="B08D57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Brokerage companies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4000500" cy="269748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Companies selling off-plan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Companies serving Russian, European and Chinese buyers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Companies serving high-net-worth individuals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Companies selling luxury and investment properties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86300" y="1188720"/>
            <a:ext cx="4000500" cy="54864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234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accent2"/>
                </a:solidFill>
              </a:rPr>
              <a:t>Foreign investors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86300" y="1737360"/>
            <a:ext cx="4000500" cy="269748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234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Russians, British, Indians, Chinese, Ukrainians, Europeans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Owners of UAE property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Owners of companies and shareholdings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Those with children in the UAE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Holders of large bank accounts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83464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Cooperation model and legal structure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566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chemeClr val="accent2"/>
                </a:solidFill>
              </a:rPr>
              <a:t>The broker opens the door; we handle every legal step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8C3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How roles are split with the partner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THE MODEL THAT WORKS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000500" cy="54864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accent2"/>
                </a:solidFill>
              </a:rPr>
              <a:t>The brokerage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4000500" cy="269748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Refers the client to us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Presents the service as a value-add in its offer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Receives a referral fee or commission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Gives no legal advice whatsoever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86300" y="1188720"/>
            <a:ext cx="4000500" cy="548640"/>
          </a:xfrm>
          <a:prstGeom prst="rect">
            <a:avLst/>
          </a:prstGeom>
          <a:solidFill>
            <a:srgbClr val="B08D57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234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Rashid Alkaitoob Advocates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86300" y="1737360"/>
            <a:ext cx="4000500" cy="269748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234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Legal consultation and risk assessment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Drafting, translation and notarisation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Registration and follow-up with authorities</a:t>
            </a:r>
            <a:endParaRPr lang="en-US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altLang="en-US" sz="1100" dirty="0">
                <a:solidFill>
                  <a:schemeClr val="tx2"/>
                </a:solidFill>
              </a:rPr>
              <a:t>Shielding the broker from any legal liability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The referral and cooperation agreement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PROPOSED LEGAL STRUCTURE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5" name="icon FaArrowRightArrowLef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7280" y="1170432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Client referral mechanism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A standard introduction from the broker, and first contact from us within one business day.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847088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8" name="icon FaPercent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38528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280" y="1828800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Commission rate and payment mechanism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A fixed percentage or amount per client, respecting professional regulations and local law.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2505456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1" name="icon FaLock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59689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0" y="2487168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Confidentiality and data protection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An NDA and client data protection in line with the law.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457200" y="3163824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4" name="icon FaUserShield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55264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97280" y="3145536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No legal liability on the broker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The broker gives no legal advice and guarantees no outcomes.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457200" y="3822192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7" name="icon FaBa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913632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97280" y="3803904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Non-circumvention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Each party's client relationships are protected.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83464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workflow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566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chemeClr val="accent2"/>
                </a:solidFill>
              </a:rPr>
              <a:t>From signing with the broker to registering the will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8C3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Phase one: with the brokerage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SETUP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731520" y="1600200"/>
            <a:ext cx="7680960" cy="0"/>
          </a:xfrm>
          <a:prstGeom prst="line">
            <a:avLst/>
          </a:prstGeom>
          <a:noFill/>
          <a:ln w="9525">
            <a:solidFill>
              <a:srgbClr val="D8C39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25880"/>
            <a:ext cx="548640" cy="548640"/>
          </a:xfrm>
          <a:prstGeom prst="ellipse">
            <a:avLst/>
          </a:prstGeom>
          <a:solidFill>
            <a:srgbClr val="0B0B0B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057400"/>
            <a:ext cx="1933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Sign the cooperation agreement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606040"/>
            <a:ext cx="193395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Referral structure, NDA, commission structure, and non-circumvention.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555748" y="1325880"/>
            <a:ext cx="548640" cy="548640"/>
          </a:xfrm>
          <a:prstGeom prst="ellipse">
            <a:avLst/>
          </a:prstGeom>
          <a:solidFill>
            <a:srgbClr val="0B0B0B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555748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555748" y="2057400"/>
            <a:ext cx="1933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Train the broker's team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555748" y="2606040"/>
            <a:ext cx="193395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A simple PDF, a presentation and an FAQ: what happens to property after death? Are accounts frozen? How do we protect the family?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54296" y="1325880"/>
            <a:ext cx="548640" cy="548640"/>
          </a:xfrm>
          <a:prstGeom prst="ellipse">
            <a:avLst/>
          </a:prstGeom>
          <a:solidFill>
            <a:srgbClr val="0B0B0B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54296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654296" y="2057400"/>
            <a:ext cx="1933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Provide the sales script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654296" y="2606040"/>
            <a:ext cx="193395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One sentence the broker uses at the right moment, with no legal advice.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752844" y="1325880"/>
            <a:ext cx="548640" cy="548640"/>
          </a:xfrm>
          <a:prstGeom prst="ellipse">
            <a:avLst/>
          </a:prstGeom>
          <a:solidFill>
            <a:srgbClr val="0B0B0B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752844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752844" y="2057400"/>
            <a:ext cx="1933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Joint launch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752844" y="2606040"/>
            <a:ext cx="193395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A free seminar for the sales team, a free first consultation for their clients, and ready marketing materials.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Phase two: after the client is referred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CLIENT JOURNEY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731520" y="1600200"/>
            <a:ext cx="7680960" cy="0"/>
          </a:xfrm>
          <a:prstGeom prst="line">
            <a:avLst/>
          </a:prstGeom>
          <a:noFill/>
          <a:ln w="9525">
            <a:solidFill>
              <a:srgbClr val="D8C39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25880"/>
            <a:ext cx="548640" cy="548640"/>
          </a:xfrm>
          <a:prstGeom prst="ellipse">
            <a:avLst/>
          </a:prstGeom>
          <a:solidFill>
            <a:srgbClr val="0B0B0B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Intro meeting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Nationality, religion, family status, assets, property, companies, children, bank accounts.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136038" y="1325880"/>
            <a:ext cx="548640" cy="548640"/>
          </a:xfrm>
          <a:prstGeom prst="ellipse">
            <a:avLst/>
          </a:prstGeom>
          <a:solidFill>
            <a:srgbClr val="0B0B0B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136038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136038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Risk assessment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136038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Will only, DIFC or ADGM will, corporate structuring, trust or foundation, or a holding company?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814877" y="1325880"/>
            <a:ext cx="548640" cy="548640"/>
          </a:xfrm>
          <a:prstGeom prst="ellipse">
            <a:avLst/>
          </a:prstGeom>
          <a:solidFill>
            <a:srgbClr val="0B0B0B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814877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814877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Proposal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814877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Scope, fees, timeline and registration cost.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93715" y="1325880"/>
            <a:ext cx="548640" cy="548640"/>
          </a:xfrm>
          <a:prstGeom prst="ellipse">
            <a:avLst/>
          </a:prstGeom>
          <a:solidFill>
            <a:srgbClr val="0B0B0B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93715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493715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Drafting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93715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The will, translation, witnesses and notarisation.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172554" y="1325880"/>
            <a:ext cx="548640" cy="548640"/>
          </a:xfrm>
          <a:prstGeom prst="ellipse">
            <a:avLst/>
          </a:prstGeom>
          <a:solidFill>
            <a:srgbClr val="0B0B0B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172554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172554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Registration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172554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50" dirty="0">
                <a:solidFill>
                  <a:schemeClr val="accent3"/>
                </a:solidFill>
              </a:rPr>
              <a:t>By authority: Dubai Courts, DIFC, ADGM or the Notary Public.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In the meeting: discovery questions first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NEVER OPEN WITH “WHICH WILL DO YOU WANT?”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430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dirty="0">
                <a:solidFill>
                  <a:schemeClr val="accent1"/>
                </a:solidFill>
              </a:rPr>
              <a:t>QUESTION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166360" y="114300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dirty="0">
                <a:solidFill>
                  <a:schemeClr val="accent1"/>
                </a:solidFill>
              </a:rPr>
              <a:t>WHERE IT POINTS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8229600" cy="384048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7" name="icon FaCircleQuesti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36192"/>
            <a:ext cx="237744" cy="23774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14400" y="14630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50" dirty="0">
                <a:solidFill>
                  <a:schemeClr val="tx1"/>
                </a:solidFill>
              </a:rPr>
              <a:t>Do you own property in the UAE?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5166360" y="146304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00" b="1" dirty="0">
                <a:solidFill>
                  <a:schemeClr val="accent4"/>
                </a:solidFill>
              </a:rPr>
              <a:t>Property will / Dubai Courts or DIFC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1920240"/>
            <a:ext cx="8229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1" name="icon FaCircleQuesti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993392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914400" y="19202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50" dirty="0">
                <a:solidFill>
                  <a:schemeClr val="tx1"/>
                </a:solidFill>
              </a:rPr>
              <a:t>Do you own companies or shares?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5166360" y="192024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00" b="1" dirty="0">
                <a:solidFill>
                  <a:schemeClr val="accent4"/>
                </a:solidFill>
              </a:rPr>
              <a:t>Business will / corporate structuring / holding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57200" y="2377440"/>
            <a:ext cx="8229600" cy="384048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5" name="icon FaCircleQuesti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450592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14400" y="23774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50" dirty="0">
                <a:solidFill>
                  <a:schemeClr val="tx1"/>
                </a:solidFill>
              </a:rPr>
              <a:t>Do you have children?</a:t>
            </a:r>
            <a:endParaRPr lang="en-US" sz="1150" dirty="0"/>
          </a:p>
        </p:txBody>
      </p:sp>
      <p:sp>
        <p:nvSpPr>
          <p:cNvPr id="17" name="Text 12"/>
          <p:cNvSpPr txBox="1"/>
          <p:nvPr/>
        </p:nvSpPr>
        <p:spPr>
          <a:xfrm>
            <a:off x="5166360" y="237744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00" b="1" dirty="0">
                <a:solidFill>
                  <a:schemeClr val="accent4"/>
                </a:solidFill>
              </a:rPr>
              <a:t>Guardianship provisions in the will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457200" y="2834640"/>
            <a:ext cx="8229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9" name="icon FaCircleQuesti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2907792"/>
            <a:ext cx="237744" cy="237744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914400" y="28346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50" dirty="0">
                <a:solidFill>
                  <a:schemeClr val="tx1"/>
                </a:solidFill>
              </a:rPr>
              <a:t>Are the heirs inside or outside the UAE?</a:t>
            </a:r>
            <a:endParaRPr lang="en-US" sz="1150" dirty="0"/>
          </a:p>
        </p:txBody>
      </p:sp>
      <p:sp>
        <p:nvSpPr>
          <p:cNvPr id="21" name="Text 15"/>
          <p:cNvSpPr txBox="1"/>
          <p:nvPr/>
        </p:nvSpPr>
        <p:spPr>
          <a:xfrm>
            <a:off x="5166360" y="283464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00" b="1" dirty="0">
                <a:solidFill>
                  <a:schemeClr val="accent4"/>
                </a:solidFill>
              </a:rPr>
              <a:t>Choice of registry and applicable law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57200" y="3291840"/>
            <a:ext cx="8229600" cy="384048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23" name="icon FaCircleQuesti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" y="3364992"/>
            <a:ext cx="237744" cy="237744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914400" y="32918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50" dirty="0">
                <a:solidFill>
                  <a:schemeClr val="tx1"/>
                </a:solidFill>
              </a:rPr>
              <a:t>Do you hold assets in more than one country?</a:t>
            </a:r>
            <a:endParaRPr lang="en-US" sz="1150" dirty="0"/>
          </a:p>
        </p:txBody>
      </p:sp>
      <p:sp>
        <p:nvSpPr>
          <p:cNvPr id="25" name="Text 18"/>
          <p:cNvSpPr txBox="1"/>
          <p:nvPr/>
        </p:nvSpPr>
        <p:spPr>
          <a:xfrm>
            <a:off x="5166360" y="329184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00" b="1" dirty="0">
                <a:solidFill>
                  <a:schemeClr val="accent4"/>
                </a:solidFill>
              </a:rPr>
              <a:t>Foundation / trust / coordination with foreign wills</a:t>
            </a:r>
            <a:endParaRPr lang="en-US" sz="1100" dirty="0"/>
          </a:p>
        </p:txBody>
      </p:sp>
      <p:sp>
        <p:nvSpPr>
          <p:cNvPr id="26" name="Shape 19"/>
          <p:cNvSpPr/>
          <p:nvPr/>
        </p:nvSpPr>
        <p:spPr>
          <a:xfrm>
            <a:off x="457200" y="3749040"/>
            <a:ext cx="8229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27" name="icon FaCircleQuesti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928" y="3822192"/>
            <a:ext cx="237744" cy="23774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914400" y="37490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50" dirty="0">
                <a:solidFill>
                  <a:schemeClr val="tx1"/>
                </a:solidFill>
              </a:rPr>
              <a:t>Do you want your home-country law or a different structure?</a:t>
            </a:r>
            <a:endParaRPr lang="en-US" sz="1150" dirty="0"/>
          </a:p>
        </p:txBody>
      </p:sp>
      <p:sp>
        <p:nvSpPr>
          <p:cNvPr id="29" name="Text 21"/>
          <p:cNvSpPr txBox="1"/>
          <p:nvPr/>
        </p:nvSpPr>
        <p:spPr>
          <a:xfrm>
            <a:off x="5166360" y="374904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100" b="1" dirty="0">
                <a:solidFill>
                  <a:schemeClr val="accent4"/>
                </a:solidFill>
              </a:rPr>
              <a:t>DIFC / ADGM / local courts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83464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model and marketing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566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chemeClr val="accent2"/>
                </a:solidFill>
              </a:rPr>
              <a:t>We do not sell one will. We build a lifetime legal relationship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8C3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Revenue model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THREE STREAMS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590800" cy="324612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344168"/>
            <a:ext cx="2188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1847088"/>
            <a:ext cx="218846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400" b="1" dirty="0">
                <a:solidFill>
                  <a:schemeClr val="tx1"/>
                </a:solidFill>
              </a:rPr>
              <a:t>Fixed fee per client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chemeClr val="accent3"/>
                </a:solidFill>
              </a:rPr>
              <a:t>Individual will, spousal wills, property will, business will. Fees are set in line with professional regulations and local law.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276600" y="1188720"/>
            <a:ext cx="2590800" cy="324612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77768" y="1344168"/>
            <a:ext cx="2188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3477768" y="1847088"/>
            <a:ext cx="218846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400" b="1" dirty="0">
                <a:solidFill>
                  <a:schemeClr val="tx1"/>
                </a:solidFill>
              </a:rPr>
              <a:t>Referral commission to the partner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chemeClr val="accent3"/>
                </a:solidFill>
              </a:rPr>
              <a:t>A fixed percentage or amount per client, settled monthly under the agreement.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096000" y="1188720"/>
            <a:ext cx="2590800" cy="324612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97168" y="1344168"/>
            <a:ext cx="2188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297168" y="1847088"/>
            <a:ext cx="218846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400" b="1" dirty="0">
                <a:solidFill>
                  <a:schemeClr val="tx1"/>
                </a:solidFill>
              </a:rPr>
              <a:t>Upselling after the will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chemeClr val="accent3"/>
                </a:solidFill>
              </a:rPr>
              <a:t>Company formation, tax structuring, ownership transfer, family office, trusts and foundations, partnership contracts, estate structuring.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The most important marketing point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THE MESSAGE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5" name="icon FaHear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7280" y="1170432"/>
            <a:ext cx="7589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We do not sell a “will”. We sell protection of family, assets and investments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Clients act on emotion before law. A will is linked to death; protection is linked to investment and security.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2011680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8" name="icon FaChalkboardUser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03120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280" y="1993392"/>
            <a:ext cx="7589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Channels with brokers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Seminars, webinars, investor events and real estate launch events.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2834640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1" name="icon FaHashtag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926080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0" y="2816352"/>
            <a:ext cx="7589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Social media content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What happens to your property if you die without a will? Can family accounts be frozen? DIFC vs ADGM. Mistakes foreign investors make.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457200" y="3657600"/>
            <a:ext cx="457200" cy="457200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4" name="icon FaCrow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749040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97280" y="3639312"/>
            <a:ext cx="7589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A premium-level service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altLang="en-US" sz="1100" dirty="0">
                <a:solidFill>
                  <a:schemeClr val="accent3"/>
                </a:solidFill>
              </a:rPr>
              <a:t>Meetings at the client's place, VIP handling, multilingual team, full coordination and fast-track registration.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A concierge-level legal service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THE PREMIUM EXPERIENCE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463040" cy="324612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5" name="icon FaHouseUser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389888"/>
            <a:ext cx="310896" cy="310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1828800"/>
            <a:ext cx="106070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400" b="1" dirty="0">
                <a:solidFill>
                  <a:schemeClr val="tx1"/>
                </a:solidFill>
              </a:rPr>
              <a:t>We come to you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chemeClr val="accent3"/>
                </a:solidFill>
              </a:rPr>
              <a:t>At the client's office or home.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2148840" y="1188720"/>
            <a:ext cx="1463040" cy="324612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8" name="icon FaCrow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0008" y="1389888"/>
            <a:ext cx="310896" cy="3108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50008" y="1828800"/>
            <a:ext cx="106070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400" b="1" dirty="0">
                <a:solidFill>
                  <a:schemeClr val="tx1"/>
                </a:solidFill>
              </a:rPr>
              <a:t>VIP handling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chemeClr val="accent3"/>
                </a:solidFill>
              </a:rPr>
              <a:t>A dedicated counsel for every client.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3840480" y="1188720"/>
            <a:ext cx="1463040" cy="324612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1" name="icon FaLanguag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1648" y="1389888"/>
            <a:ext cx="310896" cy="31089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041648" y="1828800"/>
            <a:ext cx="106070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400" b="1" dirty="0">
                <a:solidFill>
                  <a:schemeClr val="tx1"/>
                </a:solidFill>
              </a:rPr>
              <a:t>Four languages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chemeClr val="accent3"/>
                </a:solidFill>
              </a:rPr>
              <a:t>Arabic, English, Chinese, Russian.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5532120" y="1188720"/>
            <a:ext cx="1463040" cy="324612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4" name="icon FaListChe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3288" y="1389888"/>
            <a:ext cx="310896" cy="31089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733288" y="1828800"/>
            <a:ext cx="106070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400" b="1" dirty="0">
                <a:solidFill>
                  <a:schemeClr val="tx1"/>
                </a:solidFill>
              </a:rPr>
              <a:t>Full coordination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chemeClr val="accent3"/>
                </a:solidFill>
              </a:rPr>
              <a:t>Translation, witnesses, notarisation, registration.</a:t>
            </a:r>
            <a:endParaRPr lang="en-US" sz="1400" dirty="0"/>
          </a:p>
        </p:txBody>
      </p:sp>
      <p:sp>
        <p:nvSpPr>
          <p:cNvPr id="16" name="Shape 10"/>
          <p:cNvSpPr/>
          <p:nvPr/>
        </p:nvSpPr>
        <p:spPr>
          <a:xfrm>
            <a:off x="7223760" y="1188720"/>
            <a:ext cx="1463040" cy="324612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pic>
        <p:nvPicPr>
          <p:cNvPr id="17" name="icon FaBolt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4928" y="1389888"/>
            <a:ext cx="310896" cy="310896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7424928" y="1828800"/>
            <a:ext cx="106070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altLang="en-US" sz="1400" b="1" dirty="0">
                <a:solidFill>
                  <a:schemeClr val="tx1"/>
                </a:solidFill>
              </a:rPr>
              <a:t>Fast-track registration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altLang="en-US" sz="1150" dirty="0">
                <a:solidFill>
                  <a:schemeClr val="accent3"/>
                </a:solidFill>
              </a:rPr>
              <a:t>Direct follow-up with the authorities.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83464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Internal roles and launch plan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566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chemeClr val="accent2"/>
                </a:solidFill>
              </a:rPr>
              <a:t>Every department knows its role and its KPI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8C3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Who does what inside the firm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INTERNAL ROLES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931920"/>
                <a:gridCol w="2286000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D8C39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Role</a:t>
                      </a:r>
                      <a:endParaRPr lang="en-US" sz="11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D8C39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Responsibility in this service</a:t>
                      </a:r>
                      <a:endParaRPr lang="en-US" sz="11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D8C39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KPI</a:t>
                      </a:r>
                      <a:endParaRPr lang="en-US" sz="11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BD Manager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2D33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Select target brokerages, meet their owners, sign agreements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2D33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Active partnerships per month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BD Sales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2D33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Train broker teams, follow referrals, convert to clients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2D33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Referral-to-client conversion ≥ 40%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BD Assistant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2D33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Log every referral, first contact within one business day, prepare materials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2D33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No referral without follow-up: 100%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Legal Consultants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2D33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Discovery meeting, risk assessment, drafting, attending registration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2D33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Proposal within 48 hours of the meeting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Legal Operations Manager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2D33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Translation, witnesses, notarisation, liaison with authorities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2D33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On-time delivery ≥ 95%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Account Manager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2D33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Update client and broker at each stage, measure satisfaction, open upsell opportunities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2D33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Client satisfaction ≥ 90%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Finance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2D33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Invoicing, collection, monthly referral commission settlement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2D33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Collection rate ≥ 95%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E4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A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457200" y="34747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0B0B"/>
                </a:solidFill>
              </a:rPr>
              <a:t>Launch plan: 90 days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spc="300" kern="0" dirty="0">
                <a:solidFill>
                  <a:schemeClr val="accent1"/>
                </a:solidFill>
              </a:rPr>
              <a:t>TIMELINE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621280" cy="5029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188720"/>
            <a:ext cx="234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200" b="1" dirty="0">
                <a:solidFill>
                  <a:schemeClr val="accent1"/>
                </a:solidFill>
              </a:rPr>
              <a:t>Month 1: Prepare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2621280" cy="274320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82880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Tools and agreements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286000"/>
            <a:ext cx="23469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altLang="en-US" sz="1050" dirty="0">
                <a:solidFill>
                  <a:schemeClr val="accent3"/>
                </a:solidFill>
              </a:rPr>
              <a:t>Referral and cooperation agreement template</a:t>
            </a:r>
            <a:endParaRPr lang="en-US" sz="105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altLang="en-US" sz="1050" dirty="0">
                <a:solidFill>
                  <a:schemeClr val="accent3"/>
                </a:solidFill>
              </a:rPr>
              <a:t>Training kit: PDF, deck, FAQ</a:t>
            </a:r>
            <a:endParaRPr lang="en-US" sz="105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altLang="en-US" sz="1050" dirty="0">
                <a:solidFill>
                  <a:schemeClr val="accent3"/>
                </a:solidFill>
              </a:rPr>
              <a:t>Outreach and sales scripts</a:t>
            </a:r>
            <a:endParaRPr lang="en-US" sz="105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altLang="en-US" sz="1050" dirty="0">
                <a:solidFill>
                  <a:schemeClr val="accent3"/>
                </a:solidFill>
              </a:rPr>
              <a:t>Shortlist of 20 target brokerages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61360" y="1188720"/>
            <a:ext cx="2621280" cy="5029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98520" y="1188720"/>
            <a:ext cx="234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200" b="1" dirty="0">
                <a:solidFill>
                  <a:schemeClr val="accent1"/>
                </a:solidFill>
              </a:rPr>
              <a:t>Month 2: Partner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61360" y="1691640"/>
            <a:ext cx="2621280" cy="274320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398520" y="182880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First five partnerships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398520" y="2286000"/>
            <a:ext cx="23469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altLang="en-US" sz="1050" dirty="0">
                <a:solidFill>
                  <a:schemeClr val="accent3"/>
                </a:solidFill>
              </a:rPr>
              <a:t>Meetings with company owners</a:t>
            </a:r>
            <a:endParaRPr lang="en-US" sz="105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altLang="en-US" sz="1050" dirty="0">
                <a:solidFill>
                  <a:schemeClr val="accent3"/>
                </a:solidFill>
              </a:rPr>
              <a:t>Sign the first five agreements</a:t>
            </a:r>
            <a:endParaRPr lang="en-US" sz="105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altLang="en-US" sz="1050" dirty="0">
                <a:solidFill>
                  <a:schemeClr val="accent3"/>
                </a:solidFill>
              </a:rPr>
              <a:t>A free seminar for each sales team</a:t>
            </a:r>
            <a:endParaRPr lang="en-US" sz="105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altLang="en-US" sz="1050" dirty="0">
                <a:solidFill>
                  <a:schemeClr val="accent3"/>
                </a:solidFill>
              </a:rPr>
              <a:t>Launch social media content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065520" y="1188720"/>
            <a:ext cx="2621280" cy="5029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02680" y="1188720"/>
            <a:ext cx="234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200" b="1" dirty="0">
                <a:solidFill>
                  <a:schemeClr val="accent1"/>
                </a:solidFill>
              </a:rPr>
              <a:t>Month 3: Referrals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065520" y="1691640"/>
            <a:ext cx="2621280" cy="2743200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02680" y="182880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chemeClr val="tx1"/>
                </a:solidFill>
              </a:rPr>
              <a:t>First clients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202680" y="2286000"/>
            <a:ext cx="23469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altLang="en-US" sz="1050" dirty="0">
                <a:solidFill>
                  <a:schemeClr val="accent3"/>
                </a:solidFill>
              </a:rPr>
              <a:t>Receive and log referrals</a:t>
            </a:r>
            <a:endParaRPr lang="en-US" sz="105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altLang="en-US" sz="1050" dirty="0">
                <a:solidFill>
                  <a:schemeClr val="accent3"/>
                </a:solidFill>
              </a:rPr>
              <a:t>First registered wills</a:t>
            </a:r>
            <a:endParaRPr lang="en-US" sz="105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altLang="en-US" sz="1050" dirty="0">
                <a:solidFill>
                  <a:schemeClr val="accent3"/>
                </a:solidFill>
              </a:rPr>
              <a:t>A monthly report to each partner</a:t>
            </a:r>
            <a:endParaRPr lang="en-US" sz="105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altLang="en-US" sz="1050" dirty="0">
                <a:solidFill>
                  <a:schemeClr val="accent3"/>
                </a:solidFill>
              </a:rPr>
              <a:t>Review results and refine the model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F7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023360"/>
          </a:xfrm>
          <a:prstGeom prst="rect">
            <a:avLst/>
          </a:prstGeom>
          <a:ln w="9525">
            <a:solidFill>
              <a:srgbClr val="B08D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640080"/>
            <a:ext cx="914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72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1463040"/>
            <a:ext cx="7315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2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not sell a single will. Build a lifetime legal relationship: after the will come ownership transfers, company formation, the family office, contracts and investments.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566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chemeClr val="accent2"/>
                </a:solidFill>
              </a:rPr>
              <a:t>The golden rule of this service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8C3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229100"/>
          </a:xfrm>
          <a:prstGeom prst="rect">
            <a:avLst/>
          </a:prstGeom>
          <a:ln w="9525">
            <a:solidFill>
              <a:srgbClr val="B08D5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68680" y="777240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155448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300" dirty="0">
                <a:solidFill>
                  <a:schemeClr val="accent2"/>
                </a:solidFill>
              </a:rPr>
              <a:t>Your questions and suggestions are welcome</a:t>
            </a:r>
            <a:endParaRPr lang="en-US" sz="1300" dirty="0"/>
          </a:p>
        </p:txBody>
      </p:sp>
      <p:pic>
        <p:nvPicPr>
          <p:cNvPr id="5" name="icon FaLocationDo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28600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22402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chemeClr val="bg2"/>
                </a:solidFill>
              </a:rPr>
              <a:t>Sheikh Zayed Road, Saeed Tower 2, Office 501, Dubai, UAE</a:t>
            </a:r>
            <a:endParaRPr lang="en-US" sz="1200" dirty="0"/>
          </a:p>
        </p:txBody>
      </p:sp>
      <p:pic>
        <p:nvPicPr>
          <p:cNvPr id="7" name="icon FaPh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788920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7432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chemeClr val="bg2"/>
                </a:solidFill>
              </a:rPr>
              <a:t>+971 4 359 5552  |  Mobile &amp; WhatsApp: +971 52 107 4972</a:t>
            </a:r>
            <a:endParaRPr lang="en-US" sz="1200" dirty="0"/>
          </a:p>
        </p:txBody>
      </p:sp>
      <p:pic>
        <p:nvPicPr>
          <p:cNvPr id="9" name="icon FaEnvelop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291840"/>
            <a:ext cx="274320" cy="2743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325880" y="32461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chemeClr val="bg2"/>
                </a:solidFill>
              </a:rPr>
              <a:t>ward.shueibi@rk-advocates.com  |  rk-advocates.com</a:t>
            </a:r>
            <a:endParaRPr lang="en-US" sz="1200" dirty="0"/>
          </a:p>
        </p:txBody>
      </p:sp>
      <p:pic>
        <p:nvPicPr>
          <p:cNvPr id="11" name="icon FaClo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794760"/>
            <a:ext cx="274320" cy="2743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325880" y="3749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chemeClr val="bg2"/>
                </a:solidFill>
              </a:rPr>
              <a:t>Monday – Friday, 8:30 – 17:30  |  Arabic · English · Chinese · Russian</a:t>
            </a:r>
            <a:endParaRPr lang="en-US" sz="1200" dirty="0"/>
          </a:p>
        </p:txBody>
      </p:sp>
      <p:sp>
        <p:nvSpPr>
          <p:cNvPr id="13" name="Text 7"/>
          <p:cNvSpPr txBox="1"/>
          <p:nvPr/>
        </p:nvSpPr>
        <p:spPr>
          <a:xfrm>
            <a:off x="868680" y="420624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dirty="0">
                <a:solidFill>
                  <a:schemeClr val="accent1"/>
                </a:solidFill>
              </a:rPr>
              <a:t>Rashid Alkaitoob Advocates &amp; Legal Consultants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8C3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K Advocates">
  <a:themeElements>
    <a:clrScheme name="RK Advocates">
      <a:dk1>
        <a:srgbClr val="0B0B0B"/>
      </a:dk1>
      <a:lt1>
        <a:srgbClr val="FFFFFF"/>
      </a:lt1>
      <a:dk2>
        <a:srgbClr val="2A2D33"/>
      </a:dk2>
      <a:lt2>
        <a:srgbClr val="F4F1EA"/>
      </a:lt2>
      <a:accent1>
        <a:srgbClr val="B08D57"/>
      </a:accent1>
      <a:accent2>
        <a:srgbClr val="D8C39A"/>
      </a:accent2>
      <a:accent3>
        <a:srgbClr val="6B6F76"/>
      </a:accent3>
      <a:accent4>
        <a:srgbClr val="8A6D3B"/>
      </a:accent4>
      <a:accent5>
        <a:srgbClr val="E9E4DA"/>
      </a:accent5>
      <a:accent6>
        <a:srgbClr val="15171B"/>
      </a:accent6>
      <a:hlink>
        <a:srgbClr val="B08D57"/>
      </a:hlink>
      <a:folHlink>
        <a:srgbClr val="8A6D3B"/>
      </a:folHlink>
    </a:clrScheme>
    <a:fontScheme name="RK Advocate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Rashid Alkaitoob Advocates &amp; Legal Consultants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Asset Protection &amp; Wills Service Strategy</dc:title>
  <dc:subject>PptxGenJS Presentation</dc:subject>
  <dc:creator>Rashid Alkaitoob Advocates &amp; Legal Consultants</dc:creator>
  <cp:lastModifiedBy>Rashid Alkaitoob Advocates &amp; Legal Consultants</cp:lastModifiedBy>
  <cp:revision>1</cp:revision>
  <dcterms:created xsi:type="dcterms:W3CDTF">2026-10-26T11:14:58Z</dcterms:created>
  <dcterms:modified xsi:type="dcterms:W3CDTF">2026-10-26T11:14:58Z</dcterms:modified>
</cp:coreProperties>
</file>