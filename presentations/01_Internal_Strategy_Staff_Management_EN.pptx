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e78354a-2ad5-3e06-1b91-b331d5125204}">
          <p14:sldIdLst>
            <p14:sldId id="256"/>
            <p14:sldId id="257"/>
          </p14:sldIdLst>
        </p14:section>
        <p14:section name="The idea" id="{6732d999-1524-609a-14b7-6eddc915e8d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Brokers" id="{7896867d-0739-683e-a39a-fef5ce59c8e3}">
          <p14:sldIdLst>
            <p14:sldId id="268"/>
            <p14:sldId id="269"/>
            <p14:sldId id="270"/>
          </p14:sldIdLst>
        </p14:section>
        <p14:section name="Cooperation model" id="{7cf4d89f-9c77-bd33-e550-263bcd657746}">
          <p14:sldIdLst>
            <p14:sldId id="271"/>
            <p14:sldId id="272"/>
            <p14:sldId id="273"/>
          </p14:sldIdLst>
        </p14:section>
        <p14:section name="Workflow" id="{c5e5ae85-40bd-134a-5480-2085bfb42f3f}">
          <p14:sldIdLst>
            <p14:sldId id="274"/>
            <p14:sldId id="275"/>
            <p14:sldId id="276"/>
            <p14:sldId id="277"/>
          </p14:sldIdLst>
        </p14:section>
        <p14:section name="Revenue and marketing" id="{3f53ebd0-40db-a739-9202-20293e3f4656}">
          <p14:sldIdLst>
            <p14:sldId id="278"/>
            <p14:sldId id="279"/>
            <p14:sldId id="280"/>
            <p14:sldId id="281"/>
          </p14:sldIdLst>
        </p14:section>
        <p14:section name="Roles and launch" id="{e7717ee7-e54d-6bda-a561-a911709231d4}">
          <p14:sldIdLst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Number of wills registered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Wills registered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H1 2023*</c:v>
                  </c:pt>
                  <c:pt idx="1">
                    <c:v>H1 2024</c:v>
                  </c:pt>
                  <c:pt idx="2">
                    <c:v>H1 2025</c:v>
                  </c:pt>
                  <c:pt idx="3">
                    <c:v>Full year 2024*</c:v>
                  </c:pt>
                  <c:pt idx="4">
                    <c:v>Full year 2025</c:v>
                  </c:pt>
                  <c:pt idx="5">
                    <c:v>Q1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Average time in days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litigated, filing to judgment</c:v>
                  </c:pt>
                  <c:pt idx="1">
                    <c:v>2023–24: first 11 months, amicable</c:v>
                  </c:pt>
                  <c:pt idx="2">
                    <c:v>2024: amicable</c:v>
                  </c:pt>
                  <c:pt idx="3">
                    <c:v>2025: amicable (working days)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Asset Protection &amp; Wills Service Strategy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Internal briefing for management and staff — Phase one: entering through real estate brokerages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October 2026 · Internal use only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idea: from law firm to Legal Protection Partner for Investors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Why real estate brokerages are the entry point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cooperation model and legal structure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workflow from broker to client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Revenue model and marketing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Internal roles and launch plan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 and positioning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service is not “writing a will”. It is integrated protection for the investor's assets and family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“law firm” to Legal Protection Partner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RIGHT POSITIONING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Protection Partner for Investors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63824"/>
            <a:ext cx="2651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We help our partners protect their clients, raise the value of their services, and increase investor confidence.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Protect assets and property in the UAE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legal arrangement that prevents accounts or property being frozen after death.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Protect heirs and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Appointing guardians and fixing the succession path in advance.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Wills compatible with every authority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Dubai Courts, Abu Dhabi Courts, DIFC, ADGM, and Sharia or foreign law per the client's case.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We never tell a broker “we offer wills”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say: we protect you, we protect your clients, and we raise the value of what you sell.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asset protection and estate services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SERVICE CATALOGUE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Will drafting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legally sound will tailored to the client's nationality, family and assets.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tam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Will registration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Registration with the right authority: Dubai Courts, Abu Dhabi, DIFC or ADGM.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Estate and asset structuring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Arranging succession in advance to prevent freezes and disputes.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Foreign investor protection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Solutions under Sharia or foreign law, according to each client's situation.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Ke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Ownership transfer after death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Representing heirs and completing property and account transfers.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Buildin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Holding / SPV formation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Holding structures linked to the succession plan to protect investments.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Hous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Property and business wills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Wills limited to real estate, or covering company shares and businesses.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PeopleRoof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Family governance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Family office, foundations and trusts, and partnership agreements.</a:t>
            </a:r>
            <a:endParaRPr lang="en-US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wills are registered in the UAE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Dubai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of non-Muslim wills with Dubai Courts under the non-Muslim personal status rules.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Abu Dhabi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with the Abu Dhabi Judicial Department for clients who prefer this route.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DIFC wills registry for non-Muslims, in English, covering assets in the UAE.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ADGM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ADGM wills registry for non-Muslims, an alternative English-language route.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Sharia or foreign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determine the applicable law by the client's nationality, religion and wishes.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client is a distinct case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Nationality, religion, family status and where the assets sit decide the right route. That is why we always start with a discovery session, not with a will type.</a:t>
            </a:r>
            <a:endParaRPr lang="en-US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reality in four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UAE expats 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YouGov survey, September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registered non-Muslim wills since 2015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(14,000+) plus Abu Dhabi (21,000), in a country of over 11 million people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working days: average amicable estate settlement in Dubai (2025)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versus 24 days in 2024 and 81 days for litigated cases in 2023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trillion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family assets transferring to the next generation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and fewer than one in three family businesses has a succession plan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Sources: DIFC Courts, Abu Dhabi Judicial Department, Dubai Courts, YouGov survey (Sept 2026), Khaleej Times / Gulf News. Full references in the deck 'Wills and Inheritance in the UAE: What the Numbers Say'.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no will: what the surveys say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of UAE expatriates,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believe their spouse automatically inherits everything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 legally mistaken belief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parents with minors have documented guardianship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while 73% think their families would know their wishes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Dubai asset-holders had no UAE-registered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Wills registry survey, 2017: 'little more than 10%' had one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YouGov for Blanket, 1,014 residents, Sept 2026 (Gulf News, Oct 2026); DIFC Wills registry survey 2017 (Gulf News, Nov 2018). Reasons for no will: 28% 'not enough assets', 21% 'don't know where to start'.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annual registrations are accelerating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growth in Q1 2026 versus Q1 2025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2025: 2,220 wills (+22%). Probate applications to enforce wills: 41 in 2025 (+37%), and 27 orders in H1 2025 alone.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* Derived from announced growth rates.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DIFC Courts press releases 2017–2026 and statistics portal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has cut estate settlement time from 81 days to 13.8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days: death-procedure time after the Jabr platform (Oct 2025)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Requirements cut from 10 to 4; 1,103 cases in its first three months. Probate Court rules: preparation ≤ 30 days, litigation ≤ 12 months. Cases outside Dubai, without a will, or in dispute are not covered by these figures.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Dubai Courts annual reports 2022–2025 and Dubai Media Office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Gulf family businesses in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GDP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contributed by family businesses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workforce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employed by family businesses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private sector in the UAE and Saudi Arabia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is family-owned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in assets transferring between generations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across the GCC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Gulf News, Feb 2023 (Jersey Finance); Khaleej Times, May 2026 (Georgetown McDonough, Dubai programme).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documented and what does not exist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Officially documented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Wills registered at DIFC (since 2015) and Abu Dhabi (since 2017)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Dubai Courts estate files, values and settlement times (2022–2025)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Split of Dubai estates between Muslims and non-Muslims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Total population and growth (federal statistics)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Does not exist or is not published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official count of people who died without a will in any year 2000–2026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The number of wills on the Dubai Courts non-Muslim register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official comparison of settlement time with and without a will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recent official expatriate share of the population after the 2010 census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real estate brokerages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broker reaches the foreign investor at the exact moment protection is needed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broker is the gateway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ENTRY LOGIC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Most foreign buyers do not know UAE inheritance rules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They buy for millions of dirhams with no will and no legal structure.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property buyer usually needs a will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purchase moment is the best time to raise protection.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e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Brokers hold a high-net-worth client base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Especially those selling luxury, investment and off-plan properties.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l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Brokers need a value-added service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give them a differentiator with no legal burden on their side.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broker gains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1. Client trust: the broker is seen to care about protection, not only the sale.</a:t>
            </a:r>
            <a:endParaRPr lang="en-US" sz="1150" dirty="0"/>
          </a:p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2. Higher closing rate: investors relax when legal protection exists.</a:t>
            </a:r>
            <a:endParaRPr lang="en-US" sz="1150" dirty="0"/>
          </a:p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3. VIP service: the broker becomes a full investment advisor.</a:t>
            </a:r>
            <a:endParaRPr lang="en-US" sz="1150" dirty="0"/>
          </a:p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4. Extra income through the referral structure.</a:t>
            </a:r>
            <a:endParaRPr lang="en-US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target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TARGET SEGMENTS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Brokerage companies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selling off-plan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serving Russian, European and Chinese buyers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serving high-net-worth individuals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selling luxury and investment properties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Foreign investors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Russians, British, Indians, Chinese, Ukrainians, Europeans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Owners of UAE property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Owners of companies and shareholdings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Those with children in the UAE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Holders of large bank accounts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Cooperation model and legal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broker opens the door; we handle every legal step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roles are split with the partner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MODEL THAT WORKS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The brokerage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Refers the client to us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Presents the service as a value-add in its offer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Receives a referral fee or commission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Gives no legal advice whatsoever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Rashid Alkaitoob Advocates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Legal consultation and risk assessment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Drafting, translation and notarisation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Registration and follow-up with authorities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Shielding the broker from any legal liability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referral and cooperation agreement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PROPOSED LEGAL STRUCTURE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Client referral mechanism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standard introduction from the broker, and first contact from us within one business day.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Commission rate and payment mechanism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fixed percentage or amount per client, respecting professional regulations and local law.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Confidentiality and data protection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An NDA and client data protection in line with the law.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 legal liability on the broker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broker gives no legal advice and guarantees no outcomes.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Non-circumvention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Each party's client relationships are protected.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From signing with the broker to registering the will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one: with the brokerage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SETUP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Sign the cooperation agreement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Referral structure, NDA, commission structure, and non-circumvention.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Train the broker's team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simple PDF, a presentation and an FAQ: what happens to property after death? Are accounts frozen? How do we protect the family?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Provide the sales script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One sentence the broker uses at the right moment, with no legal advice.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Joint launch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free seminar for the sales team, a free first consultation for their clients, and ready marketing materials.</a:t>
            </a:r>
            <a:endParaRPr lang="en-US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two: after the client is referred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CLIENT JOURNEY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Intro meeting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Nationality, religion, family status, assets, property, companies, children, bank accounts.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Risk assessment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Will only, DIFC or ADGM will, corporate structuring, trust or foundation, or a holding company?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Scope, fees, timeline and registration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Drafting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The will, translation, witnesses and notarisation.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By authority: Dubai Courts, DIFC, ADGM or the Notary Public.</a:t>
            </a:r>
            <a:endParaRPr lang="en-US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meeting: discovery questions first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NEVER OPEN WITH “WHICH WILL DO YOU WANT?”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QUESTION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WHERE IT POINTS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property in the UAE?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Property will / Dubai Courts or DIFC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companies or shares?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Business will / corporate structuring / holding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children?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Guardianship provisions in the will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Are the heirs inside or outside the UAE?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Choice of registry and applicable law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hold assets in more than one country?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Foundation / trust / coordination with foreign wills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want your home-country law or a different structure?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DIFC / ADGM / local courts</a:t>
            </a:r>
            <a:endParaRPr lang="en-US" sz="1100" dirty="0"/>
          </a:p>
        </p:txBody>
      </p:sp>
      <p:sp>
        <p:nvSpPr>
          <p:cNvPr id="3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model and marketing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We do not sell one will. We build a lifetime legal relationship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model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THREE STREAMS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Fixed fee per client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Individual will, spousal wills, property will, business will. Fees are set in line with professional regulations and local law.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77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77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Referral commission to the partner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fixed percentage or amount per client, settled monthly under the agreement.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71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971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Upselling after the will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Company formation, tax structuring, ownership transfer, family office, trusts and foundations, partnership contracts, estate structuring.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important marketing point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MESSAGE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ea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We do not sell a “will”. We sell protection of family, assets and investments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Clients act on emotion before law. A will is linked to death; protection is linked to investment and security.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halkboardUs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Channels with brokers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Seminars, webinars, investor events and real estate launch events.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ashta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Social media content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What happens to your property if you die without a will? Can family accounts be frozen? DIFC vs ADGM. Mistakes foreign investors make.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premium-level service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Meetings at the client's place, VIP handling, multilingual team, full coordination and fast-track registration.</a:t>
            </a:r>
            <a:endParaRPr lang="en-US" sz="13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concierge-level legal service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PREMIUM EXPERIENCE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We come to you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At the client's office or home.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VIP handling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dedicated counsel for every client.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Four languages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Arabic, English, Chinese, Russian.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Full coordination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Translation, witnesses, notarisation, registration.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Fast-track registration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Direct follow-up with the authorities.</a:t>
            </a:r>
            <a:endParaRPr lang="en-US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roles and launch plan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Every department knows its role and its KPI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 inside the firm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INTERNAL ROLES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2860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Role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Responsibility in this service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KPI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BD Manager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Select target brokerages, meet their owners, sign agreements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Active partnerships per month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BD Sales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Train broker teams, follow referrals, convert to clients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Referral-to-client conversion ≥ 40%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BD Assistant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Log every referral, first contact within one business day, prepare materials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 referral without follow-up: 100%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Legal Consultants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Discovery meeting, risk assessment, drafting, attending registration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Proposal within 48 hours of the meeting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Legal Operations Manager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Translation, witnesses, notarisation, liaison with authorities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On-time delivery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Account Manager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Update client and broker at each stage, measure satisfaction, open upsell opportunities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Client satisfaction ≥ 90%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Finance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Invoicing, collection, monthly referral commission settlement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Collection rate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plan: 90 days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TIMELINE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chemeClr val="accent1"/>
                </a:solidFill>
              </a:rPr>
              <a:t>Month 1: Prepare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Tools and agreements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Referral and cooperation agreement template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Training kit: PDF, deck, FAQ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Outreach and sales scripts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Shortlist of 20 target brokerages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136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852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chemeClr val="accent1"/>
                </a:solidFill>
              </a:rPr>
              <a:t>Month 2: Partner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52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First five partnerships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9852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Meetings with company owners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Sign the first five agreements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A free seminar for each sales team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Launch social media content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6552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0268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chemeClr val="accent1"/>
                </a:solidFill>
              </a:rPr>
              <a:t>Month 3: Referrals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6552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0268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First clients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0268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Receive and log referrals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First registered wills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A monthly report to each partner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Review results and refine the model</a:t>
            </a:r>
            <a:endParaRPr lang="en-US" sz="105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sell a single will. Build a lifetime legal relationship: after the will come ownership transfers, company formation, the family office, contracts and investments.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The golden rule of this service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Your questions and suggestions are welcome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 Protection &amp; Wills Service Strategy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2026-10-27T14:33:25Z</dcterms:created>
  <dcterms:modified xsi:type="dcterms:W3CDTF">2026-10-27T14:33:25Z</dcterms:modified>
</cp:coreProperties>
</file>