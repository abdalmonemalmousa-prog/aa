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edd306e-72d3-08d3-07df-029f754ac928}">
          <p14:sldIdLst>
            <p14:sldId id="256"/>
            <p14:sldId id="257"/>
          </p14:sldIdLst>
        </p14:section>
        <p14:section name="The idea" id="{4b2f6d35-636b-2ffc-8d16-3182e22ea555}">
          <p14:sldIdLst>
            <p14:sldId id="258"/>
            <p14:sldId id="259"/>
            <p14:sldId id="260"/>
            <p14:sldId id="261"/>
          </p14:sldIdLst>
        </p14:section>
        <p14:section name="Brokers" id="{4440d61f-c9d9-f95b-c453-6bb8d976905d}">
          <p14:sldIdLst>
            <p14:sldId id="262"/>
            <p14:sldId id="263"/>
            <p14:sldId id="264"/>
          </p14:sldIdLst>
        </p14:section>
        <p14:section name="Cooperation model" id="{4090914f-baec-fc92-afab-9d4f69531ad3}">
          <p14:sldIdLst>
            <p14:sldId id="265"/>
            <p14:sldId id="266"/>
            <p14:sldId id="267"/>
          </p14:sldIdLst>
        </p14:section>
        <p14:section name="Workflow" id="{0086175e-cee9-2600-9ab6-c3cb265372bf}">
          <p14:sldIdLst>
            <p14:sldId id="268"/>
            <p14:sldId id="269"/>
            <p14:sldId id="270"/>
            <p14:sldId id="271"/>
          </p14:sldIdLst>
        </p14:section>
        <p14:section name="Revenue and marketing" id="{1696734d-c3da-4257-11b6-7cafb17c66ac}">
          <p14:sldIdLst>
            <p14:sldId id="272"/>
            <p14:sldId id="273"/>
            <p14:sldId id="274"/>
            <p14:sldId id="275"/>
          </p14:sldIdLst>
        </p14:section>
        <p14:section name="Roles and launch" id="{54c1d53a-a17a-a3b3-a945-607b6f6724c7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Protection &amp; Wills Service Strategy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chemeClr val="accent2"/>
                </a:solidFill>
              </a:rPr>
              <a:t>Internal briefing for management and staff — Phase one: entering through real estate brokerages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October 2026 · Internal use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idea: from law firm to Legal Protection Partner for Investors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Why real estate brokerages are the entry point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cooperation model and legal structure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workflow from broker to client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Revenue model and marketing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Internal roles and launch plan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and positioning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The service is not “writing a will”. It is integrated protection for the investor's assets and family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“law firm” to Legal Protection Partner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RIGHT POSITIONING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Protection Partner for Investors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63824"/>
            <a:ext cx="2651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We help our partners protect their clients, raise the value of their services, and increase investor confidence.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Protect assets and property in the UAE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legal arrangement that prevents accounts or property being frozen after death.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Protect heirs and children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Appointing guardians and fixing the succession path in advance.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Wills compatible with every authority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Dubai Courts, Abu Dhabi Courts, DIFC, ADGM, and Sharia or foreign law per the client's case.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We never tell a broker “we offer wills”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say: we protect you, we protect your clients, and we raise the value of what you sell.</a:t>
            </a:r>
            <a:endParaRPr lang="en-US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asset protection and estate services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SERVICE CATALOGUE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Will drafting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legally sound will tailored to the client's nationality, family and assets.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tam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Will registration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Registration with the right authority: Dubai Courts, Abu Dhabi, DIFC or ADGM.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Estate and asset structuring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Arranging succession in advance to prevent freezes and disputes.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Foreign investor protection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Solutions under Sharia or foreign law, according to each client's situation.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Ke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Ownership transfer after death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Representing heirs and completing property and account transfers.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Build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Holding / SPV formation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Holding structures linked to the succession plan to protect investments.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Hous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Property and business wills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Wills limited to real estate, or covering company shares and businesses.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PeopleRoof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018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Family governance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Family office, foundations and trusts, and partnership agreements.</a:t>
            </a:r>
            <a:endParaRPr lang="en-US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wills are registered in the UAE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LEGAL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Dubai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of non-Muslim wills with Dubai Courts under the non-Muslim personal status rules.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Abu Dhabi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with the Abu Dhabi Judicial Department for clients who prefer this route.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DIFC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DIFC wills registry for non-Muslims, in English, covering assets in the UAE.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ADGM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ADGM wills registry for non-Muslims, an alternative English-language route.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Sharia or foreign law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determine the applicable law by the client's nationality, religion and wishes.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 is a distinct case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Nationality, religion, family status and where the assets sit decide the right route. That is why we always start with a discovery session, not with a will type.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real estate brokerages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The broker reaches the foreign investor at the exact moment protection is needed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broker is the gateway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ENTRY LOGIC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Most foreign buyers do not know UAE inheritance rules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They buy for millions of dirhams with no will and no legal structure.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 property buyer usually needs a will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purchase moment is the best time to raise protection.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e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Brokers hold a high-net-worth client base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Especially those selling luxury, investment and off-plan properties.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lu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Brokers need a value-added service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give them a differentiator with no legal burden on their side.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broker gains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1. Client trust: the broker is seen to care about protection, not only the sale.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2. Higher closing rate: investors relax when legal protection exists.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3. VIP service: the broker becomes a full investment advisor.</a:t>
            </a:r>
            <a:endParaRPr lang="en-US" sz="1150" dirty="0"/>
          </a:p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4. Extra income through the referral structure.</a:t>
            </a:r>
            <a:endParaRPr lang="en-US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target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TARGET SEGMENTS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Brokerage companies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Companies selling off-plan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Companies serving Russian, European and Chinese buyers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Companies serving high-net-worth individuals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Companies selling luxury and investment properties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Foreign investors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Russians, British, Indians, Chinese, Ukrainians, Europeans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Owners of UAE property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Owners of companies and shareholdings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Those with children in the UAE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Holders of large bank accounts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Cooperation model and legal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The broker opens the door; we handle every legal step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roles are split with the partner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MODEL THAT WORKS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The brokerage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Refers the client to us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Presents the service as a value-add in its offer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Receives a referral fee or commission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Gives no legal advice whatsoever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Rashid Alkaitoob Advocates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Legal consultation and risk assessment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Drafting, translation and notarisation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Registration and follow-up with authorities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Shielding the broker from any legal liability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referral and cooperation agreement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PROPOSED LEGAL STRUCTURE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Client referral mechanism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standard introduction from the broker, and first contact from us within one business day.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Commission rate and payment mechanism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fixed percentage or amount per client, respecting professional regulations and local law.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Confidentiality and data protection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An NDA and client data protection in line with the law.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No legal liability on the broker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broker gives no legal advice and guarantees no outcomes.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Non-circumvention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Each party's client relationships are protected.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From signing with the broker to registering the will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one: with the brokerage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SETUP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Sign the cooperation agreement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Referral structure, NDA, commission structure, and non-circumvention.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5574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57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Train the broker's team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simple PDF, a presentation and an FAQ: what happens to property after death? Are accounts frozen? How do we protect the family?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Provide the sales script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One sentence the broker uses at the right moment, with no legal advice.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5284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28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Joint launch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free seminar for the sales team, a free first consultation for their clients, and ready marketing materials.</a:t>
            </a:r>
            <a:endParaRPr lang="en-US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two: after the client is referred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CLIENT JOURNEY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Intro meeting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Nationality, religion, family status, assets, property, companies, children, bank accounts.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Will only, DIFC or ADGM will, corporate structuring, trust or foundation, or a holding company?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Proposal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Scope, fees, timeline and registration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Drafting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The will, translation, witnesses and notarisation.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By authority: Dubai Courts, DIFC, ADGM or the Notary Public.</a:t>
            </a:r>
            <a:endParaRPr lang="en-US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meeting: discovery questions first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NEVER OPEN WITH “WHICH WILL DO YOU WANT?”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QUESTION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WHERE IT POINTS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property in the UAE?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Property will / Dubai Courts or DIFC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companies or shares?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Business will / corporate structuring / holding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have children?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Guardianship provisions in the will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Are the heirs inside or outside the UAE?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Choice of registry and applicable law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hold assets in more than one country?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Foundation / trust / coordination with foreign wills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want your home-country law or a different structure?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DIFC / ADGM / local courts</a:t>
            </a:r>
            <a:endParaRPr lang="en-US" sz="1100" dirty="0"/>
          </a:p>
        </p:txBody>
      </p:sp>
      <p:sp>
        <p:nvSpPr>
          <p:cNvPr id="3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and marketing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We do not sell one will. We build a lifetime legal relationship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THREE STREAMS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Fixed fee per client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Individual will, spousal wills, property will, business will. Fees are set in line with professional regulations and local law.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77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77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Referral commission to the partner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 fixed percentage or amount per client, settled monthly under the agreement.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71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971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Upselling after the will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Company formation, tax structuring, ownership transfer, family office, trusts and foundations, partnership contracts, estate structuring.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marketing point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MESSAGE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We do not sell a “will”. We sell protection of family, assets and investments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Clients act on emotion before law. A will is linked to death; protection is linked to investment and security.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halkboard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Channels with brokers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Seminars, webinars, investor events and real estate launch events.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ash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Social media content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What happens to your property if you die without a will? Can family accounts be frozen? DIFC vs ADGM. Mistakes foreign investors make.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 premium-level service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Meetings at the client's place, VIP handling, multilingual team, full coordination and fast-track registration.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concierge-level legal service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PREMIUM EXPERIENCE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We come to you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At the client's office or home.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VIP handling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 dedicated counsel for every client.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Four languages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Arabic, English, Chinese, Russian.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Full coordination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Translation, witnesses, notarisation, registration.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Fast-track registration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Direct follow-up with the authorities.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roles and launch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Every department knows its role and its KPI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inside the firm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INTERNAL ROLES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2860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Role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Responsibility in this service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KPI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BD Manager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Select target brokerages, meet their owners, sign agreements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Active partnerships per month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BD Sales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Train broker teams, follow referrals, convert to clients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Referral-to-client conversion ≥ 40%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BD Assistant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Log every referral, first contact within one business day, prepare materials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 referral without follow-up: 100%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Legal Consultants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Discovery meeting, risk assessment, drafting, attending registration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Proposal within 48 hours of the meeting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Legal Operations Manager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Translation, witnesses, notarisation, liaison with authorities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On-time delivery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Account Manager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Update client and broker at each stage, measure satisfaction, open upsell opportunities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Client satisfaction ≥ 90%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Finance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Invoicing, collection, monthly referral commission settlement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Collection rate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plan: 90 days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TIMELINE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chemeClr val="accent1"/>
                </a:solidFill>
              </a:rPr>
              <a:t>Month 1: Prepare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Tools and agreements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Referral and cooperation agreement template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Training kit: PDF, deck, FAQ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Outreach and sales scripts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Shortlist of 20 target brokerages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chemeClr val="accent1"/>
                </a:solidFill>
              </a:rPr>
              <a:t>Month 2: Partner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52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First five partnerships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9852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Meetings with company owners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Sign the first five agreements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A free seminar for each sales team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Launch social media content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6552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268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chemeClr val="accent1"/>
                </a:solidFill>
              </a:rPr>
              <a:t>Month 3: Referrals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6552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268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First clients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0268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Receive and log referrals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First registered wills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A monthly report to each partner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altLang="en-US" sz="1050" dirty="0">
                <a:solidFill>
                  <a:schemeClr val="accent3"/>
                </a:solidFill>
              </a:rPr>
              <a:t>Review results and refine the model</a:t>
            </a:r>
            <a:endParaRPr lang="en-US" sz="105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sell a single will. Build a lifetime legal relationship: after the will come ownership transfers, company formation, the family office, contracts and investments.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The golden rule of this service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Your questions and suggestions are welcome</a:t>
            </a:r>
            <a:endParaRPr lang="en-US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Sheikh Zayed Road, Saeed Tower 2, Office 501, Dubai, UAE</a:t>
            </a:r>
            <a:endParaRPr lang="en-US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+971 4 359 5552  |  Mobile &amp; WhatsApp: +971 52 107 4972</a:t>
            </a:r>
            <a:endParaRPr lang="en-US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en-US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Monday – Friday, 8:30 – 17:30  |  Arabic · English · Chinese · Russian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Protection &amp; Wills Service Strategy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2026-10-27T13:23:56Z</dcterms:created>
  <dcterms:modified xsi:type="dcterms:W3CDTF">2026-10-27T13:23:56Z</dcterms:modified>
</cp:coreProperties>
</file>