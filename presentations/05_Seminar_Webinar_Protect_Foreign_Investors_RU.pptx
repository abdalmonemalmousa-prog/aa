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780c6abf-5c72-8653-5008-861561ea6c85}">
          <p14:sldIdLst>
            <p14:sldId id="256"/>
            <p14:sldId id="257"/>
          </p14:sldIdLst>
        </p14:section>
        <p14:section name="Реальность" id="{30343f7b-08c0-3faf-a8ec-7500dcf9da7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Правовая база" id="{f5905a13-7d65-fe03-4cec-2856524439b5}">
          <p14:sldIdLst>
            <p14:sldId id="267"/>
            <p14:sldId id="268"/>
            <p14:sldId id="269"/>
          </p14:sldIdLst>
        </p14:section>
        <p14:section name="Инструменты" id="{1dbea7e6-06bd-9c03-80bd-8501f271bf17}">
          <p14:sldIdLst>
            <p14:sldId id="270"/>
            <p14:sldId id="271"/>
            <p14:sldId id="272"/>
          </p14:sldIdLst>
        </p14:section>
        <p14:section name="Сценарии" id="{4692dfa6-7c62-d506-9416-55740f778af4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Число зарегистрированных завещаний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Зарегистрировано завещаний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пол. 2023*</c:v>
                  </c:pt>
                  <c:pt idx="1">
                    <c:v>1 пол. 2024</c:v>
                  </c:pt>
                  <c:pt idx="2">
                    <c:v>1 пол. 2025</c:v>
                  </c:pt>
                  <c:pt idx="3">
                    <c:v>2024 год*</c:v>
                  </c:pt>
                  <c:pt idx="4">
                    <c:v>2025 год</c:v>
                  </c:pt>
                  <c:pt idx="5">
                    <c:v>1 кв.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Средний срок в днях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Дней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суд, от подачи до решения</c:v>
                  </c:pt>
                  <c:pt idx="1">
                    <c:v>2023–24: первые 11 мес., мировое</c:v>
                  </c:pt>
                  <c:pt idx="2">
                    <c:v>2024: мировое</c:v>
                  </c:pt>
                  <c:pt idx="3">
                    <c:v>2025: мировое (раб. дни)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Доля сохранившихся семейных компаний (мировые данные)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выживших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2-е поколение</c:v>
                  </c:pt>
                  <c:pt idx="1">
                    <c:v>3-е поколение</c:v>
                  </c:pt>
                  <c:pt idx="2">
                    <c:v>4-е поколение и далее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 аудитории: правильный путь определяется индивидуально после ознакомительной встречи; единого ответа для всех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защитить иностранных инвесторов в ОАЭ</a:t>
            </a:r>
            <a:endParaRPr lang="ru-RU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Семинар о завещаниях, защите активов и наследственном планировании для инвесторов и владельцев недвижимости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Rashid Alkaitoob Advocates &amp; Legal Consultants · Дубай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рассмотрим сегодня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Реальность: ошибки иностранных инвесторов</a:t>
            </a:r>
            <a:endParaRPr lang="ru-RU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Что на самом деле происходит без планирования</a:t>
            </a:r>
            <a:endParaRPr lang="ru-RU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Правовая база ОАЭ: реестры и варианты</a:t>
            </a:r>
            <a:endParaRPr lang="ru-RU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Инструменты защиты: от завещания до структурирования капитала</a:t>
            </a:r>
            <a:endParaRPr lang="ru-RU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Три практических сценария</a:t>
            </a:r>
            <a:endParaRPr lang="ru-RU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Быстрая самопроверка и ответы на вопросы</a:t>
            </a:r>
            <a:endParaRPr lang="ru-RU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Реальность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Иностранные инвесторы тратят миллионы дирхамов и забывают один вопрос: что будет дальше?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Типичные ошибки иностранных инвесторов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ОШИБКИ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TriangleExclama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Полагать, что право вашей страны применяется автоматически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Процедуры в ОАЭ зависят от гражданства, религии и обстоятельств.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TriangleExclam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Покупка недвижимости без завещания или структуры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Большинство покупателей не знают правил наследования в ОАЭ.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TriangleExclama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Активы в нескольких странах без единого плана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Противоречивые или отсутствующие завещания означают задержки и споры.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TriangleExclam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Неоформленная опека над детьми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Никто официально не назначен заботиться о несовершеннолетних.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Triang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Доли в компаниях вне какого-либо плана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Бизнес останавливается, решения партнёров замораживаются.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так происходит?</a:t>
            </a:r>
            <a:endParaRPr lang="ru-RU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Потому что никто не задал инвестору правильный вопрос в нужный момент. Сегодня мы его задаём.</a:t>
            </a:r>
            <a:endParaRPr lang="ru-RU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 самом деле происходит без планирования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ПОСЛЕДСТВИЯ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Замороженные счета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Банковские счета могут быть заморожены до выдачи приказа о распределении наследства, лишая семью средств на расходы.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Заблокированная передача собственности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Недвижимость ждёт процедур, которые могут быть долгими и сложными.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PeopleArrow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Семейные споры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Отсутствие ясности провоцирует конфликт между наследниками.</a:t>
            </a:r>
            <a:endParaRPr lang="ru-RU" sz="140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Проблемы для детей и наследников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Нет назначенного опекуна и ясного порядка для долей на родине или за рубежом.</a:t>
            </a:r>
            <a:endParaRPr lang="ru-RU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Реальность в четырёх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экспатов ОАЭ ещё 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YouGov, сентябрь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ru-RU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зарегистрированных завещаний немусульман с 2015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DIFC (более 14 000) плюс Абу-Даби (21 000) при населении свыше 11 млн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рабочих дней: средний срок мирового урегулирования наследства в Дубае (2025)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против 24 дней в 2024 г. и 81 дня для судебных дел в 2023 г.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трлн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семей стран Залива перейдёт следующему поколению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и менее трети семейных компаний имеют план преемственности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Источники: DIFC Courts, Судебный департамент Абу-Даби, суды Дубая, опрос YouGov (сент. 2026), Khaleej Times / Gulf News. Полные ссылки в презентации «Завещания и наследство в ОАЭ: что говорят цифры».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нет завещания: данные опросов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экспатов ОАЭ,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считают, что супруг автоматически наследует всё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юридически ошибочное мнение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родителей несовершеннолетних оформили опеку документально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 этом 73% полагают, что семья знает их пожелания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владельцев активов в Дубае не имели зарегистрированного в ОАЭ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реестра DIFC, 2017: завещание было у «чуть более 10%»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YouGov для Blanket, 1 014 респондентов, сент. 2026 (Gulf News, окт. 2026); опрос реестра DIFC 2017 (Gulf News, ноя. 2018). Причины: 28% «недостаточно активов», 21% «не знаю, с чего начать».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ежегодные регистрации ускоряются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рост в 1 кв. 2026 к 1 кв. 2025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2025: 2 220 завещаний (+22%). Заявления об исполнении завещаний: 41 в 2025 г. (+37%), 27 приказов только за 1 пол. 2025.</a:t>
            </a:r>
            <a:endParaRPr lang="ru-RU" sz="1000" dirty="0"/>
          </a:p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* Рассчитано по объявленным темпам роста.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Пресс-релизы DIFC Courts 2017–2026 и статистический портал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Дубай сократил срок урегулирования наследства с 81 дня до 13,8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дней: срок процедур после запуска платформы «Джабр» (окт. 2025)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Требования сокращены с 10 до 4; 1 103 дела за первые три месяца. Правила Суда по наследству: подготовка ≤ 30 дней, процесс ≤ 12 месяцев. Дела вне Дубая, без завещания или спорные этими цифрами не охвачены.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Суды Дубая: годовые отчёты 2022–2025 и Медиа-офис правительства Дубая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Семейный бизнес Залива в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ВВП стран Залива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создаётся семейными компаниями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рабочей силы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занято в семейных компаниях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частного сектора ОАЭ и Саудовской Аравии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принадлежит семьям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ru-RU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перейдёт между поколениями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по странам Залива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Gulf News, фев. 2023 (Jersey Finance); Khaleej Times, май 2026 (Georgetown McDonough, программа в Дубае).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Лишь три из десяти семейных компаний доживают до второго поколения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имеют чёткий и доведённый до сведения план преемственности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Лишь 22% следующего поколения в ОАЭ планируют войти в семейный бизнес. Другая оценка (Citi, 2023): 50% доживают до 2-го поколения и 10% до 3-го.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Khaleej Times, май 2026 и сент. 2023; Gulf News, фев. 2023.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Правовая база ОАЭ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У инвестора есть реальные варианты; важно выбрать правильный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регистрируются завещания в ОАЭ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БАЗА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Дубая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завещаний немусульман в судах Дубая по правилам личного статуса немусульман.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and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Суды Абу-Даби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Регистрация в Судебном департаменте Абу-Даби для клиентов, предпочитающих этот путь.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BuildingColumn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DIFC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DIFC для немусульман, на английском языке, охватывает активы в ОАЭ.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uildingColumn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ADGM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Реестр завещаний ADGM для немусульман, альтернативный англоязычный путь.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caleBalance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Шариат или иностранное право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950" dirty="0">
                <a:solidFill>
                  <a:schemeClr val="accent3"/>
                </a:solidFill>
              </a:rPr>
              <a:t>Применимое право определяем по гражданству, религии и пожеланиям клиента.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клиент — отдельный случай</a:t>
            </a:r>
            <a:endParaRPr lang="ru-RU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Гражданство, религия, семейное положение и местонахождение активов определяют правильный путь. Поэтому мы всегда начинаем с ознакомительной встречи, а не с типа завещания.</a:t>
            </a:r>
            <a:endParaRPr lang="ru-RU" sz="1150" dirty="0"/>
          </a:p>
        </p:txBody>
      </p:sp>
      <p:sp>
        <p:nvSpPr>
          <p:cNvPr id="2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пути вкратце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ОБЩЕЕ СРАВНЕНИЕ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Местные суды (Дубай / Абу-Даби)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Местная регистрация завещаний немусульман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Документ на арабском с заверенным переводом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Подходит тем, кто предпочитает местный путь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3276600" y="1188720"/>
            <a:ext cx="25908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37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Завещания DIFC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32766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37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Реестр завещаний для немусульман в Дубае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Документ на английском, охватывающий активы в ОАЭ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Частый выбор европейцев, россиян и индийцев</a:t>
            </a:r>
            <a:endParaRPr lang="ru-RU" sz="1100" dirty="0"/>
          </a:p>
        </p:txBody>
      </p:sp>
      <p:sp>
        <p:nvSpPr>
          <p:cNvPr id="12" name="Shape 10"/>
          <p:cNvSpPr/>
          <p:nvPr/>
        </p:nvSpPr>
        <p:spPr>
          <a:xfrm>
            <a:off x="6096000" y="1188720"/>
            <a:ext cx="25908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33160" y="1188720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Завещания ADGM</a:t>
            </a:r>
            <a:endParaRPr lang="ru-RU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1737360"/>
            <a:ext cx="25908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3160" y="1874520"/>
            <a:ext cx="2316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Реестр завещаний для немусульман в Абу-Даби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Документ на английском языке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Альтернативный путь в зависимости от активов и предпочтений</a:t>
            </a:r>
            <a:endParaRPr lang="ru-RU" sz="11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Инструменты защиты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От простого завещания до структурирования капитала на поколения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Доступные инструменты защиты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НАБОР ИНСТРУМЕНТОВ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Индивидуальное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Ваши активы в ОАЭ, опекуны и исполнители.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UserGrou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Супружеские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Два согласованных завещания, защищающих семью и детей.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Завещание на недвижимость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Только для недвижимости в ОАЭ.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riefc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Завещание на бизнес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Доли в компаниях и непрерывность бизнеса.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Холдинг / SPV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Холдинговая компания, связанная с планом наследования.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ndmar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Фонд или траст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Защита капитала на протяжении поколений.</a:t>
            </a:r>
            <a:endParaRPr lang="ru-RU" sz="1250" dirty="0"/>
          </a:p>
        </p:txBody>
      </p:sp>
      <p:sp>
        <p:nvSpPr>
          <p:cNvPr id="22" name="Shape 14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PeopleRoof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Семейное управление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Семейный офис и партнёрские соглашения.</a:t>
            </a:r>
            <a:endParaRPr lang="ru-RU" sz="1250" dirty="0"/>
          </a:p>
        </p:txBody>
      </p:sp>
      <p:sp>
        <p:nvSpPr>
          <p:cNvPr id="25" name="Shape 16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Key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018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Передача собственности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Представление наследников и завершение процедур.</a:t>
            </a:r>
            <a:endParaRPr lang="ru-RU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должен охватывать хороший план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ЧЕК-ЛИСТ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ist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Каждый актив в ОАЭ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Недвижимость, счета, компании, автомобили, инвестиции.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ist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Опекуны и исполнители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Кто заботится о детях и кто исполняет завещание.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ist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Наследники в ОАЭ и за рубежом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Согласован с любым завещанием в вашей стране.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Применимое право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Шариат, иностранное право или выбранная вами структура.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List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Периодический пересмотр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План обновляется при любом изменении ваших активов или семьи.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практических сценария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Вымышленные имена, ситуации, которые мы видим каждую неделю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случая, которые мы видим каждую неделю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ПРАКТИЧЕСКИЕ СЦЕНАРИИ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Инвестор в недвижимость с семьёй за рубежом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Владеет двумя квартирами в Дубае; супруга и дети живут в Европе. Решение: зарегистрированное завещание на недвижимость с указанием наследников и исполнителя, согласованное с завещанием в родной стране.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Владелец компании с партнёрами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Владеет долей в дубайской компании с двумя партнёрами. Решение: завещание на бизнес и соглашение партнёров, которые сохраняют принятие решений и передают долю.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Супружеская пара с детьми в ОАЭ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Резиденты с двумя несовершеннолетними детьми и местными счетами. Решение: супружеские завещания с назначением опекуна и защитой счетов и жилья.</a:t>
            </a:r>
            <a:endParaRPr lang="ru-RU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чего начать: пять шагов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ПРОЦЕСС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Ознакомительная встреча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Ваше гражданство, семья, активы, компании, дети, счета.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13603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3603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36038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Оценка рисков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36038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Только завещание? DIFC или ADGM? Структурирование? Фонд?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814877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14877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814877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Письменное предложение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14877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Объём, гонорар, сроки, стоимость регистрации.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5493715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3715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93715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Составление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93715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Завещание, перевод, свидетели, нотариальное заверение.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717255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7255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2554" y="2057400"/>
            <a:ext cx="15142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Регистрация</a:t>
            </a:r>
            <a:endParaRPr lang="ru-RU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2554" y="2606040"/>
            <a:ext cx="151424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 выбранном органе, с прямым сопровождением.</a:t>
            </a:r>
            <a:endParaRPr lang="ru-RU" sz="105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Быстрая самопроверка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ОТВЕТЬТЕ ДА ИЛИ НЕТ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ВОПРОС</a:t>
            </a:r>
            <a:endParaRPr lang="ru-RU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166360" y="11430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dirty="0">
                <a:solidFill>
                  <a:schemeClr val="accent1"/>
                </a:solidFill>
              </a:rPr>
              <a:t>ЕСЛИ ОТВЕТ ДА</a:t>
            </a:r>
            <a:endParaRPr lang="ru-RU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7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361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1463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недвижимость в ОАЭ?</a:t>
            </a:r>
            <a:endParaRPr lang="ru-RU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463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нужно как минимум завещание на недвижимость</a:t>
            </a:r>
            <a:endParaRPr lang="ru-RU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933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14400" y="1920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компании или доли?</a:t>
            </a:r>
            <a:endParaRPr lang="ru-RU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1920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нужно завещание на бизнес или структурирование</a:t>
            </a:r>
            <a:endParaRPr lang="ru-RU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774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5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4505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" y="2377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несовершеннолетние дети?</a:t>
            </a:r>
            <a:endParaRPr lang="ru-RU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нужен официально назначенный опекун</a:t>
            </a:r>
            <a:endParaRPr lang="ru-RU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9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9077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4400" y="28346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Ваши наследники за пределами ОАЭ?</a:t>
            </a:r>
            <a:endParaRPr lang="ru-RU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66360" y="28346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нужно тщательно выбрать реестр и право</a:t>
            </a:r>
            <a:endParaRPr lang="ru-RU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291840"/>
            <a:ext cx="8229600" cy="384048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649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14400" y="3291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У вас есть активы более чем в одной стране?</a:t>
            </a:r>
            <a:endParaRPr lang="ru-RU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166360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нужен единый план или холдинговая структура</a:t>
            </a:r>
            <a:endParaRPr lang="ru-RU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749040"/>
            <a:ext cx="8229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7" name="icon FaCircleQuesti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8221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" y="37490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tx1"/>
                </a:solidFill>
              </a:rPr>
              <a:t>Прошло более трёх лет с вашего последнего завещания?</a:t>
            </a:r>
            <a:endParaRPr lang="ru-RU" sz="1150" dirty="0"/>
          </a:p>
        </p:txBody>
      </p:sp>
      <p:sp>
        <p:nvSpPr>
          <p:cNvPr id="29" name="Text 21"/>
          <p:cNvSpPr txBox="1"/>
          <p:nvPr/>
        </p:nvSpPr>
        <p:spPr>
          <a:xfrm>
            <a:off x="5166360" y="37490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100" b="1" dirty="0">
                <a:solidFill>
                  <a:schemeClr val="accent4"/>
                </a:solidFill>
              </a:rPr>
              <a:t>Вам нужен пересмотр</a:t>
            </a:r>
            <a:endParaRPr lang="ru-RU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i="1" dirty="0">
                <a:solidFill>
                  <a:schemeClr val="accent3"/>
                </a:solidFill>
              </a:rPr>
              <a:t>Одного «да» достаточно, чтобы получить бесплатную первую консультацию.</a:t>
            </a:r>
            <a:endParaRPr lang="ru-RU" sz="950" dirty="0"/>
          </a:p>
        </p:txBody>
      </p:sp>
      <p:sp>
        <p:nvSpPr>
          <p:cNvPr id="3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Фирма в цифрах</a:t>
            </a:r>
            <a:endParaRPr lang="ru-RU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Год основания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Лицензированная юридическая фирма в Дубае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Направлений практики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Судебные споры, консультации и договоры</a:t>
            </a:r>
            <a:endParaRPr lang="ru-RU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Рабочих языка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Арабский · Английский · Китайский · Русский</a:t>
            </a:r>
            <a:endParaRPr lang="ru-RU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Залив и Азия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300" b="1" dirty="0">
                <a:solidFill>
                  <a:schemeClr val="bg1"/>
                </a:solidFill>
              </a:rPr>
              <a:t>Региональное и международное присутствие</a:t>
            </a:r>
            <a:endParaRPr lang="ru-RU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2"/>
                </a:solidFill>
              </a:rPr>
              <a:t>Отдельный китайский отдел для инвесторов</a:t>
            </a:r>
            <a:endParaRPr lang="ru-RU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КАЖДАЯ ЦИФРА В ПРЕЗЕНТАЦИИ ВОСХОДИТ К ОДНОМУ ИЗ ЭТИХ ИСТОЧНИКОВ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ФЦКС: население ОАЭ 2023–2024 (Gulf News, 8 сент. 2025).</a:t>
            </a:r>
            <a:endParaRPr lang="ru-RU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Статцентр Дубая: более 4 млн (сент. 2025); 4,58 млн на конец 2025 (Dubai Eye, июль 2026).</a:t>
            </a:r>
            <a:endParaRPr lang="ru-RU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Национальное бюро статистики: 88,5% экспатов из 8,26 млн (Khaleej Times, 2011).</a:t>
            </a:r>
            <a:endParaRPr lang="ru-RU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релиз 1 ноя. 2017 (более 3 000); Al Bayan и Emarat Al Youm 2019 (4 100 и 5 000).</a:t>
            </a:r>
            <a:endParaRPr lang="ru-RU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15 июля 2024 (810, +6%, более 11 000); 23 июля 2025 (922, +14%, более 13 400).</a:t>
            </a:r>
            <a:endParaRPr lang="ru-RU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11 фев. 2026 (2 220 в 2025, +22%; 41 заявление, +37%); 22 апр. 2026 (883 в 1 кв., +120%).</a:t>
            </a:r>
            <a:endParaRPr lang="ru-RU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Статпортал DIFC Courts: 14 373 завещания с момента запуска (1 пол. 2026).</a:t>
            </a:r>
            <a:endParaRPr lang="ru-RU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Судебный департамент Абу-Даби: 1 668 завещаний, 64 национальности (Gulf News, 14 дек. 2019).</a:t>
            </a:r>
            <a:endParaRPr lang="ru-RU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Гражданский семейный суд Абу-Даби: 11 000 в 2025, 21 000 всего (Gulf News, 19 янв. 2026); 8 886 операций в 1 кв. 2026 (WAM).</a:t>
            </a:r>
            <a:endParaRPr lang="ru-RU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2022: 3,797 млрд дирхамов; 1 555 / 500 / 24 дела (Emarat Al Youm, 8 июля 2023).</a:t>
            </a:r>
            <a:endParaRPr lang="ru-RU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2023: 580 дел, 4,116 млрд, 81 / 52 / 28 дней, 92,6% (The Law Reporters, 13 июля 2024).</a:t>
            </a:r>
            <a:endParaRPr lang="ru-RU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Дубая, первые 11 месяцев: 1 814 дел, 40 дней, 32,8 млрд (Мактум бин Мохаммед, 28 окт. 2024).</a:t>
            </a:r>
            <a:endParaRPr lang="ru-RU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2024: 84%, 24 дня, 1 407 свидетельств, 10 и 35 млрд (Медиа-офис Дубая, 29 янв. 2025).</a:t>
            </a:r>
            <a:endParaRPr lang="ru-RU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2025: 13,8 дня, 92,5%, 5,26 млрд, 284 лицензии (Al Bayan, 9 июля 2026); 3,5 млрд наследникам и платформа «Джабр» (Gulf News, 25 апр. 2026).</a:t>
            </a:r>
            <a:endParaRPr lang="ru-RU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YouGov для Blanket, 1 014 респондентов, сент. 2026: 49%, 56%, 24%, 73%, 28%, 21% (Gulf News, 20 окт. 2026).</a:t>
            </a:r>
            <a:endParaRPr lang="ru-RU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Опрос реестра DIFC 2017 и заморозка счетов (Gulf News, 12 ноя. 2018); оценки сроков: Caunsel (15 окт. 2026), Dubai Wills Center (13 янв. 2026).</a:t>
            </a:r>
            <a:endParaRPr lang="ru-RU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Семейный бизнес: Gulf News, 9 фев. 2023 (Jersey Finance); Khaleej Times, 20 мая 2026 и 6 сент. 2023 (Citi).</a:t>
            </a:r>
            <a:endParaRPr lang="ru-RU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Правовая база: закон Дубая 15/2017; закон Абу-Даби 14/2021; федеральный декрет-закон 41/2022; декрет Дубая 25/2023.</a:t>
            </a:r>
            <a:endParaRPr lang="ru-RU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i="1" dirty="0">
                <a:solidFill>
                  <a:schemeClr val="accent3"/>
                </a:solidFill>
              </a:rPr>
              <a:t>Цифры со звёздочкой (*) рассчитаны по официально объявленным темпам роста и отдельно не публиковались.</a:t>
            </a:r>
            <a:endParaRPr lang="ru-RU" sz="900" dirty="0"/>
          </a:p>
        </p:txBody>
      </p:sp>
      <p:sp>
        <p:nvSpPr>
          <p:cNvPr id="4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думайте «завещание». Думайте «защита активов»: завещание ассоциируется со смертью, защита — с инвестициями и безопасностью.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Главный вывод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и ответы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Бесплатная первая консультация для каждого участника, на вашем языке, там, где вам удобно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защитить иностранных инвесторов в ОАЭ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2026-10-27T14:33:27Z</dcterms:created>
  <dcterms:modified xsi:type="dcterms:W3CDTF">2026-10-27T14:33:27Z</dcterms:modified>
</cp:coreProperties>
</file>