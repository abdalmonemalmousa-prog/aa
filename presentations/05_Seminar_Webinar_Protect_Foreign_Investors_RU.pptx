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dac0b96c-3ccf-2f80-b7bd-f655f340c9aa}">
          <p14:sldIdLst>
            <p14:sldId id="256"/>
            <p14:sldId id="257"/>
          </p14:sldIdLst>
        </p14:section>
        <p14:section name="Реальность" id="{bf9a0e49-1dce-16de-9638-5a5606040e28}">
          <p14:sldIdLst>
            <p14:sldId id="258"/>
            <p14:sldId id="259"/>
            <p14:sldId id="260"/>
          </p14:sldIdLst>
        </p14:section>
        <p14:section name="Правовая база" id="{e6e750fc-70b2-eac8-b98e-409d00c4b209}">
          <p14:sldIdLst>
            <p14:sldId id="261"/>
            <p14:sldId id="262"/>
            <p14:sldId id="263"/>
          </p14:sldIdLst>
        </p14:section>
        <p14:section name="Инструменты" id="{273d82e9-8add-0183-dde4-6684c3b5e4d6}">
          <p14:sldIdLst>
            <p14:sldId id="264"/>
            <p14:sldId id="265"/>
            <p14:sldId id="266"/>
          </p14:sldIdLst>
        </p14:section>
        <p14:section name="Сценарии" id="{b62923ef-3f62-b4b9-c453-ef3fd696d286}">
          <p14:sldIdLst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Подчеркните аудитории: правильный путь определяется индивидуально после ознакомительной встречи; единого ответа для всех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защитить иностранных инвесторов в ОАЭ</a:t>
            </a:r>
            <a:endParaRPr lang="ru-RU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2"/>
                </a:solidFill>
              </a:rPr>
              <a:t>Семинар о завещаниях, защите активов и наследственном планировании для инвесторов и владельцев недвижимости</a:t>
            </a:r>
            <a:endParaRPr lang="ru-RU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Rashid Alkaitoob Advocates &amp; Legal Consultants · Дубай</a:t>
            </a:r>
            <a:endParaRPr lang="ru-RU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мы рассмотрим сегодня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Реальность: ошибки иностранных инвесторов</a:t>
            </a:r>
            <a:endParaRPr lang="ru-RU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Что на самом деле происходит без планирования</a:t>
            </a:r>
            <a:endParaRPr lang="ru-RU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Правовая база ОАЭ: реестры и варианты</a:t>
            </a:r>
            <a:endParaRPr lang="ru-RU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Инструменты защиты: от завещания до структурирования капитала</a:t>
            </a:r>
            <a:endParaRPr lang="ru-RU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Три практических сценария</a:t>
            </a:r>
            <a:endParaRPr lang="ru-RU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Быстрая самопроверка и ответы на вопросы</a:t>
            </a:r>
            <a:endParaRPr lang="ru-RU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Реальность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Иностранные инвесторы тратят миллионы дирхамов и забывают один вопрос: что будет дальше?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Типичные ошибки иностранных инвесторов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ОШИБКИ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TriangleExclama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Полагать, что право вашей страны применяется автоматически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Процедуры в ОАЭ зависят от гражданства, религии и обстоятельств.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TriangleExclama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Покупка недвижимости без завещания или структуры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Большинство покупателей не знают правил наследования в ОАЭ.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TriangleExclama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Активы в нескольких странах без единого плана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Противоречивые или отсутствующие завещания означают задержки и споры.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TriangleExclama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Неоформленная опека над детьми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Никто официально не назначен заботиться о несовершеннолетних.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Triang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Доли в компаниях вне какого-либо плана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Бизнес останавливается, решения партнёров замораживаются.</a:t>
            </a:r>
            <a:endParaRPr lang="ru-RU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так происходит?</a:t>
            </a:r>
            <a:endParaRPr lang="ru-RU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Потому что никто не задал инвестору правильный вопрос в нужный момент. Сегодня мы его задаём.</a:t>
            </a:r>
            <a:endParaRPr lang="ru-RU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на самом деле происходит без планирования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ПОСЛЕДСТВИЯ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Замороженные счета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Банковские счета могут быть заморожены до выдачи приказа о распределении наследства, лишая семью средств на расходы.</a:t>
            </a:r>
            <a:endParaRPr lang="ru-RU" sz="140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Заблокированная передача собственности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Недвижимость ждёт процедур, которые могут быть долгими и сложными.</a:t>
            </a:r>
            <a:endParaRPr lang="ru-RU" sz="140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PeopleArrow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Семейные споры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Отсутствие ясности провоцирует конфликт между наследниками.</a:t>
            </a:r>
            <a:endParaRPr lang="ru-RU" sz="140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Проблемы для детей и наследников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Нет назначенного опекуна и ясного порядка для долей на родине или за рубежом.</a:t>
            </a:r>
            <a:endParaRPr lang="ru-RU" sz="14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Правовая база ОАЭ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У инвестора есть реальные варианты; важно выбрать правильный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регистрируются завещания в ОАЭ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ПРАВОВАЯ БАЗА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Суды Дубая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Регистрация завещаний немусульман в судах Дубая по правилам личного статуса немусульман.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Суды Абу-Даби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Регистрация в Судебном департаменте Абу-Даби для клиентов, предпочитающих этот путь.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Завещания DIFC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Реестр завещаний DIFC для немусульман, на английском языке, охватывает активы в ОАЭ.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Завещания ADGM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Реестр завещаний ADGM для немусульман, альтернативный англоязычный путь.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Шариат или иностранное право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950" dirty="0">
                <a:solidFill>
                  <a:schemeClr val="accent3"/>
                </a:solidFill>
              </a:rPr>
              <a:t>Применимое право определяем по гражданству, религии и пожеланиям клиента.</a:t>
            </a:r>
            <a:endParaRPr lang="ru-RU" sz="1300" dirty="0"/>
          </a:p>
        </p:txBody>
      </p:sp>
      <p:sp>
        <p:nvSpPr>
          <p:cNvPr id="19" name="Shape 12"/>
          <p:cNvSpPr/>
          <p:nvPr/>
        </p:nvSpPr>
        <p:spPr>
          <a:xfrm>
            <a:off x="59436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60533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2636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клиент — отдельный случай</a:t>
            </a:r>
            <a:endParaRPr lang="ru-RU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62636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bg2"/>
                </a:solidFill>
              </a:rPr>
              <a:t>Гражданство, религия, семейное положение и местонахождение активов определяют правильный путь. Поэтому мы всегда начинаем с ознакомительной встречи, а не с типа завещания.</a:t>
            </a:r>
            <a:endParaRPr lang="ru-RU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пути вкратце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ОБЩЕЕ СРАВНЕНИЕ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Местные суды (Дубай / Абу-Даби)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25908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Местная регистрация завещаний немусульман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Документ на арабском с заверенным переводом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Подходит тем, кто предпочитает местный путь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3276600" y="1188720"/>
            <a:ext cx="25908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37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Завещания DIFC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3276600" y="1737360"/>
            <a:ext cx="25908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37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Реестр завещаний для немусульман в Дубае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Документ на английском, охватывающий активы в ОАЭ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Частый выбор европейцев, россиян и индийцев</a:t>
            </a:r>
            <a:endParaRPr lang="ru-RU" sz="1100" dirty="0"/>
          </a:p>
        </p:txBody>
      </p:sp>
      <p:sp>
        <p:nvSpPr>
          <p:cNvPr id="12" name="Shape 10"/>
          <p:cNvSpPr/>
          <p:nvPr/>
        </p:nvSpPr>
        <p:spPr>
          <a:xfrm>
            <a:off x="6096000" y="1188720"/>
            <a:ext cx="25908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1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Завещания ADGM</a:t>
            </a:r>
            <a:endParaRPr lang="ru-RU" sz="1300" dirty="0"/>
          </a:p>
        </p:txBody>
      </p:sp>
      <p:sp>
        <p:nvSpPr>
          <p:cNvPr id="14" name="Shape 12"/>
          <p:cNvSpPr/>
          <p:nvPr/>
        </p:nvSpPr>
        <p:spPr>
          <a:xfrm>
            <a:off x="6096000" y="1737360"/>
            <a:ext cx="25908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331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Реестр завещаний для немусульман в Абу-Даби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Документ на английском языке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Альтернативный путь в зависимости от активов и предпочтений</a:t>
            </a:r>
            <a:endParaRPr lang="ru-RU" sz="11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Инструменты защиты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От простого завещания до структурирования капитала на поколения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Доступные инструменты защиты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НАБОР ИНСТРУМЕНТОВ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Индивидуальное завещание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Ваши активы в ОАЭ, опекуны и исполнители.</a:t>
            </a:r>
            <a:endParaRPr lang="ru-RU" sz="1250" dirty="0"/>
          </a:p>
        </p:txBody>
      </p:sp>
      <p:sp>
        <p:nvSpPr>
          <p:cNvPr id="7" name="Shape 4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UserGrou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91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Супружеские завещания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Два согласованных завещания, защищающих семью и детей.</a:t>
            </a:r>
            <a:endParaRPr lang="ru-RU" sz="1250" dirty="0"/>
          </a:p>
        </p:txBody>
      </p:sp>
      <p:sp>
        <p:nvSpPr>
          <p:cNvPr id="10" name="Shape 6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Завещание на недвижимость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Только для недвижимости в ОАЭ.</a:t>
            </a:r>
            <a:endParaRPr lang="ru-RU" sz="1250" dirty="0"/>
          </a:p>
        </p:txBody>
      </p:sp>
      <p:sp>
        <p:nvSpPr>
          <p:cNvPr id="13" name="Shape 8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riefcas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18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Завещание на бизнес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Доли в компаниях и непрерывность бизнеса.</a:t>
            </a:r>
            <a:endParaRPr lang="ru-RU" sz="1250" dirty="0"/>
          </a:p>
        </p:txBody>
      </p:sp>
      <p:sp>
        <p:nvSpPr>
          <p:cNvPr id="16" name="Shape 10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Холдинг / SPV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Холдинговая компания, связанная с планом наследования.</a:t>
            </a:r>
            <a:endParaRPr lang="ru-RU" sz="1250" dirty="0"/>
          </a:p>
        </p:txBody>
      </p:sp>
      <p:sp>
        <p:nvSpPr>
          <p:cNvPr id="19" name="Shape 12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Landmar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918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Фонд или траст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Защита капитала на протяжении поколений.</a:t>
            </a:r>
            <a:endParaRPr lang="ru-RU" sz="1250" dirty="0"/>
          </a:p>
        </p:txBody>
      </p:sp>
      <p:sp>
        <p:nvSpPr>
          <p:cNvPr id="22" name="Shape 14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PeopleRoof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7468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Семейное управление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Семейный офис и партнёрские соглашения.</a:t>
            </a:r>
            <a:endParaRPr lang="ru-RU" sz="1250" dirty="0"/>
          </a:p>
        </p:txBody>
      </p:sp>
      <p:sp>
        <p:nvSpPr>
          <p:cNvPr id="25" name="Shape 16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6" name="icon FaKey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2018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Передача собственности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Представление наследников и завершение процедур.</a:t>
            </a:r>
            <a:endParaRPr lang="ru-RU" sz="1250" dirty="0"/>
          </a:p>
        </p:txBody>
      </p:sp>
      <p:sp>
        <p:nvSpPr>
          <p:cNvPr id="28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должен охватывать хороший план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ЧЕК-ЛИСТ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ist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Каждый актив в ОАЭ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Недвижимость, счета, компании, автомобили, инвестиции.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ist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Опекуны и исполнители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Кто заботится о детях и кто исполняет завещание.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ist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Наследники в ОАЭ и за рубежом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Согласован с любым завещанием в вашей стране.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Применимое право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Шариат, иностранное право или выбранная вами структура.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List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Периодический пересмотр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План обновляется при любом изменении ваших активов или семьи.</a:t>
            </a:r>
            <a:endParaRPr lang="ru-RU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практических сценария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Вымышленные имена, ситуации, которые мы видим каждую неделю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случая, которые мы видим каждую неделю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ПРАКТИЧЕСКИЕ СЦЕНАРИИ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Инвестор в недвижимость с семьёй за рубежом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Владеет двумя квартирами в Дубае; супруга и дети живут в Европе. Решение: зарегистрированное завещание на недвижимость с указанием наследников и исполнителя, согласованное с завещанием в родной стране.</a:t>
            </a:r>
            <a:endParaRPr lang="ru-RU" sz="140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768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Владелец компании с партнёрами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Владеет долей в дубайской компании с двумя партнёрами. Решение: завещание на бизнес и соглашение партнёров, которые сохраняют принятие решений и передают долю.</a:t>
            </a:r>
            <a:endParaRPr lang="ru-RU" sz="1400" dirty="0"/>
          </a:p>
        </p:txBody>
      </p:sp>
      <p:sp>
        <p:nvSpPr>
          <p:cNvPr id="10" name="Shape 6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168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971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400" b="1" dirty="0">
                <a:solidFill>
                  <a:schemeClr val="tx1"/>
                </a:solidFill>
              </a:rPr>
              <a:t>Супружеская пара с детьми в ОАЭ</a:t>
            </a:r>
            <a:endParaRPr lang="ru-RU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150" dirty="0">
                <a:solidFill>
                  <a:schemeClr val="accent3"/>
                </a:solidFill>
              </a:rPr>
              <a:t>Резиденты с двумя несовершеннолетними детьми и местными счетами. Решение: супружеские завещания с назначением опекуна и защитой счетов и жилья.</a:t>
            </a:r>
            <a:endParaRPr lang="ru-RU" sz="14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чего начать: пять шагов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ПРОЦЕСС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Ознакомительная встреча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Ваше гражданство, семья, активы, компании, дети, счета.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213603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603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Оценка рисков</a:t>
            </a:r>
            <a:endParaRPr lang="ru-RU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Только завещание? DIFC или ADGM? Структурирование? Фонд?</a:t>
            </a:r>
            <a:endParaRPr lang="ru-RU" sz="1050" dirty="0"/>
          </a:p>
        </p:txBody>
      </p:sp>
      <p:sp>
        <p:nvSpPr>
          <p:cNvPr id="13" name="Shape 11"/>
          <p:cNvSpPr/>
          <p:nvPr/>
        </p:nvSpPr>
        <p:spPr>
          <a:xfrm>
            <a:off x="3814877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14877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Письменное предложение</a:t>
            </a:r>
            <a:endParaRPr lang="ru-RU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Объём, гонорар, сроки, стоимость регистрации.</a:t>
            </a:r>
            <a:endParaRPr lang="ru-RU" sz="1050" dirty="0"/>
          </a:p>
        </p:txBody>
      </p:sp>
      <p:sp>
        <p:nvSpPr>
          <p:cNvPr id="17" name="Shape 15"/>
          <p:cNvSpPr/>
          <p:nvPr/>
        </p:nvSpPr>
        <p:spPr>
          <a:xfrm>
            <a:off x="5493715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9371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Составление</a:t>
            </a:r>
            <a:endParaRPr lang="ru-RU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Завещание, перевод, свидетели, нотариальное заверение.</a:t>
            </a:r>
            <a:endParaRPr lang="ru-RU" sz="1050" dirty="0"/>
          </a:p>
        </p:txBody>
      </p:sp>
      <p:sp>
        <p:nvSpPr>
          <p:cNvPr id="21" name="Shape 19"/>
          <p:cNvSpPr/>
          <p:nvPr/>
        </p:nvSpPr>
        <p:spPr>
          <a:xfrm>
            <a:off x="717255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255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Регистрация</a:t>
            </a:r>
            <a:endParaRPr lang="ru-RU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В выбранном органе, с прямым сопровождением.</a:t>
            </a:r>
            <a:endParaRPr lang="ru-RU" sz="105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Быстрая самопроверка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ОТВЕТЬТЕ ДА ИЛИ НЕТ</a:t>
            </a:r>
            <a:endParaRPr lang="ru-RU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dirty="0">
                <a:solidFill>
                  <a:schemeClr val="accent1"/>
                </a:solidFill>
              </a:rPr>
              <a:t>ВОПРОС</a:t>
            </a:r>
            <a:endParaRPr lang="ru-RU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16636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dirty="0">
                <a:solidFill>
                  <a:schemeClr val="accent1"/>
                </a:solidFill>
              </a:rPr>
              <a:t>ЕСЛИ ОТВЕТ ДА</a:t>
            </a:r>
            <a:endParaRPr lang="ru-RU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1463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недвижимость в ОАЭ?</a:t>
            </a:r>
            <a:endParaRPr lang="ru-RU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Вам нужно как минимум завещание на недвижимость</a:t>
            </a:r>
            <a:endParaRPr lang="ru-RU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933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1920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компании или доли?</a:t>
            </a:r>
            <a:endParaRPr lang="ru-RU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1920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Вам нужно завещание на бизнес или структурирование</a:t>
            </a:r>
            <a:endParaRPr lang="ru-RU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3774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450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" y="2377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несовершеннолетние дети?</a:t>
            </a:r>
            <a:endParaRPr lang="ru-RU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166360" y="23774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Вам нужен официально назначенный опекун</a:t>
            </a:r>
            <a:endParaRPr lang="ru-RU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907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440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Ваши наследники за пределами ОАЭ?</a:t>
            </a:r>
            <a:endParaRPr lang="ru-RU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5166360" y="28346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Вам нужно тщательно выбрать реестр и право</a:t>
            </a:r>
            <a:endParaRPr lang="ru-RU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364992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40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У вас есть активы более чем в одной стране?</a:t>
            </a:r>
            <a:endParaRPr lang="ru-RU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5166360" y="32918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Вам нужен единый план или холдинговая структура</a:t>
            </a:r>
            <a:endParaRPr lang="ru-RU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822192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1440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50" dirty="0">
                <a:solidFill>
                  <a:schemeClr val="tx1"/>
                </a:solidFill>
              </a:rPr>
              <a:t>Прошло более трёх лет с вашего последнего завещания?</a:t>
            </a:r>
            <a:endParaRPr lang="ru-RU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5166360" y="3749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100" b="1" dirty="0">
                <a:solidFill>
                  <a:schemeClr val="accent4"/>
                </a:solidFill>
              </a:rPr>
              <a:t>Вам нужен пересмотр</a:t>
            </a:r>
            <a:endParaRPr lang="ru-RU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50" i="1" dirty="0">
                <a:solidFill>
                  <a:schemeClr val="accent3"/>
                </a:solidFill>
              </a:rPr>
              <a:t>Одного «да» достаточно, чтобы получить бесплатную первую консультацию.</a:t>
            </a:r>
            <a:endParaRPr lang="ru-RU" sz="950" dirty="0"/>
          </a:p>
        </p:txBody>
      </p:sp>
      <p:sp>
        <p:nvSpPr>
          <p:cNvPr id="3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Фирма в цифрах</a:t>
            </a:r>
            <a:endParaRPr lang="ru-RU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300" b="1" dirty="0">
                <a:solidFill>
                  <a:schemeClr val="bg1"/>
                </a:solidFill>
              </a:rPr>
              <a:t>Год основания</a:t>
            </a:r>
            <a:endParaRPr lang="ru-RU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2"/>
                </a:solidFill>
              </a:rPr>
              <a:t>Лицензированная юридическая фирма в Дубае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25717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546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7546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300" b="1" dirty="0">
                <a:solidFill>
                  <a:schemeClr val="bg1"/>
                </a:solidFill>
              </a:rPr>
              <a:t>Направлений практики</a:t>
            </a:r>
            <a:endParaRPr lang="ru-RU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2"/>
                </a:solidFill>
              </a:rPr>
              <a:t>Судебные споры, консультации и договоры</a:t>
            </a:r>
            <a:endParaRPr lang="ru-RU" sz="1300" dirty="0"/>
          </a:p>
        </p:txBody>
      </p:sp>
      <p:sp>
        <p:nvSpPr>
          <p:cNvPr id="9" name="Shape 7"/>
          <p:cNvSpPr/>
          <p:nvPr/>
        </p:nvSpPr>
        <p:spPr>
          <a:xfrm>
            <a:off x="46863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91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300" b="1" dirty="0">
                <a:solidFill>
                  <a:schemeClr val="bg1"/>
                </a:solidFill>
              </a:rPr>
              <a:t>Рабочих языка</a:t>
            </a:r>
            <a:endParaRPr lang="ru-RU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2"/>
                </a:solidFill>
              </a:rPr>
              <a:t>Арабский · Английский · Китайский · Русский</a:t>
            </a:r>
            <a:endParaRPr lang="ru-RU" sz="1300" dirty="0"/>
          </a:p>
        </p:txBody>
      </p:sp>
      <p:sp>
        <p:nvSpPr>
          <p:cNvPr id="12" name="Shape 10"/>
          <p:cNvSpPr/>
          <p:nvPr/>
        </p:nvSpPr>
        <p:spPr>
          <a:xfrm>
            <a:off x="68008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837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Залив и Азия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837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300" b="1" dirty="0">
                <a:solidFill>
                  <a:schemeClr val="bg1"/>
                </a:solidFill>
              </a:rPr>
              <a:t>Региональное и международное присутствие</a:t>
            </a:r>
            <a:endParaRPr lang="ru-RU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50" dirty="0">
                <a:solidFill>
                  <a:schemeClr val="accent2"/>
                </a:solidFill>
              </a:rPr>
              <a:t>Отдельный китайский отдел для инвесторов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думайте «завещание». Думайте «защита активов»: завещание ассоциируется со смертью, защита — с инвестициями и безопасностью.</a:t>
            </a:r>
            <a:endParaRPr lang="ru-RU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2"/>
                </a:solidFill>
              </a:rPr>
              <a:t>Главный вывод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и ответы</a:t>
            </a:r>
            <a:endParaRPr lang="ru-RU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2"/>
                </a:solidFill>
              </a:rPr>
              <a:t>Бесплатная первая консультация для каждого участника, на вашем языке, там, где вам удобно</a:t>
            </a:r>
            <a:endParaRPr lang="ru-RU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Шейх Зайед Роуд, Saeed Tower 2, офис 501, Дубай, ОАЭ</a:t>
            </a:r>
            <a:endParaRPr lang="ru-RU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+971 4 359 5552  |  Моб. и WhatsApp: +971 52 107 4972</a:t>
            </a:r>
            <a:endParaRPr lang="ru-RU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ru-RU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Пн – Пт, 8:30 – 17:30  |  Арабский · Английский · Китайский · Русский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Как защитить иностранных инвесторов в ОАЭ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2026-10-27T13:23:58Z</dcterms:created>
  <dcterms:modified xsi:type="dcterms:W3CDTF">2026-10-27T13:23:58Z</dcterms:modified>
</cp:coreProperties>
</file>