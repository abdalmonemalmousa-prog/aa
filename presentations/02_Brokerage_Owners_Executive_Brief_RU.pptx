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9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редложение" id="{64ddcc58-961f-b2ec-3d59-1450e0e4dae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Число зарегистрированных завещаний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Зарегистрировано завещаний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 пол. 2023*</c:v>
                  </c:pt>
                  <c:pt idx="1">
                    <c:v>1 пол. 2024</c:v>
                  </c:pt>
                  <c:pt idx="2">
                    <c:v>1 пол. 2025</c:v>
                  </c:pt>
                  <c:pt idx="3">
                    <c:v>2024 год*</c:v>
                  </c:pt>
                  <c:pt idx="4">
                    <c:v>2025 год</c:v>
                  </c:pt>
                  <c:pt idx="5">
                    <c:v>1 кв.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764</c:v>
                </c:pt>
                <c:pt idx="1">
                  <c:v>810</c:v>
                </c:pt>
                <c:pt idx="2">
                  <c:v>922</c:v>
                </c:pt>
                <c:pt idx="3">
                  <c:v>1820</c:v>
                </c:pt>
                <c:pt idx="4">
                  <c:v>2220</c:v>
                </c:pt>
                <c:pt idx="5">
                  <c:v>883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Партнёрство по правовой защите инвесторов</a:t>
            </a:r>
            <a:endParaRPr lang="ru-RU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accent2"/>
                </a:solidFill>
              </a:rPr>
              <a:t>Краткая презентация для владельцев агентств недвижимости</a:t>
            </a:r>
            <a:endParaRPr lang="ru-RU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Rashid Alkaitoob Advocates &amp; Legal Consultants · Дубай</a:t>
            </a:r>
            <a:endParaRPr lang="ru-RU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мы встречаемся сегодня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ВСТУПЛЕНИЕ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ShieldHalve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03120"/>
            <a:ext cx="2651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Мы здесь не для продажи обычной юридической услуги</a:t>
            </a:r>
            <a:endParaRPr lang="ru-RU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026664"/>
            <a:ext cx="2651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00" dirty="0">
                <a:solidFill>
                  <a:schemeClr val="bg2"/>
                </a:solidFill>
              </a:rPr>
              <a:t>Вместе с вами мы создаём комплексную услугу защиты для инвестора в недвижимость, которая становится частью ценности, которую вы даёте.</a:t>
            </a:r>
            <a:endParaRPr lang="ru-RU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Проблема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Большинство иностранных инвесторов покупают недвижимость на миллионы дирхамов без завещания и правовой структуры.</a:t>
            </a:r>
            <a:endParaRPr lang="ru-RU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Что может произойти в экстренной ситуации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Заморозка счетов, блокировка передачи собственности, семейные споры и проблемы для детей и наследников.</a:t>
            </a:r>
            <a:endParaRPr lang="ru-RU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Решение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Профильный юридический партнёр берёт на себя всю правовую сторону, а отношения с клиентом остаются у вас.</a:t>
            </a:r>
            <a:endParaRPr lang="ru-RU" sz="130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Фирма в цифрах</a:t>
            </a:r>
            <a:endParaRPr lang="ru-RU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300" b="1" dirty="0">
                <a:solidFill>
                  <a:schemeClr val="bg1"/>
                </a:solidFill>
              </a:rPr>
              <a:t>Год основания</a:t>
            </a:r>
            <a:endParaRPr lang="ru-RU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2"/>
                </a:solidFill>
              </a:rPr>
              <a:t>Лицензированная юридическая фирма в Дубае</a:t>
            </a:r>
            <a:endParaRPr lang="ru-RU" sz="1300" dirty="0"/>
          </a:p>
        </p:txBody>
      </p:sp>
      <p:sp>
        <p:nvSpPr>
          <p:cNvPr id="6" name="Shape 4"/>
          <p:cNvSpPr/>
          <p:nvPr/>
        </p:nvSpPr>
        <p:spPr>
          <a:xfrm>
            <a:off x="257175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546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7546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300" b="1" dirty="0">
                <a:solidFill>
                  <a:schemeClr val="bg1"/>
                </a:solidFill>
              </a:rPr>
              <a:t>Направлений практики</a:t>
            </a:r>
            <a:endParaRPr lang="ru-RU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2"/>
                </a:solidFill>
              </a:rPr>
              <a:t>Судебные споры, консультации и договоры</a:t>
            </a:r>
            <a:endParaRPr lang="ru-RU" sz="1300" dirty="0"/>
          </a:p>
        </p:txBody>
      </p:sp>
      <p:sp>
        <p:nvSpPr>
          <p:cNvPr id="9" name="Shape 7"/>
          <p:cNvSpPr/>
          <p:nvPr/>
        </p:nvSpPr>
        <p:spPr>
          <a:xfrm>
            <a:off x="468630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91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300" b="1" dirty="0">
                <a:solidFill>
                  <a:schemeClr val="bg1"/>
                </a:solidFill>
              </a:rPr>
              <a:t>Рабочих языка</a:t>
            </a:r>
            <a:endParaRPr lang="ru-RU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2"/>
                </a:solidFill>
              </a:rPr>
              <a:t>Арабский · Английский · Китайский · Русский</a:t>
            </a:r>
            <a:endParaRPr lang="ru-RU" sz="1300" dirty="0"/>
          </a:p>
        </p:txBody>
      </p:sp>
      <p:sp>
        <p:nvSpPr>
          <p:cNvPr id="12" name="Shape 10"/>
          <p:cNvSpPr/>
          <p:nvPr/>
        </p:nvSpPr>
        <p:spPr>
          <a:xfrm>
            <a:off x="680085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837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Залив и Азия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837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300" b="1" dirty="0">
                <a:solidFill>
                  <a:schemeClr val="bg1"/>
                </a:solidFill>
              </a:rPr>
              <a:t>Региональное и международное присутствие</a:t>
            </a:r>
            <a:endParaRPr lang="ru-RU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2"/>
                </a:solidFill>
              </a:rPr>
              <a:t>Отдельный китайский отдел для инвесторов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Реальность в четырёх цифрах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ЦИФРЫ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ru-RU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экспатов ОАЭ ещё не начали составлять завещание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Опрос YouGov, сентябрь 2026</a:t>
            </a:r>
            <a:endParaRPr lang="ru-RU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35,000+</a:t>
            </a:r>
            <a:endParaRPr lang="ru-RU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зарегистрированных завещаний немусульман с 2015 г.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DIFC (более 14 000) плюс Абу-Даби (21 000) при населении свыше 11 млн</a:t>
            </a:r>
            <a:endParaRPr lang="ru-RU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</a:t>
            </a:r>
            <a:endParaRPr lang="ru-RU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рабочих дней: средний срок мирового урегулирования наследства в Дубае (2025)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против 24 дней в 2024 г. и 81 дня для судебных дел в 2023 г.</a:t>
            </a:r>
            <a:endParaRPr lang="ru-RU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 трлн</a:t>
            </a:r>
            <a:endParaRPr lang="ru-RU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активов семей стран Залива перейдёт следующему поколению к 2030 г.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и менее трети семейных компаний имеют план преемственности</a:t>
            </a:r>
            <a:endParaRPr lang="ru-RU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Источники: DIFC Courts, Судебный департамент Абу-Даби, суды Дубая, опрос YouGov (сент. 2026), Khaleej Times / Gulf News. Полные ссылки в презентации «Завещания и наследство в ОАЭ: что говорят цифры».</a:t>
            </a:r>
            <a:endParaRPr lang="ru-RU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DIFC: ежегодные регистрации ускоряются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ЦИФРЫ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+120%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рост в 1 кв. 2026 к 1 кв. 2025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2025: 2 220 завещаний (+22%). Заявления об исполнении завещаний: 41 в 2025 г. (+37%), 27 приказов только за 1 пол. 2025.</a:t>
            </a:r>
            <a:endParaRPr lang="ru-RU" sz="1000" dirty="0"/>
          </a:p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* Рассчитано по объявленным темпам роста.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Пресс-релизы DIFC Courts 2017–2026 и статистический портал</a:t>
            </a:r>
            <a:endParaRPr lang="ru-RU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Семейный бизнес Залива в цифрах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ЦИФРЫ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ru-RU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ВВП стран Залива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создаётся семейными компаниями</a:t>
            </a:r>
            <a:endParaRPr lang="ru-RU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ru-RU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рабочей силы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занято в семейных компаниях</a:t>
            </a:r>
            <a:endParaRPr lang="ru-RU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ru-RU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частного сектора ОАЭ и Саудовской Аравии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принадлежит семьям</a:t>
            </a:r>
            <a:endParaRPr lang="ru-RU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$1T</a:t>
            </a:r>
            <a:endParaRPr lang="ru-RU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активов перейдёт между поколениями к 2030 г.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по странам Залива</a:t>
            </a:r>
            <a:endParaRPr lang="ru-RU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Gulf News, фев. 2023 (Jersey Finance); Khaleej Times, май 2026 (Georgetown McDonough, программа в Дубае).</a:t>
            </a:r>
            <a:endParaRPr lang="ru-RU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получает ваш клиент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УСЛУГА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Действительное завещание, внесённое в реестр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Совместимое с судами Дубая, Абу-Даби, DIFC или ADGM в зависимости от случая.</a:t>
            </a:r>
            <a:endParaRPr lang="ru-RU" sz="1400" dirty="0"/>
          </a:p>
        </p:txBody>
      </p:sp>
      <p:sp>
        <p:nvSpPr>
          <p:cNvPr id="7" name="Shape 4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91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729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Защищённые недвижимость и счета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Механизмы, предотвращающие заморозку и закрепляющие порядок наследования.</a:t>
            </a:r>
            <a:endParaRPr lang="ru-RU" sz="1400" dirty="0"/>
          </a:p>
        </p:txBody>
      </p:sp>
      <p:sp>
        <p:nvSpPr>
          <p:cNvPr id="10" name="Shape 6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874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Защищённые семья и дети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Назначенные опекуны и определённые наследники в ОАЭ и за рубежом.</a:t>
            </a:r>
            <a:endParaRPr lang="ru-RU" sz="1400" dirty="0"/>
          </a:p>
        </p:txBody>
      </p:sp>
      <p:sp>
        <p:nvSpPr>
          <p:cNvPr id="13" name="Shape 8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Sitemap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1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020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Корпоративное структурирование и структурирование активов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Холдинг, SPV или фонд в зависимости от размера инвестиций.</a:t>
            </a:r>
            <a:endParaRPr lang="ru-RU" sz="1400" dirty="0"/>
          </a:p>
        </p:txBody>
      </p:sp>
      <p:sp>
        <p:nvSpPr>
          <p:cNvPr id="1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получает ваша компания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ЦЕННОСТЬ ДЛЯ ПАРТНЁРА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ru-RU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Доверие клиента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Клиент видит брокера, который заботится о защите, а не только о продаже.</a:t>
            </a:r>
            <a:endParaRPr lang="ru-RU" sz="1400" dirty="0"/>
          </a:p>
        </p:txBody>
      </p:sp>
      <p:sp>
        <p:nvSpPr>
          <p:cNvPr id="7" name="Shape 5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7291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ru-RU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77291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Выше процент закрытия сделок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Иностранные инвесторы спокойнее, когда знают, что есть правовая защита и решения по наследству.</a:t>
            </a:r>
            <a:endParaRPr lang="ru-RU" sz="1400" dirty="0"/>
          </a:p>
        </p:txBody>
      </p:sp>
      <p:sp>
        <p:nvSpPr>
          <p:cNvPr id="10" name="Shape 8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8746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ru-RU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88746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Дополнительный VIP-сервис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Вы позиционируете себя как полноценного инвестиционного советника.</a:t>
            </a:r>
            <a:endParaRPr lang="ru-RU" sz="1400" dirty="0"/>
          </a:p>
        </p:txBody>
      </p:sp>
      <p:sp>
        <p:nvSpPr>
          <p:cNvPr id="13" name="Shape 11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0201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ru-RU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00201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Дополнительный доход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Понятная и организованная реферальная структура, превращающая услугу в регулярный доход.</a:t>
            </a:r>
            <a:endParaRPr lang="ru-RU" sz="1400" dirty="0"/>
          </a:p>
        </p:txBody>
      </p:sp>
      <p:sp>
        <p:nvSpPr>
          <p:cNvPr id="1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Процесс очень прост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ПРОСТОЙ ПРОЦЕСС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Вы представляете услугу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Одна фраза в нужный момент плюс стандартное ознакомительное сообщение.</a:t>
            </a:r>
            <a:endParaRPr lang="ru-RU" sz="1050" dirty="0"/>
          </a:p>
        </p:txBody>
      </p:sp>
      <p:sp>
        <p:nvSpPr>
          <p:cNvPr id="9" name="Shape 7"/>
          <p:cNvSpPr/>
          <p:nvPr/>
        </p:nvSpPr>
        <p:spPr>
          <a:xfrm>
            <a:off x="255574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5574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55748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Мы берём на себя всю правовую сторону</a:t>
            </a:r>
            <a:endParaRPr lang="ru-RU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55748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Консультация, оценка рисков, составление, перевод, нотариальное заверение, регистрация.</a:t>
            </a:r>
            <a:endParaRPr lang="ru-RU" sz="1050" dirty="0"/>
          </a:p>
        </p:txBody>
      </p:sp>
      <p:sp>
        <p:nvSpPr>
          <p:cNvPr id="13" name="Shape 11"/>
          <p:cNvSpPr/>
          <p:nvPr/>
        </p:nvSpPr>
        <p:spPr>
          <a:xfrm>
            <a:off x="465429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42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54296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Наша команда ведёт клиента от начала до конца</a:t>
            </a:r>
            <a:endParaRPr lang="ru-RU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54296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Первый контакт в течение одного рабочего дня, регулярные обновления для вас и клиента.</a:t>
            </a:r>
            <a:endParaRPr lang="ru-RU" sz="1050" dirty="0"/>
          </a:p>
        </p:txBody>
      </p:sp>
      <p:sp>
        <p:nvSpPr>
          <p:cNvPr id="17" name="Shape 15"/>
          <p:cNvSpPr/>
          <p:nvPr/>
        </p:nvSpPr>
        <p:spPr>
          <a:xfrm>
            <a:off x="675284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5284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752844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Вы в курсе дел без какой-либо юридической ответственности</a:t>
            </a:r>
            <a:endParaRPr lang="ru-RU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752844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Ежемесячный отчёт и комиссия, выплачиваемая по соглашению.</a:t>
            </a:r>
            <a:endParaRPr lang="ru-RU" sz="1050" dirty="0"/>
          </a:p>
        </p:txBody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Ваша роль и наша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РАСПРЕДЕЛЕНИЕ РОЛЕЙ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2"/>
                </a:solidFill>
              </a:rPr>
              <a:t>Агентство</a:t>
            </a:r>
            <a:endParaRPr lang="ru-RU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Представляет услугу и направляет клиента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Представляет её как дополнительную ценность в своём предложении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Не даёт юридических консультаций и не гарантирует результатов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Получает реферальное вознаграждение</a:t>
            </a:r>
            <a:endParaRPr lang="ru-RU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Rashid Alkaitoob Advocates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Юридическая консультация и составление завещания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Регистрация и взаимодействие с органами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Защищает брокера от любой юридической ответственности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Сервис уровня консьерж на четырёх языках</a:t>
            </a:r>
            <a:endParaRPr lang="ru-RU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Мы запускаем вас сразу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ЧТО МЫ ДАЁМ ВАШЕЙ КОМАНДЕ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Chalkboard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Бесплатный семинар для вашего отдела продаж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Под названием «Как защитить иностранных инвесторов в ОАЭ».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omment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Бесплатная первая консультация для ваших клиентов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Чтобы объяснить варианты, подходящие каждому клиенту.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FolderOp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Готовые маркетинговые материалы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Брошюра, текст для WhatsApp, FAQ и презентация.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row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Консьерж-сервис для ваших ключевых клиентов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Встречи в офисе или дома у клиента, VIP-сопровождение, ускоренная регистрация.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636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Лучший момент</a:t>
            </a:r>
            <a:endParaRPr lang="ru-RU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636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bg2"/>
                </a:solidFill>
              </a:rPr>
              <a:t>После бронирования, при подписании SPA, после передачи объекта или при обсуждении долгосрочных инвестиций.</a:t>
            </a:r>
            <a:endParaRPr lang="ru-RU" sz="1150" dirty="0"/>
          </a:p>
        </p:txBody>
      </p:sp>
      <p:sp>
        <p:nvSpPr>
          <p:cNvPr id="2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Соглашение вкратце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ПРАВОВАЯ СТРУКТУРА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ArrowRightArrowLef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Механизм направления клиентов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Стандартное представление и контакт с нашей стороны в течение одного рабочего дня.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Percen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Размер комиссии и выплата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Фиксированный процент или сумма за клиента, выплачивается ежемесячно.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Конфиденциальность и защита данных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NDA и полная защита данных ваших клиентов.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Никакой юридической ответственности для вас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Вы не даёте юридических консультаций; всю профессиональную ответственность несём мы.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a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Запрет обхода (non-circumvention)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Ваши отношения с клиентами защищены на протяжении всего партнёрства.</a:t>
            </a:r>
            <a:endParaRPr lang="ru-RU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Мы не продаём «завещание». Мы помогаем вам защищать клиентов, повышать ценность ваших услуг и укреплять доверие инвесторов к вам.</a:t>
            </a:r>
            <a:endParaRPr lang="ru-RU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2"/>
                </a:solidFill>
              </a:rPr>
              <a:t>Rashid Alkaitoob Advocates &amp; Legal Consultants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Следующий шаг</a:t>
            </a:r>
            <a:endParaRPr lang="ru-RU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accent2"/>
                </a:solidFill>
              </a:rPr>
              <a:t>Короткая встреча для подписания соглашения о сотрудничестве и назначения семинара для вашего отдела продаж</a:t>
            </a:r>
            <a:endParaRPr lang="ru-RU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Шейх Зайед Роуд, Saeed Tower 2, офис 501, Дубай, ОАЭ</a:t>
            </a:r>
            <a:endParaRPr lang="ru-RU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+971 4 359 5552  |  Моб. и WhatsApp: +971 52 107 4972</a:t>
            </a:r>
            <a:endParaRPr lang="ru-RU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ru-RU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Пн – Пт, 8:30 – 17:30  |  Арабский · Английский · Китайский · Русский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Партнёрство по правовой защите инвесторов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2026-10-27T14:33:26Z</dcterms:created>
  <dcterms:modified xsi:type="dcterms:W3CDTF">2026-10-27T14:33:26Z</dcterms:modified>
</cp:coreProperties>
</file>