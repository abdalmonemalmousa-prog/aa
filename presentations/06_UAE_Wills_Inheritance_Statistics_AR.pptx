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6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0f2d3203-9520-fe54-ab0e-23532466f29f}">
          <p14:sldIdLst>
            <p14:sldId id="256"/>
            <p14:sldId id="257"/>
            <p14:sldId id="258"/>
          </p14:sldIdLst>
        </p14:section>
        <p14:section name="السياق" id="{be51551e-44b3-9789-ac64-03d08aa66b43}">
          <p14:sldIdLst>
            <p14:sldId id="259"/>
            <p14:sldId id="260"/>
          </p14:sldIdLst>
        </p14:section>
        <p14:section name="من يملك وصية" id="{7dac94ac-b048-dff0-245b-0cac1d1ec6b4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السرعة والمشاكل" id="{b03f6c4d-1ad0-0a1b-af3c-14f63a4c85be}">
          <p14:sldIdLst>
            <p14:sldId id="268"/>
            <p14:sldId id="269"/>
            <p14:sldId id="270"/>
            <p14:sldId id="271"/>
            <p14:sldId id="272"/>
          </p14:sldIdLst>
        </p14:section>
        <p14:section name="الشركات" id="{018033b0-1d88-ed1f-93e0-4ed9a3a26225}">
          <p14:sldIdLst>
            <p14:sldId id="273"/>
            <p14:sldId id="274"/>
            <p14:sldId id="275"/>
            <p14:sldId id="276"/>
          </p14:sldIdLst>
        </p14:section>
        <p14:section name="حدود البيانات" id="{61465e12-daaa-3526-3437-af68d4ca1561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السكان بالملايين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السكان (مليون)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الإمارات 2023</c:v>
                  </c:pt>
                  <c:pt idx="1">
                    <c:v>الإمارات 2024</c:v>
                  </c:pt>
                  <c:pt idx="2">
                    <c:v>دبي 2024</c:v>
                  </c:pt>
                  <c:pt idx="3">
                    <c:v>دبي 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10.68</c:v>
                </c:pt>
                <c:pt idx="1">
                  <c:v>11.29</c:v>
                </c:pt>
                <c:pt idx="2">
                  <c:v>3.86</c:v>
                </c:pt>
                <c:pt idx="3">
                  <c:v>4.58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إجمالي الوصايا المسجلة (الحد الأدنى المعلن)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إجمالي الوصايا المسجلة</c:v>
                </c:pt>
              </c:strCache>
            </c:strRef>
          </c:tx>
          <c:spPr>
            <a:solidFill>
              <a:srgbClr val="B5723B"/>
            </a:solidFill>
            <a:ln w="31750" cap="flat">
              <a:solidFill>
                <a:srgbClr val="B57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5723B"/>
              </a:solidFill>
              <a:ln w="9525" cap="flat">
                <a:solidFill>
                  <a:srgbClr val="B57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2017</c:v>
                  </c:pt>
                  <c:pt idx="1">
                    <c:v>2019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3000</c:v>
                </c:pt>
                <c:pt idx="1">
                  <c:v>5000</c:v>
                </c:pt>
                <c:pt idx="2">
                  <c:v>11000</c:v>
                </c:pt>
                <c:pt idx="3">
                  <c:v>13400</c:v>
                </c:pt>
                <c:pt idx="4">
                  <c:v>14373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عدد الوصايا المسجلة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وصايا مسجلة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النصف الأول 2023*</c:v>
                  </c:pt>
                  <c:pt idx="1">
                    <c:v>النصف الأول 2024</c:v>
                  </c:pt>
                  <c:pt idx="2">
                    <c:v>النصف الأول 2025</c:v>
                  </c:pt>
                  <c:pt idx="3">
                    <c:v>سنة 2024*</c:v>
                  </c:pt>
                  <c:pt idx="4">
                    <c:v>سنة 2025</c:v>
                  </c:pt>
                  <c:pt idx="5">
                    <c:v>الربع الأول 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764</c:v>
                </c:pt>
                <c:pt idx="1">
                  <c:v>810</c:v>
                </c:pt>
                <c:pt idx="2">
                  <c:v>922</c:v>
                </c:pt>
                <c:pt idx="3">
                  <c:v>1820</c:v>
                </c:pt>
                <c:pt idx="4">
                  <c:v>2220</c:v>
                </c:pt>
                <c:pt idx="5">
                  <c:v>883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الوصايا المسجلة في أبوظبي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وصايا مسجلة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2017–2019 (تراكمي)</c:v>
                  </c:pt>
                  <c:pt idx="1">
                    <c:v>2024*</c:v>
                  </c:pt>
                  <c:pt idx="2">
                    <c:v>2025</c:v>
                  </c:pt>
                  <c:pt idx="3">
                    <c:v>الإجمالي حتى يناير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1668</c:v>
                </c:pt>
                <c:pt idx="1">
                  <c:v>5000</c:v>
                </c:pt>
                <c:pt idx="2">
                  <c:v>11000</c:v>
                </c:pt>
                <c:pt idx="3">
                  <c:v>21000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متوسط الزمن بالأيام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أيام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2023: تقاضٍ، من التسجيل للحكم</c:v>
                  </c:pt>
                  <c:pt idx="1">
                    <c:v>2023–24: أول 11 شهراً، تسوية ودية</c:v>
                  </c:pt>
                  <c:pt idx="2">
                    <c:v>2024: تسوية ودية</c:v>
                  </c:pt>
                  <c:pt idx="3">
                    <c:v>2025: تسوية ودية (أيام عمل)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40</c:v>
                </c:pt>
                <c:pt idx="2">
                  <c:v>24</c:v>
                </c:pt>
                <c:pt idx="3">
                  <c:v>13.8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نسبة الشركات العائلية التي تستمر (بيانات عالمية)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نسبة البقاء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الجيل الثاني</c:v>
                  </c:pt>
                  <c:pt idx="1">
                    <c:v>الجيل الثالث</c:v>
                  </c:pt>
                  <c:pt idx="2">
                    <c:v>الجيل الرابع فما بعد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12</c:v>
                </c:pt>
                <c:pt idx="2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المصادر: Caunsel (أكتوبر 2026)، Dubai Wills Center (يناير 2026)، جلف نيوز (نوفمبر 2018). كلها تقديرات مكاتب خدمات وليست إحصاءات رسمية.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2823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2823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32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الوصايا والميراث في الإمارات: ما تقوله الأرقام</a:t>
            </a:r>
            <a:endParaRPr lang="ar-AE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chemeClr val="accent2"/>
                </a:solidFill>
              </a:rPr>
              <a:t>إحصائيات موثّقة 2000–2026: من يملك وصية، ومن لا يملك، وكم يستغرق تقسيم التركة، وما أثر ذلك على الشركات والاستثمارات</a:t>
            </a:r>
            <a:endParaRPr lang="ar-AE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راشد الكيتوب للمحاماة والاستشارات القانونية · دبي · أكتوبر 2026</a:t>
            </a:r>
            <a:endParaRPr lang="ar-AE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الخلاصة في أربعة أرقام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الملخص التنفيذي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ar-AE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من المقيمين الأجانب لم يبدأوا وصية بعد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استطلاع YouGov، سبتمبر 2026</a:t>
            </a:r>
            <a:endParaRPr lang="ar-AE" sz="1250" dirty="0"/>
          </a:p>
        </p:txBody>
      </p:sp>
      <p:sp>
        <p:nvSpPr>
          <p:cNvPr id="7" name="Shape 5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35,000+</a:t>
            </a:r>
            <a:endParaRPr lang="ar-AE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وصية مسجلة لغير المسلمين منذ 2015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DIFC (أكثر من 14,000) + أبوظبي (21,000)، في دولة يفوق سكانها 11 مليوناً</a:t>
            </a:r>
            <a:endParaRPr lang="ar-AE" sz="1250" dirty="0"/>
          </a:p>
        </p:txBody>
      </p:sp>
      <p:sp>
        <p:nvSpPr>
          <p:cNvPr id="10" name="Shape 8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</a:t>
            </a:r>
            <a:endParaRPr lang="ar-AE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يوم عمل متوسط التسوية الودية للتركات في دبي (2025)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مقابل 24 يوماً في 2024 و81 يوماً للتقاضي في 2023</a:t>
            </a:r>
            <a:endParaRPr lang="ar-AE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تريليون $</a:t>
            </a:r>
            <a:endParaRPr lang="ar-AE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من أصول العائلات الخليجية تنتقل للجيل التالي بحلول 2030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وأقل من ثلث الشركات العائلية لديها خطة خلافة</a:t>
            </a:r>
            <a:endParaRPr lang="ar-AE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800" i="1" dirty="0">
                <a:solidFill>
                  <a:schemeClr val="accent3"/>
                </a:solidFill>
              </a:rPr>
              <a:t>المصادر مفصّلة في الشريحة الأخيرة.</a:t>
            </a:r>
            <a:endParaRPr lang="ar-AE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محتويات العرض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السياق: من يعيش في الإمارات ومن يملك أصولاً فيها</a:t>
            </a:r>
            <a:endParaRPr lang="ar-AE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من يملك وصية ومن لا يملك: سجلات الوصايا والاستطلاعات</a:t>
            </a:r>
            <a:endParaRPr lang="ar-AE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سرعة إنجاز تقسيم التركات والمشاكل التي تحدث</a:t>
            </a:r>
            <a:endParaRPr lang="ar-AE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أثر غياب التخطيط على الشركات والاستثمارات</a:t>
            </a:r>
            <a:endParaRPr lang="ar-AE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ما تقوله الأرقام وما لا تقوله: حدود البيانات</a:t>
            </a:r>
            <a:endParaRPr lang="ar-AE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50" dirty="0">
                <a:solidFill>
                  <a:schemeClr val="tx1"/>
                </a:solidFill>
              </a:rPr>
              <a:t>المصادر</a:t>
            </a:r>
            <a:endParaRPr lang="ar-AE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السياق السكاني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دولة يشكّل الأجانب فيها الغالبية الساحقة من السكان ومن مالكي الأصول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أكثر من 11 مليون نسمة، ينمو العدد بسرعة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السكان</a:t>
            </a:r>
            <a:endParaRPr lang="ar-AE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47472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88.5%</a:t>
            </a:r>
            <a:endParaRPr lang="ar-AE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نسبة الأجانب من سكان الدولة</a:t>
            </a:r>
            <a:endParaRPr lang="ar-AE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آخر نسبة رسمية منشورة (المكتب الوطني للإحصاء، تعداد 2010: 7.3 مليون أجنبي من 8.26 مليون). الجهات الرسمية لم تنشر نسبة أحدث، والتقديرات المتداولة تبقى عند 88–90%.</a:t>
            </a:r>
            <a:endParaRPr lang="ar-AE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800" i="1" dirty="0">
                <a:solidFill>
                  <a:schemeClr val="accent3"/>
                </a:solidFill>
              </a:rPr>
              <a:t>المركز الاتحادي للتنافسية والإحصاء (11,294,243 نسمة نهاية 2024)؛ مركز دبي للإحصاء (تجاوز 4 ملايين في سبتمبر 2025؛ 4.58 مليون نهاية 2025).</a:t>
            </a:r>
            <a:endParaRPr lang="ar-AE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يملك وصية ومن لا يملك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لا يوجد سجل رسمي لمن توفوا بلا وصية. ما يوجد: سجلات الوصايا المسجلة، والاستطلاعات، وملفات التركات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2000–2026: متى أصبح تسجيل الوصية ممكناً أصلاً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الجدول الزمني القانوني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2000–2014</a:t>
            </a:r>
            <a:endParaRPr lang="ar-AE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لا يوجد سجل وصايا لغير المسلمين. التركات تُوزّع افتراضياً وفق أحكام الميراث الشرعي، والمنازعات شائعة.</a:t>
            </a:r>
            <a:endParaRPr lang="ar-AE" sz="1050" dirty="0"/>
          </a:p>
        </p:txBody>
      </p:sp>
      <p:sp>
        <p:nvSpPr>
          <p:cNvPr id="9" name="Shape 7"/>
          <p:cNvSpPr/>
          <p:nvPr/>
        </p:nvSpPr>
        <p:spPr>
          <a:xfrm>
            <a:off x="673912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3912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53328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2015</a:t>
            </a:r>
            <a:endParaRPr lang="ar-AE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53328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إطلاق سجل وصايا غير المسلمين في محاكم مركز دبي المالي العالمي (DIFC).</a:t>
            </a:r>
            <a:endParaRPr lang="ar-AE" sz="1050" dirty="0"/>
          </a:p>
        </p:txBody>
      </p:sp>
      <p:sp>
        <p:nvSpPr>
          <p:cNvPr id="13" name="Shape 11"/>
          <p:cNvSpPr/>
          <p:nvPr/>
        </p:nvSpPr>
        <p:spPr>
          <a:xfrm>
            <a:off x="5340096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009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2017</a:t>
            </a:r>
            <a:endParaRPr lang="ar-AE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54296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قانون دبي رقم 15 لإدارة تركات غير المسلمين، وبدء تسجيل الوصايا في دائرة القضاء بأبوظبي.</a:t>
            </a:r>
            <a:endParaRPr lang="ar-AE" sz="1050" dirty="0"/>
          </a:p>
        </p:txBody>
      </p:sp>
      <p:sp>
        <p:nvSpPr>
          <p:cNvPr id="17" name="Shape 15"/>
          <p:cNvSpPr/>
          <p:nvPr/>
        </p:nvSpPr>
        <p:spPr>
          <a:xfrm>
            <a:off x="394106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4106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255264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2019–2021</a:t>
            </a:r>
            <a:endParaRPr lang="ar-AE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255264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توسيع DIFC ليشمل أصول كل الإمارات والخارج (2019)؛ قانون أبوظبي 14/2021 للأحوال المدنية وإنشاء محكمة الأسرة المدنية.</a:t>
            </a:r>
            <a:endParaRPr lang="ar-AE" sz="1050" dirty="0"/>
          </a:p>
        </p:txBody>
      </p:sp>
      <p:sp>
        <p:nvSpPr>
          <p:cNvPr id="21" name="Shape 19"/>
          <p:cNvSpPr/>
          <p:nvPr/>
        </p:nvSpPr>
        <p:spPr>
          <a:xfrm>
            <a:off x="2542032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4203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856232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2022–2023</a:t>
            </a:r>
            <a:endParaRPr lang="ar-AE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856232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المرسوم الاتحادي 41/2022 للأحوال الشخصية المدنية لغير المسلمين؛ إنشاء محكمة التركات في دبي (المرسوم 25/2023).</a:t>
            </a:r>
            <a:endParaRPr lang="ar-AE" sz="1050" dirty="0"/>
          </a:p>
        </p:txBody>
      </p:sp>
      <p:sp>
        <p:nvSpPr>
          <p:cNvPr id="25" name="Shape 23"/>
          <p:cNvSpPr/>
          <p:nvPr/>
        </p:nvSpPr>
        <p:spPr>
          <a:xfrm>
            <a:off x="11430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430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2024–2026</a:t>
            </a:r>
            <a:endParaRPr lang="ar-AE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50" dirty="0">
                <a:solidFill>
                  <a:schemeClr val="accent3"/>
                </a:solidFill>
              </a:rPr>
              <a:t>نمو قياسي في التسجيل: +22% في DIFC عام 2025، وتضاعف وصايا أبوظبي إلى 11,000 في 2025.</a:t>
            </a:r>
            <a:endParaRPr lang="ar-AE" sz="1050" dirty="0"/>
          </a:p>
        </p:txBody>
      </p:sp>
      <p:sp>
        <p:nvSpPr>
          <p:cNvPr id="2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الوصايا المسجلة في DIFC: من 3,000 إلى أكثر من 14,000</a:t>
            </a:r>
            <a:endParaRPr lang="ar-AE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السجل التراكمي منذ 2015</a:t>
            </a:r>
            <a:endParaRPr lang="ar-AE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47472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14,373</a:t>
            </a:r>
            <a:endParaRPr lang="ar-AE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وصية مسجلة حتى منتصف 2026</a:t>
            </a:r>
            <a:endParaRPr lang="ar-AE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نوفمبر 2017: أكثر من 3,000. يوليو 2019: أكثر من 5,000. يوليو 2024: أكثر من 11,000. يوليو 2025: أكثر من 13,400. أبريل 2026: أكثر من 14,000.</a:t>
            </a:r>
            <a:endParaRPr lang="ar-AE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800" i="1" dirty="0">
                <a:solidFill>
                  <a:schemeClr val="accent3"/>
                </a:solidFill>
              </a:rPr>
              <a:t>محاكم مركز دبي المالي العالمي، بيانات صحفية 2017–2026 وبوابة الإحصاءات</a:t>
            </a:r>
            <a:endParaRPr lang="ar-AE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DIFC: تسارع واضح في التسجيل السنوي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التسجيل حسب الفترة</a:t>
            </a:r>
            <a:endParaRPr lang="ar-AE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47472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+120%</a:t>
            </a:r>
            <a:endParaRPr lang="ar-AE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نمو الربع الأول 2026 مقارنة بالربع الأول 2025</a:t>
            </a:r>
            <a:endParaRPr lang="ar-AE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2025: 2,220 وصية (+22%). طلبات تنفيذ الوصايا (Probate): 41 طلباً في 2025 (+37%)، و27 أمراً في النصف الأول 2025 وحده.</a:t>
            </a:r>
            <a:endParaRPr lang="ar-AE" sz="1000" dirty="0"/>
          </a:p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* أرقام محسوبة من نسب النمو المعلنة.</a:t>
            </a:r>
            <a:endParaRPr lang="ar-AE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800" i="1" dirty="0">
                <a:solidFill>
                  <a:schemeClr val="accent3"/>
                </a:solidFill>
              </a:rPr>
              <a:t>محاكم مركز دبي المالي العالمي، بيانات صحفية 2017–2026 وبوابة الإحصاءات</a:t>
            </a:r>
            <a:endParaRPr lang="ar-AE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أبوظبي: تضاعف الوصايا المدنية في عام واحد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دائرة القضاء في أبوظبي</a:t>
            </a:r>
            <a:endParaRPr lang="ar-AE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47472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ar-AE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جنسية سجّلت وصاياها في أبوظبي حتى 2019</a:t>
            </a:r>
            <a:endParaRPr lang="ar-AE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من أصل 1,668 وصية: 872 هندياً، 189 بريطانياً، 96 جنوب أفريقي. في 2025 سُجّلت نحو 11,000 وصية، «أكثر من ضعف» 2024 (* 2024 تقدير أقل من 5,500). الربع الأول 2026: 8,886 معاملة زواج مدني ووصايا.</a:t>
            </a:r>
            <a:endParaRPr lang="ar-AE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800" i="1" dirty="0">
                <a:solidFill>
                  <a:schemeClr val="accent3"/>
                </a:solidFill>
              </a:rPr>
              <a:t>دائرة القضاء في أبوظبي عبر جلف نيوز (ديسمبر 2019، يناير 2026)</a:t>
            </a:r>
            <a:endParaRPr lang="ar-AE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لا يملك وصية: ما تقوله الاستطلاعات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الاستطلاعات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ar-AE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لم يبدأوا وصية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من المقيمين الأجانب في الإمارات، 2026</a:t>
            </a:r>
            <a:endParaRPr lang="ar-AE" sz="1250" dirty="0"/>
          </a:p>
        </p:txBody>
      </p:sp>
      <p:sp>
        <p:nvSpPr>
          <p:cNvPr id="7" name="Shape 5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ar-AE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يعتقدون أن الزوج/الزوجة يرث كل شيء تلقائياً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وهو اعتقاد خاطئ قانونياً</a:t>
            </a:r>
            <a:endParaRPr lang="ar-AE" sz="1250" dirty="0"/>
          </a:p>
        </p:txBody>
      </p:sp>
      <p:sp>
        <p:nvSpPr>
          <p:cNvPr id="10" name="Shape 8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ar-AE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فقط من الآباء وثّقوا الوصاية على أطفالهم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مقابل 73% يظنون أن عائلاتهم ستعرف رغباتهم</a:t>
            </a:r>
            <a:endParaRPr lang="ar-AE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نحو 90%</a:t>
            </a:r>
            <a:endParaRPr lang="ar-AE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من مالكي الأصول في دبي لم يكن لديهم وصية مسجلة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استطلاع سجل وصايا DIFC، 2017: «أكثر بقليل من 10%» لديهم وصية</a:t>
            </a:r>
            <a:endParaRPr lang="ar-AE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800" i="1" dirty="0">
                <a:solidFill>
                  <a:schemeClr val="accent3"/>
                </a:solidFill>
              </a:rPr>
              <a:t>المصدر: استطلاع YouGov لصالح Blanket، 1,014 مقيماً، سبتمبر 2026؛ واستطلاع سجل وصايا DIFC لعام 2017. أبرز أسباب عدم كتابة الوصية: 28% يرون أصولهم غير كافية، و21% لا يعرفون من أين يبدؤون.</a:t>
            </a:r>
            <a:endParaRPr lang="ar-AE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أقل من 1%</a:t>
            </a:r>
            <a:endParaRPr lang="ar-AE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المقيمين الأجانب لديهم وصية مسجلة في الإمارات</a:t>
            </a:r>
            <a:endParaRPr lang="ar-AE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31546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chemeClr val="accent2"/>
                </a:solidFill>
              </a:rPr>
              <a:t>تقديرنا الاسترشادي: نحو 35,000 وصية مسجلة لغير المسلمين (DIFC أكثر من 14,000 + أبوظبي 21,000، بالإضافة إلى سجل محاكم دبي غير المنشور) مقابل نحو 10 ملايين مقيم أجنبي. حتى لو تضاعف الرقم ثلاث مرات، تبقى النسبة دون 1%.</a:t>
            </a:r>
            <a:endParaRPr lang="ar-AE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900" i="1" dirty="0">
                <a:solidFill>
                  <a:schemeClr val="accent3"/>
                </a:solidFill>
              </a:rPr>
              <a:t>حساب مكتب راشد الكيتوب من الأرقام الرسمية المذكورة في هذا العرض. ليس إحصائية رسمية.</a:t>
            </a:r>
            <a:endParaRPr lang="ar-AE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سرعة إنجاز التركات والمشاكل التي تحدث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أرقام محاكم دبي الرسمية، وتقديرات الممارسين لحالات الوصية وغيابها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تركات محاكم دبي 2022–2025 بالأرقام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البيانات الرسمية</a:t>
            </a:r>
            <a:endParaRPr lang="ar-AE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828800"/>
                <a:gridCol w="2377440"/>
                <a:gridCol w="914400"/>
              </a:tblGrid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التسوية الودية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الزمن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القيمة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الحجم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السنة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غير منشور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غير منشور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3.80 مليار درهم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2,079 تركة: 1,555 لمسلمين، 500 لغير مسلمين، 24 خاصة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2022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92.6%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81 يوماً من التسجيل للحكم؛ 28 يوماً انتظار أول جلسة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4.12 مليار درهم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580 قضية محسومة: 512 لمسلمين، 38 لغير مسلمين، 30 خاصة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2023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84%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24 يوماً للتسوية الودية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أكثر من 10 مليارات درهم تسويات؛ 35 مليار درهم مطالبات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1,814 ملف تركة في أول 11 شهراً لمحكمة التركات؛ 1,407 إشهاد حصر إرث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2024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92.5%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13.8 يوم عمل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5.26 مليار درهم تسويات؛ 3.5 مليار درهم وُزّعت على الورثة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1,101 اتفاقية موثقة؛ 1,052 عقاراً؛ 284 رخصة تجارية؛ 357 مركبة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2025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950" i="1" dirty="0">
                <a:solidFill>
                  <a:schemeClr val="accent3"/>
                </a:solidFill>
              </a:rPr>
              <a:t>الوحدات تختلف بين السنوات (تركات، قضايا، ملفات، اتفاقيات) ولا تُقارن مباشرة. المصدر: تقارير محاكم دبي السنوية والمكتب الإعلامي لحكومة دبي.</a:t>
            </a:r>
            <a:endParaRPr lang="ar-AE" sz="95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دبي تختصر زمن تسوية التركات من 81 يوماً إلى 13.8</a:t>
            </a:r>
            <a:endParaRPr lang="ar-AE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الزمن</a:t>
            </a:r>
            <a:endParaRPr lang="ar-AE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47472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→ 3</a:t>
            </a:r>
            <a:endParaRPr lang="ar-AE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يوماً: زمن إجراءات الوفاة بعد منصة «جبر» (أكتوبر 2025)</a:t>
            </a:r>
            <a:endParaRPr lang="ar-AE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المتطلبات من 10 إلى 4، و1,103 حالة في أول ثلاثة أشهر. القيود التنظيمية لمحكمة التركات: التحضير ≤ 30 يوماً، والتقاضي ≤ 12 شهراً. ما يحدث خارج دبي، أو بلا وصية، أو مع نزاع، لا تغطيه هذه الأرقام.</a:t>
            </a:r>
            <a:endParaRPr lang="ar-AE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800" i="1" dirty="0">
                <a:solidFill>
                  <a:schemeClr val="accent3"/>
                </a:solidFill>
              </a:rPr>
              <a:t>محاكم دبي: التقارير السنوية 2022–2025 والمكتب الإعلامي لحكومة دبي</a:t>
            </a:r>
            <a:endParaRPr lang="ar-AE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مع وصية مسجلة وبدونها: تقديرات الممارسين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لا توجد إحصائية رسمية تقارن الحالتين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مع وصية مسجلة (DIFC / أبوظبي / محاكم دبي)</a:t>
            </a:r>
            <a:endParaRPr lang="ar-AE" sz="1300" dirty="0"/>
          </a:p>
        </p:txBody>
      </p:sp>
      <p:sp>
        <p:nvSpPr>
          <p:cNvPr id="6" name="Shape 4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أمر التنفيذ وتوزيع الأصول خلال 4–8 أسابيع (تقدير 2026)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تقدير آخر: شهران إلى أربعة أشهر مع وصية واضحة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الورثة والأوصياء والمنفذون محددون مسبقاً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لا حاجة لتصديق وثائق أجنبية أو إثبات القانون الأجنبي</a:t>
            </a:r>
            <a:endParaRPr lang="ar-AE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accent2"/>
                </a:solidFill>
              </a:rPr>
              <a:t>بدون وصية</a:t>
            </a:r>
            <a:endParaRPr lang="ar-AE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3 إلى 12 شهراً عبر محاكم الأحوال الشخصية وتصديق الوثائق (تقدير 2026)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تقدير آخر: 4 إلى 9 أشهر وأكثر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التركات المتنازع عليها: سنة أو أكثر؛ الطعون قد تمتد إلى 5 سنوات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التوزيع وفق القانون الافتراضي، لا وفق رغبة المتوفى</a:t>
            </a:r>
            <a:endParaRPr lang="ar-AE" sz="1100" dirty="0"/>
          </a:p>
        </p:txBody>
      </p:sp>
      <p:sp>
        <p:nvSpPr>
          <p:cNvPr id="1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المشاكل التي تحدث فعلاً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ما وراء الأرقام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تجميد الحسابات البنكية فوراً، بما فيها المشتركة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تبقى مجمّدة حتى صدور أوامر التوزيع؛ الإفراج الجزئي نادر، والإفراج بعد الأوامر يستغرق 2–6 أسابيع إضافية.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تعطّل نقل ملكية العقارات والمركبات والرخص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في دبي وحدها مرّ عبر تسويات التركات في 2025: 1,052 عقاراً، 357 مركبة، 240 لوحة، 284 رخصة تجارية.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وصاية غير موثقة على الأطفال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24% فقط من الآباء وثّقوا الوصاية؛ أما 28% فيظنون أنهم لا يملكون أصولاً تستحق وصية.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PeopleArrow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5720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النزاعات بين الورثة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مطالبات بقيمة 35 مليار درهم أمام محكمة التركات في دبي عام 2024، و7.5% من الملفات في 2025 لم تُحل ودياً.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FileCircleExclama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5720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وثائق أجنبية تحتاج تصديقاً وترجمة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في غياب وصية محلية، يجب تصديق شهادات الزواج والميلاد وإثبات القانون الأجنبي، وهو أكبر مصدر للتأخير.</a:t>
            </a:r>
            <a:endParaRPr lang="ar-AE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أثر ذلك على الشركات والاستثمارات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الشركات العائلية تشكّل عصب الاقتصاد الخليجي، ومعظمها بلا خطة خلافة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الشركات العائلية في الخليج بالأرقام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حجم المخاطر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ar-AE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من الناتج المحلي الخليجي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تساهم به الشركات العائلية</a:t>
            </a:r>
            <a:endParaRPr lang="ar-AE" sz="1250" dirty="0"/>
          </a:p>
        </p:txBody>
      </p:sp>
      <p:sp>
        <p:nvSpPr>
          <p:cNvPr id="7" name="Shape 5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ar-AE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من القوى العاملة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يعملون في شركات عائلية</a:t>
            </a:r>
            <a:endParaRPr lang="ar-AE" sz="1250" dirty="0"/>
          </a:p>
        </p:txBody>
      </p:sp>
      <p:sp>
        <p:nvSpPr>
          <p:cNvPr id="10" name="Shape 8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ar-AE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من القطاع الخاص في الإمارات والسعودية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شركات مملوكة لعائلات</a:t>
            </a:r>
            <a:endParaRPr lang="ar-AE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$1T</a:t>
            </a:r>
            <a:endParaRPr lang="ar-AE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أصول تنتقل بين الأجيال بحلول 2030</a:t>
            </a:r>
            <a:endParaRPr lang="ar-AE" sz="1250" dirty="0"/>
          </a:p>
          <a:p>
            <a:pPr algn="r" indent="0" marL="0">
              <a:spcAft>
                <a:spcPts val="300"/>
              </a:spcAft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في دول مجلس التعاون</a:t>
            </a:r>
            <a:endParaRPr lang="ar-AE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800" i="1" dirty="0">
                <a:solidFill>
                  <a:schemeClr val="accent3"/>
                </a:solidFill>
              </a:rPr>
              <a:t>جلف نيوز، فبراير 2023 (Jersey Finance)؛ خليج تايمز، مايو 2026 (جامعة جورجتاون، برنامج دبي).</a:t>
            </a:r>
            <a:endParaRPr lang="ar-AE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ثلاث شركات من كل عشر تصل إلى الجيل الثاني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البقاء عبر الأجيال</a:t>
            </a:r>
            <a:endParaRPr lang="ar-AE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47472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أقل من 30%</a:t>
            </a:r>
            <a:endParaRPr lang="ar-AE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250" b="1" dirty="0">
                <a:solidFill>
                  <a:schemeClr val="tx1"/>
                </a:solidFill>
              </a:rPr>
              <a:t>فقط لديها خطة خلافة واضحة ومُبلّغة</a:t>
            </a:r>
            <a:endParaRPr lang="ar-AE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000" dirty="0">
                <a:solidFill>
                  <a:schemeClr val="accent3"/>
                </a:solidFill>
              </a:rPr>
              <a:t>و22% فقط من أبناء الجيل التالي في الإمارات ينوون الانضمام إلى شركة العائلة. تقدير آخر (Citi، 2023): البقاء 50% للجيل الثاني و10% للثالث.</a:t>
            </a:r>
            <a:endParaRPr lang="ar-AE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800" i="1" dirty="0">
                <a:solidFill>
                  <a:schemeClr val="accent3"/>
                </a:solidFill>
              </a:rPr>
              <a:t>خليج تايمز، مايو 2026 وسبتمبر 2023؛ جلف نيوز، فبراير 2023.</a:t>
            </a:r>
            <a:endParaRPr lang="ar-AE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تتأثر الشركات والاستثمارات عملياً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الأثر المباشر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Briefca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الحصص والرخص التجارية تدخل التركة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284 رخصة تجارية مرّت عبر تسويات التركات في دبي عام 2025. حتى تسوية التركة، تتعطل قرارات الشركاء والتوقيعات البنكية.</a:t>
            </a:r>
            <a:endParaRPr lang="ar-AE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BuildingColumn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السيولة التشغيلية تُجمّد مع الحسابات الشخصية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حسابات المالك الفردية والمشتركة تُجمّد فوراً؛ كثير من الشركات الصغيرة تعتمد عليها.</a:t>
            </a:r>
            <a:endParaRPr lang="ar-AE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Hou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العقارات الاستثمارية تتوقف عن التصرف فيها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1,353 عقاراً في 2024 و1,052 عقاراً في 2025 احتاجت تسوية في دبي قبل أي تصرف.</a:t>
            </a:r>
            <a:endParaRPr lang="ar-AE" sz="1300" dirty="0"/>
          </a:p>
        </p:txBody>
      </p:sp>
      <p:sp>
        <p:nvSpPr>
          <p:cNvPr id="13" name="Shape 8"/>
          <p:cNvSpPr/>
          <p:nvPr/>
        </p:nvSpPr>
        <p:spPr>
          <a:xfrm>
            <a:off x="82296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ScaleBalance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5720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قيمة المطالبات المتنازع عليها بعشرات المليارات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32.8 مليار درهم مطالبات أمام محكمة التركات في أول 11 شهراً، و35 ملياراً في 2024.</a:t>
            </a:r>
            <a:endParaRPr lang="ar-AE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itema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5720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200"/>
              </a:spcAft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الأداة موجودة: وصية مالكي الشركات</a:t>
            </a:r>
            <a:endParaRPr lang="ar-AE" sz="1300" dirty="0"/>
          </a:p>
          <a:p>
            <a:pPr algn="r" indent="0" marL="0">
              <a:spcAft>
                <a:spcPts val="200"/>
              </a:spcAft>
              <a:buNone/>
            </a:pPr>
            <a:r>
              <a:rPr lang="ar-AE" altLang="en-US" sz="1100" dirty="0">
                <a:solidFill>
                  <a:schemeClr val="accent3"/>
                </a:solidFill>
              </a:rPr>
              <a:t>DIFC يسجّل وصية خاصة بحصص الشركات (حتى 5 حصص)، إلى جانب الوصية العقارية والمالية والشاملة.</a:t>
            </a:r>
            <a:endParaRPr lang="ar-AE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AE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تقوله الأرقام وما لا تقوله</a:t>
            </a:r>
            <a:endParaRPr lang="ar-AE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1400" dirty="0">
                <a:solidFill>
                  <a:schemeClr val="accent2"/>
                </a:solidFill>
              </a:rPr>
              <a:t>الشفافية في المصادر جزء من مصداقية العرض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هو موثّق وما هو غير موجود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حدود البيانات 2000–2026</a:t>
            </a:r>
            <a:endParaRPr lang="ar-AE" sz="1000" dirty="0"/>
          </a:p>
        </p:txBody>
      </p:sp>
      <p:sp>
        <p:nvSpPr>
          <p:cNvPr id="4" name="Shape 2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tx1"/>
                </a:solidFill>
              </a:rPr>
              <a:t>موثّق رسمياً</a:t>
            </a:r>
            <a:endParaRPr lang="ar-AE" sz="1300" dirty="0"/>
          </a:p>
        </p:txBody>
      </p:sp>
      <p:sp>
        <p:nvSpPr>
          <p:cNvPr id="6" name="Shape 4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عدد الوصايا المسجلة في DIFC (منذ 2015) وأبوظبي (منذ 2017)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عدد ملفات التركات وقيمتها وزمن تسويتها في محاكم دبي (2022–2025)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تقسيم التركات بين مسلمين وغير مسلمين في دبي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السكان الإجماليون ونموهم (المركز الاتحادي للإحصاء)</a:t>
            </a:r>
            <a:endParaRPr lang="ar-AE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b="1" dirty="0">
                <a:solidFill>
                  <a:schemeClr val="accent2"/>
                </a:solidFill>
              </a:rPr>
              <a:t>غير موجود أو غير منشور</a:t>
            </a:r>
            <a:endParaRPr lang="ar-AE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إحصائية رسمية لعدد من توفوا بلا وصية في أي سنة من 2000 إلى 2026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عدد الوصايا المسجلة في سجل محاكم دبي لغير المسلمين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مقارنة رسمية لزمن التسوية مع وصية وبدونها</a:t>
            </a:r>
            <a:endParaRPr lang="ar-AE" sz="1100" dirty="0"/>
          </a:p>
          <a:p>
            <a:pPr algn="r" marL="152400" indent="-152400">
              <a:spcAft>
                <a:spcPts val="500"/>
              </a:spcAft>
              <a:buSzPct val="100000"/>
              <a:buChar char="•"/>
            </a:pPr>
            <a:r>
              <a:rPr lang="ar-AE" altLang="en-US" sz="1100" dirty="0">
                <a:solidFill>
                  <a:schemeClr val="tx2"/>
                </a:solidFill>
              </a:rPr>
              <a:t>نسبة رسمية حديثة للأجانب من السكان بعد تعداد 2010</a:t>
            </a:r>
            <a:endParaRPr lang="ar-AE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المصادر</a:t>
            </a:r>
            <a:endParaRPr lang="ar-AE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000" b="1" dirty="0">
                <a:solidFill>
                  <a:schemeClr val="accent1"/>
                </a:solidFill>
              </a:rPr>
              <a:t>كل رقم في هذا العرض يعود إلى أحد هذه المصادر</a:t>
            </a:r>
            <a:endParaRPr lang="ar-AE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366760" y="1188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88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المركز الاتحادي للتنافسية والإحصاء: سكان الإمارات 2023–2024 (جلف نيوز، 8 سبتمبر 2025).</a:t>
            </a:r>
            <a:endParaRPr lang="ar-AE" sz="850" dirty="0"/>
          </a:p>
        </p:txBody>
      </p:sp>
      <p:sp>
        <p:nvSpPr>
          <p:cNvPr id="6" name="Text 4"/>
          <p:cNvSpPr txBox="1"/>
          <p:nvPr/>
        </p:nvSpPr>
        <p:spPr>
          <a:xfrm>
            <a:off x="8366760" y="1544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544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مركز دبي للإحصاء: تجاوز 4 ملايين (سبتمبر 2025)؛ 4.58 مليون نهاية 2025 (دبي آي، يوليو 2026).</a:t>
            </a:r>
            <a:endParaRPr lang="ar-AE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1899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899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المكتب الوطني للإحصاء: 88.5% أجانب من 8.26 مليون (خليج تايمز، 2011).</a:t>
            </a:r>
            <a:endParaRPr lang="ar-AE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2255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55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محاكم DIFC: بيان 1 نوفمبر 2017 (أكثر من 3,000 وصية)؛ البيان والإمارات اليوم 2019 (4,100 و5,000).</a:t>
            </a:r>
            <a:endParaRPr lang="ar-AE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6111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111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محاكم DIFC: 15 يوليو 2024 (810 وصية، +6%، أكثر من 11,000)؛ 23 يوليو 2025 (922، +14%، أكثر من 13,400).</a:t>
            </a:r>
            <a:endParaRPr lang="ar-AE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966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966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محاكم DIFC: 11 فبراير 2026 (2,220 وصية في 2025، +22%؛ 41 طلب تنفيذ، +37%)؛ 22 أبريل 2026 (883 في الربع الأول، +120%).</a:t>
            </a:r>
            <a:endParaRPr lang="ar-AE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322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322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بوابة إحصاءات محاكم DIFC: 14,373 وصية منذ الإطلاق (النصف الأول 2026).</a:t>
            </a:r>
            <a:endParaRPr lang="ar-AE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677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677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دائرة القضاء في أبوظبي: 1,668 وصية و64 جنسية (جلف نيوز، 14 ديسمبر 2019).</a:t>
            </a:r>
            <a:endParaRPr lang="ar-AE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033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033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محكمة الأسرة المدنية بأبوظبي: 11,000 وصية في 2025، 21,000 تراكمياً (جلف نيوز، 19 يناير 2026)؛ 8,886 معاملة في الربع الأول 2026 (وام).</a:t>
            </a:r>
            <a:endParaRPr lang="ar-AE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1188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1188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محاكم دبي 2022: 3.797 مليار درهم، 1,555 / 500 / 24 تركة (الإمارات اليوم، 8 يوليو 2023).</a:t>
            </a:r>
            <a:endParaRPr lang="ar-AE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1544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1544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محاكم دبي 2023: 580 قضية، 4.116 مليار درهم، 81 / 52 / 28 يوماً، 92.6% (The Law Reporters، 13 يوليو 2024).</a:t>
            </a:r>
            <a:endParaRPr lang="ar-AE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160520" y="1899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1899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محكمة التركات بدبي، أول 11 شهراً: 1,814 ملفاً، 40 يوماً، 32.8 مليار درهم (مكتوم بن محمد، 28 أكتوبر 2024).</a:t>
            </a:r>
            <a:endParaRPr lang="ar-AE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160520" y="2255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255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محكمة التركات 2024: 84%، 24 يوماً، 1,407 إشهاداً، 10 و35 مليار درهم (المكتب الإعلامي لحكومة دبي، 29 يناير 2025).</a:t>
            </a:r>
            <a:endParaRPr lang="ar-AE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160520" y="26111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26111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محاكم دبي 2025: 13.8 يوماً، 92.5%، 5.26 مليار درهم، 284 رخصة (البيان، 9 يوليو 2026)؛ 3.5 مليار درهم للورثة ومنصة جبر (جلف نيوز، 25 أبريل 2026).</a:t>
            </a:r>
            <a:endParaRPr lang="ar-AE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160520" y="2966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2966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YouGov لصالح Blanket، 1,014 مقيماً، سبتمبر 2026: 49%، 56%، 24%، 73%، 28%، 21% (جلف نيوز، 20 أكتوبر 2026).</a:t>
            </a:r>
            <a:endParaRPr lang="ar-AE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160520" y="3322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322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استطلاع سجل وصايا DIFC 2017 وتجميد الحسابات (جلف نيوز، 12 نوفمبر 2018)؛ تقديرات الزمن: Caunsel (15 أكتوبر 2026)، Dubai Wills Center (13 يناير 2026).</a:t>
            </a:r>
            <a:endParaRPr lang="ar-AE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160520" y="3677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677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الشركات العائلية: جلف نيوز، 9 فبراير 2023 (Jersey Finance)؛ خليج تايمز، 20 مايو 2026 و6 سبتمبر 2023 (Citi).</a:t>
            </a:r>
            <a:endParaRPr lang="ar-AE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160520" y="4033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033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AE" altLang="en-US" sz="850" dirty="0">
                <a:solidFill>
                  <a:schemeClr val="tx2"/>
                </a:solidFill>
              </a:rPr>
              <a:t>الإطار القانوني: قانون دبي 15/2017؛ قانون أبوظبي 14/2021؛ المرسوم الاتحادي 41/2022؛ مرسوم دبي 25/2023.</a:t>
            </a:r>
            <a:endParaRPr lang="ar-AE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900" i="1" dirty="0">
                <a:solidFill>
                  <a:schemeClr val="accent3"/>
                </a:solidFill>
              </a:rPr>
              <a:t>الأرقام المعلّمة بنجمة (*) محسوبة من نسب النمو المعلنة رسمياً وليست منشورة بذاتها.</a:t>
            </a:r>
            <a:endParaRPr lang="ar-AE" sz="900" dirty="0"/>
          </a:p>
        </p:txBody>
      </p:sp>
      <p:sp>
        <p:nvSpPr>
          <p:cNvPr id="4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0664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أكثر من 11 مليون مقيم، ونحو 35 ألف وصية مسجلة. الفجوة ليست قانونية، فالأدوات موجودة منذ 2015. الفجوة في الوعي والتخطيط.</a:t>
            </a:r>
            <a:endParaRPr lang="ar-AE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accent2"/>
                </a:solidFill>
              </a:rPr>
              <a:t>خلاصة الأرقام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راشد الكيتوب للمحاماة والاستشارات القانونية</a:t>
            </a:r>
            <a:endParaRPr lang="ar-AE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chemeClr val="accent2"/>
                </a:solidFill>
              </a:rPr>
              <a:t>الوصايا، حماية الأصول، والتخطيط للتركات للمستثمرين والشركات في الإمارات</a:t>
            </a:r>
            <a:endParaRPr lang="ar-AE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شارع الشيخ زايد، برج سعيد 2، مكتب 501، دبي، الإمارات العربية المتحدة</a:t>
            </a:r>
            <a:endParaRPr lang="ar-AE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+971 4 359 5552  |  جوال وواتساب: +971 52 107 4972</a:t>
            </a:r>
            <a:endParaRPr lang="ar-AE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686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ar-AE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686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200" dirty="0">
                <a:solidFill>
                  <a:schemeClr val="bg2"/>
                </a:solidFill>
              </a:rPr>
              <a:t>الاثنين – الجمعة، 8:30 – 17:30  |  العربية · English · 中文 · Русский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الوصايا والميراث في الإمارات: ما تقوله الأرقام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2026-10-27T14:33:28Z</dcterms:created>
  <dcterms:modified xsi:type="dcterms:W3CDTF">2026-10-27T14:33:28Z</dcterms:modified>
</cp:coreProperties>
</file>