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cfdfe2d-52bc-8362-6c3f-3a7fbb08cdc0}">
          <p14:sldIdLst>
            <p14:sldId id="256"/>
            <p14:sldId id="257"/>
            <p14:sldId id="258"/>
          </p14:sldIdLst>
        </p14:section>
        <p14:section name="Context" id="{23e1e2f6-b234-0c2b-529b-e6655a5b2b82}">
          <p14:sldIdLst>
            <p14:sldId id="259"/>
            <p14:sldId id="260"/>
          </p14:sldIdLst>
        </p14:section>
        <p14:section name="Who has a will" id="{95d6993a-aacb-bdc4-8c8c-8623aa17a3d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Speed and problems" id="{adc08b58-6886-ee9a-6566-4ff424005afb}">
          <p14:sldIdLst>
            <p14:sldId id="268"/>
            <p14:sldId id="269"/>
            <p14:sldId id="270"/>
            <p14:sldId id="271"/>
            <p14:sldId id="272"/>
          </p14:sldIdLst>
        </p14:section>
        <p14:section name="Companies" id="{40656999-1133-1896-2fc3-86bb294016c3}">
          <p14:sldIdLst>
            <p14:sldId id="273"/>
            <p14:sldId id="274"/>
            <p14:sldId id="275"/>
            <p14:sldId id="276"/>
          </p14:sldIdLst>
        </p14:section>
        <p14:section name="Data limits" id="{c9648b25-557d-58ef-0cc8-c0c2027ee90f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Population,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 (millions)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UAE 2023</c:v>
                  </c:pt>
                  <c:pt idx="1">
                    <c:v>UAE 2024</c:v>
                  </c:pt>
                  <c:pt idx="2">
                    <c:v>Dubai 2024</c:v>
                  </c:pt>
                  <c:pt idx="3">
                    <c:v>Dubai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Cumulative wills registered (announced floor)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wills registered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Number of wills registered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H1 2023*</c:v>
                  </c:pt>
                  <c:pt idx="1">
                    <c:v>H1 2024</c:v>
                  </c:pt>
                  <c:pt idx="2">
                    <c:v>H1 2025</c:v>
                  </c:pt>
                  <c:pt idx="3">
                    <c:v>Full year 2024*</c:v>
                  </c:pt>
                  <c:pt idx="4">
                    <c:v>Full year 2025</c:v>
                  </c:pt>
                  <c:pt idx="5">
                    <c:v>Q1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Wills registered in Abu Dhabi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(cumulative)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Total to Jan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Average time in days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litigated, filing to judgment</c:v>
                  </c:pt>
                  <c:pt idx="1">
                    <c:v>2023–24: first 11 months, amicable</c:v>
                  </c:pt>
                  <c:pt idx="2">
                    <c:v>2024: amicable</c:v>
                  </c:pt>
                  <c:pt idx="3">
                    <c:v>2025: amicable (working days)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Share of family businesses that survive (global data)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Survival rate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2nd generation</c:v>
                  </c:pt>
                  <c:pt idx="1">
                    <c:v>3rd generation</c:v>
                  </c:pt>
                  <c:pt idx="2">
                    <c:v>4th generation and beyond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Caunsel (Oct 2026), Dubai Wills Center (Jan 2026), Gulf News (Nov 2018). All are service-provider estimates, not official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Wills and Inheritance in the UAE: What the Numbers Say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Documented statistics 2000–2026: who has a will, who does not, how long estates take to settle, and what it means for companies and investments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in four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UAE expats 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YouGov survey, September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registered non-Muslim wills since 2015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(14,000+) plus Abu Dhabi (21,000), in a country of over 11 million people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working days: average amicable estate settlement in Dubai (2025)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versus 24 days in 2024 and 81 days for litigated cases in 2023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trillion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family assets transferring to the next generation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fewer than one in three family businesses has a succession plan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Sources are listed on the final slide.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Context: who lives in the UAE and who holds assets here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Who has a will and who does not: registries and surveys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How fast estates are settled, and the problems that arise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impact of no planning on companies and investments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What the numbers can and cannot tell us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Sources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population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A country where expatriates form the overwhelming majority of residents and asset owners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 11 million people, and growing fast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POPULATION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share of residents who are expatriates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Last officially published share (National Bureau of Statistics, 2010 census: 7.3 million expatriates of 8.26 million). No newer official share has been published; current estimates remain at 88–90%.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Federal Competitiveness and Statistics Centre (11,294,243 at end-2024); Dubai Statistics Centre (crossed 4 million in Sept 2025; 4.58 million at end-2025).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a will and who does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There is no official register of people who died without a will. What exists: registered-will counts, surveys, and estate case files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when registering a will became possible at all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TIMELINE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2000–2014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No wills registry for non-Muslims. Estates distributed by default under Sharia inheritance rules; disputes common.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562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62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DIFC Courts launches the Wills Service for non-Muslims.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Dubai Law 15 on non-Muslim estates; Abu Dhabi Judicial Department starts registering wills.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2019–2021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DIFC extends cover to assets across the UAE and abroad (2019); Abu Dhabi Law 14/2021 creates the Civil Family Court.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533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33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2022–2023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Federal Decree-Law 41/2022 on civil personal status for non-Muslims; Dubai Probate Court created (Decree 25/2023).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2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2024–2026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Record growth: DIFC registrations +22% in 2025; Abu Dhabi wills double to 11,000 in 2025.</a:t>
            </a:r>
            <a:endParaRPr lang="en-US" sz="1050" dirty="0"/>
          </a:p>
        </p:txBody>
      </p:sp>
      <p:sp>
        <p:nvSpPr>
          <p:cNvPr id="2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 registered wills: from 3,000 to over 14,000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CUMULATIVE REGISTER SINCE 2015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wills registered by mid-2026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Nov 2017: over 3,000. Jul 2019: over 5,000. Jul 2024: over 11,000. Jul 2025: over 13,400. Apr 2026: over 14,000.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annual registrations are accelerating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REGISTRATIONS BY PERIOD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growth in Q1 2026 versus Q1 2025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2025: 2,220 wills (+22%). Probate applications to enforce wills: 41 in 2025 (+37%), and 27 orders in H1 2025 alone.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* Derived from announced growth rates.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 Dhabi: civil wills doubled in a single year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ABU DHABI JUDICIAL DEPARTMENT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nationalities had registered wills in Abu Dhabi by 2019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1,668 wills: 872 Indians, 189 British, 96 South Africans. Around 11,000 wills in 2025, 'more than double' 2024 (* 2024 estimated below 5,500). Q1 2026: 8,886 civil marriage and will transactions.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Abu Dhabi Judicial Department via Gulf News (Dec 2019, Jan 2026)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no will: what the surveys say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SURVEYS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UAE expatriates,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believe their spouse automatically inherits everything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 legally mistaken belief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parents with minors have documented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while 73% think their families would know their wishes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Dubai asset-holders had no UAE-registered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Wills registry survey, 2017: 'little more than 10%' had one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YouGov for Blanket, 1,014 residents, Sept 2026 (Gulf News, Oct 2026); DIFC Wills registry survey 2017 (Gulf News, Nov 2018). Reasons for no will: 28% 'not enough assets', 21% 'don't know where to start'.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1%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expatriate residents hold a UAE-registered will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Our indicative estimate: roughly 35,000 registered non-Muslim wills (DIFC 14,000+ plus Abu Dhabi 21,000, plus the unpublished Dubai Courts register) against around 10 million expatriate residents. Even if the count were three times higher, the share stays below 1%.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00" i="1" dirty="0">
                <a:solidFill>
                  <a:schemeClr val="accent3"/>
                </a:solidFill>
              </a:rPr>
              <a:t>Rashid Alkaitoob Advocates' calculation from the official figures in this deck. Not an official statistic.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fast estates are settled, and what goes wrong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Official Dubai Courts figures, and practitioner estimates with and without a will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Courts estate files 2022–2025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OFFICIAL DATA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828800"/>
                <a:gridCol w="17373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Year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Volume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Time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Amicable settlement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2,079 estates: 1,555 Muslim, 500 non-Muslim, 24 private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3.80 billion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Not published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Not published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cases resolved: 512 Muslim, 38 non-Muslim, 30 private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4.12 billion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days registration to judgment; 28 days to first hearing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1,814 estate files in the Probate Court's first 11 months; 1,407 inheritance certificates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Over AED 10 billion settled; AED 35 billion in claims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days amicable settlement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1,101 agreements; 1,052 properties; 284 trade licences; 357 vehicles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5.26 billion settled; AED 3.5 billion paid to heirs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13.8 working days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Units differ across years (estates, cases, files, agreements) and are not directly comparable. Source: Dubai Courts annual reports and Dubai Media Office.</a:t>
            </a:r>
            <a:endParaRPr lang="en-US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has cut estate settlement time from 81 days to 13.8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TIME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days: death-procedure time after the Jabr platform (Oct 2025)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Requirements cut from 10 to 4; 1,103 cases in its first three months. Probate Court rules: preparation ≤ 30 days, litigation ≤ 12 months. Cases outside Dubai, without a will, or in dispute are not covered by these figures.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Dubai Courts annual reports 2022–2025 and Dubai Media Office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and without a registered will: practitioner estimates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NO OFFICIAL STATISTIC COMPARES THE TWO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With a registered will (DIFC / Abu Dhabi / Dubai Courts)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Probate and execution in 4–8 weeks (2026 estimate)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Another estimate: 2–4 months with a clear will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Heirs, guardians and executors already named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No foreign documents to legalise, no foreign law to prove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Without a will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3 to 12 months through personal status courts and document legalisation (2026 estimate)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Another estimate: 4 to 9+ months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Disputed estates: a year or more; appeals can run to 5 years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Distribution under default law, not the deceased's wishes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problems that actually occur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BEHIND 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Bank accounts frozen immediately, joint accounts included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They stay frozen until distribution orders issue; partial release is rare, and release after orders takes a further 2–6 weeks.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Blocked transfer of property, vehicles and licences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In Dubai alone, 2025 estate settlements covered 1,052 properties, 357 vehicles, 240 plates and 284 trade licences.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Undocumented guardianship of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Only 24% of parents have documented guardianship; 28% think they do not own enough to need a will.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Disputes between heirs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AED 35 billion in claims before Dubai's Probate Court in 2024; 7.5% of 2025 files were not settled amicably.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Foreign documents needing legalisation and translation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Without a local will, marriage and birth certificates must be legalised and foreign law proven, the biggest source of delay.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impact on companies and investments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Family businesses are the backbone of the Gulf economy, and most have no succession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Gulf family businesses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SCALE OF EXPOSURE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GDP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contributed by family businesses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workforce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employed by family businesses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private sector in the UAE and Saudi Arabia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is family-owned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 assets transferring between generations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across the GCC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Gulf News, Feb 2023 (Jersey Finance); Khaleej Times, May 2026 (Georgetown McDonough, Dubai programme).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 ten family businesses reach the second generation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SURVIVAL ACROSS GENERATIONS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only have a robust, communicated succession plan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only 22% of the UAE's next generation intend to join the family business. Another estimate (Citi, 2023): 50% survive to the 2nd generation and 10% to the 3rd.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Khaleej Times, May 2026 and Sept 2023; Gulf News, Feb 2023.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companies and investments are hit in practice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DIRECT IMPACT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Shares and trade licences fall into the estate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284 trade licences passed through Dubai estate settlements in 2025. Until the estate is settled, partner decisions and bank signatures stall.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Operating liquidity freezes with the personal accounts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owner's individual and joint accounts freeze immediately; many small companies depend on them.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Investment property cannot be sold or re-let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1,353 properties in 2024 and 1,052 in 2025 needed settlement in Dubai before any transaction.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Disputed claims run to tens of billions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AED 32.8 billion in claims in the Probate Court's first 11 months, and AED 35 billion in 2024.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The tool exists: the Business Owners Will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DIFC registers a dedicated will for shareholdings (up to 5), alongside property, financial-assets and full wills.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can and cannot tell 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Transparency about sources is part of the credibility of this deck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documented and what does not exist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DATA LIMITS 2000–2026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Officially documented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Wills registered at DIFC (since 2015) and Abu Dhabi (since 2017)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Dubai Courts estate files, values and settlement times (2022–2025)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Split of Dubai estates between Muslims and non-Muslims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Total population and growth (federal statistics)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Does not exist or is not published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count of people who died without a will in any year 2000–2026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The number of wills on the Dubai Courts non-Muslim register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comparison of settlement time with and without a will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recent official expatriate share of the population after the 2010 census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EVERY FIGURE IN THIS DECK TRACES TO ONE OF THESE SOURCES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Federal Competitiveness and Statistics Centre: UAE population 2023–2024 (Gulf News, 8 Sept 2025).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Statistics Centre: crossing 4 million (Sept 2025); 4.58 million at end-2025 (Dubai Eye, July 2026).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National Bureau of Statistics: 88.5% expatriates of 8.26 million (Khaleej Times, 2011).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release of 1 Nov 2017 (over 3,000 wills); Al Bayan and Emarat Al Youm 2019 (4,100 and 5,000).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15 July 2024 (810 wills, +6%, over 11,000); 23 July 2025 (922, +14%, over 13,400).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11 Feb 2026 (2,220 wills in 2025, +22%; 41 probate applications, +37%); 22 Apr 2026 (883 in Q1, +120%).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 statistics portal: 14,373 wills since inception (H1 2026).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Abu Dhabi Judicial Department: 1,668 wills, 64 nationalities (Gulf News, 14 Dec 2019).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Abu Dhabi Civil Family Court: 11,000 wills in 2025, 21,000 cumulative (Gulf News, 19 Jan 2026); 8,886 transactions in Q1 2026 (WAM).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2022: AED 3.797 billion; 1,555 / 500 / 24 estates (Emarat Al Youm, 8 July 2023).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2023: 580 cases, AED 4.116 billion, 81 / 52 / 28 days, 92.6% (The Law Reporters, 13 July 2024).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Probate Court, first 11 months: 1,814 files, 40 days, AED 32.8 billion (Maktoum bin Mohammed, 28 Oct 2024).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Probate Court 2024: 84%, 24 days, 1,407 certificates, AED 10 and 35 billion (Dubai Media Office, 29 Jan 2025).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2025: 13.8 days, 92.5%, AED 5.26 billion, 284 licences (Al Bayan, 9 July 2026); AED 3.5 billion to heirs and the Jabr platform (Gulf News, 25 Apr 2026).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YouGov for Blanket, 1,014 residents, Sept 2026: 49%, 56%, 24%, 73%, 28%, 21% (Gulf News, 20 Oct 2026).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Wills registry survey 2017 and account freezing (Gulf News, 12 Nov 2018); time estimates: Caunsel (15 Oct 2026), Dubai Wills Center (13 Jan 2026).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Family businesses: Gulf News, 9 Feb 2023 (Jersey Finance); Khaleej Times, 20 May 2026 and 6 Sept 2023 (Citi).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66344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Legal framework: Dubai Law 15/2017; Abu Dhabi Law 14/2021; Federal Decree-Law 41/2022; Dubai Decree 25/2023.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00" i="1" dirty="0">
                <a:solidFill>
                  <a:schemeClr val="accent3"/>
                </a:solidFill>
              </a:rPr>
              <a:t>Figures marked with an asterisk (*) are derived from officially announced growth rates and are not published as such.</a:t>
            </a:r>
            <a:endParaRPr lang="en-US" sz="900" dirty="0"/>
          </a:p>
        </p:txBody>
      </p:sp>
      <p:sp>
        <p:nvSpPr>
          <p:cNvPr id="4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 11 million residents and roughly 35,000 registered wills. The gap is not legal, the tools have existed since 2015. The gap is awareness and planning.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conclusion of the numbers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Rashid Alkaitoob Advocates &amp; Legal Consultants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Wills, asset protection and estate planning for investors and companies in the UAE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Wills and Inheritance in the UAE: What the Numbers Say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2026-10-27T14:33:28Z</dcterms:created>
  <dcterms:modified xsi:type="dcterms:W3CDTF">2026-10-27T14:33:28Z</dcterms:modified>
</cp:coreProperties>
</file>