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7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8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9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10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charts/chart11.xml" ContentType="application/vnd.openxmlformats-officedocument.drawingml.chart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charts/chart12.xml" ContentType="application/vnd.openxmlformats-officedocument.drawingml.chart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notesMasterIdLst>
    <p:notesMasterId r:id="rId2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ea9c427b-25ef-4d40-f97f-db80cd5e266a}">
          <p14:sldIdLst>
            <p14:sldId id="256"/>
            <p14:sldId id="257"/>
            <p14:sldId id="258"/>
          </p14:sldIdLst>
        </p14:section>
        <p14:section name="Context" id="{6111d601-267e-c156-b4a5-1b4bddcf9a58}">
          <p14:sldIdLst>
            <p14:sldId id="259"/>
            <p14:sldId id="260"/>
          </p14:sldIdLst>
        </p14:section>
        <p14:section name="Who has a will" id="{54f37e16-aac2-4f11-7fe8-de39670996ce}">
          <p14:sldIdLst>
            <p14:sldId id="261"/>
            <p14:sldId id="262"/>
            <p14:sldId id="263"/>
            <p14:sldId id="264"/>
            <p14:sldId id="265"/>
            <p14:sldId id="266"/>
            <p14:sldId id="267"/>
          </p14:sldIdLst>
        </p14:section>
        <p14:section name="Speed and problems" id="{742263fa-2c47-b125-7641-5cdb52203332}">
          <p14:sldIdLst>
            <p14:sldId id="268"/>
            <p14:sldId id="269"/>
            <p14:sldId id="270"/>
            <p14:sldId id="271"/>
            <p14:sldId id="272"/>
          </p14:sldIdLst>
        </p14:section>
        <p14:section name="Companies" id="{8da8a008-dc87-9bbf-e585-b5e4732e0c19}">
          <p14:sldIdLst>
            <p14:sldId id="273"/>
            <p14:sldId id="274"/>
            <p14:sldId id="275"/>
            <p14:sldId id="276"/>
          </p14:sldIdLst>
        </p14:section>
        <p14:section name="Data limits" id="{8f2146bc-95a0-5c18-a1f5-b0408c7ee089}">
          <p14:sldIdLst>
            <p14:sldId id="277"/>
            <p14:sldId id="278"/>
            <p14:sldId id="279"/>
            <p14:sldId id="280"/>
            <p14:sldId id="28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9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_rels/chart10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0.xlsx"/></Relationships>
</file>

<file path=ppt/charts/_rels/chart1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1.xlsx"/></Relationships>
</file>

<file path=ppt/charts/_rels/chart1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2.xlsx"/></Relationships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E2238"/>
                </a:solidFill>
                <a:latin typeface="+mj-lt"/>
              </a:defRPr>
            </a:pPr>
            <a:r>
              <a:rPr sz="1200" b="0" i="0" u="none" strike="noStrike">
                <a:solidFill>
                  <a:srgbClr val="0E2238"/>
                </a:solidFill>
                <a:latin typeface="+mj-lt"/>
              </a:rPr>
              <a:t>Population, millions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Population (millions)</c:v>
                </c:pt>
              </c:strCache>
            </c:strRef>
          </c:tx>
          <c:spPr>
            <a:solidFill>
              <a:srgbClr val="B5723B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1" i="0" strike="noStrike" sz="1000" u="none">
                    <a:solidFill>
                      <a:srgbClr val="0E2238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UAE 2023</c:v>
                  </c:pt>
                  <c:pt idx="1">
                    <c:v>UAE 2024</c:v>
                  </c:pt>
                  <c:pt idx="2">
                    <c:v>Dubai 2024</c:v>
                  </c:pt>
                  <c:pt idx="3">
                    <c:v>Dubai 2025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10.68</c:v>
                </c:pt>
                <c:pt idx="1">
                  <c:v>11.29</c:v>
                </c:pt>
                <c:pt idx="2">
                  <c:v>3.86</c:v>
                </c:pt>
                <c:pt idx="3">
                  <c:v>4.58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1" i="0" strike="noStrike" sz="1000" u="none">
                  <a:solidFill>
                    <a:srgbClr val="0E2238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E2238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6E1D8"/>
              </a:solidFill>
              <a:prstDash val="solid"/>
              <a:round/>
            </a:ln>
          </c:spPr>
        </c:majorGridlines>
        <c:numFmt formatCode="0.0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E2238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E2238"/>
                </a:solidFill>
                <a:latin typeface="+mj-lt"/>
              </a:defRPr>
            </a:pPr>
            <a:r>
              <a:rPr sz="1200" b="0" i="0" u="none" strike="noStrike">
                <a:solidFill>
                  <a:srgbClr val="0E2238"/>
                </a:solidFill>
                <a:latin typeface="+mj-lt"/>
              </a:rPr>
              <a:t>Cumulative wills registered (announced floor)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Total wills registered</c:v>
                </c:pt>
              </c:strCache>
            </c:strRef>
          </c:tx>
          <c:spPr>
            <a:solidFill>
              <a:srgbClr val="B5723B"/>
            </a:solidFill>
            <a:ln w="31750" cap="flat">
              <a:solidFill>
                <a:srgbClr val="B5723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000" u="none">
                    <a:solidFill>
                      <a:srgbClr val="0E2238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B5723B"/>
              </a:solidFill>
              <a:ln w="9525" cap="flat">
                <a:solidFill>
                  <a:srgbClr val="B5723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2017</c:v>
                  </c:pt>
                  <c:pt idx="1">
                    <c:v>2019</c:v>
                  </c:pt>
                  <c:pt idx="2">
                    <c:v>2024</c:v>
                  </c:pt>
                  <c:pt idx="3">
                    <c:v>2025</c:v>
                  </c:pt>
                  <c:pt idx="4">
                    <c:v>2026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3000</c:v>
                </c:pt>
                <c:pt idx="1">
                  <c:v>5000</c:v>
                </c:pt>
                <c:pt idx="2">
                  <c:v>11000</c:v>
                </c:pt>
                <c:pt idx="3">
                  <c:v>13400</c:v>
                </c:pt>
                <c:pt idx="4">
                  <c:v>14373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1" i="0" strike="noStrike" sz="1000" u="none">
                  <a:solidFill>
                    <a:srgbClr val="0E2238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E2238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6E1D8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E2238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E2238"/>
                </a:solidFill>
                <a:latin typeface="+mj-lt"/>
              </a:defRPr>
            </a:pPr>
            <a:r>
              <a:rPr sz="1200" b="0" i="0" u="none" strike="noStrike">
                <a:solidFill>
                  <a:srgbClr val="0E2238"/>
                </a:solidFill>
                <a:latin typeface="+mj-lt"/>
              </a:rPr>
              <a:t>Number of wills registered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Wills registered</c:v>
                </c:pt>
              </c:strCache>
            </c:strRef>
          </c:tx>
          <c:spPr>
            <a:solidFill>
              <a:srgbClr val="B5723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000" u="none">
                    <a:solidFill>
                      <a:srgbClr val="0E2238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H1 2023*</c:v>
                  </c:pt>
                  <c:pt idx="1">
                    <c:v>H1 2024</c:v>
                  </c:pt>
                  <c:pt idx="2">
                    <c:v>H1 2025</c:v>
                  </c:pt>
                  <c:pt idx="3">
                    <c:v>Full year 2024*</c:v>
                  </c:pt>
                  <c:pt idx="4">
                    <c:v>Full year 2025</c:v>
                  </c:pt>
                  <c:pt idx="5">
                    <c:v>Q1 2026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764</c:v>
                </c:pt>
                <c:pt idx="1">
                  <c:v>810</c:v>
                </c:pt>
                <c:pt idx="2">
                  <c:v>922</c:v>
                </c:pt>
                <c:pt idx="3">
                  <c:v>1820</c:v>
                </c:pt>
                <c:pt idx="4">
                  <c:v>2220</c:v>
                </c:pt>
                <c:pt idx="5">
                  <c:v>883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000" u="none">
                  <a:solidFill>
                    <a:srgbClr val="0E2238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E2238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6E1D8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E2238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E2238"/>
                </a:solidFill>
                <a:latin typeface="+mj-lt"/>
              </a:defRPr>
            </a:pPr>
            <a:r>
              <a:rPr sz="1200" b="0" i="0" u="none" strike="noStrike">
                <a:solidFill>
                  <a:srgbClr val="0E2238"/>
                </a:solidFill>
                <a:latin typeface="+mj-lt"/>
              </a:rPr>
              <a:t>Wills registered in Abu Dhabi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Wills registered</c:v>
                </c:pt>
              </c:strCache>
            </c:strRef>
          </c:tx>
          <c:spPr>
            <a:solidFill>
              <a:srgbClr val="B5723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000" u="none">
                    <a:solidFill>
                      <a:srgbClr val="0E2238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2017–2019 (cumulative)</c:v>
                  </c:pt>
                  <c:pt idx="1">
                    <c:v>2024*</c:v>
                  </c:pt>
                  <c:pt idx="2">
                    <c:v>2025</c:v>
                  </c:pt>
                  <c:pt idx="3">
                    <c:v>Total to Jan 2026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1668</c:v>
                </c:pt>
                <c:pt idx="1">
                  <c:v>5000</c:v>
                </c:pt>
                <c:pt idx="2">
                  <c:v>11000</c:v>
                </c:pt>
                <c:pt idx="3">
                  <c:v>21000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000" u="none">
                  <a:solidFill>
                    <a:srgbClr val="0E2238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E2238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6E1D8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E2238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E2238"/>
                </a:solidFill>
                <a:latin typeface="+mj-lt"/>
              </a:defRPr>
            </a:pPr>
            <a:r>
              <a:rPr sz="1200" b="0" i="0" u="none" strike="noStrike">
                <a:solidFill>
                  <a:srgbClr val="0E2238"/>
                </a:solidFill>
                <a:latin typeface="+mj-lt"/>
              </a:rPr>
              <a:t>Average time in days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Days</c:v>
                </c:pt>
              </c:strCache>
            </c:strRef>
          </c:tx>
          <c:spPr>
            <a:solidFill>
              <a:srgbClr val="B5723B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1" i="0" strike="noStrike" sz="1000" u="none">
                    <a:solidFill>
                      <a:srgbClr val="0E2238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2023: litigated, filing to judgment</c:v>
                  </c:pt>
                  <c:pt idx="1">
                    <c:v>2023–24: first 11 months, amicable</c:v>
                  </c:pt>
                  <c:pt idx="2">
                    <c:v>2024: amicable</c:v>
                  </c:pt>
                  <c:pt idx="3">
                    <c:v>2025: amicable (working days)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81</c:v>
                </c:pt>
                <c:pt idx="1">
                  <c:v>40</c:v>
                </c:pt>
                <c:pt idx="2">
                  <c:v>24</c:v>
                </c:pt>
                <c:pt idx="3">
                  <c:v>13.8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1" i="0" strike="noStrike" sz="1000" u="none">
                  <a:solidFill>
                    <a:srgbClr val="0E2238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E2238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6E1D8"/>
              </a:solidFill>
              <a:prstDash val="solid"/>
              <a:round/>
            </a:ln>
          </c:spPr>
        </c:majorGridlines>
        <c:numFmt formatCode="0.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E2238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E2238"/>
                </a:solidFill>
                <a:latin typeface="+mj-lt"/>
              </a:defRPr>
            </a:pPr>
            <a:r>
              <a:rPr sz="1200" b="0" i="0" u="none" strike="noStrike">
                <a:solidFill>
                  <a:srgbClr val="0E2238"/>
                </a:solidFill>
                <a:latin typeface="+mj-lt"/>
              </a:rPr>
              <a:t>Share of family businesses that survive (global data)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Survival rate</c:v>
                </c:pt>
              </c:strCache>
            </c:strRef>
          </c:tx>
          <c:spPr>
            <a:solidFill>
              <a:srgbClr val="B5723B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000" u="none">
                    <a:solidFill>
                      <a:srgbClr val="0E2238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2nd generation</c:v>
                  </c:pt>
                  <c:pt idx="1">
                    <c:v>3rd generation</c:v>
                  </c:pt>
                  <c:pt idx="2">
                    <c:v>4th generation and beyond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30</c:v>
                </c:pt>
                <c:pt idx="1">
                  <c:v>12</c:v>
                </c:pt>
                <c:pt idx="2">
                  <c:v>3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1" i="0" strike="noStrike" sz="1000" u="none">
                  <a:solidFill>
                    <a:srgbClr val="0E2238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E2238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40"/>
        </c:scaling>
        <c:delete val="0"/>
        <c:axPos val="l"/>
        <c:majorGridlines>
          <c:spPr>
            <a:ln w="6350" cap="flat">
              <a:solidFill>
                <a:srgbClr val="E6E1D8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E2238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Sources: Caunsel (Oct 2026), Dubai Wills Center (Jan 2026), Gulf News (Nov 2018). All are service-provider estimates, not official statistics.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E22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4626864"/>
            <a:ext cx="384048" cy="384048"/>
          </a:xfrm>
          <a:prstGeom prst="rect">
            <a:avLst/>
          </a:prstGeom>
          <a:solidFill>
            <a:srgbClr val="0E2238"/>
          </a:solidFill>
          <a:ln w="9525">
            <a:solidFill>
              <a:srgbClr val="B572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6268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572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RK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822960" y="4626864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D9B38C"/>
                </a:solidFill>
              </a:rPr>
              <a:t>Rashid Alkaitoob Advocates &amp; Legal Consultants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626864"/>
            <a:ext cx="548640" cy="38404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900">
                <a:solidFill>
                  <a:srgbClr val="D9B38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4626864"/>
            <a:ext cx="384048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B572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6268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572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RK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822960" y="4626864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7B88"/>
                </a:solidFill>
              </a:rPr>
              <a:t>Rashid Alkaitoob Advocates &amp; Legal Consultants</a:t>
            </a:r>
            <a:endParaRPr lang="en-US" sz="900" dirty="0"/>
          </a:p>
        </p:txBody>
      </p:sp>
      <p:sp>
        <p:nvSpPr>
          <p:cNvPr id="5" name="Text 3"/>
          <p:cNvSpPr/>
          <p:nvPr>
            <p:ph idx="103" type="title" hasCustomPrompt="1"/>
          </p:nvPr>
        </p:nvSpPr>
        <p:spPr>
          <a:xfrm>
            <a:off x="457200" y="420624"/>
            <a:ext cx="822960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600" b="1" dirty="0">
                <a:solidFill>
                  <a:srgbClr val="0E2238"/>
                </a:solidFill>
              </a:defRPr>
            </a:lvl1pPr>
          </a:lstStyle>
          <a:p>
            <a:pPr algn="l" indent="0" marL="0">
              <a:buNone/>
            </a:pP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626864"/>
            <a:ext cx="548640" cy="38404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900">
                <a:solidFill>
                  <a:srgbClr val="6E7B8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LAIN_DARK">
    <p:bg>
      <p:bgPr>
        <a:solidFill>
          <a:srgbClr val="0E22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626864"/>
            <a:ext cx="548640" cy="38404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900">
                <a:solidFill>
                  <a:srgbClr val="D9B38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7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8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9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0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image" Target="../media/image-17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2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image" Target="../media/image-21-3.png"/><Relationship Id="rId4" Type="http://schemas.openxmlformats.org/officeDocument/2006/relationships/image" Target="../media/image-21-4.png"/><Relationship Id="rId5" Type="http://schemas.openxmlformats.org/officeDocument/2006/relationships/image" Target="../media/image-21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image" Target="../media/image-26-2.png"/><Relationship Id="rId3" Type="http://schemas.openxmlformats.org/officeDocument/2006/relationships/image" Target="../media/image-26-3.png"/><Relationship Id="rId4" Type="http://schemas.openxmlformats.org/officeDocument/2006/relationships/image" Target="../media/image-26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8229600" cy="4229100"/>
          </a:xfrm>
          <a:prstGeom prst="rect">
            <a:avLst/>
          </a:prstGeom>
          <a:ln w="9525">
            <a:solidFill>
              <a:srgbClr val="B5723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68680" y="868680"/>
            <a:ext cx="822960" cy="822960"/>
          </a:xfrm>
          <a:prstGeom prst="rect">
            <a:avLst/>
          </a:prstGeom>
          <a:solidFill>
            <a:srgbClr val="0E2238"/>
          </a:solidFill>
          <a:ln w="12700">
            <a:solidFill>
              <a:srgbClr val="B5723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68680" y="8686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RK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1874520" y="868680"/>
            <a:ext cx="5943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altLang="en-US" sz="1200" dirty="0">
                <a:solidFill>
                  <a:schemeClr val="accent2"/>
                </a:solidFill>
              </a:rPr>
              <a:t>Rashid Alkaitoob Advocates &amp; Legal Consultants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1965960"/>
            <a:ext cx="7406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altLang="en-US" sz="32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Wills and Inheritance in the UAE: What the Numbers Say</a:t>
            </a:r>
            <a:endParaRPr lang="en-US" sz="32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3383280"/>
            <a:ext cx="7406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500" dirty="0">
                <a:solidFill>
                  <a:schemeClr val="accent2"/>
                </a:solidFill>
              </a:rPr>
              <a:t>Documented statistics 2000–2026: who has a will, who does not, how long estates take to settle, and what it means for companies and investments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4023360"/>
            <a:ext cx="7406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altLang="en-US" sz="1000" dirty="0">
                <a:solidFill>
                  <a:schemeClr val="accent3"/>
                </a:solidFill>
              </a:rPr>
              <a:t>Rashid Alkaitoob Advocates &amp; Legal Consultants · Dubai · October 2026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626864"/>
            <a:ext cx="548640" cy="38404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900">
                <a:solidFill>
                  <a:srgbClr val="D9B38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02336"/>
            <a:ext cx="8229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2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story in four numbers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46304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altLang="en-US" sz="1000" b="1" spc="300" kern="0" dirty="0">
                <a:solidFill>
                  <a:schemeClr val="accent1"/>
                </a:solidFill>
              </a:rPr>
              <a:t>EXECUTIVE SUMMARY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1906524" cy="2926080"/>
          </a:xfrm>
          <a:prstGeom prst="rect">
            <a:avLst/>
          </a:prstGeom>
          <a:solidFill>
            <a:srgbClr val="F4F1EB"/>
          </a:solidFill>
          <a:ln w="12700">
            <a:solidFill>
              <a:srgbClr val="F4F1E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325880"/>
            <a:ext cx="15407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altLang="en-US" sz="3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49%</a:t>
            </a:r>
            <a:endParaRPr lang="en-US" sz="36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286000"/>
            <a:ext cx="154076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altLang="en-US" sz="1250" b="1" dirty="0">
                <a:solidFill>
                  <a:schemeClr val="tx1"/>
                </a:solidFill>
              </a:rPr>
              <a:t>of UAE expats have not started a will</a:t>
            </a:r>
            <a:endParaRPr lang="en-US" sz="125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altLang="en-US" sz="1000" dirty="0">
                <a:solidFill>
                  <a:schemeClr val="accent3"/>
                </a:solidFill>
              </a:rPr>
              <a:t>YouGov survey, September 2026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2564892" y="1188720"/>
            <a:ext cx="1906524" cy="2926080"/>
          </a:xfrm>
          <a:prstGeom prst="rect">
            <a:avLst/>
          </a:prstGeom>
          <a:solidFill>
            <a:srgbClr val="F4F1EB"/>
          </a:solidFill>
          <a:ln w="12700">
            <a:solidFill>
              <a:srgbClr val="F4F1E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747772" y="1325880"/>
            <a:ext cx="15407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altLang="en-US" sz="2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35,000+</a:t>
            </a:r>
            <a:endParaRPr lang="en-US" sz="2400" dirty="0"/>
          </a:p>
        </p:txBody>
      </p:sp>
      <p:sp>
        <p:nvSpPr>
          <p:cNvPr id="9" name="Text 7"/>
          <p:cNvSpPr txBox="1"/>
          <p:nvPr/>
        </p:nvSpPr>
        <p:spPr>
          <a:xfrm>
            <a:off x="2747772" y="2286000"/>
            <a:ext cx="154076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altLang="en-US" sz="1250" b="1" dirty="0">
                <a:solidFill>
                  <a:schemeClr val="tx1"/>
                </a:solidFill>
              </a:rPr>
              <a:t>registered non-Muslim wills since 2015</a:t>
            </a:r>
            <a:endParaRPr lang="en-US" sz="125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altLang="en-US" sz="1000" dirty="0">
                <a:solidFill>
                  <a:schemeClr val="accent3"/>
                </a:solidFill>
              </a:rPr>
              <a:t>DIFC (14,000+) plus Abu Dhabi (21,000), in a country of over 11 million people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672584" y="1188720"/>
            <a:ext cx="1906524" cy="2926080"/>
          </a:xfrm>
          <a:prstGeom prst="rect">
            <a:avLst/>
          </a:prstGeom>
          <a:solidFill>
            <a:srgbClr val="F4F1EB"/>
          </a:solidFill>
          <a:ln w="12700">
            <a:solidFill>
              <a:srgbClr val="F4F1E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855464" y="1325880"/>
            <a:ext cx="15407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altLang="en-US" sz="3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13.8</a:t>
            </a:r>
            <a:endParaRPr lang="en-US" sz="3600" dirty="0"/>
          </a:p>
        </p:txBody>
      </p:sp>
      <p:sp>
        <p:nvSpPr>
          <p:cNvPr id="12" name="Text 10"/>
          <p:cNvSpPr txBox="1"/>
          <p:nvPr/>
        </p:nvSpPr>
        <p:spPr>
          <a:xfrm>
            <a:off x="4855464" y="2286000"/>
            <a:ext cx="154076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altLang="en-US" sz="1250" b="1" dirty="0">
                <a:solidFill>
                  <a:schemeClr val="tx1"/>
                </a:solidFill>
              </a:rPr>
              <a:t>working days: average amicable estate settlement in Dubai (2025)</a:t>
            </a:r>
            <a:endParaRPr lang="en-US" sz="125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altLang="en-US" sz="1000" dirty="0">
                <a:solidFill>
                  <a:schemeClr val="accent3"/>
                </a:solidFill>
              </a:rPr>
              <a:t>versus 24 days in 2024 and 81 days for litigated cases in 2023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780276" y="1188720"/>
            <a:ext cx="1906524" cy="2926080"/>
          </a:xfrm>
          <a:prstGeom prst="rect">
            <a:avLst/>
          </a:prstGeom>
          <a:solidFill>
            <a:srgbClr val="F4F1EB"/>
          </a:solidFill>
          <a:ln w="12700">
            <a:solidFill>
              <a:srgbClr val="F4F1E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963156" y="1325880"/>
            <a:ext cx="15407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altLang="en-US" sz="2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 trillion</a:t>
            </a:r>
            <a:endParaRPr lang="en-US" sz="2400" dirty="0"/>
          </a:p>
        </p:txBody>
      </p:sp>
      <p:sp>
        <p:nvSpPr>
          <p:cNvPr id="15" name="Text 13"/>
          <p:cNvSpPr txBox="1"/>
          <p:nvPr/>
        </p:nvSpPr>
        <p:spPr>
          <a:xfrm>
            <a:off x="6963156" y="2286000"/>
            <a:ext cx="154076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altLang="en-US" sz="1250" b="1" dirty="0">
                <a:solidFill>
                  <a:schemeClr val="tx1"/>
                </a:solidFill>
              </a:rPr>
              <a:t>of GCC family assets transferring to the next generation by 2030</a:t>
            </a:r>
            <a:endParaRPr lang="en-US" sz="125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altLang="en-US" sz="1000" dirty="0">
                <a:solidFill>
                  <a:schemeClr val="accent3"/>
                </a:solidFill>
              </a:rPr>
              <a:t>and fewer than one in three family businesses has a succession plan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4187952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altLang="en-US" sz="800" i="1" dirty="0">
                <a:solidFill>
                  <a:schemeClr val="accent3"/>
                </a:solidFill>
              </a:rPr>
              <a:t>Sources are listed on the final slide.</a:t>
            </a:r>
            <a:endParaRPr lang="en-US" sz="800" dirty="0"/>
          </a:p>
        </p:txBody>
      </p:sp>
      <p:sp>
        <p:nvSpPr>
          <p:cNvPr id="17" name="Text 3"/>
          <p:cNvSpPr/>
          <p:nvPr>
            <p:ph idx="103" type="title" hasCustomPrompt="1"/>
          </p:nvPr>
        </p:nvSpPr>
        <p:spPr>
          <a:xfrm>
            <a:off x="457200" y="420624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626864"/>
            <a:ext cx="548640" cy="38404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900">
                <a:solidFill>
                  <a:srgbClr val="6E7B8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02336"/>
            <a:ext cx="8229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2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Contents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234440"/>
            <a:ext cx="457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005840" y="1234440"/>
            <a:ext cx="3474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altLang="en-US" sz="1350" dirty="0">
                <a:solidFill>
                  <a:schemeClr val="tx1"/>
                </a:solidFill>
              </a:rPr>
              <a:t>Context: who lives in the UAE and who holds assets here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457200" y="1801368"/>
            <a:ext cx="4023360" cy="0"/>
          </a:xfrm>
          <a:prstGeom prst="line">
            <a:avLst/>
          </a:prstGeom>
          <a:noFill/>
          <a:ln w="6350">
            <a:solidFill>
              <a:srgbClr val="E6E1D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1856232"/>
            <a:ext cx="457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005840" y="1856232"/>
            <a:ext cx="3474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altLang="en-US" sz="1350" dirty="0">
                <a:solidFill>
                  <a:schemeClr val="tx1"/>
                </a:solidFill>
              </a:rPr>
              <a:t>Who has a will and who does not: registries and surveys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57200" y="2423160"/>
            <a:ext cx="4023360" cy="0"/>
          </a:xfrm>
          <a:prstGeom prst="line">
            <a:avLst/>
          </a:prstGeom>
          <a:noFill/>
          <a:ln w="6350">
            <a:solidFill>
              <a:srgbClr val="E6E1D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7200" y="2478024"/>
            <a:ext cx="457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1005840" y="2478024"/>
            <a:ext cx="3474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altLang="en-US" sz="1350" dirty="0">
                <a:solidFill>
                  <a:schemeClr val="tx1"/>
                </a:solidFill>
              </a:rPr>
              <a:t>How fast estates are settled, and the problems that arise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457200" y="3044952"/>
            <a:ext cx="4023360" cy="0"/>
          </a:xfrm>
          <a:prstGeom prst="line">
            <a:avLst/>
          </a:prstGeom>
          <a:noFill/>
          <a:ln w="6350">
            <a:solidFill>
              <a:srgbClr val="E6E1D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663440" y="1234440"/>
            <a:ext cx="457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5212080" y="1234440"/>
            <a:ext cx="3474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altLang="en-US" sz="1350" dirty="0">
                <a:solidFill>
                  <a:schemeClr val="tx1"/>
                </a:solidFill>
              </a:rPr>
              <a:t>The impact of no planning on companies and investments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4663440" y="1801368"/>
            <a:ext cx="4023360" cy="0"/>
          </a:xfrm>
          <a:prstGeom prst="line">
            <a:avLst/>
          </a:prstGeom>
          <a:noFill/>
          <a:ln w="6350">
            <a:solidFill>
              <a:srgbClr val="E6E1D8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663440" y="1856232"/>
            <a:ext cx="457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5212080" y="1856232"/>
            <a:ext cx="3474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altLang="en-US" sz="1350" dirty="0">
                <a:solidFill>
                  <a:schemeClr val="tx1"/>
                </a:solidFill>
              </a:rPr>
              <a:t>What the numbers can and cannot tell us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4663440" y="2423160"/>
            <a:ext cx="4023360" cy="0"/>
          </a:xfrm>
          <a:prstGeom prst="line">
            <a:avLst/>
          </a:prstGeom>
          <a:noFill/>
          <a:ln w="6350">
            <a:solidFill>
              <a:srgbClr val="E6E1D8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663440" y="2478024"/>
            <a:ext cx="457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5212080" y="2478024"/>
            <a:ext cx="3474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altLang="en-US" sz="1350" dirty="0">
                <a:solidFill>
                  <a:schemeClr val="tx1"/>
                </a:solidFill>
              </a:rPr>
              <a:t>Sources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4663440" y="3044952"/>
            <a:ext cx="4023360" cy="0"/>
          </a:xfrm>
          <a:prstGeom prst="line">
            <a:avLst/>
          </a:prstGeom>
          <a:noFill/>
          <a:ln w="6350">
            <a:solidFill>
              <a:srgbClr val="E6E1D8"/>
            </a:solidFill>
            <a:prstDash val="solid"/>
          </a:ln>
        </p:spPr>
      </p:sp>
      <p:sp>
        <p:nvSpPr>
          <p:cNvPr id="21" name="Text 3"/>
          <p:cNvSpPr/>
          <p:nvPr>
            <p:ph idx="103" type="title" hasCustomPrompt="1"/>
          </p:nvPr>
        </p:nvSpPr>
        <p:spPr>
          <a:xfrm>
            <a:off x="457200" y="420624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626864"/>
            <a:ext cx="548640" cy="38404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900">
                <a:solidFill>
                  <a:srgbClr val="6E7B8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463040"/>
            <a:ext cx="1828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0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7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2743200"/>
            <a:ext cx="7772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altLang="en-US" sz="3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population context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3675888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400" dirty="0">
                <a:solidFill>
                  <a:schemeClr val="accent2"/>
                </a:solidFill>
              </a:rPr>
              <a:t>A country where expatriates form the overwhelming majority of residents and asset owners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626864"/>
            <a:ext cx="548640" cy="38404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900">
                <a:solidFill>
                  <a:srgbClr val="D9B38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02336"/>
            <a:ext cx="8229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2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Over 11 million people, and growing fast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46304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altLang="en-US" sz="1000" b="1" spc="300" kern="0" dirty="0">
                <a:solidFill>
                  <a:schemeClr val="accent1"/>
                </a:solidFill>
              </a:rPr>
              <a:t>POPULATION</a:t>
            </a:r>
            <a:endParaRPr lang="en-US" sz="1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188720"/>
          <a:ext cx="5212080" cy="3017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5897880" y="1188720"/>
            <a:ext cx="2788920" cy="3017520"/>
          </a:xfrm>
          <a:prstGeom prst="rect">
            <a:avLst/>
          </a:prstGeom>
          <a:solidFill>
            <a:srgbClr val="F4F1EB"/>
          </a:solidFill>
          <a:ln w="12700">
            <a:solidFill>
              <a:srgbClr val="F4F1EB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126480" y="1325880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alt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88.5%</a:t>
            </a:r>
            <a:endParaRPr lang="en-US" sz="3200" dirty="0"/>
          </a:p>
        </p:txBody>
      </p:sp>
      <p:sp>
        <p:nvSpPr>
          <p:cNvPr id="7" name="Text 4"/>
          <p:cNvSpPr txBox="1"/>
          <p:nvPr/>
        </p:nvSpPr>
        <p:spPr>
          <a:xfrm>
            <a:off x="6126480" y="2057400"/>
            <a:ext cx="2331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250" b="1" dirty="0">
                <a:solidFill>
                  <a:schemeClr val="tx1"/>
                </a:solidFill>
              </a:rPr>
              <a:t>share of residents who are expatriates</a:t>
            </a:r>
            <a:endParaRPr lang="en-US" sz="1250" dirty="0"/>
          </a:p>
        </p:txBody>
      </p:sp>
      <p:sp>
        <p:nvSpPr>
          <p:cNvPr id="8" name="Text 5"/>
          <p:cNvSpPr txBox="1"/>
          <p:nvPr/>
        </p:nvSpPr>
        <p:spPr>
          <a:xfrm>
            <a:off x="6126480" y="2615184"/>
            <a:ext cx="2331720" cy="1545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000" dirty="0">
                <a:solidFill>
                  <a:schemeClr val="accent3"/>
                </a:solidFill>
              </a:rPr>
              <a:t>Last officially published share (National Bureau of Statistics, 2010 census: 7.3 million expatriates of 8.26 million). No newer official share has been published; current estimates remain at 88–90%.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4187952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altLang="en-US" sz="800" i="1" dirty="0">
                <a:solidFill>
                  <a:schemeClr val="accent3"/>
                </a:solidFill>
              </a:rPr>
              <a:t>Federal Competitiveness and Statistics Centre (11,294,243 at end-2024); Dubai Statistics Centre (crossed 4 million in Sept 2025; 4.58 million at end-2025).</a:t>
            </a:r>
            <a:endParaRPr lang="en-US" sz="800" dirty="0"/>
          </a:p>
        </p:txBody>
      </p:sp>
      <p:sp>
        <p:nvSpPr>
          <p:cNvPr id="10" name="Text 3"/>
          <p:cNvSpPr/>
          <p:nvPr>
            <p:ph idx="103" type="title" hasCustomPrompt="1"/>
          </p:nvPr>
        </p:nvSpPr>
        <p:spPr>
          <a:xfrm>
            <a:off x="457200" y="420624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626864"/>
            <a:ext cx="548640" cy="38404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900">
                <a:solidFill>
                  <a:srgbClr val="6E7B8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463040"/>
            <a:ext cx="1828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0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7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2743200"/>
            <a:ext cx="7772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altLang="en-US" sz="3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 has a will and who does not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3675888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400" dirty="0">
                <a:solidFill>
                  <a:schemeClr val="accent2"/>
                </a:solidFill>
              </a:rPr>
              <a:t>There is no official register of people who died without a will. What exists: registered-will counts, surveys, and estate case files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626864"/>
            <a:ext cx="548640" cy="38404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900">
                <a:solidFill>
                  <a:srgbClr val="D9B38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02336"/>
            <a:ext cx="8229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21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2000–2026: when registering a will became possible at all</a:t>
            </a:r>
            <a:endParaRPr lang="en-US" sz="2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46304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altLang="en-US" sz="1000" b="1" spc="300" kern="0" dirty="0">
                <a:solidFill>
                  <a:schemeClr val="accent1"/>
                </a:solidFill>
              </a:rPr>
              <a:t>LEGAL TIMELINE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731520" y="1600200"/>
            <a:ext cx="7680960" cy="0"/>
          </a:xfrm>
          <a:prstGeom prst="line">
            <a:avLst/>
          </a:prstGeom>
          <a:noFill/>
          <a:ln w="9525">
            <a:solidFill>
              <a:srgbClr val="D9B38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325880"/>
            <a:ext cx="548640" cy="548640"/>
          </a:xfrm>
          <a:prstGeom prst="ellipse">
            <a:avLst/>
          </a:prstGeom>
          <a:solidFill>
            <a:srgbClr val="0E2238"/>
          </a:solidFill>
          <a:ln w="12700">
            <a:solidFill>
              <a:srgbClr val="B5723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13258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2057400"/>
            <a:ext cx="1234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300" b="1" dirty="0">
                <a:solidFill>
                  <a:schemeClr val="tx1"/>
                </a:solidFill>
              </a:rPr>
              <a:t>2000–2014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2606040"/>
            <a:ext cx="12344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050" dirty="0">
                <a:solidFill>
                  <a:schemeClr val="accent3"/>
                </a:solidFill>
              </a:rPr>
              <a:t>No wills registry for non-Muslims. Estates distributed by default under Sharia inheritance rules; disputes common.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1856232" y="1325880"/>
            <a:ext cx="548640" cy="548640"/>
          </a:xfrm>
          <a:prstGeom prst="ellipse">
            <a:avLst/>
          </a:prstGeom>
          <a:solidFill>
            <a:srgbClr val="0E2238"/>
          </a:solidFill>
          <a:ln w="12700">
            <a:solidFill>
              <a:srgbClr val="B5723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856232" y="13258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856232" y="2057400"/>
            <a:ext cx="1234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300" b="1" dirty="0">
                <a:solidFill>
                  <a:schemeClr val="tx1"/>
                </a:solidFill>
              </a:rPr>
              <a:t>2015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1856232" y="2606040"/>
            <a:ext cx="12344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050" dirty="0">
                <a:solidFill>
                  <a:schemeClr val="accent3"/>
                </a:solidFill>
              </a:rPr>
              <a:t>DIFC Courts launches the Wills Service for non-Muslims.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255264" y="1325880"/>
            <a:ext cx="548640" cy="548640"/>
          </a:xfrm>
          <a:prstGeom prst="ellipse">
            <a:avLst/>
          </a:prstGeom>
          <a:solidFill>
            <a:srgbClr val="0E2238"/>
          </a:solidFill>
          <a:ln w="12700">
            <a:solidFill>
              <a:srgbClr val="B5723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255264" y="13258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3255264" y="2057400"/>
            <a:ext cx="1234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300" b="1" dirty="0">
                <a:solidFill>
                  <a:schemeClr val="tx1"/>
                </a:solidFill>
              </a:rPr>
              <a:t>2017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3255264" y="2606040"/>
            <a:ext cx="12344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050" dirty="0">
                <a:solidFill>
                  <a:schemeClr val="accent3"/>
                </a:solidFill>
              </a:rPr>
              <a:t>Dubai Law 15 on non-Muslim estates; Abu Dhabi Judicial Department starts registering wills.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654296" y="1325880"/>
            <a:ext cx="548640" cy="548640"/>
          </a:xfrm>
          <a:prstGeom prst="ellipse">
            <a:avLst/>
          </a:prstGeom>
          <a:solidFill>
            <a:srgbClr val="0E2238"/>
          </a:solidFill>
          <a:ln w="12700">
            <a:solidFill>
              <a:srgbClr val="B5723B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654296" y="13258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4654296" y="2057400"/>
            <a:ext cx="1234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300" b="1" dirty="0">
                <a:solidFill>
                  <a:schemeClr val="tx1"/>
                </a:solidFill>
              </a:rPr>
              <a:t>2019–2021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4654296" y="2606040"/>
            <a:ext cx="12344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050" dirty="0">
                <a:solidFill>
                  <a:schemeClr val="accent3"/>
                </a:solidFill>
              </a:rPr>
              <a:t>DIFC extends cover to assets across the UAE and abroad (2019); Abu Dhabi Law 14/2021 creates the Civil Family Court.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053328" y="1325880"/>
            <a:ext cx="548640" cy="548640"/>
          </a:xfrm>
          <a:prstGeom prst="ellipse">
            <a:avLst/>
          </a:prstGeom>
          <a:solidFill>
            <a:srgbClr val="0E2238"/>
          </a:solidFill>
          <a:ln w="12700">
            <a:solidFill>
              <a:srgbClr val="B5723B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053328" y="13258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6053328" y="2057400"/>
            <a:ext cx="1234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300" b="1" dirty="0">
                <a:solidFill>
                  <a:schemeClr val="tx1"/>
                </a:solidFill>
              </a:rPr>
              <a:t>2022–2023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6053328" y="2606040"/>
            <a:ext cx="12344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050" dirty="0">
                <a:solidFill>
                  <a:schemeClr val="accent3"/>
                </a:solidFill>
              </a:rPr>
              <a:t>Federal Decree-Law 41/2022 on civil personal status for non-Muslims; Dubai Probate Court created (Decree 25/2023).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7452360" y="1325880"/>
            <a:ext cx="548640" cy="548640"/>
          </a:xfrm>
          <a:prstGeom prst="ellipse">
            <a:avLst/>
          </a:prstGeom>
          <a:solidFill>
            <a:srgbClr val="0E2238"/>
          </a:solidFill>
          <a:ln w="12700">
            <a:solidFill>
              <a:srgbClr val="B5723B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452360" y="13258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7452360" y="2057400"/>
            <a:ext cx="1234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300" b="1" dirty="0">
                <a:solidFill>
                  <a:schemeClr val="tx1"/>
                </a:solidFill>
              </a:rPr>
              <a:t>2024–2026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7452360" y="2606040"/>
            <a:ext cx="12344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050" dirty="0">
                <a:solidFill>
                  <a:schemeClr val="accent3"/>
                </a:solidFill>
              </a:rPr>
              <a:t>Record growth: DIFC registrations +22% in 2025; Abu Dhabi wills double to 11,000 in 2025.</a:t>
            </a:r>
            <a:endParaRPr lang="en-US" sz="1050" dirty="0"/>
          </a:p>
        </p:txBody>
      </p:sp>
      <p:sp>
        <p:nvSpPr>
          <p:cNvPr id="29" name="Text 3"/>
          <p:cNvSpPr/>
          <p:nvPr>
            <p:ph idx="103" type="title" hasCustomPrompt="1"/>
          </p:nvPr>
        </p:nvSpPr>
        <p:spPr>
          <a:xfrm>
            <a:off x="457200" y="420624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626864"/>
            <a:ext cx="548640" cy="38404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900">
                <a:solidFill>
                  <a:srgbClr val="6E7B8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02336"/>
            <a:ext cx="8229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21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DIFC registered wills: from 3,000 to over 14,000</a:t>
            </a:r>
            <a:endParaRPr lang="en-US" sz="2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46304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altLang="en-US" sz="1000" b="1" spc="300" kern="0" dirty="0">
                <a:solidFill>
                  <a:schemeClr val="accent1"/>
                </a:solidFill>
              </a:rPr>
              <a:t>CUMULATIVE REGISTER SINCE 2015</a:t>
            </a:r>
            <a:endParaRPr lang="en-US" sz="1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188720"/>
          <a:ext cx="5212080" cy="3017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5897880" y="1188720"/>
            <a:ext cx="2788920" cy="3017520"/>
          </a:xfrm>
          <a:prstGeom prst="rect">
            <a:avLst/>
          </a:prstGeom>
          <a:solidFill>
            <a:srgbClr val="F4F1EB"/>
          </a:solidFill>
          <a:ln w="12700">
            <a:solidFill>
              <a:srgbClr val="F4F1EB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126480" y="1325880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alt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14,373</a:t>
            </a:r>
            <a:endParaRPr lang="en-US" sz="3200" dirty="0"/>
          </a:p>
        </p:txBody>
      </p:sp>
      <p:sp>
        <p:nvSpPr>
          <p:cNvPr id="7" name="Text 4"/>
          <p:cNvSpPr txBox="1"/>
          <p:nvPr/>
        </p:nvSpPr>
        <p:spPr>
          <a:xfrm>
            <a:off x="6126480" y="2057400"/>
            <a:ext cx="2331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250" b="1" dirty="0">
                <a:solidFill>
                  <a:schemeClr val="tx1"/>
                </a:solidFill>
              </a:rPr>
              <a:t>wills registered by mid-2026</a:t>
            </a:r>
            <a:endParaRPr lang="en-US" sz="1250" dirty="0"/>
          </a:p>
        </p:txBody>
      </p:sp>
      <p:sp>
        <p:nvSpPr>
          <p:cNvPr id="8" name="Text 5"/>
          <p:cNvSpPr txBox="1"/>
          <p:nvPr/>
        </p:nvSpPr>
        <p:spPr>
          <a:xfrm>
            <a:off x="6126480" y="2615184"/>
            <a:ext cx="2331720" cy="1545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000" dirty="0">
                <a:solidFill>
                  <a:schemeClr val="accent3"/>
                </a:solidFill>
              </a:rPr>
              <a:t>Nov 2017: over 3,000. Jul 2019: over 5,000. Jul 2024: over 11,000. Jul 2025: over 13,400. Apr 2026: over 14,000.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4187952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altLang="en-US" sz="800" i="1" dirty="0">
                <a:solidFill>
                  <a:schemeClr val="accent3"/>
                </a:solidFill>
              </a:rPr>
              <a:t>DIFC Courts press releases 2017–2026 and statistics portal</a:t>
            </a:r>
            <a:endParaRPr lang="en-US" sz="800" dirty="0"/>
          </a:p>
        </p:txBody>
      </p:sp>
      <p:sp>
        <p:nvSpPr>
          <p:cNvPr id="10" name="Text 3"/>
          <p:cNvSpPr/>
          <p:nvPr>
            <p:ph idx="103" type="title" hasCustomPrompt="1"/>
          </p:nvPr>
        </p:nvSpPr>
        <p:spPr>
          <a:xfrm>
            <a:off x="457200" y="420624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626864"/>
            <a:ext cx="548640" cy="38404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900">
                <a:solidFill>
                  <a:srgbClr val="6E7B8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02336"/>
            <a:ext cx="8229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2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DIFC: annual registrations are accelerating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46304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altLang="en-US" sz="1000" b="1" spc="300" kern="0" dirty="0">
                <a:solidFill>
                  <a:schemeClr val="accent1"/>
                </a:solidFill>
              </a:rPr>
              <a:t>REGISTRATIONS BY PERIOD</a:t>
            </a:r>
            <a:endParaRPr lang="en-US" sz="1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188720"/>
          <a:ext cx="5212080" cy="3017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5897880" y="1188720"/>
            <a:ext cx="2788920" cy="3017520"/>
          </a:xfrm>
          <a:prstGeom prst="rect">
            <a:avLst/>
          </a:prstGeom>
          <a:solidFill>
            <a:srgbClr val="F4F1EB"/>
          </a:solidFill>
          <a:ln w="12700">
            <a:solidFill>
              <a:srgbClr val="F4F1EB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126480" y="1325880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alt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+120%</a:t>
            </a:r>
            <a:endParaRPr lang="en-US" sz="3200" dirty="0"/>
          </a:p>
        </p:txBody>
      </p:sp>
      <p:sp>
        <p:nvSpPr>
          <p:cNvPr id="7" name="Text 4"/>
          <p:cNvSpPr txBox="1"/>
          <p:nvPr/>
        </p:nvSpPr>
        <p:spPr>
          <a:xfrm>
            <a:off x="6126480" y="2057400"/>
            <a:ext cx="2331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250" b="1" dirty="0">
                <a:solidFill>
                  <a:schemeClr val="tx1"/>
                </a:solidFill>
              </a:rPr>
              <a:t>growth in Q1 2026 versus Q1 2025</a:t>
            </a:r>
            <a:endParaRPr lang="en-US" sz="1250" dirty="0"/>
          </a:p>
        </p:txBody>
      </p:sp>
      <p:sp>
        <p:nvSpPr>
          <p:cNvPr id="8" name="Text 5"/>
          <p:cNvSpPr txBox="1"/>
          <p:nvPr/>
        </p:nvSpPr>
        <p:spPr>
          <a:xfrm>
            <a:off x="6126480" y="2615184"/>
            <a:ext cx="2331720" cy="1545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000" dirty="0">
                <a:solidFill>
                  <a:schemeClr val="accent3"/>
                </a:solidFill>
              </a:rPr>
              <a:t>2025: 2,220 wills (+22%). Probate applications to enforce wills: 41 in 2025 (+37%), and 27 orders in H1 2025 alone.</a:t>
            </a:r>
            <a:endParaRPr lang="en-US" sz="1000" dirty="0"/>
          </a:p>
          <a:p>
            <a:pPr algn="l" indent="0" marL="0">
              <a:buNone/>
            </a:pPr>
            <a:r>
              <a:rPr lang="en-US" altLang="en-US" sz="1000" dirty="0">
                <a:solidFill>
                  <a:schemeClr val="accent3"/>
                </a:solidFill>
              </a:rPr>
              <a:t>* Derived from announced growth rates.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4187952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altLang="en-US" sz="800" i="1" dirty="0">
                <a:solidFill>
                  <a:schemeClr val="accent3"/>
                </a:solidFill>
              </a:rPr>
              <a:t>DIFC Courts press releases 2017–2026 and statistics portal</a:t>
            </a:r>
            <a:endParaRPr lang="en-US" sz="800" dirty="0"/>
          </a:p>
        </p:txBody>
      </p:sp>
      <p:sp>
        <p:nvSpPr>
          <p:cNvPr id="10" name="Text 3"/>
          <p:cNvSpPr/>
          <p:nvPr>
            <p:ph idx="103" type="title" hasCustomPrompt="1"/>
          </p:nvPr>
        </p:nvSpPr>
        <p:spPr>
          <a:xfrm>
            <a:off x="457200" y="420624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626864"/>
            <a:ext cx="548640" cy="38404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900">
                <a:solidFill>
                  <a:srgbClr val="6E7B8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02336"/>
            <a:ext cx="8229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21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Abu Dhabi: civil wills doubled in a single year</a:t>
            </a:r>
            <a:endParaRPr lang="en-US" sz="2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46304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altLang="en-US" sz="1000" b="1" spc="300" kern="0" dirty="0">
                <a:solidFill>
                  <a:schemeClr val="accent1"/>
                </a:solidFill>
              </a:rPr>
              <a:t>ABU DHABI JUDICIAL DEPARTMENT</a:t>
            </a:r>
            <a:endParaRPr lang="en-US" sz="1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188720"/>
          <a:ext cx="5212080" cy="3017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5897880" y="1188720"/>
            <a:ext cx="2788920" cy="3017520"/>
          </a:xfrm>
          <a:prstGeom prst="rect">
            <a:avLst/>
          </a:prstGeom>
          <a:solidFill>
            <a:srgbClr val="F4F1EB"/>
          </a:solidFill>
          <a:ln w="12700">
            <a:solidFill>
              <a:srgbClr val="F4F1EB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126480" y="1325880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alt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64</a:t>
            </a:r>
            <a:endParaRPr lang="en-US" sz="3200" dirty="0"/>
          </a:p>
        </p:txBody>
      </p:sp>
      <p:sp>
        <p:nvSpPr>
          <p:cNvPr id="7" name="Text 4"/>
          <p:cNvSpPr txBox="1"/>
          <p:nvPr/>
        </p:nvSpPr>
        <p:spPr>
          <a:xfrm>
            <a:off x="6126480" y="2057400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250" b="1" dirty="0">
                <a:solidFill>
                  <a:schemeClr val="tx1"/>
                </a:solidFill>
              </a:rPr>
              <a:t>nationalities had registered wills in Abu Dhabi by 2019</a:t>
            </a:r>
            <a:endParaRPr lang="en-US" sz="1250" dirty="0"/>
          </a:p>
        </p:txBody>
      </p:sp>
      <p:sp>
        <p:nvSpPr>
          <p:cNvPr id="8" name="Text 5"/>
          <p:cNvSpPr txBox="1"/>
          <p:nvPr/>
        </p:nvSpPr>
        <p:spPr>
          <a:xfrm>
            <a:off x="6126480" y="2834640"/>
            <a:ext cx="23317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000" dirty="0">
                <a:solidFill>
                  <a:schemeClr val="accent3"/>
                </a:solidFill>
              </a:rPr>
              <a:t>Of 1,668 wills: 872 Indians, 189 British, 96 South Africans. Around 11,000 wills in 2025, 'more than double' 2024 (* 2024 estimated below 5,500). Q1 2026: 8,886 civil marriage and will transactions.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4187952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altLang="en-US" sz="800" i="1" dirty="0">
                <a:solidFill>
                  <a:schemeClr val="accent3"/>
                </a:solidFill>
              </a:rPr>
              <a:t>Abu Dhabi Judicial Department via Gulf News (Dec 2019, Jan 2026)</a:t>
            </a:r>
            <a:endParaRPr lang="en-US" sz="800" dirty="0"/>
          </a:p>
        </p:txBody>
      </p:sp>
      <p:sp>
        <p:nvSpPr>
          <p:cNvPr id="10" name="Text 3"/>
          <p:cNvSpPr/>
          <p:nvPr>
            <p:ph idx="103" type="title" hasCustomPrompt="1"/>
          </p:nvPr>
        </p:nvSpPr>
        <p:spPr>
          <a:xfrm>
            <a:off x="457200" y="420624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626864"/>
            <a:ext cx="548640" cy="38404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900">
                <a:solidFill>
                  <a:srgbClr val="6E7B8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02336"/>
            <a:ext cx="8229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2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 has no will: what the surveys say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46304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altLang="en-US" sz="1000" b="1" spc="300" kern="0" dirty="0">
                <a:solidFill>
                  <a:schemeClr val="accent1"/>
                </a:solidFill>
              </a:rPr>
              <a:t>SURVEYS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1906524" cy="2926080"/>
          </a:xfrm>
          <a:prstGeom prst="rect">
            <a:avLst/>
          </a:prstGeom>
          <a:solidFill>
            <a:srgbClr val="F4F1EB"/>
          </a:solidFill>
          <a:ln w="12700">
            <a:solidFill>
              <a:srgbClr val="F4F1E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325880"/>
            <a:ext cx="15407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altLang="en-US" sz="3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49%</a:t>
            </a:r>
            <a:endParaRPr lang="en-US" sz="36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286000"/>
            <a:ext cx="154076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altLang="en-US" sz="1250" b="1" dirty="0">
                <a:solidFill>
                  <a:schemeClr val="tx1"/>
                </a:solidFill>
              </a:rPr>
              <a:t>have not started a will</a:t>
            </a:r>
            <a:endParaRPr lang="en-US" sz="125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altLang="en-US" sz="1000" dirty="0">
                <a:solidFill>
                  <a:schemeClr val="accent3"/>
                </a:solidFill>
              </a:rPr>
              <a:t>of UAE expatriates, 2026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2564892" y="1188720"/>
            <a:ext cx="1906524" cy="2926080"/>
          </a:xfrm>
          <a:prstGeom prst="rect">
            <a:avLst/>
          </a:prstGeom>
          <a:solidFill>
            <a:srgbClr val="F4F1EB"/>
          </a:solidFill>
          <a:ln w="12700">
            <a:solidFill>
              <a:srgbClr val="F4F1E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747772" y="1325880"/>
            <a:ext cx="15407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altLang="en-US" sz="3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56%</a:t>
            </a:r>
            <a:endParaRPr lang="en-US" sz="3600" dirty="0"/>
          </a:p>
        </p:txBody>
      </p:sp>
      <p:sp>
        <p:nvSpPr>
          <p:cNvPr id="9" name="Text 7"/>
          <p:cNvSpPr txBox="1"/>
          <p:nvPr/>
        </p:nvSpPr>
        <p:spPr>
          <a:xfrm>
            <a:off x="2747772" y="2286000"/>
            <a:ext cx="154076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altLang="en-US" sz="1250" b="1" dirty="0">
                <a:solidFill>
                  <a:schemeClr val="tx1"/>
                </a:solidFill>
              </a:rPr>
              <a:t>believe their spouse automatically inherits everything</a:t>
            </a:r>
            <a:endParaRPr lang="en-US" sz="125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altLang="en-US" sz="1000" dirty="0">
                <a:solidFill>
                  <a:schemeClr val="accent3"/>
                </a:solidFill>
              </a:rPr>
              <a:t>a legally mistaken belief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672584" y="1188720"/>
            <a:ext cx="1906524" cy="2926080"/>
          </a:xfrm>
          <a:prstGeom prst="rect">
            <a:avLst/>
          </a:prstGeom>
          <a:solidFill>
            <a:srgbClr val="F4F1EB"/>
          </a:solidFill>
          <a:ln w="12700">
            <a:solidFill>
              <a:srgbClr val="F4F1E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855464" y="1325880"/>
            <a:ext cx="15407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altLang="en-US" sz="3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24%</a:t>
            </a:r>
            <a:endParaRPr lang="en-US" sz="3600" dirty="0"/>
          </a:p>
        </p:txBody>
      </p:sp>
      <p:sp>
        <p:nvSpPr>
          <p:cNvPr id="12" name="Text 10"/>
          <p:cNvSpPr txBox="1"/>
          <p:nvPr/>
        </p:nvSpPr>
        <p:spPr>
          <a:xfrm>
            <a:off x="4855464" y="2286000"/>
            <a:ext cx="154076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altLang="en-US" sz="1250" b="1" dirty="0">
                <a:solidFill>
                  <a:schemeClr val="tx1"/>
                </a:solidFill>
              </a:rPr>
              <a:t>of parents with minors have documented guardianship</a:t>
            </a:r>
            <a:endParaRPr lang="en-US" sz="125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altLang="en-US" sz="1000" dirty="0">
                <a:solidFill>
                  <a:schemeClr val="accent3"/>
                </a:solidFill>
              </a:rPr>
              <a:t>while 73% think their families would know their wishes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780276" y="1188720"/>
            <a:ext cx="1906524" cy="2926080"/>
          </a:xfrm>
          <a:prstGeom prst="rect">
            <a:avLst/>
          </a:prstGeom>
          <a:solidFill>
            <a:srgbClr val="F4F1EB"/>
          </a:solidFill>
          <a:ln w="12700">
            <a:solidFill>
              <a:srgbClr val="F4F1E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963156" y="1325880"/>
            <a:ext cx="15407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altLang="en-US" sz="2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~90%</a:t>
            </a:r>
            <a:endParaRPr lang="en-US" sz="2400" dirty="0"/>
          </a:p>
        </p:txBody>
      </p:sp>
      <p:sp>
        <p:nvSpPr>
          <p:cNvPr id="15" name="Text 13"/>
          <p:cNvSpPr txBox="1"/>
          <p:nvPr/>
        </p:nvSpPr>
        <p:spPr>
          <a:xfrm>
            <a:off x="6963156" y="2286000"/>
            <a:ext cx="154076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altLang="en-US" sz="1250" b="1" dirty="0">
                <a:solidFill>
                  <a:schemeClr val="tx1"/>
                </a:solidFill>
              </a:rPr>
              <a:t>of Dubai asset-holders had no UAE-registered will</a:t>
            </a:r>
            <a:endParaRPr lang="en-US" sz="125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altLang="en-US" sz="1000" dirty="0">
                <a:solidFill>
                  <a:schemeClr val="accent3"/>
                </a:solidFill>
              </a:rPr>
              <a:t>DIFC Wills registry survey, 2017: 'little more than 10%' had one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4187952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altLang="en-US" sz="800" i="1" dirty="0">
                <a:solidFill>
                  <a:schemeClr val="accent3"/>
                </a:solidFill>
              </a:rPr>
              <a:t>YouGov for Blanket, 1,014 residents, Sept 2026 (Gulf News, Oct 2026); DIFC Wills registry survey 2017 (Gulf News, Nov 2018). Reasons for no will: 28% 'not enough assets', 21% 'don't know where to start'.</a:t>
            </a:r>
            <a:endParaRPr lang="en-US" sz="800" dirty="0"/>
          </a:p>
        </p:txBody>
      </p:sp>
      <p:sp>
        <p:nvSpPr>
          <p:cNvPr id="17" name="Text 3"/>
          <p:cNvSpPr/>
          <p:nvPr>
            <p:ph idx="103" type="title" hasCustomPrompt="1"/>
          </p:nvPr>
        </p:nvSpPr>
        <p:spPr>
          <a:xfrm>
            <a:off x="457200" y="420624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626864"/>
            <a:ext cx="548640" cy="38404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900">
                <a:solidFill>
                  <a:srgbClr val="6E7B8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0080"/>
            <a:ext cx="80467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altLang="en-US" sz="7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Under 1%</a:t>
            </a:r>
            <a:endParaRPr lang="en-US" sz="7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4231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2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of expatriate residents hold a UAE-registered will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154680"/>
            <a:ext cx="6858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300" dirty="0">
                <a:solidFill>
                  <a:schemeClr val="accent2"/>
                </a:solidFill>
              </a:rPr>
              <a:t>Our indicative estimate: roughly 35,000 registered non-Muslim wills (DIFC 14,000+ plus Abu Dhabi 21,000, plus the unpublished Dubai Courts register) against around 10 million expatriate residents. Even if the count were three times higher, the share stays below 1%.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224528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altLang="en-US" sz="900" i="1" dirty="0">
                <a:solidFill>
                  <a:schemeClr val="accent3"/>
                </a:solidFill>
              </a:rPr>
              <a:t>Rashid Alkaitoob Advocates' calculation from the official figures in this deck. Not an official statistic.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626864"/>
            <a:ext cx="548640" cy="38404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900">
                <a:solidFill>
                  <a:srgbClr val="D9B38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463040"/>
            <a:ext cx="1828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0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7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2743200"/>
            <a:ext cx="7772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altLang="en-US" sz="2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fast estates are settled, and what goes wrong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3675888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400" dirty="0">
                <a:solidFill>
                  <a:schemeClr val="accent2"/>
                </a:solidFill>
              </a:rPr>
              <a:t>Official Dubai Courts figures, and practitioner estimates with and without a will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626864"/>
            <a:ext cx="548640" cy="38404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900">
                <a:solidFill>
                  <a:srgbClr val="D9B38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02336"/>
            <a:ext cx="8229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2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Dubai Courts estate files 2022–2025 in numbers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46304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altLang="en-US" sz="1000" b="1" spc="300" kern="0" dirty="0">
                <a:solidFill>
                  <a:schemeClr val="accent1"/>
                </a:solidFill>
              </a:rPr>
              <a:t>OFFICIAL DATA</a:t>
            </a:r>
            <a:endParaRPr lang="en-US" sz="10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2377440"/>
                <a:gridCol w="1828800"/>
                <a:gridCol w="1737360"/>
                <a:gridCol w="1371600"/>
              </a:tblGrid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D9B38C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Year</a:t>
                      </a:r>
                      <a:endParaRPr lang="en-US" sz="110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23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D9B38C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Volume</a:t>
                      </a:r>
                      <a:endParaRPr lang="en-US" sz="110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23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D9B38C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Value</a:t>
                      </a:r>
                      <a:endParaRPr lang="en-US" sz="110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23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D9B38C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Time</a:t>
                      </a:r>
                      <a:endParaRPr lang="en-US" sz="110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23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D9B38C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Amicable settlement</a:t>
                      </a:r>
                      <a:endParaRPr lang="en-US" sz="110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238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0E2238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2022</a:t>
                      </a:r>
                      <a:endParaRPr lang="en-US" sz="105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3A52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2,079 estates: 1,555 Muslim, 500 non-Muslim, 24 private</a:t>
                      </a:r>
                      <a:endParaRPr lang="en-US" sz="105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3A52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AED 3.80 billion</a:t>
                      </a:r>
                      <a:endParaRPr lang="en-US" sz="105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3A52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Not published</a:t>
                      </a:r>
                      <a:endParaRPr lang="en-US" sz="105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3A52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Not published</a:t>
                      </a:r>
                      <a:endParaRPr lang="en-US" sz="105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EB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0E2238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2023</a:t>
                      </a:r>
                      <a:endParaRPr lang="en-US" sz="105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3A52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580 cases resolved: 512 Muslim, 38 non-Muslim, 30 private</a:t>
                      </a:r>
                      <a:endParaRPr lang="en-US" sz="105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3A52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AED 4.12 billion</a:t>
                      </a:r>
                      <a:endParaRPr lang="en-US" sz="105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3A52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81 days registration to judgment; 28 days to first hearing</a:t>
                      </a:r>
                      <a:endParaRPr lang="en-US" sz="105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3A52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92.6%</a:t>
                      </a:r>
                      <a:endParaRPr lang="en-US" sz="105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0E2238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2024</a:t>
                      </a:r>
                      <a:endParaRPr lang="en-US" sz="105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3A52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1,814 estate files in the Probate Court's first 11 months; 1,407 inheritance certificates</a:t>
                      </a:r>
                      <a:endParaRPr lang="en-US" sz="105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3A52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Over AED 10 billion settled; AED 35 billion in claims</a:t>
                      </a:r>
                      <a:endParaRPr lang="en-US" sz="105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3A52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24 days amicable settlement</a:t>
                      </a:r>
                      <a:endParaRPr lang="en-US" sz="105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3A52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84%</a:t>
                      </a:r>
                      <a:endParaRPr lang="en-US" sz="105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EB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0E2238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2025</a:t>
                      </a:r>
                      <a:endParaRPr lang="en-US" sz="105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3A52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1,101 agreements; 1,052 properties; 284 trade licences; 357 vehicles</a:t>
                      </a:r>
                      <a:endParaRPr lang="en-US" sz="105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3A52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AED 5.26 billion settled; AED 3.5 billion paid to heirs</a:t>
                      </a:r>
                      <a:endParaRPr lang="en-US" sz="105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3A52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13.8 working days</a:t>
                      </a:r>
                      <a:endParaRPr lang="en-US" sz="105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3A52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92.5%</a:t>
                      </a:r>
                      <a:endParaRPr lang="en-US" sz="105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457200" y="4251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altLang="en-US" sz="950" i="1" dirty="0">
                <a:solidFill>
                  <a:schemeClr val="accent3"/>
                </a:solidFill>
              </a:rPr>
              <a:t>Units differ across years (estates, cases, files, agreements) and are not directly comparable. Source: Dubai Courts annual reports and Dubai Media Office.</a:t>
            </a:r>
            <a:endParaRPr lang="en-US" sz="950" dirty="0"/>
          </a:p>
        </p:txBody>
      </p:sp>
      <p:sp>
        <p:nvSpPr>
          <p:cNvPr id="6" name="Text 3"/>
          <p:cNvSpPr/>
          <p:nvPr>
            <p:ph idx="103" type="title" hasCustomPrompt="1"/>
          </p:nvPr>
        </p:nvSpPr>
        <p:spPr>
          <a:xfrm>
            <a:off x="457200" y="420624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626864"/>
            <a:ext cx="548640" cy="38404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900">
                <a:solidFill>
                  <a:srgbClr val="6E7B8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02336"/>
            <a:ext cx="8229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21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Dubai has cut estate settlement time from 81 days to 13.8</a:t>
            </a:r>
            <a:endParaRPr lang="en-US" sz="2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46304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altLang="en-US" sz="1000" b="1" spc="300" kern="0" dirty="0">
                <a:solidFill>
                  <a:schemeClr val="accent1"/>
                </a:solidFill>
              </a:rPr>
              <a:t>TIME</a:t>
            </a:r>
            <a:endParaRPr lang="en-US" sz="1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188720"/>
          <a:ext cx="5212080" cy="3017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5897880" y="1188720"/>
            <a:ext cx="2788920" cy="3017520"/>
          </a:xfrm>
          <a:prstGeom prst="rect">
            <a:avLst/>
          </a:prstGeom>
          <a:solidFill>
            <a:srgbClr val="F4F1EB"/>
          </a:solidFill>
          <a:ln w="12700">
            <a:solidFill>
              <a:srgbClr val="F4F1EB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126480" y="1325880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alt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96 → 3</a:t>
            </a:r>
            <a:endParaRPr lang="en-US" sz="3200" dirty="0"/>
          </a:p>
        </p:txBody>
      </p:sp>
      <p:sp>
        <p:nvSpPr>
          <p:cNvPr id="7" name="Text 4"/>
          <p:cNvSpPr txBox="1"/>
          <p:nvPr/>
        </p:nvSpPr>
        <p:spPr>
          <a:xfrm>
            <a:off x="6126480" y="2057400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250" b="1" dirty="0">
                <a:solidFill>
                  <a:schemeClr val="tx1"/>
                </a:solidFill>
              </a:rPr>
              <a:t>days: death-procedure time after the Jabr platform (Oct 2025)</a:t>
            </a:r>
            <a:endParaRPr lang="en-US" sz="1250" dirty="0"/>
          </a:p>
        </p:txBody>
      </p:sp>
      <p:sp>
        <p:nvSpPr>
          <p:cNvPr id="8" name="Text 5"/>
          <p:cNvSpPr txBox="1"/>
          <p:nvPr/>
        </p:nvSpPr>
        <p:spPr>
          <a:xfrm>
            <a:off x="6126480" y="2834640"/>
            <a:ext cx="23317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000" dirty="0">
                <a:solidFill>
                  <a:schemeClr val="accent3"/>
                </a:solidFill>
              </a:rPr>
              <a:t>Requirements cut from 10 to 4; 1,103 cases in its first three months. Probate Court rules: preparation ≤ 30 days, litigation ≤ 12 months. Cases outside Dubai, without a will, or in dispute are not covered by these figures.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4187952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altLang="en-US" sz="800" i="1" dirty="0">
                <a:solidFill>
                  <a:schemeClr val="accent3"/>
                </a:solidFill>
              </a:rPr>
              <a:t>Dubai Courts annual reports 2022–2025 and Dubai Media Office</a:t>
            </a:r>
            <a:endParaRPr lang="en-US" sz="800" dirty="0"/>
          </a:p>
        </p:txBody>
      </p:sp>
      <p:sp>
        <p:nvSpPr>
          <p:cNvPr id="10" name="Text 3"/>
          <p:cNvSpPr/>
          <p:nvPr>
            <p:ph idx="103" type="title" hasCustomPrompt="1"/>
          </p:nvPr>
        </p:nvSpPr>
        <p:spPr>
          <a:xfrm>
            <a:off x="457200" y="420624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626864"/>
            <a:ext cx="548640" cy="38404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900">
                <a:solidFill>
                  <a:srgbClr val="6E7B8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02336"/>
            <a:ext cx="8229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21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With and without a registered will: practitioner estimates</a:t>
            </a:r>
            <a:endParaRPr lang="en-US" sz="2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46304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altLang="en-US" sz="1000" b="1" spc="300" kern="0" dirty="0">
                <a:solidFill>
                  <a:schemeClr val="accent1"/>
                </a:solidFill>
              </a:rPr>
              <a:t>NO OFFICIAL STATISTIC COMPARES THE TWO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4000500" cy="548640"/>
          </a:xfrm>
          <a:prstGeom prst="rect">
            <a:avLst/>
          </a:prstGeom>
          <a:solidFill>
            <a:srgbClr val="B5723B"/>
          </a:solidFill>
          <a:ln w="12700">
            <a:solidFill>
              <a:srgbClr val="B5723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1188720"/>
            <a:ext cx="37261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altLang="en-US" sz="1300" b="1" dirty="0">
                <a:solidFill>
                  <a:schemeClr val="tx1"/>
                </a:solidFill>
              </a:rPr>
              <a:t>With a registered will (DIFC / Abu Dhabi / Dubai Courts)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737360"/>
            <a:ext cx="4000500" cy="2697480"/>
          </a:xfrm>
          <a:prstGeom prst="rect">
            <a:avLst/>
          </a:prstGeom>
          <a:solidFill>
            <a:srgbClr val="F4F1EB"/>
          </a:solidFill>
          <a:ln w="12700">
            <a:solidFill>
              <a:srgbClr val="F4F1E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94360" y="1874520"/>
            <a:ext cx="372618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52400" indent="-152400">
              <a:spcAft>
                <a:spcPts val="500"/>
              </a:spcAft>
              <a:buSzPct val="100000"/>
              <a:buChar char="•"/>
            </a:pPr>
            <a:r>
              <a:rPr lang="en-US" altLang="en-US" sz="1100" dirty="0">
                <a:solidFill>
                  <a:schemeClr val="tx2"/>
                </a:solidFill>
              </a:rPr>
              <a:t>Probate and execution in 4–8 weeks (2026 estimate)</a:t>
            </a:r>
            <a:endParaRPr lang="en-US" sz="1100" dirty="0"/>
          </a:p>
          <a:p>
            <a:pPr algn="l" marL="152400" indent="-152400">
              <a:spcAft>
                <a:spcPts val="500"/>
              </a:spcAft>
              <a:buSzPct val="100000"/>
              <a:buChar char="•"/>
            </a:pPr>
            <a:r>
              <a:rPr lang="en-US" altLang="en-US" sz="1100" dirty="0">
                <a:solidFill>
                  <a:schemeClr val="tx2"/>
                </a:solidFill>
              </a:rPr>
              <a:t>Another estimate: 2–4 months with a clear will</a:t>
            </a:r>
            <a:endParaRPr lang="en-US" sz="1100" dirty="0"/>
          </a:p>
          <a:p>
            <a:pPr algn="l" marL="152400" indent="-152400">
              <a:spcAft>
                <a:spcPts val="500"/>
              </a:spcAft>
              <a:buSzPct val="100000"/>
              <a:buChar char="•"/>
            </a:pPr>
            <a:r>
              <a:rPr lang="en-US" altLang="en-US" sz="1100" dirty="0">
                <a:solidFill>
                  <a:schemeClr val="tx2"/>
                </a:solidFill>
              </a:rPr>
              <a:t>Heirs, guardians and executors already named</a:t>
            </a:r>
            <a:endParaRPr lang="en-US" sz="1100" dirty="0"/>
          </a:p>
          <a:p>
            <a:pPr algn="l" marL="152400" indent="-152400">
              <a:spcAft>
                <a:spcPts val="500"/>
              </a:spcAft>
              <a:buSzPct val="100000"/>
              <a:buChar char="•"/>
            </a:pPr>
            <a:r>
              <a:rPr lang="en-US" altLang="en-US" sz="1100" dirty="0">
                <a:solidFill>
                  <a:schemeClr val="tx2"/>
                </a:solidFill>
              </a:rPr>
              <a:t>No foreign documents to legalise, no foreign law to prove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686300" y="1188720"/>
            <a:ext cx="4000500" cy="548640"/>
          </a:xfrm>
          <a:prstGeom prst="rect">
            <a:avLst/>
          </a:prstGeom>
          <a:solidFill>
            <a:srgbClr val="0E2238"/>
          </a:solidFill>
          <a:ln w="12700">
            <a:solidFill>
              <a:srgbClr val="0E223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823460" y="1188720"/>
            <a:ext cx="37261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altLang="en-US" sz="1300" b="1" dirty="0">
                <a:solidFill>
                  <a:schemeClr val="accent2"/>
                </a:solidFill>
              </a:rPr>
              <a:t>Without a will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686300" y="1737360"/>
            <a:ext cx="4000500" cy="2697480"/>
          </a:xfrm>
          <a:prstGeom prst="rect">
            <a:avLst/>
          </a:prstGeom>
          <a:solidFill>
            <a:srgbClr val="F4F1EB"/>
          </a:solidFill>
          <a:ln w="12700">
            <a:solidFill>
              <a:srgbClr val="F4F1E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823460" y="1874520"/>
            <a:ext cx="372618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52400" indent="-152400">
              <a:spcAft>
                <a:spcPts val="500"/>
              </a:spcAft>
              <a:buSzPct val="100000"/>
              <a:buChar char="•"/>
            </a:pPr>
            <a:r>
              <a:rPr lang="en-US" altLang="en-US" sz="1100" dirty="0">
                <a:solidFill>
                  <a:schemeClr val="tx2"/>
                </a:solidFill>
              </a:rPr>
              <a:t>3 to 12 months through personal status courts and document legalisation (2026 estimate)</a:t>
            </a:r>
            <a:endParaRPr lang="en-US" sz="1100" dirty="0"/>
          </a:p>
          <a:p>
            <a:pPr algn="l" marL="152400" indent="-152400">
              <a:spcAft>
                <a:spcPts val="500"/>
              </a:spcAft>
              <a:buSzPct val="100000"/>
              <a:buChar char="•"/>
            </a:pPr>
            <a:r>
              <a:rPr lang="en-US" altLang="en-US" sz="1100" dirty="0">
                <a:solidFill>
                  <a:schemeClr val="tx2"/>
                </a:solidFill>
              </a:rPr>
              <a:t>Another estimate: 4 to 9+ months</a:t>
            </a:r>
            <a:endParaRPr lang="en-US" sz="1100" dirty="0"/>
          </a:p>
          <a:p>
            <a:pPr algn="l" marL="152400" indent="-152400">
              <a:spcAft>
                <a:spcPts val="500"/>
              </a:spcAft>
              <a:buSzPct val="100000"/>
              <a:buChar char="•"/>
            </a:pPr>
            <a:r>
              <a:rPr lang="en-US" altLang="en-US" sz="1100" dirty="0">
                <a:solidFill>
                  <a:schemeClr val="tx2"/>
                </a:solidFill>
              </a:rPr>
              <a:t>Disputed estates: a year or more; appeals can run to 5 years</a:t>
            </a:r>
            <a:endParaRPr lang="en-US" sz="1100" dirty="0"/>
          </a:p>
          <a:p>
            <a:pPr algn="l" marL="152400" indent="-152400">
              <a:spcAft>
                <a:spcPts val="500"/>
              </a:spcAft>
              <a:buSzPct val="100000"/>
              <a:buChar char="•"/>
            </a:pPr>
            <a:r>
              <a:rPr lang="en-US" altLang="en-US" sz="1100" dirty="0">
                <a:solidFill>
                  <a:schemeClr val="tx2"/>
                </a:solidFill>
              </a:rPr>
              <a:t>Distribution under default law, not the deceased's wishes</a:t>
            </a:r>
            <a:endParaRPr lang="en-US" sz="1100" dirty="0"/>
          </a:p>
        </p:txBody>
      </p:sp>
      <p:sp>
        <p:nvSpPr>
          <p:cNvPr id="13" name="Text 3"/>
          <p:cNvSpPr/>
          <p:nvPr>
            <p:ph idx="103" type="title" hasCustomPrompt="1"/>
          </p:nvPr>
        </p:nvSpPr>
        <p:spPr>
          <a:xfrm>
            <a:off x="457200" y="420624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626864"/>
            <a:ext cx="548640" cy="38404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900">
                <a:solidFill>
                  <a:srgbClr val="6E7B8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02336"/>
            <a:ext cx="8229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2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problems that actually occur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46304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altLang="en-US" sz="1000" b="1" spc="300" kern="0" dirty="0">
                <a:solidFill>
                  <a:schemeClr val="accent1"/>
                </a:solidFill>
              </a:rPr>
              <a:t>BEHIND THE NUMBERS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457200" cy="457200"/>
          </a:xfrm>
          <a:prstGeom prst="ellipse">
            <a:avLst/>
          </a:prstGeom>
          <a:solidFill>
            <a:srgbClr val="F4F1EB"/>
          </a:solidFill>
          <a:ln w="12700">
            <a:solidFill>
              <a:srgbClr val="F4F1EB"/>
            </a:solidFill>
            <a:prstDash val="solid"/>
          </a:ln>
        </p:spPr>
      </p:sp>
      <p:pic>
        <p:nvPicPr>
          <p:cNvPr id="5" name="icon FaLock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80160"/>
            <a:ext cx="274320" cy="27432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097280" y="1170432"/>
            <a:ext cx="75895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altLang="en-US" sz="1300" b="1" dirty="0">
                <a:solidFill>
                  <a:schemeClr val="tx1"/>
                </a:solidFill>
              </a:rPr>
              <a:t>Bank accounts frozen immediately, joint accounts included</a:t>
            </a:r>
            <a:endParaRPr lang="en-US" sz="13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altLang="en-US" sz="1100" dirty="0">
                <a:solidFill>
                  <a:schemeClr val="accent3"/>
                </a:solidFill>
              </a:rPr>
              <a:t>They stay frozen until distribution orders issue; partial release is rare, and release after orders takes a further 2–6 weeks.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457200" y="1847088"/>
            <a:ext cx="457200" cy="457200"/>
          </a:xfrm>
          <a:prstGeom prst="ellipse">
            <a:avLst/>
          </a:prstGeom>
          <a:solidFill>
            <a:srgbClr val="F4F1EB"/>
          </a:solidFill>
          <a:ln w="12700">
            <a:solidFill>
              <a:srgbClr val="F4F1EB"/>
            </a:solidFill>
            <a:prstDash val="solid"/>
          </a:ln>
        </p:spPr>
      </p:sp>
      <p:pic>
        <p:nvPicPr>
          <p:cNvPr id="8" name="icon FaHouseLock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938528"/>
            <a:ext cx="274320" cy="27432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097280" y="1828800"/>
            <a:ext cx="75895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altLang="en-US" sz="1300" b="1" dirty="0">
                <a:solidFill>
                  <a:schemeClr val="tx1"/>
                </a:solidFill>
              </a:rPr>
              <a:t>Blocked transfer of property, vehicles and licences</a:t>
            </a:r>
            <a:endParaRPr lang="en-US" sz="13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altLang="en-US" sz="1100" dirty="0">
                <a:solidFill>
                  <a:schemeClr val="accent3"/>
                </a:solidFill>
              </a:rPr>
              <a:t>In Dubai alone, 2025 estate settlements covered 1,052 properties, 357 vehicles, 240 plates and 284 trade licences.</a:t>
            </a:r>
            <a:endParaRPr lang="en-US" sz="1300" dirty="0"/>
          </a:p>
        </p:txBody>
      </p:sp>
      <p:sp>
        <p:nvSpPr>
          <p:cNvPr id="10" name="Shape 6"/>
          <p:cNvSpPr/>
          <p:nvPr/>
        </p:nvSpPr>
        <p:spPr>
          <a:xfrm>
            <a:off x="457200" y="2505456"/>
            <a:ext cx="457200" cy="457200"/>
          </a:xfrm>
          <a:prstGeom prst="ellipse">
            <a:avLst/>
          </a:prstGeom>
          <a:solidFill>
            <a:srgbClr val="F4F1EB"/>
          </a:solidFill>
          <a:ln w="12700">
            <a:solidFill>
              <a:srgbClr val="F4F1EB"/>
            </a:solidFill>
            <a:prstDash val="solid"/>
          </a:ln>
        </p:spPr>
      </p:sp>
      <p:pic>
        <p:nvPicPr>
          <p:cNvPr id="11" name="icon FaChildre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596896"/>
            <a:ext cx="274320" cy="274320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1097280" y="2487168"/>
            <a:ext cx="75895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altLang="en-US" sz="1300" b="1" dirty="0">
                <a:solidFill>
                  <a:schemeClr val="tx1"/>
                </a:solidFill>
              </a:rPr>
              <a:t>Undocumented guardianship of children</a:t>
            </a:r>
            <a:endParaRPr lang="en-US" sz="13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altLang="en-US" sz="1100" dirty="0">
                <a:solidFill>
                  <a:schemeClr val="accent3"/>
                </a:solidFill>
              </a:rPr>
              <a:t>Only 24% of parents have documented guardianship; 28% think they do not own enough to need a will.</a:t>
            </a:r>
            <a:endParaRPr lang="en-US" sz="1300" dirty="0"/>
          </a:p>
        </p:txBody>
      </p:sp>
      <p:sp>
        <p:nvSpPr>
          <p:cNvPr id="13" name="Shape 8"/>
          <p:cNvSpPr/>
          <p:nvPr/>
        </p:nvSpPr>
        <p:spPr>
          <a:xfrm>
            <a:off x="457200" y="3163824"/>
            <a:ext cx="457200" cy="457200"/>
          </a:xfrm>
          <a:prstGeom prst="ellipse">
            <a:avLst/>
          </a:prstGeom>
          <a:solidFill>
            <a:srgbClr val="F4F1EB"/>
          </a:solidFill>
          <a:ln w="12700">
            <a:solidFill>
              <a:srgbClr val="F4F1EB"/>
            </a:solidFill>
            <a:prstDash val="solid"/>
          </a:ln>
        </p:spPr>
      </p:sp>
      <p:pic>
        <p:nvPicPr>
          <p:cNvPr id="14" name="icon FaPeopleArrows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3255264"/>
            <a:ext cx="274320" cy="274320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1097280" y="3145536"/>
            <a:ext cx="75895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altLang="en-US" sz="1300" b="1" dirty="0">
                <a:solidFill>
                  <a:schemeClr val="tx1"/>
                </a:solidFill>
              </a:rPr>
              <a:t>Disputes between heirs</a:t>
            </a:r>
            <a:endParaRPr lang="en-US" sz="13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altLang="en-US" sz="1100" dirty="0">
                <a:solidFill>
                  <a:schemeClr val="accent3"/>
                </a:solidFill>
              </a:rPr>
              <a:t>AED 35 billion in claims before Dubai's Probate Court in 2024; 7.5% of 2025 files were not settled amicably.</a:t>
            </a:r>
            <a:endParaRPr lang="en-US" sz="1300" dirty="0"/>
          </a:p>
        </p:txBody>
      </p:sp>
      <p:sp>
        <p:nvSpPr>
          <p:cNvPr id="16" name="Shape 10"/>
          <p:cNvSpPr/>
          <p:nvPr/>
        </p:nvSpPr>
        <p:spPr>
          <a:xfrm>
            <a:off x="457200" y="3822192"/>
            <a:ext cx="457200" cy="457200"/>
          </a:xfrm>
          <a:prstGeom prst="ellipse">
            <a:avLst/>
          </a:prstGeom>
          <a:solidFill>
            <a:srgbClr val="F4F1EB"/>
          </a:solidFill>
          <a:ln w="12700">
            <a:solidFill>
              <a:srgbClr val="F4F1EB"/>
            </a:solidFill>
            <a:prstDash val="solid"/>
          </a:ln>
        </p:spPr>
      </p:sp>
      <p:pic>
        <p:nvPicPr>
          <p:cNvPr id="17" name="icon FaFileCircleExclamation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3913632"/>
            <a:ext cx="274320" cy="274320"/>
          </a:xfrm>
          <a:prstGeom prst="rect">
            <a:avLst/>
          </a:prstGeom>
        </p:spPr>
      </p:pic>
      <p:sp>
        <p:nvSpPr>
          <p:cNvPr id="18" name="Text 11"/>
          <p:cNvSpPr txBox="1"/>
          <p:nvPr/>
        </p:nvSpPr>
        <p:spPr>
          <a:xfrm>
            <a:off x="1097280" y="3803904"/>
            <a:ext cx="75895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altLang="en-US" sz="1300" b="1" dirty="0">
                <a:solidFill>
                  <a:schemeClr val="tx1"/>
                </a:solidFill>
              </a:rPr>
              <a:t>Foreign documents needing legalisation and translation</a:t>
            </a:r>
            <a:endParaRPr lang="en-US" sz="13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altLang="en-US" sz="1100" dirty="0">
                <a:solidFill>
                  <a:schemeClr val="accent3"/>
                </a:solidFill>
              </a:rPr>
              <a:t>Without a local will, marriage and birth certificates must be legalised and foreign law proven, the biggest source of delay.</a:t>
            </a:r>
            <a:endParaRPr lang="en-US" sz="1300" dirty="0"/>
          </a:p>
        </p:txBody>
      </p:sp>
      <p:sp>
        <p:nvSpPr>
          <p:cNvPr id="19" name="Text 3"/>
          <p:cNvSpPr/>
          <p:nvPr>
            <p:ph idx="103" type="title" hasCustomPrompt="1"/>
          </p:nvPr>
        </p:nvSpPr>
        <p:spPr>
          <a:xfrm>
            <a:off x="457200" y="420624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626864"/>
            <a:ext cx="548640" cy="38404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900">
                <a:solidFill>
                  <a:srgbClr val="6E7B8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463040"/>
            <a:ext cx="1828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0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7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2743200"/>
            <a:ext cx="7772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altLang="en-US" sz="3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impact on companies and investments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3675888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400" dirty="0">
                <a:solidFill>
                  <a:schemeClr val="accent2"/>
                </a:solidFill>
              </a:rPr>
              <a:t>Family businesses are the backbone of the Gulf economy, and most have no succession plan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626864"/>
            <a:ext cx="548640" cy="38404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900">
                <a:solidFill>
                  <a:srgbClr val="D9B38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02336"/>
            <a:ext cx="8229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2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Gulf family businesses in numbers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46304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altLang="en-US" sz="1000" b="1" spc="300" kern="0" dirty="0">
                <a:solidFill>
                  <a:schemeClr val="accent1"/>
                </a:solidFill>
              </a:rPr>
              <a:t>SCALE OF EXPOSURE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1906524" cy="2926080"/>
          </a:xfrm>
          <a:prstGeom prst="rect">
            <a:avLst/>
          </a:prstGeom>
          <a:solidFill>
            <a:srgbClr val="F4F1EB"/>
          </a:solidFill>
          <a:ln w="12700">
            <a:solidFill>
              <a:srgbClr val="F4F1E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325880"/>
            <a:ext cx="15407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altLang="en-US" sz="3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60%</a:t>
            </a:r>
            <a:endParaRPr lang="en-US" sz="36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286000"/>
            <a:ext cx="154076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altLang="en-US" sz="1250" b="1" dirty="0">
                <a:solidFill>
                  <a:schemeClr val="tx1"/>
                </a:solidFill>
              </a:rPr>
              <a:t>of GCC GDP</a:t>
            </a:r>
            <a:endParaRPr lang="en-US" sz="125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altLang="en-US" sz="1000" dirty="0">
                <a:solidFill>
                  <a:schemeClr val="accent3"/>
                </a:solidFill>
              </a:rPr>
              <a:t>contributed by family businesses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2564892" y="1188720"/>
            <a:ext cx="1906524" cy="2926080"/>
          </a:xfrm>
          <a:prstGeom prst="rect">
            <a:avLst/>
          </a:prstGeom>
          <a:solidFill>
            <a:srgbClr val="F4F1EB"/>
          </a:solidFill>
          <a:ln w="12700">
            <a:solidFill>
              <a:srgbClr val="F4F1E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747772" y="1325880"/>
            <a:ext cx="15407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altLang="en-US" sz="3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80%</a:t>
            </a:r>
            <a:endParaRPr lang="en-US" sz="3600" dirty="0"/>
          </a:p>
        </p:txBody>
      </p:sp>
      <p:sp>
        <p:nvSpPr>
          <p:cNvPr id="9" name="Text 7"/>
          <p:cNvSpPr txBox="1"/>
          <p:nvPr/>
        </p:nvSpPr>
        <p:spPr>
          <a:xfrm>
            <a:off x="2747772" y="2286000"/>
            <a:ext cx="154076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altLang="en-US" sz="1250" b="1" dirty="0">
                <a:solidFill>
                  <a:schemeClr val="tx1"/>
                </a:solidFill>
              </a:rPr>
              <a:t>of the workforce</a:t>
            </a:r>
            <a:endParaRPr lang="en-US" sz="125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altLang="en-US" sz="1000" dirty="0">
                <a:solidFill>
                  <a:schemeClr val="accent3"/>
                </a:solidFill>
              </a:rPr>
              <a:t>employed by family businesses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672584" y="1188720"/>
            <a:ext cx="1906524" cy="2926080"/>
          </a:xfrm>
          <a:prstGeom prst="rect">
            <a:avLst/>
          </a:prstGeom>
          <a:solidFill>
            <a:srgbClr val="F4F1EB"/>
          </a:solidFill>
          <a:ln w="12700">
            <a:solidFill>
              <a:srgbClr val="F4F1E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855464" y="1325880"/>
            <a:ext cx="15407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altLang="en-US" sz="3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90%</a:t>
            </a:r>
            <a:endParaRPr lang="en-US" sz="3600" dirty="0"/>
          </a:p>
        </p:txBody>
      </p:sp>
      <p:sp>
        <p:nvSpPr>
          <p:cNvPr id="12" name="Text 10"/>
          <p:cNvSpPr txBox="1"/>
          <p:nvPr/>
        </p:nvSpPr>
        <p:spPr>
          <a:xfrm>
            <a:off x="4855464" y="2286000"/>
            <a:ext cx="154076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altLang="en-US" sz="1250" b="1" dirty="0">
                <a:solidFill>
                  <a:schemeClr val="tx1"/>
                </a:solidFill>
              </a:rPr>
              <a:t>of the private sector in the UAE and Saudi Arabia</a:t>
            </a:r>
            <a:endParaRPr lang="en-US" sz="125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altLang="en-US" sz="1000" dirty="0">
                <a:solidFill>
                  <a:schemeClr val="accent3"/>
                </a:solidFill>
              </a:rPr>
              <a:t>is family-owned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780276" y="1188720"/>
            <a:ext cx="1906524" cy="2926080"/>
          </a:xfrm>
          <a:prstGeom prst="rect">
            <a:avLst/>
          </a:prstGeom>
          <a:solidFill>
            <a:srgbClr val="F4F1EB"/>
          </a:solidFill>
          <a:ln w="12700">
            <a:solidFill>
              <a:srgbClr val="F4F1E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963156" y="1325880"/>
            <a:ext cx="15407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altLang="en-US" sz="3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$1T</a:t>
            </a:r>
            <a:endParaRPr lang="en-US" sz="3600" dirty="0"/>
          </a:p>
        </p:txBody>
      </p:sp>
      <p:sp>
        <p:nvSpPr>
          <p:cNvPr id="15" name="Text 13"/>
          <p:cNvSpPr txBox="1"/>
          <p:nvPr/>
        </p:nvSpPr>
        <p:spPr>
          <a:xfrm>
            <a:off x="6963156" y="2286000"/>
            <a:ext cx="154076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altLang="en-US" sz="1250" b="1" dirty="0">
                <a:solidFill>
                  <a:schemeClr val="tx1"/>
                </a:solidFill>
              </a:rPr>
              <a:t>in assets transferring between generations by 2030</a:t>
            </a:r>
            <a:endParaRPr lang="en-US" sz="125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altLang="en-US" sz="1000" dirty="0">
                <a:solidFill>
                  <a:schemeClr val="accent3"/>
                </a:solidFill>
              </a:rPr>
              <a:t>across the GCC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4187952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altLang="en-US" sz="800" i="1" dirty="0">
                <a:solidFill>
                  <a:schemeClr val="accent3"/>
                </a:solidFill>
              </a:rPr>
              <a:t>Gulf News, Feb 2023 (Jersey Finance); Khaleej Times, May 2026 (Georgetown McDonough, Dubai programme).</a:t>
            </a:r>
            <a:endParaRPr lang="en-US" sz="800" dirty="0"/>
          </a:p>
        </p:txBody>
      </p:sp>
      <p:sp>
        <p:nvSpPr>
          <p:cNvPr id="17" name="Text 3"/>
          <p:cNvSpPr/>
          <p:nvPr>
            <p:ph idx="103" type="title" hasCustomPrompt="1"/>
          </p:nvPr>
        </p:nvSpPr>
        <p:spPr>
          <a:xfrm>
            <a:off x="457200" y="420624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626864"/>
            <a:ext cx="548640" cy="38404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900">
                <a:solidFill>
                  <a:srgbClr val="6E7B8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02336"/>
            <a:ext cx="8229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21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in ten family businesses reach the second generation</a:t>
            </a:r>
            <a:endParaRPr lang="en-US" sz="2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46304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altLang="en-US" sz="1000" b="1" spc="300" kern="0" dirty="0">
                <a:solidFill>
                  <a:schemeClr val="accent1"/>
                </a:solidFill>
              </a:rPr>
              <a:t>SURVIVAL ACROSS GENERATIONS</a:t>
            </a:r>
            <a:endParaRPr lang="en-US" sz="1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188720"/>
          <a:ext cx="5212080" cy="3017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5897880" y="1188720"/>
            <a:ext cx="2788920" cy="3017520"/>
          </a:xfrm>
          <a:prstGeom prst="rect">
            <a:avLst/>
          </a:prstGeom>
          <a:solidFill>
            <a:srgbClr val="F4F1EB"/>
          </a:solidFill>
          <a:ln w="12700">
            <a:solidFill>
              <a:srgbClr val="F4F1EB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126480" y="1325880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alt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&lt;30%</a:t>
            </a:r>
            <a:endParaRPr lang="en-US" sz="3200" dirty="0"/>
          </a:p>
        </p:txBody>
      </p:sp>
      <p:sp>
        <p:nvSpPr>
          <p:cNvPr id="7" name="Text 4"/>
          <p:cNvSpPr txBox="1"/>
          <p:nvPr/>
        </p:nvSpPr>
        <p:spPr>
          <a:xfrm>
            <a:off x="6126480" y="2057400"/>
            <a:ext cx="2331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250" b="1" dirty="0">
                <a:solidFill>
                  <a:schemeClr val="tx1"/>
                </a:solidFill>
              </a:rPr>
              <a:t>only have a robust, communicated succession plan</a:t>
            </a:r>
            <a:endParaRPr lang="en-US" sz="1250" dirty="0"/>
          </a:p>
        </p:txBody>
      </p:sp>
      <p:sp>
        <p:nvSpPr>
          <p:cNvPr id="8" name="Text 5"/>
          <p:cNvSpPr txBox="1"/>
          <p:nvPr/>
        </p:nvSpPr>
        <p:spPr>
          <a:xfrm>
            <a:off x="6126480" y="2615184"/>
            <a:ext cx="2331720" cy="1545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000" dirty="0">
                <a:solidFill>
                  <a:schemeClr val="accent3"/>
                </a:solidFill>
              </a:rPr>
              <a:t>And only 22% of the UAE's next generation intend to join the family business. Another estimate (Citi, 2023): 50% survive to the 2nd generation and 10% to the 3rd.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4187952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altLang="en-US" sz="800" i="1" dirty="0">
                <a:solidFill>
                  <a:schemeClr val="accent3"/>
                </a:solidFill>
              </a:rPr>
              <a:t>Khaleej Times, May 2026 and Sept 2023; Gulf News, Feb 2023.</a:t>
            </a:r>
            <a:endParaRPr lang="en-US" sz="800" dirty="0"/>
          </a:p>
        </p:txBody>
      </p:sp>
      <p:sp>
        <p:nvSpPr>
          <p:cNvPr id="10" name="Text 3"/>
          <p:cNvSpPr/>
          <p:nvPr>
            <p:ph idx="103" type="title" hasCustomPrompt="1"/>
          </p:nvPr>
        </p:nvSpPr>
        <p:spPr>
          <a:xfrm>
            <a:off x="457200" y="420624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626864"/>
            <a:ext cx="548640" cy="38404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900">
                <a:solidFill>
                  <a:srgbClr val="6E7B8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02336"/>
            <a:ext cx="8229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21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companies and investments are hit in practice</a:t>
            </a:r>
            <a:endParaRPr lang="en-US" sz="2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46304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altLang="en-US" sz="1000" b="1" spc="300" kern="0" dirty="0">
                <a:solidFill>
                  <a:schemeClr val="accent1"/>
                </a:solidFill>
              </a:rPr>
              <a:t>DIRECT IMPACT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457200" cy="457200"/>
          </a:xfrm>
          <a:prstGeom prst="ellipse">
            <a:avLst/>
          </a:prstGeom>
          <a:solidFill>
            <a:srgbClr val="F4F1EB"/>
          </a:solidFill>
          <a:ln w="12700">
            <a:solidFill>
              <a:srgbClr val="F4F1EB"/>
            </a:solidFill>
            <a:prstDash val="solid"/>
          </a:ln>
        </p:spPr>
      </p:sp>
      <p:pic>
        <p:nvPicPr>
          <p:cNvPr id="5" name="icon FaBriefcas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80160"/>
            <a:ext cx="274320" cy="27432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097280" y="1170432"/>
            <a:ext cx="75895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altLang="en-US" sz="1300" b="1" dirty="0">
                <a:solidFill>
                  <a:schemeClr val="tx1"/>
                </a:solidFill>
              </a:rPr>
              <a:t>Shares and trade licences fall into the estate</a:t>
            </a:r>
            <a:endParaRPr lang="en-US" sz="13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altLang="en-US" sz="1100" dirty="0">
                <a:solidFill>
                  <a:schemeClr val="accent3"/>
                </a:solidFill>
              </a:rPr>
              <a:t>284 trade licences passed through Dubai estate settlements in 2025. Until the estate is settled, partner decisions and bank signatures stall.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457200" y="1847088"/>
            <a:ext cx="457200" cy="457200"/>
          </a:xfrm>
          <a:prstGeom prst="ellipse">
            <a:avLst/>
          </a:prstGeom>
          <a:solidFill>
            <a:srgbClr val="F4F1EB"/>
          </a:solidFill>
          <a:ln w="12700">
            <a:solidFill>
              <a:srgbClr val="F4F1EB"/>
            </a:solidFill>
            <a:prstDash val="solid"/>
          </a:ln>
        </p:spPr>
      </p:sp>
      <p:pic>
        <p:nvPicPr>
          <p:cNvPr id="8" name="icon FaBuildingColumns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938528"/>
            <a:ext cx="274320" cy="27432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097280" y="1828800"/>
            <a:ext cx="75895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altLang="en-US" sz="1300" b="1" dirty="0">
                <a:solidFill>
                  <a:schemeClr val="tx1"/>
                </a:solidFill>
              </a:rPr>
              <a:t>Operating liquidity freezes with the personal accounts</a:t>
            </a:r>
            <a:endParaRPr lang="en-US" sz="13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altLang="en-US" sz="1100" dirty="0">
                <a:solidFill>
                  <a:schemeClr val="accent3"/>
                </a:solidFill>
              </a:rPr>
              <a:t>The owner's individual and joint accounts freeze immediately; many small companies depend on them.</a:t>
            </a:r>
            <a:endParaRPr lang="en-US" sz="1300" dirty="0"/>
          </a:p>
        </p:txBody>
      </p:sp>
      <p:sp>
        <p:nvSpPr>
          <p:cNvPr id="10" name="Shape 6"/>
          <p:cNvSpPr/>
          <p:nvPr/>
        </p:nvSpPr>
        <p:spPr>
          <a:xfrm>
            <a:off x="457200" y="2505456"/>
            <a:ext cx="457200" cy="457200"/>
          </a:xfrm>
          <a:prstGeom prst="ellipse">
            <a:avLst/>
          </a:prstGeom>
          <a:solidFill>
            <a:srgbClr val="F4F1EB"/>
          </a:solidFill>
          <a:ln w="12700">
            <a:solidFill>
              <a:srgbClr val="F4F1EB"/>
            </a:solidFill>
            <a:prstDash val="solid"/>
          </a:ln>
        </p:spPr>
      </p:sp>
      <p:pic>
        <p:nvPicPr>
          <p:cNvPr id="11" name="icon FaHouse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596896"/>
            <a:ext cx="274320" cy="274320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1097280" y="2487168"/>
            <a:ext cx="75895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altLang="en-US" sz="1300" b="1" dirty="0">
                <a:solidFill>
                  <a:schemeClr val="tx1"/>
                </a:solidFill>
              </a:rPr>
              <a:t>Investment property cannot be sold or re-let</a:t>
            </a:r>
            <a:endParaRPr lang="en-US" sz="13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altLang="en-US" sz="1100" dirty="0">
                <a:solidFill>
                  <a:schemeClr val="accent3"/>
                </a:solidFill>
              </a:rPr>
              <a:t>1,353 properties in 2024 and 1,052 in 2025 needed settlement in Dubai before any transaction.</a:t>
            </a:r>
            <a:endParaRPr lang="en-US" sz="1300" dirty="0"/>
          </a:p>
        </p:txBody>
      </p:sp>
      <p:sp>
        <p:nvSpPr>
          <p:cNvPr id="13" name="Shape 8"/>
          <p:cNvSpPr/>
          <p:nvPr/>
        </p:nvSpPr>
        <p:spPr>
          <a:xfrm>
            <a:off x="457200" y="3163824"/>
            <a:ext cx="457200" cy="457200"/>
          </a:xfrm>
          <a:prstGeom prst="ellipse">
            <a:avLst/>
          </a:prstGeom>
          <a:solidFill>
            <a:srgbClr val="F4F1EB"/>
          </a:solidFill>
          <a:ln w="12700">
            <a:solidFill>
              <a:srgbClr val="F4F1EB"/>
            </a:solidFill>
            <a:prstDash val="solid"/>
          </a:ln>
        </p:spPr>
      </p:sp>
      <p:pic>
        <p:nvPicPr>
          <p:cNvPr id="14" name="icon FaScaleBalanced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3255264"/>
            <a:ext cx="274320" cy="274320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1097280" y="3145536"/>
            <a:ext cx="75895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altLang="en-US" sz="1300" b="1" dirty="0">
                <a:solidFill>
                  <a:schemeClr val="tx1"/>
                </a:solidFill>
              </a:rPr>
              <a:t>Disputed claims run to tens of billions</a:t>
            </a:r>
            <a:endParaRPr lang="en-US" sz="13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altLang="en-US" sz="1100" dirty="0">
                <a:solidFill>
                  <a:schemeClr val="accent3"/>
                </a:solidFill>
              </a:rPr>
              <a:t>AED 32.8 billion in claims in the Probate Court's first 11 months, and AED 35 billion in 2024.</a:t>
            </a:r>
            <a:endParaRPr lang="en-US" sz="1300" dirty="0"/>
          </a:p>
        </p:txBody>
      </p:sp>
      <p:sp>
        <p:nvSpPr>
          <p:cNvPr id="16" name="Shape 10"/>
          <p:cNvSpPr/>
          <p:nvPr/>
        </p:nvSpPr>
        <p:spPr>
          <a:xfrm>
            <a:off x="457200" y="3822192"/>
            <a:ext cx="457200" cy="457200"/>
          </a:xfrm>
          <a:prstGeom prst="ellipse">
            <a:avLst/>
          </a:prstGeom>
          <a:solidFill>
            <a:srgbClr val="F4F1EB"/>
          </a:solidFill>
          <a:ln w="12700">
            <a:solidFill>
              <a:srgbClr val="F4F1EB"/>
            </a:solidFill>
            <a:prstDash val="solid"/>
          </a:ln>
        </p:spPr>
      </p:sp>
      <p:pic>
        <p:nvPicPr>
          <p:cNvPr id="17" name="icon FaSitemap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3913632"/>
            <a:ext cx="274320" cy="274320"/>
          </a:xfrm>
          <a:prstGeom prst="rect">
            <a:avLst/>
          </a:prstGeom>
        </p:spPr>
      </p:pic>
      <p:sp>
        <p:nvSpPr>
          <p:cNvPr id="18" name="Text 11"/>
          <p:cNvSpPr txBox="1"/>
          <p:nvPr/>
        </p:nvSpPr>
        <p:spPr>
          <a:xfrm>
            <a:off x="1097280" y="3803904"/>
            <a:ext cx="75895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altLang="en-US" sz="1300" b="1" dirty="0">
                <a:solidFill>
                  <a:schemeClr val="tx1"/>
                </a:solidFill>
              </a:rPr>
              <a:t>The tool exists: the Business Owners Will</a:t>
            </a:r>
            <a:endParaRPr lang="en-US" sz="13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altLang="en-US" sz="1100" dirty="0">
                <a:solidFill>
                  <a:schemeClr val="accent3"/>
                </a:solidFill>
              </a:rPr>
              <a:t>DIFC registers a dedicated will for shareholdings (up to 5), alongside property, financial-assets and full wills.</a:t>
            </a:r>
            <a:endParaRPr lang="en-US" sz="1300" dirty="0"/>
          </a:p>
        </p:txBody>
      </p:sp>
      <p:sp>
        <p:nvSpPr>
          <p:cNvPr id="19" name="Text 3"/>
          <p:cNvSpPr/>
          <p:nvPr>
            <p:ph idx="103" type="title" hasCustomPrompt="1"/>
          </p:nvPr>
        </p:nvSpPr>
        <p:spPr>
          <a:xfrm>
            <a:off x="457200" y="420624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626864"/>
            <a:ext cx="548640" cy="38404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900">
                <a:solidFill>
                  <a:srgbClr val="6E7B8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463040"/>
            <a:ext cx="1828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0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7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2743200"/>
            <a:ext cx="7772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altLang="en-US" sz="3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numbers can and cannot tell us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3675888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400" dirty="0">
                <a:solidFill>
                  <a:schemeClr val="accent2"/>
                </a:solidFill>
              </a:rPr>
              <a:t>Transparency about sources is part of the credibility of this deck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626864"/>
            <a:ext cx="548640" cy="38404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900">
                <a:solidFill>
                  <a:srgbClr val="D9B38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02336"/>
            <a:ext cx="8229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2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documented and what does not exist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46304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altLang="en-US" sz="1000" b="1" spc="300" kern="0" dirty="0">
                <a:solidFill>
                  <a:schemeClr val="accent1"/>
                </a:solidFill>
              </a:rPr>
              <a:t>DATA LIMITS 2000–2026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4000500" cy="548640"/>
          </a:xfrm>
          <a:prstGeom prst="rect">
            <a:avLst/>
          </a:prstGeom>
          <a:solidFill>
            <a:srgbClr val="B5723B"/>
          </a:solidFill>
          <a:ln w="12700">
            <a:solidFill>
              <a:srgbClr val="B5723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1188720"/>
            <a:ext cx="37261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altLang="en-US" sz="1300" b="1" dirty="0">
                <a:solidFill>
                  <a:schemeClr val="tx1"/>
                </a:solidFill>
              </a:rPr>
              <a:t>Officially documented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737360"/>
            <a:ext cx="4000500" cy="2697480"/>
          </a:xfrm>
          <a:prstGeom prst="rect">
            <a:avLst/>
          </a:prstGeom>
          <a:solidFill>
            <a:srgbClr val="F4F1EB"/>
          </a:solidFill>
          <a:ln w="12700">
            <a:solidFill>
              <a:srgbClr val="F4F1E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94360" y="1874520"/>
            <a:ext cx="372618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52400" indent="-152400">
              <a:spcAft>
                <a:spcPts val="500"/>
              </a:spcAft>
              <a:buSzPct val="100000"/>
              <a:buChar char="•"/>
            </a:pPr>
            <a:r>
              <a:rPr lang="en-US" altLang="en-US" sz="1100" dirty="0">
                <a:solidFill>
                  <a:schemeClr val="tx2"/>
                </a:solidFill>
              </a:rPr>
              <a:t>Wills registered at DIFC (since 2015) and Abu Dhabi (since 2017)</a:t>
            </a:r>
            <a:endParaRPr lang="en-US" sz="1100" dirty="0"/>
          </a:p>
          <a:p>
            <a:pPr algn="l" marL="152400" indent="-152400">
              <a:spcAft>
                <a:spcPts val="500"/>
              </a:spcAft>
              <a:buSzPct val="100000"/>
              <a:buChar char="•"/>
            </a:pPr>
            <a:r>
              <a:rPr lang="en-US" altLang="en-US" sz="1100" dirty="0">
                <a:solidFill>
                  <a:schemeClr val="tx2"/>
                </a:solidFill>
              </a:rPr>
              <a:t>Dubai Courts estate files, values and settlement times (2022–2025)</a:t>
            </a:r>
            <a:endParaRPr lang="en-US" sz="1100" dirty="0"/>
          </a:p>
          <a:p>
            <a:pPr algn="l" marL="152400" indent="-152400">
              <a:spcAft>
                <a:spcPts val="500"/>
              </a:spcAft>
              <a:buSzPct val="100000"/>
              <a:buChar char="•"/>
            </a:pPr>
            <a:r>
              <a:rPr lang="en-US" altLang="en-US" sz="1100" dirty="0">
                <a:solidFill>
                  <a:schemeClr val="tx2"/>
                </a:solidFill>
              </a:rPr>
              <a:t>Split of Dubai estates between Muslims and non-Muslims</a:t>
            </a:r>
            <a:endParaRPr lang="en-US" sz="1100" dirty="0"/>
          </a:p>
          <a:p>
            <a:pPr algn="l" marL="152400" indent="-152400">
              <a:spcAft>
                <a:spcPts val="500"/>
              </a:spcAft>
              <a:buSzPct val="100000"/>
              <a:buChar char="•"/>
            </a:pPr>
            <a:r>
              <a:rPr lang="en-US" altLang="en-US" sz="1100" dirty="0">
                <a:solidFill>
                  <a:schemeClr val="tx2"/>
                </a:solidFill>
              </a:rPr>
              <a:t>Total population and growth (federal statistics)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686300" y="1188720"/>
            <a:ext cx="4000500" cy="548640"/>
          </a:xfrm>
          <a:prstGeom prst="rect">
            <a:avLst/>
          </a:prstGeom>
          <a:solidFill>
            <a:srgbClr val="0E2238"/>
          </a:solidFill>
          <a:ln w="12700">
            <a:solidFill>
              <a:srgbClr val="0E223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823460" y="1188720"/>
            <a:ext cx="37261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altLang="en-US" sz="1300" b="1" dirty="0">
                <a:solidFill>
                  <a:schemeClr val="accent2"/>
                </a:solidFill>
              </a:rPr>
              <a:t>Does not exist or is not published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686300" y="1737360"/>
            <a:ext cx="4000500" cy="2697480"/>
          </a:xfrm>
          <a:prstGeom prst="rect">
            <a:avLst/>
          </a:prstGeom>
          <a:solidFill>
            <a:srgbClr val="F4F1EB"/>
          </a:solidFill>
          <a:ln w="12700">
            <a:solidFill>
              <a:srgbClr val="F4F1E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823460" y="1874520"/>
            <a:ext cx="372618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52400" indent="-152400">
              <a:spcAft>
                <a:spcPts val="500"/>
              </a:spcAft>
              <a:buSzPct val="100000"/>
              <a:buChar char="•"/>
            </a:pPr>
            <a:r>
              <a:rPr lang="en-US" altLang="en-US" sz="1100" dirty="0">
                <a:solidFill>
                  <a:schemeClr val="tx2"/>
                </a:solidFill>
              </a:rPr>
              <a:t>An official count of people who died without a will in any year 2000–2026</a:t>
            </a:r>
            <a:endParaRPr lang="en-US" sz="1100" dirty="0"/>
          </a:p>
          <a:p>
            <a:pPr algn="l" marL="152400" indent="-152400">
              <a:spcAft>
                <a:spcPts val="500"/>
              </a:spcAft>
              <a:buSzPct val="100000"/>
              <a:buChar char="•"/>
            </a:pPr>
            <a:r>
              <a:rPr lang="en-US" altLang="en-US" sz="1100" dirty="0">
                <a:solidFill>
                  <a:schemeClr val="tx2"/>
                </a:solidFill>
              </a:rPr>
              <a:t>The number of wills on the Dubai Courts non-Muslim register</a:t>
            </a:r>
            <a:endParaRPr lang="en-US" sz="1100" dirty="0"/>
          </a:p>
          <a:p>
            <a:pPr algn="l" marL="152400" indent="-152400">
              <a:spcAft>
                <a:spcPts val="500"/>
              </a:spcAft>
              <a:buSzPct val="100000"/>
              <a:buChar char="•"/>
            </a:pPr>
            <a:r>
              <a:rPr lang="en-US" altLang="en-US" sz="1100" dirty="0">
                <a:solidFill>
                  <a:schemeClr val="tx2"/>
                </a:solidFill>
              </a:rPr>
              <a:t>An official comparison of settlement time with and without a will</a:t>
            </a:r>
            <a:endParaRPr lang="en-US" sz="1100" dirty="0"/>
          </a:p>
          <a:p>
            <a:pPr algn="l" marL="152400" indent="-152400">
              <a:spcAft>
                <a:spcPts val="500"/>
              </a:spcAft>
              <a:buSzPct val="100000"/>
              <a:buChar char="•"/>
            </a:pPr>
            <a:r>
              <a:rPr lang="en-US" altLang="en-US" sz="1100" dirty="0">
                <a:solidFill>
                  <a:schemeClr val="tx2"/>
                </a:solidFill>
              </a:rPr>
              <a:t>A recent official expatriate share of the population after the 2010 census</a:t>
            </a:r>
            <a:endParaRPr lang="en-US" sz="1100" dirty="0"/>
          </a:p>
        </p:txBody>
      </p:sp>
      <p:sp>
        <p:nvSpPr>
          <p:cNvPr id="12" name="Text 3"/>
          <p:cNvSpPr/>
          <p:nvPr>
            <p:ph idx="103" type="title" hasCustomPrompt="1"/>
          </p:nvPr>
        </p:nvSpPr>
        <p:spPr>
          <a:xfrm>
            <a:off x="457200" y="420624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626864"/>
            <a:ext cx="548640" cy="38404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900">
                <a:solidFill>
                  <a:srgbClr val="6E7B8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02336"/>
            <a:ext cx="8229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2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Sources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46304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altLang="en-US" sz="1000" b="1" spc="300" kern="0" dirty="0">
                <a:solidFill>
                  <a:schemeClr val="accent1"/>
                </a:solidFill>
              </a:rPr>
              <a:t>EVERY FIGURE IN THIS DECK TRACES TO ONE OF THESE SOURCES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188720"/>
            <a:ext cx="320040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1188720"/>
            <a:ext cx="3657600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850" dirty="0">
                <a:solidFill>
                  <a:schemeClr val="tx2"/>
                </a:solidFill>
              </a:rPr>
              <a:t>Federal Competitiveness and Statistics Centre: UAE population 2023–2024 (Gulf News, 8 Sept 2025).</a:t>
            </a:r>
            <a:endParaRPr lang="en-US" sz="85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544320"/>
            <a:ext cx="320040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1544320"/>
            <a:ext cx="3657600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850" dirty="0">
                <a:solidFill>
                  <a:schemeClr val="tx2"/>
                </a:solidFill>
              </a:rPr>
              <a:t>Dubai Statistics Centre: crossing 4 million (Sept 2025); 4.58 million at end-2025 (Dubai Eye, July 2026).</a:t>
            </a:r>
            <a:endParaRPr lang="en-US" sz="85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1899920"/>
            <a:ext cx="320040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1899920"/>
            <a:ext cx="3657600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850" dirty="0">
                <a:solidFill>
                  <a:schemeClr val="tx2"/>
                </a:solidFill>
              </a:rPr>
              <a:t>National Bureau of Statistics: 88.5% expatriates of 8.26 million (Khaleej Times, 2011).</a:t>
            </a:r>
            <a:endParaRPr 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2255520"/>
            <a:ext cx="320040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2255520"/>
            <a:ext cx="3657600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850" dirty="0">
                <a:solidFill>
                  <a:schemeClr val="tx2"/>
                </a:solidFill>
              </a:rPr>
              <a:t>DIFC Courts: release of 1 Nov 2017 (over 3,000 wills); Al Bayan and Emarat Al Youm 2019 (4,100 and 5,000).</a:t>
            </a:r>
            <a:endParaRPr lang="en-US" sz="85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2611120"/>
            <a:ext cx="320040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822960" y="2611120"/>
            <a:ext cx="3657600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850" dirty="0">
                <a:solidFill>
                  <a:schemeClr val="tx2"/>
                </a:solidFill>
              </a:rPr>
              <a:t>DIFC Courts: 15 July 2024 (810 wills, +6%, over 11,000); 23 July 2025 (922, +14%, over 13,400).</a:t>
            </a:r>
            <a:endParaRPr lang="en-US" sz="850" dirty="0"/>
          </a:p>
        </p:txBody>
      </p:sp>
      <p:sp>
        <p:nvSpPr>
          <p:cNvPr id="14" name="Text 12"/>
          <p:cNvSpPr txBox="1"/>
          <p:nvPr/>
        </p:nvSpPr>
        <p:spPr>
          <a:xfrm>
            <a:off x="457200" y="2966720"/>
            <a:ext cx="320040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822960" y="2966720"/>
            <a:ext cx="3657600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850" dirty="0">
                <a:solidFill>
                  <a:schemeClr val="tx2"/>
                </a:solidFill>
              </a:rPr>
              <a:t>DIFC Courts: 11 Feb 2026 (2,220 wills in 2025, +22%; 41 probate applications, +37%); 22 Apr 2026 (883 in Q1, +120%).</a:t>
            </a:r>
            <a:endParaRPr lang="en-US" sz="85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3322320"/>
            <a:ext cx="320040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822960" y="3322320"/>
            <a:ext cx="3657600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850" dirty="0">
                <a:solidFill>
                  <a:schemeClr val="tx2"/>
                </a:solidFill>
              </a:rPr>
              <a:t>DIFC Courts statistics portal: 14,373 wills since inception (H1 2026).</a:t>
            </a:r>
            <a:endParaRPr lang="en-US" sz="850" dirty="0"/>
          </a:p>
        </p:txBody>
      </p:sp>
      <p:sp>
        <p:nvSpPr>
          <p:cNvPr id="18" name="Text 16"/>
          <p:cNvSpPr txBox="1"/>
          <p:nvPr/>
        </p:nvSpPr>
        <p:spPr>
          <a:xfrm>
            <a:off x="457200" y="3677920"/>
            <a:ext cx="320040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822960" y="3677920"/>
            <a:ext cx="3657600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850" dirty="0">
                <a:solidFill>
                  <a:schemeClr val="tx2"/>
                </a:solidFill>
              </a:rPr>
              <a:t>Abu Dhabi Judicial Department: 1,668 wills, 64 nationalities (Gulf News, 14 Dec 2019).</a:t>
            </a:r>
            <a:endParaRPr lang="en-US" sz="85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4033520"/>
            <a:ext cx="320040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822960" y="4033520"/>
            <a:ext cx="3657600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850" dirty="0">
                <a:solidFill>
                  <a:schemeClr val="tx2"/>
                </a:solidFill>
              </a:rPr>
              <a:t>Abu Dhabi Civil Family Court: 11,000 wills in 2025, 21,000 cumulative (Gulf News, 19 Jan 2026); 8,886 transactions in Q1 2026 (WAM).</a:t>
            </a:r>
            <a:endParaRPr lang="en-US" sz="850" dirty="0"/>
          </a:p>
        </p:txBody>
      </p:sp>
      <p:sp>
        <p:nvSpPr>
          <p:cNvPr id="22" name="Text 20"/>
          <p:cNvSpPr txBox="1"/>
          <p:nvPr/>
        </p:nvSpPr>
        <p:spPr>
          <a:xfrm>
            <a:off x="4663440" y="1188720"/>
            <a:ext cx="320040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5029200" y="1188720"/>
            <a:ext cx="3657600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850" dirty="0">
                <a:solidFill>
                  <a:schemeClr val="tx2"/>
                </a:solidFill>
              </a:rPr>
              <a:t>Dubai Courts 2022: AED 3.797 billion; 1,555 / 500 / 24 estates (Emarat Al Youm, 8 July 2023).</a:t>
            </a:r>
            <a:endParaRPr lang="en-US" sz="850" dirty="0"/>
          </a:p>
        </p:txBody>
      </p:sp>
      <p:sp>
        <p:nvSpPr>
          <p:cNvPr id="24" name="Text 22"/>
          <p:cNvSpPr txBox="1"/>
          <p:nvPr/>
        </p:nvSpPr>
        <p:spPr>
          <a:xfrm>
            <a:off x="4663440" y="1544320"/>
            <a:ext cx="320040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5029200" y="1544320"/>
            <a:ext cx="3657600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850" dirty="0">
                <a:solidFill>
                  <a:schemeClr val="tx2"/>
                </a:solidFill>
              </a:rPr>
              <a:t>Dubai Courts 2023: 580 cases, AED 4.116 billion, 81 / 52 / 28 days, 92.6% (The Law Reporters, 13 July 2024).</a:t>
            </a:r>
            <a:endParaRPr lang="en-US" sz="850" dirty="0"/>
          </a:p>
        </p:txBody>
      </p:sp>
      <p:sp>
        <p:nvSpPr>
          <p:cNvPr id="26" name="Text 24"/>
          <p:cNvSpPr txBox="1"/>
          <p:nvPr/>
        </p:nvSpPr>
        <p:spPr>
          <a:xfrm>
            <a:off x="4663440" y="1899920"/>
            <a:ext cx="320040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5029200" y="1899920"/>
            <a:ext cx="3657600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850" dirty="0">
                <a:solidFill>
                  <a:schemeClr val="tx2"/>
                </a:solidFill>
              </a:rPr>
              <a:t>Dubai Probate Court, first 11 months: 1,814 files, 40 days, AED 32.8 billion (Maktoum bin Mohammed, 28 Oct 2024).</a:t>
            </a:r>
            <a:endParaRPr lang="en-US" sz="850" dirty="0"/>
          </a:p>
        </p:txBody>
      </p:sp>
      <p:sp>
        <p:nvSpPr>
          <p:cNvPr id="28" name="Text 26"/>
          <p:cNvSpPr txBox="1"/>
          <p:nvPr/>
        </p:nvSpPr>
        <p:spPr>
          <a:xfrm>
            <a:off x="4663440" y="2255520"/>
            <a:ext cx="320040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5029200" y="2255520"/>
            <a:ext cx="3657600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850" dirty="0">
                <a:solidFill>
                  <a:schemeClr val="tx2"/>
                </a:solidFill>
              </a:rPr>
              <a:t>Dubai Probate Court 2024: 84%, 24 days, 1,407 certificates, AED 10 and 35 billion (Dubai Media Office, 29 Jan 2025).</a:t>
            </a:r>
            <a:endParaRPr lang="en-US" sz="850" dirty="0"/>
          </a:p>
        </p:txBody>
      </p:sp>
      <p:sp>
        <p:nvSpPr>
          <p:cNvPr id="30" name="Text 28"/>
          <p:cNvSpPr txBox="1"/>
          <p:nvPr/>
        </p:nvSpPr>
        <p:spPr>
          <a:xfrm>
            <a:off x="4663440" y="2611120"/>
            <a:ext cx="320040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5029200" y="2611120"/>
            <a:ext cx="3657600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850" dirty="0">
                <a:solidFill>
                  <a:schemeClr val="tx2"/>
                </a:solidFill>
              </a:rPr>
              <a:t>Dubai Courts 2025: 13.8 days, 92.5%, AED 5.26 billion, 284 licences (Al Bayan, 9 July 2026); AED 3.5 billion to heirs and the Jabr platform (Gulf News, 25 Apr 2026).</a:t>
            </a:r>
            <a:endParaRPr lang="en-US" sz="850" dirty="0"/>
          </a:p>
        </p:txBody>
      </p:sp>
      <p:sp>
        <p:nvSpPr>
          <p:cNvPr id="32" name="Text 30"/>
          <p:cNvSpPr txBox="1"/>
          <p:nvPr/>
        </p:nvSpPr>
        <p:spPr>
          <a:xfrm>
            <a:off x="4663440" y="2966720"/>
            <a:ext cx="320040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5029200" y="2966720"/>
            <a:ext cx="3657600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850" dirty="0">
                <a:solidFill>
                  <a:schemeClr val="tx2"/>
                </a:solidFill>
              </a:rPr>
              <a:t>YouGov for Blanket, 1,014 residents, Sept 2026: 49%, 56%, 24%, 73%, 28%, 21% (Gulf News, 20 Oct 2026).</a:t>
            </a:r>
            <a:endParaRPr lang="en-US" sz="850" dirty="0"/>
          </a:p>
        </p:txBody>
      </p:sp>
      <p:sp>
        <p:nvSpPr>
          <p:cNvPr id="34" name="Text 32"/>
          <p:cNvSpPr txBox="1"/>
          <p:nvPr/>
        </p:nvSpPr>
        <p:spPr>
          <a:xfrm>
            <a:off x="4663440" y="3322320"/>
            <a:ext cx="320040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</a:t>
            </a:r>
            <a:endParaRPr lang="en-US" sz="1100" dirty="0"/>
          </a:p>
        </p:txBody>
      </p:sp>
      <p:sp>
        <p:nvSpPr>
          <p:cNvPr id="35" name="Text 33"/>
          <p:cNvSpPr txBox="1"/>
          <p:nvPr/>
        </p:nvSpPr>
        <p:spPr>
          <a:xfrm>
            <a:off x="5029200" y="3322320"/>
            <a:ext cx="3657600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850" dirty="0">
                <a:solidFill>
                  <a:schemeClr val="tx2"/>
                </a:solidFill>
              </a:rPr>
              <a:t>DIFC Wills registry survey 2017 and account freezing (Gulf News, 12 Nov 2018); time estimates: Caunsel (15 Oct 2026), Dubai Wills Center (13 Jan 2026).</a:t>
            </a:r>
            <a:endParaRPr lang="en-US" sz="850" dirty="0"/>
          </a:p>
        </p:txBody>
      </p:sp>
      <p:sp>
        <p:nvSpPr>
          <p:cNvPr id="36" name="Text 34"/>
          <p:cNvSpPr txBox="1"/>
          <p:nvPr/>
        </p:nvSpPr>
        <p:spPr>
          <a:xfrm>
            <a:off x="4663440" y="3677920"/>
            <a:ext cx="320040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</a:t>
            </a:r>
            <a:endParaRPr lang="en-US" sz="1100" dirty="0"/>
          </a:p>
        </p:txBody>
      </p:sp>
      <p:sp>
        <p:nvSpPr>
          <p:cNvPr id="37" name="Text 35"/>
          <p:cNvSpPr txBox="1"/>
          <p:nvPr/>
        </p:nvSpPr>
        <p:spPr>
          <a:xfrm>
            <a:off x="5029200" y="3677920"/>
            <a:ext cx="3657600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850" dirty="0">
                <a:solidFill>
                  <a:schemeClr val="tx2"/>
                </a:solidFill>
              </a:rPr>
              <a:t>Family businesses: Gulf News, 9 Feb 2023 (Jersey Finance); Khaleej Times, 20 May 2026 and 6 Sept 2023 (Citi).</a:t>
            </a:r>
            <a:endParaRPr lang="en-US" sz="850" dirty="0"/>
          </a:p>
        </p:txBody>
      </p:sp>
      <p:sp>
        <p:nvSpPr>
          <p:cNvPr id="38" name="Text 36"/>
          <p:cNvSpPr txBox="1"/>
          <p:nvPr/>
        </p:nvSpPr>
        <p:spPr>
          <a:xfrm>
            <a:off x="4663440" y="4033520"/>
            <a:ext cx="320040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</a:t>
            </a:r>
            <a:endParaRPr lang="en-US" sz="1100" dirty="0"/>
          </a:p>
        </p:txBody>
      </p:sp>
      <p:sp>
        <p:nvSpPr>
          <p:cNvPr id="39" name="Text 37"/>
          <p:cNvSpPr txBox="1"/>
          <p:nvPr/>
        </p:nvSpPr>
        <p:spPr>
          <a:xfrm>
            <a:off x="5029200" y="4033520"/>
            <a:ext cx="3657600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850" dirty="0">
                <a:solidFill>
                  <a:schemeClr val="tx2"/>
                </a:solidFill>
              </a:rPr>
              <a:t>Legal framework: Dubai Law 15/2017; Abu Dhabi Law 14/2021; Federal Decree-Law 41/2022; Dubai Decree 25/2023.</a:t>
            </a:r>
            <a:endParaRPr lang="en-US" sz="850" dirty="0"/>
          </a:p>
        </p:txBody>
      </p:sp>
      <p:sp>
        <p:nvSpPr>
          <p:cNvPr id="40" name="Text 38"/>
          <p:cNvSpPr txBox="1"/>
          <p:nvPr/>
        </p:nvSpPr>
        <p:spPr>
          <a:xfrm>
            <a:off x="457200" y="43159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altLang="en-US" sz="900" i="1" dirty="0">
                <a:solidFill>
                  <a:schemeClr val="accent3"/>
                </a:solidFill>
              </a:rPr>
              <a:t>Figures marked with an asterisk (*) are derived from officially announced growth rates and are not published as such.</a:t>
            </a:r>
            <a:endParaRPr lang="en-US" sz="900" dirty="0"/>
          </a:p>
        </p:txBody>
      </p:sp>
      <p:sp>
        <p:nvSpPr>
          <p:cNvPr id="41" name="Text 3"/>
          <p:cNvSpPr/>
          <p:nvPr>
            <p:ph idx="103" type="title" hasCustomPrompt="1"/>
          </p:nvPr>
        </p:nvSpPr>
        <p:spPr>
          <a:xfrm>
            <a:off x="457200" y="420624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626864"/>
            <a:ext cx="548640" cy="38404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900">
                <a:solidFill>
                  <a:srgbClr val="6E7B8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8229600" cy="4023360"/>
          </a:xfrm>
          <a:prstGeom prst="rect">
            <a:avLst/>
          </a:prstGeom>
          <a:ln w="9525">
            <a:solidFill>
              <a:srgbClr val="B5723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22960" y="640080"/>
            <a:ext cx="914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0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</a:t>
            </a:r>
            <a:endParaRPr lang="en-US" sz="7200" dirty="0"/>
          </a:p>
        </p:txBody>
      </p:sp>
      <p:sp>
        <p:nvSpPr>
          <p:cNvPr id="4" name="Text 2"/>
          <p:cNvSpPr txBox="1"/>
          <p:nvPr/>
        </p:nvSpPr>
        <p:spPr>
          <a:xfrm>
            <a:off x="914400" y="1463040"/>
            <a:ext cx="7315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altLang="en-US" sz="2200" i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Over 11 million residents and roughly 35,000 registered wills. The gap is not legal, the tools have existed since 2015. The gap is awareness and planning.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35661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altLang="en-US" sz="1200" dirty="0">
                <a:solidFill>
                  <a:schemeClr val="accent2"/>
                </a:solidFill>
              </a:rPr>
              <a:t>The conclusion of the numbers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626864"/>
            <a:ext cx="548640" cy="38404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900">
                <a:solidFill>
                  <a:srgbClr val="D9B38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8229600" cy="4229100"/>
          </a:xfrm>
          <a:prstGeom prst="rect">
            <a:avLst/>
          </a:prstGeom>
          <a:ln w="9525">
            <a:solidFill>
              <a:srgbClr val="B5723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68680" y="777240"/>
            <a:ext cx="7406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altLang="en-US" sz="2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Rashid Alkaitoob Advocates &amp; Legal Consultants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868680" y="1554480"/>
            <a:ext cx="7406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altLang="en-US" sz="1300" dirty="0">
                <a:solidFill>
                  <a:schemeClr val="accent2"/>
                </a:solidFill>
              </a:rPr>
              <a:t>Wills, asset protection and estate planning for investors and companies in the UAE</a:t>
            </a:r>
            <a:endParaRPr lang="en-US" sz="1300" dirty="0"/>
          </a:p>
        </p:txBody>
      </p:sp>
      <p:pic>
        <p:nvPicPr>
          <p:cNvPr id="5" name="icon FaLocationDot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2286000"/>
            <a:ext cx="274320" cy="27432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325880" y="224028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altLang="en-US" sz="1200" dirty="0">
                <a:solidFill>
                  <a:schemeClr val="bg2"/>
                </a:solidFill>
              </a:rPr>
              <a:t>Sheikh Zayed Road, Saeed Tower 2, Office 501, Dubai, UAE</a:t>
            </a:r>
            <a:endParaRPr lang="en-US" sz="1200" dirty="0"/>
          </a:p>
        </p:txBody>
      </p:sp>
      <p:pic>
        <p:nvPicPr>
          <p:cNvPr id="7" name="icon FaPhone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2788920"/>
            <a:ext cx="274320" cy="27432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325880" y="274320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altLang="en-US" sz="1200" dirty="0">
                <a:solidFill>
                  <a:schemeClr val="bg2"/>
                </a:solidFill>
              </a:rPr>
              <a:t>+971 4 359 5552  |  Mobile &amp; WhatsApp: +971 52 107 4972</a:t>
            </a:r>
            <a:endParaRPr lang="en-US" sz="1200" dirty="0"/>
          </a:p>
        </p:txBody>
      </p:sp>
      <p:pic>
        <p:nvPicPr>
          <p:cNvPr id="9" name="icon FaEnvelope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3291840"/>
            <a:ext cx="274320" cy="274320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1325880" y="324612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altLang="en-US" sz="1200" dirty="0">
                <a:solidFill>
                  <a:schemeClr val="bg2"/>
                </a:solidFill>
              </a:rPr>
              <a:t>ward.shueibi@rk-advocates.com  |  rk-advocates.com</a:t>
            </a:r>
            <a:endParaRPr lang="en-US" sz="1200" dirty="0"/>
          </a:p>
        </p:txBody>
      </p:sp>
      <p:pic>
        <p:nvPicPr>
          <p:cNvPr id="11" name="icon FaClock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3794760"/>
            <a:ext cx="274320" cy="274320"/>
          </a:xfrm>
          <a:prstGeom prst="rect">
            <a:avLst/>
          </a:prstGeom>
        </p:spPr>
      </p:pic>
      <p:sp>
        <p:nvSpPr>
          <p:cNvPr id="12" name="Text 6"/>
          <p:cNvSpPr txBox="1"/>
          <p:nvPr/>
        </p:nvSpPr>
        <p:spPr>
          <a:xfrm>
            <a:off x="1325880" y="374904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altLang="en-US" sz="1200" dirty="0">
                <a:solidFill>
                  <a:schemeClr val="bg2"/>
                </a:solidFill>
              </a:rPr>
              <a:t>Monday – Friday, 8:30 – 17:30  |  Arabic · English · Chinese · Russian</a:t>
            </a:r>
            <a:endParaRPr lang="en-US" sz="1200" dirty="0"/>
          </a:p>
        </p:txBody>
      </p:sp>
      <p:sp>
        <p:nvSpPr>
          <p:cNvPr id="13" name="Text 7"/>
          <p:cNvSpPr txBox="1"/>
          <p:nvPr/>
        </p:nvSpPr>
        <p:spPr>
          <a:xfrm>
            <a:off x="868680" y="4206240"/>
            <a:ext cx="7406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altLang="en-US" sz="1000" dirty="0">
                <a:solidFill>
                  <a:schemeClr val="accent1"/>
                </a:solidFill>
              </a:rPr>
              <a:t>Rashid Alkaitoob Advocates &amp; Legal Consultants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626864"/>
            <a:ext cx="548640" cy="38404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900">
                <a:solidFill>
                  <a:srgbClr val="D9B38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idnight Copper">
  <a:themeElements>
    <a:clrScheme name="Midnight Copper">
      <a:dk1>
        <a:srgbClr val="0E2238"/>
      </a:dk1>
      <a:lt1>
        <a:srgbClr val="FFFFFF"/>
      </a:lt1>
      <a:dk2>
        <a:srgbClr val="1F3A52"/>
      </a:dk2>
      <a:lt2>
        <a:srgbClr val="F4F1EB"/>
      </a:lt2>
      <a:accent1>
        <a:srgbClr val="B5723B"/>
      </a:accent1>
      <a:accent2>
        <a:srgbClr val="D9B38C"/>
      </a:accent2>
      <a:accent3>
        <a:srgbClr val="6E7B88"/>
      </a:accent3>
      <a:accent4>
        <a:srgbClr val="8C5527"/>
      </a:accent4>
      <a:accent5>
        <a:srgbClr val="E6E1D8"/>
      </a:accent5>
      <a:accent6>
        <a:srgbClr val="5B7A8C"/>
      </a:accent6>
      <a:hlink>
        <a:srgbClr val="B5723B"/>
      </a:hlink>
      <a:folHlink>
        <a:srgbClr val="8C5527"/>
      </a:folHlink>
    </a:clrScheme>
    <a:fontScheme name="Midnight Copper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</vt:vector>
  </TitlesOfParts>
  <Company>Rashid Alkaitoob Advocates &amp; Legal Consultants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Wills and Inheritance in the UAE: What the Numbers Say</dc:title>
  <dc:subject>PptxGenJS Presentation</dc:subject>
  <dc:creator>Rashid Alkaitoob Advocates &amp; Legal Consultants</dc:creator>
  <cp:lastModifiedBy>Rashid Alkaitoob Advocates &amp; Legal Consultants</cp:lastModifiedBy>
  <cp:revision>1</cp:revision>
  <dcterms:created xsi:type="dcterms:W3CDTF">2026-10-27T13:06:03Z</dcterms:created>
  <dcterms:modified xsi:type="dcterms:W3CDTF">2026-10-27T13:06:03Z</dcterms:modified>
</cp:coreProperties>
</file>