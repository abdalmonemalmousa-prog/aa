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8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Добро пожаловать" id="{bea7e8ab-e0d9-80be-253a-2ccc01f8472a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Средний срок в днях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Дней</c:v>
                </c:pt>
              </c:strCache>
            </c:strRef>
          </c:tx>
          <c:spPr>
            <a:solidFill>
              <a:srgbClr val="B5723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2023: суд, от подачи до решения</c:v>
                  </c:pt>
                  <c:pt idx="1">
                    <c:v>2023–24: первые 11 мес., мировое</c:v>
                  </c:pt>
                  <c:pt idx="2">
                    <c:v>2024: мировое</c:v>
                  </c:pt>
                  <c:pt idx="3">
                    <c:v>2025: мировое (раб. дни)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</c:v>
                </c:pt>
                <c:pt idx="1">
                  <c:v>40</c:v>
                </c:pt>
                <c:pt idx="2">
                  <c:v>24</c:v>
                </c:pt>
                <c:pt idx="3">
                  <c:v>13.8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a/b81485da-2e22-5d10-878f-01904e6d5dc6/scratchpad/r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4681728"/>
            <a:ext cx="1675417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a/b81485da-2e22-5d10-878f-01904e6d5dc6/scratchpad/rk/logo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4681728"/>
            <a:ext cx="1675417" cy="2743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0E2238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_DARK">
    <p:bg>
      <p:bgPr>
        <a:solidFill>
          <a:srgbClr val="0E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pic>
        <p:nvPicPr>
          <p:cNvPr id="3" name="Image 0" descr="/tmp/claude-0/-home-user-aa/b81485da-2e22-5d10-878f-01904e6d5dc6/scratchpad/r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868680"/>
            <a:ext cx="4021000" cy="65836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68680" y="1965960"/>
            <a:ext cx="7406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Защита ваших активов и семьи в ОАЭ</a:t>
            </a:r>
            <a:endParaRPr lang="ru-RU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868680" y="338328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500" dirty="0">
                <a:solidFill>
                  <a:schemeClr val="accent2"/>
                </a:solidFill>
              </a:rPr>
              <a:t>Введение в варианты правового планирования для инвесторов и владельцев недвижимости</a:t>
            </a:r>
            <a:endParaRPr lang="ru-RU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402336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Rashid Alkaitoob Advocates &amp; Legal Consultants · Дубай</a:t>
            </a:r>
            <a:endParaRPr lang="ru-RU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Добро пожаловать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СПАСИБО ЗА ВАШЕ ВРЕМЯ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291840" cy="32461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pic>
        <p:nvPicPr>
          <p:cNvPr id="5" name="icon FaHandshak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087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103120"/>
            <a:ext cx="26517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Рады знакомству через нашего партнёра по недвижимости</a:t>
            </a:r>
            <a:endParaRPr lang="ru-RU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026664"/>
            <a:ext cx="26517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100" dirty="0">
                <a:solidFill>
                  <a:schemeClr val="bg2"/>
                </a:solidFill>
              </a:rPr>
              <a:t>Наша команда специализируется на завещаниях, наследственном планировании и защите активов для иностранных инвесторов и владельцев недвижимости в ОАЭ.</a:t>
            </a:r>
            <a:endParaRPr lang="ru-RU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023360" y="1188720"/>
            <a:ext cx="46634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buSzPct val="100000"/>
              <a:buChar char="•"/>
            </a:pPr>
            <a:r>
              <a:rPr lang="ru-RU" altLang="en-US" sz="1300" b="1" dirty="0">
                <a:solidFill>
                  <a:schemeClr val="tx1"/>
                </a:solidFill>
              </a:rPr>
              <a:t>Что вы получите от этой встречи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Ясную картину того, что происходит с вашими активами в ОАЭ, доступные варианты и подходящий именно вам.</a:t>
            </a:r>
            <a:endParaRPr lang="ru-RU" sz="1300" dirty="0"/>
          </a:p>
          <a:p>
            <a:pPr algn="l" marL="177800" indent="-177800">
              <a:spcBef>
                <a:spcPts val="600"/>
              </a:spcBef>
              <a:buSzPct val="100000"/>
              <a:buChar char="•"/>
            </a:pPr>
            <a:r>
              <a:rPr lang="ru-RU" altLang="en-US" sz="1300" b="1" dirty="0">
                <a:solidFill>
                  <a:schemeClr val="tx1"/>
                </a:solidFill>
              </a:rPr>
              <a:t>Без обязательств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Эта первая консультация бесплатна. Затем вы получаете одно письменное предложение со всеми расходами.</a:t>
            </a:r>
            <a:endParaRPr lang="ru-RU" sz="1300" dirty="0"/>
          </a:p>
          <a:p>
            <a:pPr algn="l" marL="177800" indent="-177800">
              <a:spcBef>
                <a:spcPts val="600"/>
              </a:spcBef>
              <a:buSzPct val="100000"/>
              <a:buChar char="•"/>
            </a:pPr>
            <a:r>
              <a:rPr lang="ru-RU" altLang="en-US" sz="1300" b="1" dirty="0">
                <a:solidFill>
                  <a:schemeClr val="tx1"/>
                </a:solidFill>
              </a:rPr>
              <a:t>На вашем языке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Арабский, английский, китайский, русский.</a:t>
            </a:r>
            <a:endParaRPr lang="ru-RU" sz="1300" dirty="0"/>
          </a:p>
        </p:txBody>
      </p:sp>
      <p:sp>
        <p:nvSpPr>
          <p:cNvPr id="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мы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RASHID ALKAITOOB ADVOCATES &amp; LEGAL CONSULTANTS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BuildingColumn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182880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Лицензия с 2014 года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Лицензированная в ОАЭ юридическая фирма на Шейх Зайед Роуд, Дубай, представляющая частных лиц и компании в судах всех инстанций.</a:t>
            </a:r>
            <a:endParaRPr lang="ru-RU" sz="1250" dirty="0"/>
          </a:p>
        </p:txBody>
      </p:sp>
      <p:sp>
        <p:nvSpPr>
          <p:cNvPr id="7" name="Shape 4"/>
          <p:cNvSpPr/>
          <p:nvPr/>
        </p:nvSpPr>
        <p:spPr>
          <a:xfrm>
            <a:off x="3276600" y="118872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ScaleBalanced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7768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477768" y="182880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Более 10 направлений практики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Недвижимость, корпоративное право, арбитраж, семейное и наследственное право, комплаенс ПОД/ФТ, интеллектуальная собственность и другое.</a:t>
            </a:r>
            <a:endParaRPr lang="ru-RU" sz="1250" dirty="0"/>
          </a:p>
        </p:txBody>
      </p:sp>
      <p:sp>
        <p:nvSpPr>
          <p:cNvPr id="10" name="Shape 6"/>
          <p:cNvSpPr/>
          <p:nvPr/>
        </p:nvSpPr>
        <p:spPr>
          <a:xfrm>
            <a:off x="6096000" y="118872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Glob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7168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297168" y="182880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Региональный и международный охват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Устойчивое присутствие в странах Залива и Азии, отдельный китайский отдел для инвесторов.</a:t>
            </a:r>
            <a:endParaRPr lang="ru-RU" sz="1250" dirty="0"/>
          </a:p>
        </p:txBody>
      </p:sp>
      <p:sp>
        <p:nvSpPr>
          <p:cNvPr id="13" name="Shape 8"/>
          <p:cNvSpPr/>
          <p:nvPr/>
        </p:nvSpPr>
        <p:spPr>
          <a:xfrm>
            <a:off x="457200" y="292608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Languag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127248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58368" y="356616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Четыре рабочих языка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Арабский, английский, китайский и русский: каждый клиент общается со своим юристом напрямую.</a:t>
            </a:r>
            <a:endParaRPr lang="ru-RU" sz="1250" dirty="0"/>
          </a:p>
        </p:txBody>
      </p:sp>
      <p:sp>
        <p:nvSpPr>
          <p:cNvPr id="16" name="Shape 10"/>
          <p:cNvSpPr/>
          <p:nvPr/>
        </p:nvSpPr>
        <p:spPr>
          <a:xfrm>
            <a:off x="3276600" y="292608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Handshak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7768" y="3127248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3477768" y="356616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Сначала мирное урегулирование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Где это возможно, мы ведём переговоры и медиацию до суда, чтобы получить лучший результат с наименьшими затратами.</a:t>
            </a:r>
            <a:endParaRPr lang="ru-RU" sz="1250" dirty="0"/>
          </a:p>
        </p:txBody>
      </p:sp>
      <p:sp>
        <p:nvSpPr>
          <p:cNvPr id="19" name="Shape 12"/>
          <p:cNvSpPr/>
          <p:nvPr/>
        </p:nvSpPr>
        <p:spPr>
          <a:xfrm>
            <a:off x="6096000" y="292608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0" name="icon FaUserShield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7168" y="3127248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297168" y="356616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Ориентация на клиента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Понятная коммуникация, регулярные обновления и практичные решения под каждое дело.</a:t>
            </a:r>
            <a:endParaRPr lang="ru-RU" sz="1250" dirty="0"/>
          </a:p>
        </p:txBody>
      </p:sp>
      <p:sp>
        <p:nvSpPr>
          <p:cNvPr id="22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Почему это важно для вас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БЕЗ ПЛАНИРОВАНИЯ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Lo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Банковские счета могут быть заморожены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До выдачи приказа о распределении наследства, что останавливает ежедневные расходы семьи.</a:t>
            </a:r>
            <a:endParaRPr lang="ru-RU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01168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HouseLo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0312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99339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Передача недвижимости может задержаться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Процедуры различаются в зависимости от гражданства, религии и семейного положения.</a:t>
            </a:r>
            <a:endParaRPr lang="ru-RU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83464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Childre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926080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81635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Дети и наследники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Без документа нет назначенного опекуна для несовершеннолетних и ясного порядка для наследников на родине или за рубежом.</a:t>
            </a:r>
            <a:endParaRPr lang="ru-RU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65760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PeopleArrow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749040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63931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Семейные споры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Отсутствие ясности провоцирует конфликт в самое трудное время.</a:t>
            </a:r>
            <a:endParaRPr lang="ru-RU" sz="1300" dirty="0"/>
          </a:p>
        </p:txBody>
      </p:sp>
      <p:sp>
        <p:nvSpPr>
          <p:cNvPr id="16" name="Shape 10"/>
          <p:cNvSpPr/>
          <p:nvPr/>
        </p:nvSpPr>
        <p:spPr>
          <a:xfrm>
            <a:off x="5943600" y="1188720"/>
            <a:ext cx="2743200" cy="32461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6053328" y="1298448"/>
            <a:ext cx="2523744" cy="3026664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263640" y="15087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Вот почему инвесторы планируют заранее</a:t>
            </a:r>
            <a:endParaRPr lang="ru-RU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6263640" y="2468880"/>
            <a:ext cx="2103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150" dirty="0">
                <a:solidFill>
                  <a:schemeClr val="bg2"/>
                </a:solidFill>
              </a:rPr>
              <a:t>Простое решение сегодня защищает ваши инвестиции и семью и упрощает процедуры благодаря готовым документам.</a:t>
            </a:r>
            <a:endParaRPr lang="ru-RU" sz="1150" dirty="0"/>
          </a:p>
        </p:txBody>
      </p:sp>
      <p:sp>
        <p:nvSpPr>
          <p:cNvPr id="2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 кого нет завещания: данные опросов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ЦИФРЫ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49%</a:t>
            </a:r>
            <a:endParaRPr lang="ru-RU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не начали составлять завещание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экспатов ОАЭ, 2026</a:t>
            </a:r>
            <a:endParaRPr lang="ru-RU" sz="1250" dirty="0"/>
          </a:p>
        </p:txBody>
      </p:sp>
      <p:sp>
        <p:nvSpPr>
          <p:cNvPr id="7" name="Shape 5"/>
          <p:cNvSpPr/>
          <p:nvPr/>
        </p:nvSpPr>
        <p:spPr>
          <a:xfrm>
            <a:off x="2564892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7772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56%</a:t>
            </a:r>
            <a:endParaRPr lang="ru-RU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747772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считают, что супруг автоматически наследует всё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юридически ошибочное мнение</a:t>
            </a:r>
            <a:endParaRPr lang="ru-RU" sz="1250" dirty="0"/>
          </a:p>
        </p:txBody>
      </p:sp>
      <p:sp>
        <p:nvSpPr>
          <p:cNvPr id="10" name="Shape 8"/>
          <p:cNvSpPr/>
          <p:nvPr/>
        </p:nvSpPr>
        <p:spPr>
          <a:xfrm>
            <a:off x="4672584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55464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24%</a:t>
            </a:r>
            <a:endParaRPr lang="ru-RU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4855464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родителей несовершеннолетних оформили опеку документально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при этом 73% полагают, что семья знает их пожелания</a:t>
            </a:r>
            <a:endParaRPr lang="ru-RU" sz="1250" dirty="0"/>
          </a:p>
        </p:txBody>
      </p:sp>
      <p:sp>
        <p:nvSpPr>
          <p:cNvPr id="13" name="Shape 11"/>
          <p:cNvSpPr/>
          <p:nvPr/>
        </p:nvSpPr>
        <p:spPr>
          <a:xfrm>
            <a:off x="6780276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63156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~90%</a:t>
            </a:r>
            <a:endParaRPr lang="ru-RU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963156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владельцев активов в Дубае не имели зарегистрированного в ОАЭ завещания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Опрос реестра DIFC, 2017: завещание было у «чуть более 10%»</a:t>
            </a:r>
            <a:endParaRPr lang="ru-RU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800" i="1" dirty="0">
                <a:solidFill>
                  <a:schemeClr val="accent3"/>
                </a:solidFill>
              </a:rPr>
              <a:t>YouGov для Blanket, 1 014 респондентов, сент. 2026 (Gulf News, окт. 2026); опрос реестра DIFC 2017 (Gulf News, ноя. 2018). Причины: 28% «недостаточно активов», 21% «не знаю, с чего начать».</a:t>
            </a:r>
            <a:endParaRPr lang="ru-RU" sz="800" dirty="0"/>
          </a:p>
        </p:txBody>
      </p:sp>
      <p:sp>
        <p:nvSpPr>
          <p:cNvPr id="17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8046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7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Менее 1%</a:t>
            </a:r>
            <a:endParaRPr lang="ru-RU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4231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экспатов имеют завещание, зарегистрированное в ОАЭ</a:t>
            </a:r>
            <a:endParaRPr lang="ru-RU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5468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accent2"/>
                </a:solidFill>
              </a:rPr>
              <a:t>Наша ориентировочная оценка: около 35 000 зарегистрированных завещаний немусульман (DIFC более 14 000 плюс Абу-Даби 21 000, плюс неопубликованный реестр судов Дубая) на примерно 10 млн экспатов. Даже при утроении числа доля остаётся ниже 1%.</a:t>
            </a:r>
            <a:endParaRPr lang="ru-RU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2452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900" i="1" dirty="0">
                <a:solidFill>
                  <a:schemeClr val="accent3"/>
                </a:solidFill>
              </a:rPr>
              <a:t>Расчёт Rashid Alkaitoob Advocates на основе официальных данных из этой презентации. Не является официальной статистикой.</a:t>
            </a:r>
            <a:endParaRPr lang="ru-RU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Дубай сократил срок урегулирования наследства с 81 дня до 13,8</a:t>
            </a:r>
            <a:endParaRPr lang="ru-RU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ЦИФРЫ</a:t>
            </a:r>
            <a:endParaRPr lang="ru-RU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9788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 → 3</a:t>
            </a:r>
            <a:endParaRPr lang="ru-RU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05740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дней: срок процедур после запуска платформы «Джабр» (окт. 2025)</a:t>
            </a:r>
            <a:endParaRPr lang="ru-RU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2834640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Требования сокращены с 10 до 4; 1 103 дела за первые три месяца. Правила Суда по наследству: подготовка ≤ 30 дней, процесс ≤ 12 месяцев. Дела вне Дубая, без завещания или спорные этими цифрами не охвачены.</a:t>
            </a:r>
            <a:endParaRPr lang="ru-RU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800" i="1" dirty="0">
                <a:solidFill>
                  <a:schemeClr val="accent3"/>
                </a:solidFill>
              </a:rPr>
              <a:t>Суды Дубая: годовые отчёты 2022–2025 и Медиа-офис правительства Дубая</a:t>
            </a:r>
            <a:endParaRPr lang="ru-RU" sz="800" dirty="0"/>
          </a:p>
        </p:txBody>
      </p:sp>
      <p:sp>
        <p:nvSpPr>
          <p:cNvPr id="1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Проблемы, которые возникают на практике</a:t>
            </a:r>
            <a:endParaRPr lang="ru-RU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ЦИФРЫ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Lo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Банковские счета блокируются сразу, включая совместные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Остаются заблокированными до приказов о распределении; частичный доступ редок, разблокировка после приказов занимает ещё 2–6 недель.</a:t>
            </a:r>
            <a:endParaRPr lang="ru-RU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HouseLo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828800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Блокировка перехода недвижимости, автомобилей и лицензий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Только в Дубае в 2025 г. через урегулирование наследства прошли 1 052 объекта, 357 автомобилей, 240 номеров и 284 лицензии.</a:t>
            </a:r>
            <a:endParaRPr lang="ru-RU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Childre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487168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Неоформленная опека над детьми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Лишь 24% родителей оформили опеку; 28% считают, что у них недостаточно активов для завещания.</a:t>
            </a:r>
            <a:endParaRPr lang="ru-RU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PeopleArrow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145536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Споры между наследниками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Иски на 35 млрд дирхамов в Суде по наследству Дубая в 2024 г.; 7,5% дел 2025 г. не урегулированы мирно.</a:t>
            </a:r>
            <a:endParaRPr lang="ru-RU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FileCircleExclamati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803904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Иностранные документы требуют легализации и перевода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Без местного завещания нужно легализовать свидетельства о браке и рождении и доказать иностранное право — главный источник задержек.</a:t>
            </a:r>
            <a:endParaRPr lang="ru-RU" sz="1300" dirty="0"/>
          </a:p>
        </p:txBody>
      </p:sp>
      <p:sp>
        <p:nvSpPr>
          <p:cNvPr id="1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 планированием и без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СРАВНЕНИЕ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00500" cy="54864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accent2"/>
                </a:solidFill>
              </a:rPr>
              <a:t>Без завещания или структуры</a:t>
            </a:r>
            <a:endParaRPr lang="ru-RU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Юридические процедуры, различающиеся по ситуации и гражданству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Возможная заморозка счетов и недвижимости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Больше времени и расходов для наследников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Нет назначенного опекуна для детей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Возможные споры между наследниками</a:t>
            </a:r>
            <a:endParaRPr lang="ru-RU" sz="1100" dirty="0"/>
          </a:p>
        </p:txBody>
      </p:sp>
      <p:sp>
        <p:nvSpPr>
          <p:cNvPr id="8" name="Shape 6"/>
          <p:cNvSpPr/>
          <p:nvPr/>
        </p:nvSpPr>
        <p:spPr>
          <a:xfrm>
            <a:off x="4686300" y="1188720"/>
            <a:ext cx="4000500" cy="548640"/>
          </a:xfrm>
          <a:prstGeom prst="rect">
            <a:avLst/>
          </a:prstGeom>
          <a:solidFill>
            <a:srgbClr val="B5723B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234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С зарегистрированным завещанием и правильной структурой</a:t>
            </a:r>
            <a:endParaRPr lang="ru-RU" sz="1300" dirty="0"/>
          </a:p>
        </p:txBody>
      </p:sp>
      <p:sp>
        <p:nvSpPr>
          <p:cNvPr id="10" name="Shape 8"/>
          <p:cNvSpPr/>
          <p:nvPr/>
        </p:nvSpPr>
        <p:spPr>
          <a:xfrm>
            <a:off x="46863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234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Чёткий порядок передачи собственности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Защищённые счета, недвижимость и компании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Назначенный опекун и определённые доли для детей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Предпочитаемое вами право или выбранная вами структура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Спокойствие для вас и вашей семьи</a:t>
            </a:r>
            <a:endParaRPr lang="ru-RU" sz="1100" dirty="0"/>
          </a:p>
        </p:txBody>
      </p:sp>
      <p:sp>
        <p:nvSpPr>
          <p:cNvPr id="12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мы можем защитить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ОБЪЁМ ЗАЩИТЫ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Hous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182880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Недвижимость в ОАЭ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Жилые, коммерческие и строящиеся объекты.</a:t>
            </a:r>
            <a:endParaRPr lang="ru-RU" sz="1250" dirty="0"/>
          </a:p>
        </p:txBody>
      </p:sp>
      <p:sp>
        <p:nvSpPr>
          <p:cNvPr id="7" name="Shape 4"/>
          <p:cNvSpPr/>
          <p:nvPr/>
        </p:nvSpPr>
        <p:spPr>
          <a:xfrm>
            <a:off x="3276600" y="118872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Briefcas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7768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477768" y="182880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Компании и доли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Непрерывность бизнеса и передача долей.</a:t>
            </a:r>
            <a:endParaRPr lang="ru-RU" sz="1250" dirty="0"/>
          </a:p>
        </p:txBody>
      </p:sp>
      <p:sp>
        <p:nvSpPr>
          <p:cNvPr id="10" name="Shape 6"/>
          <p:cNvSpPr/>
          <p:nvPr/>
        </p:nvSpPr>
        <p:spPr>
          <a:xfrm>
            <a:off x="6096000" y="118872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BuildingColumn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7168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297168" y="182880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Банковские счета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Кто и как их получает.</a:t>
            </a:r>
            <a:endParaRPr lang="ru-RU" sz="1250" dirty="0"/>
          </a:p>
        </p:txBody>
      </p:sp>
      <p:sp>
        <p:nvSpPr>
          <p:cNvPr id="13" name="Shape 8"/>
          <p:cNvSpPr/>
          <p:nvPr/>
        </p:nvSpPr>
        <p:spPr>
          <a:xfrm>
            <a:off x="457200" y="292608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Childre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127248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58368" y="356616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Дети и опека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Назначение опекуна, которому вы доверяете, для несовершеннолетних.</a:t>
            </a:r>
            <a:endParaRPr lang="ru-RU" sz="1250" dirty="0"/>
          </a:p>
        </p:txBody>
      </p:sp>
      <p:sp>
        <p:nvSpPr>
          <p:cNvPr id="16" name="Shape 10"/>
          <p:cNvSpPr/>
          <p:nvPr/>
        </p:nvSpPr>
        <p:spPr>
          <a:xfrm>
            <a:off x="3276600" y="292608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Glob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7768" y="3127248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3477768" y="356616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Наследники в ОАЭ и за рубежом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Согласование с любым завещанием в вашей стране.</a:t>
            </a:r>
            <a:endParaRPr lang="ru-RU" sz="1250" dirty="0"/>
          </a:p>
        </p:txBody>
      </p:sp>
      <p:sp>
        <p:nvSpPr>
          <p:cNvPr id="19" name="Shape 12"/>
          <p:cNvSpPr/>
          <p:nvPr/>
        </p:nvSpPr>
        <p:spPr>
          <a:xfrm>
            <a:off x="6096000" y="292608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0" name="icon FaLayerGroup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7168" y="3127248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297168" y="356616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Активы более чем в одной стране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Холдинговые структуры, фонды или трасты.</a:t>
            </a:r>
            <a:endParaRPr lang="ru-RU" sz="1250" dirty="0"/>
          </a:p>
        </p:txBody>
      </p:sp>
      <p:sp>
        <p:nvSpPr>
          <p:cNvPr id="22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Где регистрируются завещания в ОАЭ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ПРАВОВАЯ БАЗА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Landmar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Суды Дубая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950" dirty="0">
                <a:solidFill>
                  <a:schemeClr val="accent3"/>
                </a:solidFill>
              </a:rPr>
              <a:t>Регистрация завещаний немусульман в судах Дубая по правилам личного статуса немусульман.</a:t>
            </a:r>
            <a:endParaRPr lang="ru-RU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Landmar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828800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Суды Абу-Даби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950" dirty="0">
                <a:solidFill>
                  <a:schemeClr val="accent3"/>
                </a:solidFill>
              </a:rPr>
              <a:t>Регистрация в Судебном департаменте Абу-Даби для клиентов, предпочитающих этот путь.</a:t>
            </a:r>
            <a:endParaRPr lang="ru-RU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BuildingColumn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487168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Завещания DIFC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950" dirty="0">
                <a:solidFill>
                  <a:schemeClr val="accent3"/>
                </a:solidFill>
              </a:rPr>
              <a:t>Реестр завещаний DIFC для немусульман, на английском языке, охватывает активы в ОАЭ.</a:t>
            </a:r>
            <a:endParaRPr lang="ru-RU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BuildingColumn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145536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Завещания ADGM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950" dirty="0">
                <a:solidFill>
                  <a:schemeClr val="accent3"/>
                </a:solidFill>
              </a:rPr>
              <a:t>Реестр завещаний ADGM для немусульман, альтернативный англоязычный путь.</a:t>
            </a:r>
            <a:endParaRPr lang="ru-RU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ScaleBalanced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80390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Шариат или иностранное право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950" dirty="0">
                <a:solidFill>
                  <a:schemeClr val="accent3"/>
                </a:solidFill>
              </a:rPr>
              <a:t>Применимое право определяем по гражданству, религии и пожеланиям клиента.</a:t>
            </a:r>
            <a:endParaRPr lang="ru-RU" sz="1300" dirty="0"/>
          </a:p>
        </p:txBody>
      </p:sp>
      <p:sp>
        <p:nvSpPr>
          <p:cNvPr id="19" name="Shape 12"/>
          <p:cNvSpPr/>
          <p:nvPr/>
        </p:nvSpPr>
        <p:spPr>
          <a:xfrm>
            <a:off x="5943600" y="1188720"/>
            <a:ext cx="2743200" cy="32461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20" name="Shape 13"/>
          <p:cNvSpPr/>
          <p:nvPr/>
        </p:nvSpPr>
        <p:spPr>
          <a:xfrm>
            <a:off x="6053328" y="1298448"/>
            <a:ext cx="2523744" cy="3026664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6263640" y="15087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Каждый клиент — отдельный случай</a:t>
            </a:r>
            <a:endParaRPr lang="ru-RU" sz="1600" dirty="0"/>
          </a:p>
        </p:txBody>
      </p:sp>
      <p:sp>
        <p:nvSpPr>
          <p:cNvPr id="22" name="Text 15"/>
          <p:cNvSpPr txBox="1"/>
          <p:nvPr/>
        </p:nvSpPr>
        <p:spPr>
          <a:xfrm>
            <a:off x="6263640" y="2194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150" dirty="0">
                <a:solidFill>
                  <a:schemeClr val="bg2"/>
                </a:solidFill>
              </a:rPr>
              <a:t>Гражданство, религия, семейное положение и местонахождение активов определяют правильный путь. Поэтому мы всегда начинаем с ознакомительной встречи, а не с типа завещания.</a:t>
            </a:r>
            <a:endParaRPr lang="ru-RU" sz="1150" dirty="0"/>
          </a:p>
        </p:txBody>
      </p:sp>
      <p:sp>
        <p:nvSpPr>
          <p:cNvPr id="2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Виды услуг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ВАРИАНТЫ</a:t>
            </a:r>
            <a:endParaRPr lang="ru-RU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291840"/>
                <a:gridCol w="283464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Вид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Что охватывает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Кому подходит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Индивидуальное завещание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Ваши активы в ОАЭ, опекуны и исполнители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Любой инвестор или резидент с активами в ОАЭ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Супружеские (зеркальные) завещания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Два согласованных завещания для супругов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Супружеские пары, особенно с детьми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Завещание на недвижимость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Только недвижимость в ОАЭ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Инвестор в недвижимость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Завещание на бизнес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Доли в компаниях и непрерывность бизнеса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Владельцы компаний и партнёры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Корпоративное структурирование / холдинг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Холдинг или SPV, связанные с планом наследования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Крупные портфели и активы в нескольких странах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Фонд или траст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Семейное управление и капитал на протяжении поколений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Семьи и состоятельные частные лица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950" i="1" dirty="0">
                <a:solidFill>
                  <a:schemeClr val="accent3"/>
                </a:solidFill>
              </a:rPr>
              <a:t>Подходящий вид и реестр мы определяем для вас после ознакомительных вопросов на этой встрече.</a:t>
            </a:r>
            <a:endParaRPr lang="ru-RU" sz="950" dirty="0"/>
          </a:p>
        </p:txBody>
      </p:sp>
      <p:sp>
        <p:nvSpPr>
          <p:cNvPr id="6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мы работаем с вами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ПЯТЬ ШАГОВ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7680960" cy="0"/>
          </a:xfrm>
          <a:prstGeom prst="line">
            <a:avLst/>
          </a:prstGeom>
          <a:noFill/>
          <a:ln w="9525">
            <a:solidFill>
              <a:srgbClr val="D9B3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Ознакомительная встреча</a:t>
            </a:r>
            <a:endParaRPr lang="ru-RU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Мы узнаём ваше гражданство, семейное положение, активы, недвижимость, компании, детей и счета.</a:t>
            </a:r>
            <a:endParaRPr lang="ru-RU" sz="1050" dirty="0"/>
          </a:p>
        </p:txBody>
      </p:sp>
      <p:sp>
        <p:nvSpPr>
          <p:cNvPr id="9" name="Shape 7"/>
          <p:cNvSpPr/>
          <p:nvPr/>
        </p:nvSpPr>
        <p:spPr>
          <a:xfrm>
            <a:off x="2136038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136038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136038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Оценка рисков</a:t>
            </a:r>
            <a:endParaRPr lang="ru-RU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136038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Мы определяем, что вам действительно нужно: только завещание, DIFC или ADGM, корпоративное структурирование, фонд или холдинг.</a:t>
            </a:r>
            <a:endParaRPr lang="ru-RU" sz="1050" dirty="0"/>
          </a:p>
        </p:txBody>
      </p:sp>
      <p:sp>
        <p:nvSpPr>
          <p:cNvPr id="13" name="Shape 11"/>
          <p:cNvSpPr/>
          <p:nvPr/>
        </p:nvSpPr>
        <p:spPr>
          <a:xfrm>
            <a:off x="3814877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814877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814877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Предложение</a:t>
            </a:r>
            <a:endParaRPr lang="ru-RU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814877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Одно письменное предложение: объём, гонорар, сроки и стоимость регистрации.</a:t>
            </a:r>
            <a:endParaRPr lang="ru-RU" sz="1050" dirty="0"/>
          </a:p>
        </p:txBody>
      </p:sp>
      <p:sp>
        <p:nvSpPr>
          <p:cNvPr id="17" name="Shape 15"/>
          <p:cNvSpPr/>
          <p:nvPr/>
        </p:nvSpPr>
        <p:spPr>
          <a:xfrm>
            <a:off x="5493715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93715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493715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Составление</a:t>
            </a:r>
            <a:endParaRPr lang="ru-RU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93715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Завещание, перевод, свидетели и нотариальное заверение.</a:t>
            </a:r>
            <a:endParaRPr lang="ru-RU" sz="1050" dirty="0"/>
          </a:p>
        </p:txBody>
      </p:sp>
      <p:sp>
        <p:nvSpPr>
          <p:cNvPr id="21" name="Shape 19"/>
          <p:cNvSpPr/>
          <p:nvPr/>
        </p:nvSpPr>
        <p:spPr>
          <a:xfrm>
            <a:off x="7172554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72554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172554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Регистрация</a:t>
            </a:r>
            <a:endParaRPr lang="ru-RU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172554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В выбранном органе, с прямым сопровождением и доставкой вашего зарегистрированного экземпляра.</a:t>
            </a:r>
            <a:endParaRPr lang="ru-RU" sz="1050" dirty="0"/>
          </a:p>
        </p:txBody>
      </p:sp>
      <p:sp>
        <p:nvSpPr>
          <p:cNvPr id="25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нам нужно от вас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ДОКУМЕНТЫ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Passpor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Личность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950" dirty="0">
                <a:solidFill>
                  <a:schemeClr val="accent3"/>
                </a:solidFill>
              </a:rPr>
              <a:t>Паспорт, Emirates ID или резидентская виза при наличии.</a:t>
            </a:r>
            <a:endParaRPr lang="ru-RU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Hous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828800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Недвижимость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950" dirty="0">
                <a:solidFill>
                  <a:schemeClr val="accent3"/>
                </a:solidFill>
              </a:rPr>
              <a:t>Свидетельства о праве собственности или договоры купли-продажи объектов в ОАЭ.</a:t>
            </a:r>
            <a:endParaRPr lang="ru-RU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Briefcas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487168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Компании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950" dirty="0">
                <a:solidFill>
                  <a:schemeClr val="accent3"/>
                </a:solidFill>
              </a:rPr>
              <a:t>Торговые лицензии, учредительные документы и сведения о долях.</a:t>
            </a:r>
            <a:endParaRPr lang="ru-RU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BuildingColumn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145536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Счета и другие активы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950" dirty="0">
                <a:solidFill>
                  <a:schemeClr val="accent3"/>
                </a:solidFill>
              </a:rPr>
              <a:t>Список счетов и инвестиций; точные остатки не требуются.</a:t>
            </a:r>
            <a:endParaRPr lang="ru-RU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Users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80390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Семья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950" dirty="0">
                <a:solidFill>
                  <a:schemeClr val="accent3"/>
                </a:solidFill>
              </a:rPr>
              <a:t>Сведения о супруге, детях, наследниках, предполагаемых опекунах и исполнителях.</a:t>
            </a:r>
            <a:endParaRPr lang="ru-RU" sz="1300" dirty="0"/>
          </a:p>
        </p:txBody>
      </p:sp>
      <p:sp>
        <p:nvSpPr>
          <p:cNvPr id="19" name="Shape 12"/>
          <p:cNvSpPr/>
          <p:nvPr/>
        </p:nvSpPr>
        <p:spPr>
          <a:xfrm>
            <a:off x="5943600" y="1188720"/>
            <a:ext cx="2743200" cy="32461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20" name="Shape 13"/>
          <p:cNvSpPr/>
          <p:nvPr/>
        </p:nvSpPr>
        <p:spPr>
          <a:xfrm>
            <a:off x="6053328" y="1298448"/>
            <a:ext cx="2523744" cy="3026664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6263640" y="15087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Остальное берём на себя</a:t>
            </a:r>
            <a:endParaRPr lang="ru-RU" sz="1600" dirty="0"/>
          </a:p>
        </p:txBody>
      </p:sp>
      <p:sp>
        <p:nvSpPr>
          <p:cNvPr id="22" name="Text 15"/>
          <p:cNvSpPr txBox="1"/>
          <p:nvPr/>
        </p:nvSpPr>
        <p:spPr>
          <a:xfrm>
            <a:off x="6263640" y="2194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150" dirty="0">
                <a:solidFill>
                  <a:schemeClr val="bg2"/>
                </a:solidFill>
              </a:rPr>
              <a:t>Юридический перевод, координация свидетелей, нотариальное заверение, запись на регистрацию и присутствие вместе с вами.</a:t>
            </a:r>
            <a:endParaRPr lang="ru-RU" sz="1150" dirty="0"/>
          </a:p>
        </p:txBody>
      </p:sp>
      <p:sp>
        <p:nvSpPr>
          <p:cNvPr id="2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Юридический сервис уровня консьерж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ПРЕМИАЛЬНЫЙ ОПЫТ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46304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HouseUse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400" b="1" dirty="0">
                <a:solidFill>
                  <a:schemeClr val="tx1"/>
                </a:solidFill>
              </a:rPr>
              <a:t>Мы приезжаем к вам</a:t>
            </a:r>
            <a:endParaRPr lang="ru-RU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150" dirty="0">
                <a:solidFill>
                  <a:schemeClr val="accent3"/>
                </a:solidFill>
              </a:rPr>
              <a:t>В офис или домой к клиенту.</a:t>
            </a:r>
            <a:endParaRPr lang="ru-RU" sz="1400" dirty="0"/>
          </a:p>
        </p:txBody>
      </p:sp>
      <p:sp>
        <p:nvSpPr>
          <p:cNvPr id="7" name="Shape 4"/>
          <p:cNvSpPr/>
          <p:nvPr/>
        </p:nvSpPr>
        <p:spPr>
          <a:xfrm>
            <a:off x="2148840" y="1188720"/>
            <a:ext cx="146304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Crow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0008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5000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400" b="1" dirty="0">
                <a:solidFill>
                  <a:schemeClr val="tx1"/>
                </a:solidFill>
              </a:rPr>
              <a:t>VIP-сервис</a:t>
            </a:r>
            <a:endParaRPr lang="ru-RU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150" dirty="0">
                <a:solidFill>
                  <a:schemeClr val="accent3"/>
                </a:solidFill>
              </a:rPr>
              <a:t>Персональный юрист для каждого клиента.</a:t>
            </a:r>
            <a:endParaRPr lang="ru-RU" sz="1400" dirty="0"/>
          </a:p>
        </p:txBody>
      </p:sp>
      <p:sp>
        <p:nvSpPr>
          <p:cNvPr id="10" name="Shape 6"/>
          <p:cNvSpPr/>
          <p:nvPr/>
        </p:nvSpPr>
        <p:spPr>
          <a:xfrm>
            <a:off x="3840480" y="1188720"/>
            <a:ext cx="146304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Languag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1648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04164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400" b="1" dirty="0">
                <a:solidFill>
                  <a:schemeClr val="tx1"/>
                </a:solidFill>
              </a:rPr>
              <a:t>Четыре языка</a:t>
            </a:r>
            <a:endParaRPr lang="ru-RU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150" dirty="0">
                <a:solidFill>
                  <a:schemeClr val="accent3"/>
                </a:solidFill>
              </a:rPr>
              <a:t>Арабский, английский, китайский, русский.</a:t>
            </a:r>
            <a:endParaRPr lang="ru-RU" sz="1400" dirty="0"/>
          </a:p>
        </p:txBody>
      </p:sp>
      <p:sp>
        <p:nvSpPr>
          <p:cNvPr id="13" name="Shape 8"/>
          <p:cNvSpPr/>
          <p:nvPr/>
        </p:nvSpPr>
        <p:spPr>
          <a:xfrm>
            <a:off x="5532120" y="1188720"/>
            <a:ext cx="146304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ListChe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3288" y="1389888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73328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400" b="1" dirty="0">
                <a:solidFill>
                  <a:schemeClr val="tx1"/>
                </a:solidFill>
              </a:rPr>
              <a:t>Полная координация</a:t>
            </a:r>
            <a:endParaRPr lang="ru-RU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150" dirty="0">
                <a:solidFill>
                  <a:schemeClr val="accent3"/>
                </a:solidFill>
              </a:rPr>
              <a:t>Перевод, свидетели, нотариальное заверение, регистрация.</a:t>
            </a:r>
            <a:endParaRPr lang="ru-RU" sz="1400" dirty="0"/>
          </a:p>
        </p:txBody>
      </p:sp>
      <p:sp>
        <p:nvSpPr>
          <p:cNvPr id="16" name="Shape 10"/>
          <p:cNvSpPr/>
          <p:nvPr/>
        </p:nvSpPr>
        <p:spPr>
          <a:xfrm>
            <a:off x="7223760" y="1188720"/>
            <a:ext cx="146304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Bolt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4928" y="1389888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42492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400" b="1" dirty="0">
                <a:solidFill>
                  <a:schemeClr val="tx1"/>
                </a:solidFill>
              </a:rPr>
              <a:t>Ускоренная регистрация</a:t>
            </a:r>
            <a:endParaRPr lang="ru-RU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150" dirty="0">
                <a:solidFill>
                  <a:schemeClr val="accent3"/>
                </a:solidFill>
              </a:rPr>
              <a:t>Прямое взаимодействие с органами.</a:t>
            </a:r>
            <a:endParaRPr lang="ru-RU" sz="1400" dirty="0"/>
          </a:p>
        </p:txBody>
      </p:sp>
      <p:sp>
        <p:nvSpPr>
          <p:cNvPr id="1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Какой вариант подходит вам?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ОЗНАКОМИТЕЛЬНЫЕ ВОПРОСЫ</a:t>
            </a:r>
            <a:endParaRPr lang="ru-RU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430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dirty="0">
                <a:solidFill>
                  <a:schemeClr val="accent1"/>
                </a:solidFill>
              </a:rPr>
              <a:t>ВОПРОС</a:t>
            </a:r>
            <a:endParaRPr lang="ru-RU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166360" y="11430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dirty="0">
                <a:solidFill>
                  <a:schemeClr val="accent1"/>
                </a:solidFill>
              </a:rPr>
              <a:t>ВЕРОЯТНОЕ НАПРАВЛЕНИЕ</a:t>
            </a:r>
            <a:endParaRPr lang="ru-RU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8229600" cy="318734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7" name="icon FaCircleQuesti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03535"/>
            <a:ext cx="237744" cy="2377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14400" y="1463040"/>
            <a:ext cx="402336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150" dirty="0">
                <a:solidFill>
                  <a:schemeClr val="tx1"/>
                </a:solidFill>
              </a:rPr>
              <a:t>У вас есть недвижимость в ОАЭ?</a:t>
            </a:r>
            <a:endParaRPr lang="ru-RU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5166360" y="1463040"/>
            <a:ext cx="352044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100" b="1" dirty="0">
                <a:solidFill>
                  <a:schemeClr val="accent4"/>
                </a:solidFill>
              </a:rPr>
              <a:t>Завещание на недвижимость или индивидуальное</a:t>
            </a:r>
            <a:endParaRPr lang="ru-RU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1854926"/>
            <a:ext cx="8229600" cy="318734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CircleQuesti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95421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914400" y="1854926"/>
            <a:ext cx="402336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150" dirty="0">
                <a:solidFill>
                  <a:schemeClr val="tx1"/>
                </a:solidFill>
              </a:rPr>
              <a:t>У вас есть компании или доли?</a:t>
            </a:r>
            <a:endParaRPr lang="ru-RU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5166360" y="1854926"/>
            <a:ext cx="352044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100" b="1" dirty="0">
                <a:solidFill>
                  <a:schemeClr val="accent4"/>
                </a:solidFill>
              </a:rPr>
              <a:t>Завещание на бизнес или корпоративное структурирование</a:t>
            </a:r>
            <a:endParaRPr lang="ru-RU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2246811"/>
            <a:ext cx="8229600" cy="318734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5" name="icon FaCircleQuesti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287306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4400" y="2246811"/>
            <a:ext cx="402336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150" dirty="0">
                <a:solidFill>
                  <a:schemeClr val="tx1"/>
                </a:solidFill>
              </a:rPr>
              <a:t>У вас есть дети?</a:t>
            </a:r>
            <a:endParaRPr lang="ru-RU" sz="1150" dirty="0"/>
          </a:p>
        </p:txBody>
      </p:sp>
      <p:sp>
        <p:nvSpPr>
          <p:cNvPr id="17" name="Text 12"/>
          <p:cNvSpPr txBox="1"/>
          <p:nvPr/>
        </p:nvSpPr>
        <p:spPr>
          <a:xfrm>
            <a:off x="5166360" y="2246811"/>
            <a:ext cx="352044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100" b="1" dirty="0">
                <a:solidFill>
                  <a:schemeClr val="accent4"/>
                </a:solidFill>
              </a:rPr>
              <a:t>Положения об опеке, супружеские завещания</a:t>
            </a:r>
            <a:endParaRPr lang="ru-RU" sz="1100" dirty="0"/>
          </a:p>
        </p:txBody>
      </p:sp>
      <p:sp>
        <p:nvSpPr>
          <p:cNvPr id="18" name="Shape 13"/>
          <p:cNvSpPr/>
          <p:nvPr/>
        </p:nvSpPr>
        <p:spPr>
          <a:xfrm>
            <a:off x="457200" y="2638697"/>
            <a:ext cx="8229600" cy="318734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9" name="icon FaCircleQuesti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2679192"/>
            <a:ext cx="237744" cy="23774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14400" y="2638697"/>
            <a:ext cx="402336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150" dirty="0">
                <a:solidFill>
                  <a:schemeClr val="tx1"/>
                </a:solidFill>
              </a:rPr>
              <a:t>Ваши наследники находятся в ОАЭ или за рубежом?</a:t>
            </a:r>
            <a:endParaRPr lang="ru-RU" sz="1150" dirty="0"/>
          </a:p>
        </p:txBody>
      </p:sp>
      <p:sp>
        <p:nvSpPr>
          <p:cNvPr id="21" name="Text 15"/>
          <p:cNvSpPr txBox="1"/>
          <p:nvPr/>
        </p:nvSpPr>
        <p:spPr>
          <a:xfrm>
            <a:off x="5166360" y="2638697"/>
            <a:ext cx="352044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100" b="1" dirty="0">
                <a:solidFill>
                  <a:schemeClr val="accent4"/>
                </a:solidFill>
              </a:rPr>
              <a:t>Выбор реестра и применимого права</a:t>
            </a:r>
            <a:endParaRPr lang="ru-RU" sz="1100" dirty="0"/>
          </a:p>
        </p:txBody>
      </p:sp>
      <p:sp>
        <p:nvSpPr>
          <p:cNvPr id="22" name="Shape 16"/>
          <p:cNvSpPr/>
          <p:nvPr/>
        </p:nvSpPr>
        <p:spPr>
          <a:xfrm>
            <a:off x="457200" y="3030583"/>
            <a:ext cx="8229600" cy="318734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3" name="icon FaCircleQuesti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3071078"/>
            <a:ext cx="237744" cy="237744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14400" y="3030583"/>
            <a:ext cx="402336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150" dirty="0">
                <a:solidFill>
                  <a:schemeClr val="tx1"/>
                </a:solidFill>
              </a:rPr>
              <a:t>У вас есть местные банковские счета?</a:t>
            </a:r>
            <a:endParaRPr lang="ru-RU" sz="1150" dirty="0"/>
          </a:p>
        </p:txBody>
      </p:sp>
      <p:sp>
        <p:nvSpPr>
          <p:cNvPr id="25" name="Text 18"/>
          <p:cNvSpPr txBox="1"/>
          <p:nvPr/>
        </p:nvSpPr>
        <p:spPr>
          <a:xfrm>
            <a:off x="5166360" y="3030583"/>
            <a:ext cx="352044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100" b="1" dirty="0">
                <a:solidFill>
                  <a:schemeClr val="accent4"/>
                </a:solidFill>
              </a:rPr>
              <a:t>Прямо указываются в завещании</a:t>
            </a:r>
            <a:endParaRPr lang="ru-RU" sz="1100" dirty="0"/>
          </a:p>
        </p:txBody>
      </p:sp>
      <p:sp>
        <p:nvSpPr>
          <p:cNvPr id="26" name="Shape 19"/>
          <p:cNvSpPr/>
          <p:nvPr/>
        </p:nvSpPr>
        <p:spPr>
          <a:xfrm>
            <a:off x="457200" y="3422469"/>
            <a:ext cx="8229600" cy="318734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7" name="icon FaCircleQuesti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" y="3462963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14400" y="3422469"/>
            <a:ext cx="402336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150" dirty="0">
                <a:solidFill>
                  <a:schemeClr val="tx1"/>
                </a:solidFill>
              </a:rPr>
              <a:t>У вас есть активы более чем в одной стране?</a:t>
            </a:r>
            <a:endParaRPr lang="ru-RU" sz="1150" dirty="0"/>
          </a:p>
        </p:txBody>
      </p:sp>
      <p:sp>
        <p:nvSpPr>
          <p:cNvPr id="29" name="Text 21"/>
          <p:cNvSpPr txBox="1"/>
          <p:nvPr/>
        </p:nvSpPr>
        <p:spPr>
          <a:xfrm>
            <a:off x="5166360" y="3422469"/>
            <a:ext cx="352044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100" b="1" dirty="0">
                <a:solidFill>
                  <a:schemeClr val="accent4"/>
                </a:solidFill>
              </a:rPr>
              <a:t>Фонд, траст или холдинговая компания</a:t>
            </a:r>
            <a:endParaRPr lang="ru-RU" sz="1100" dirty="0"/>
          </a:p>
        </p:txBody>
      </p:sp>
      <p:sp>
        <p:nvSpPr>
          <p:cNvPr id="30" name="Shape 22"/>
          <p:cNvSpPr/>
          <p:nvPr/>
        </p:nvSpPr>
        <p:spPr>
          <a:xfrm>
            <a:off x="457200" y="3814354"/>
            <a:ext cx="8229600" cy="318734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31" name="icon FaCircleQuesti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" y="3854849"/>
            <a:ext cx="237744" cy="237744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914400" y="3814354"/>
            <a:ext cx="402336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150" dirty="0">
                <a:solidFill>
                  <a:schemeClr val="tx1"/>
                </a:solidFill>
              </a:rPr>
              <a:t>Право вашей страны или иная структура?</a:t>
            </a:r>
            <a:endParaRPr lang="ru-RU" sz="1150" dirty="0"/>
          </a:p>
        </p:txBody>
      </p:sp>
      <p:sp>
        <p:nvSpPr>
          <p:cNvPr id="33" name="Text 24"/>
          <p:cNvSpPr txBox="1"/>
          <p:nvPr/>
        </p:nvSpPr>
        <p:spPr>
          <a:xfrm>
            <a:off x="5166360" y="3814354"/>
            <a:ext cx="352044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100" b="1" dirty="0">
                <a:solidFill>
                  <a:schemeClr val="accent4"/>
                </a:solidFill>
              </a:rPr>
              <a:t>DIFC, ADGM или местные суды</a:t>
            </a:r>
            <a:endParaRPr lang="ru-RU" sz="1100" dirty="0"/>
          </a:p>
        </p:txBody>
      </p:sp>
      <p:sp>
        <p:nvSpPr>
          <p:cNvPr id="34" name="Text 25"/>
          <p:cNvSpPr txBox="1"/>
          <p:nvPr/>
        </p:nvSpPr>
        <p:spPr>
          <a:xfrm>
            <a:off x="457200" y="43159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950" i="1" dirty="0">
                <a:solidFill>
                  <a:schemeClr val="accent3"/>
                </a:solidFill>
              </a:rPr>
              <a:t>В конце встречи мы рекомендуем один понятный вариант и отправляем ваше предложение в течение 48 часов.</a:t>
            </a:r>
            <a:endParaRPr lang="ru-RU" sz="950" dirty="0"/>
          </a:p>
        </p:txBody>
      </p:sp>
      <p:sp>
        <p:nvSpPr>
          <p:cNvPr id="35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Вопросы, которые часто задают наши клиенты</a:t>
            </a:r>
            <a:endParaRPr lang="ru-RU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FAQ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CircleQuesti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Могу ли я отложить это на потом?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Да, но большинство клиентов оформляют это сразу после покупки, пока процедуры проще всего и документы под рукой.</a:t>
            </a:r>
            <a:endParaRPr lang="ru-RU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CircleQuesti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828800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Охватывает ли завещание мои активы за пределами ОАЭ?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Мы составляем завещание для ваших активов в ОАЭ и согласуем его с любым завещанием в вашей стране.</a:t>
            </a:r>
            <a:endParaRPr lang="ru-RU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CircleQuesti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487168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На каком языке составляется завещание?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В зависимости от реестра: английский или арабский с заверенным юридическим переводом.</a:t>
            </a:r>
            <a:endParaRPr lang="ru-RU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CircleQuesti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145536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Могу ли я изменить его позже?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Да. Оно обновляется при изменении ваших активов или семьи, и мы сопровождаем это вместе с вами.</a:t>
            </a:r>
            <a:endParaRPr lang="ru-RU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CircleQuesti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803904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Сколько это занимает времени?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В предложении указаны точные сроки в зависимости от реестра и вида услуги.</a:t>
            </a:r>
            <a:endParaRPr lang="ru-RU" sz="1300" dirty="0"/>
          </a:p>
        </p:txBody>
      </p:sp>
      <p:sp>
        <p:nvSpPr>
          <p:cNvPr id="1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После завещания: юридические отношения на всю жизнь</a:t>
            </a:r>
            <a:endParaRPr lang="ru-RU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ВАШ ЮРИДИЧЕСКИЙ ПАРТНЁР В ОАЭ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291840" cy="32461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pic>
        <p:nvPicPr>
          <p:cNvPr id="5" name="icon FaInfinity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087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103120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Один юрист для всех ваших задач</a:t>
            </a:r>
            <a:endParaRPr lang="ru-RU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862072"/>
            <a:ext cx="26517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100" dirty="0">
                <a:solidFill>
                  <a:schemeClr val="bg2"/>
                </a:solidFill>
              </a:rPr>
              <a:t>Одна команда, знающая вашу ситуацию и активы, рядом с вами на каждом будущем инвестиционном или семейном шаге.</a:t>
            </a:r>
            <a:endParaRPr lang="ru-RU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023360" y="1188720"/>
            <a:ext cx="46634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ru-RU" altLang="en-US" sz="1250" dirty="0">
                <a:solidFill>
                  <a:schemeClr val="tx1"/>
                </a:solidFill>
              </a:rPr>
              <a:t>Передача собственности и регистрация недвижимости</a:t>
            </a:r>
            <a:endParaRPr lang="ru-RU" sz="125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ru-RU" altLang="en-US" sz="1250" dirty="0">
                <a:solidFill>
                  <a:schemeClr val="tx1"/>
                </a:solidFill>
              </a:rPr>
              <a:t>Регистрация компаний и налоговое структурирование</a:t>
            </a:r>
            <a:endParaRPr lang="ru-RU" sz="125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ru-RU" altLang="en-US" sz="1250" dirty="0">
                <a:solidFill>
                  <a:schemeClr val="tx1"/>
                </a:solidFill>
              </a:rPr>
              <a:t>Семейный офис, фонды и трасты</a:t>
            </a:r>
            <a:endParaRPr lang="ru-RU" sz="125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ru-RU" altLang="en-US" sz="1250" dirty="0">
                <a:solidFill>
                  <a:schemeClr val="tx1"/>
                </a:solidFill>
              </a:rPr>
              <a:t>Договоры, инвестиции и партнёрства</a:t>
            </a:r>
            <a:endParaRPr lang="ru-RU" sz="125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ru-RU" altLang="en-US" sz="1250" dirty="0">
                <a:solidFill>
                  <a:schemeClr val="tx1"/>
                </a:solidFill>
              </a:rPr>
              <a:t>Представительство в любом споре в судах и арбитраже</a:t>
            </a:r>
            <a:endParaRPr lang="ru-RU" sz="1250" dirty="0"/>
          </a:p>
        </p:txBody>
      </p:sp>
      <p:sp>
        <p:nvSpPr>
          <p:cNvPr id="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02336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640080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463040"/>
            <a:ext cx="7315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2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Завещание — о смерти; защита активов — об инвестициях и безопасности. То, что мы оформляем сегодня, защищает созданное вами и тех, кого вы любите.</a:t>
            </a:r>
            <a:endParaRPr lang="ru-RU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566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2"/>
                </a:solidFill>
              </a:rPr>
              <a:t>Rashid Alkaitoob Advocates &amp; Legal Consultants</a:t>
            </a:r>
            <a:endParaRPr lang="ru-RU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68680" y="77724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Ваш следующий шаг</a:t>
            </a:r>
            <a:endParaRPr lang="ru-RU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15544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accent2"/>
                </a:solidFill>
              </a:rPr>
              <a:t>Мы отправляем ваше предложение в течение 48 часов и назначаем составление и регистрацию в удобное для вас время</a:t>
            </a:r>
            <a:endParaRPr lang="ru-RU" sz="1300" dirty="0"/>
          </a:p>
        </p:txBody>
      </p:sp>
      <p:pic>
        <p:nvPicPr>
          <p:cNvPr id="5" name="icon FaLocationDo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860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22402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2"/>
                </a:solidFill>
              </a:rPr>
              <a:t>Шейх Зайед Роуд, Saeed Tower 2, офис 501, Дубай, ОАЭ</a:t>
            </a:r>
            <a:endParaRPr lang="ru-RU" sz="1200" dirty="0"/>
          </a:p>
        </p:txBody>
      </p:sp>
      <p:pic>
        <p:nvPicPr>
          <p:cNvPr id="7" name="icon FaPh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78892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7432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2"/>
                </a:solidFill>
              </a:rPr>
              <a:t>+971 4 359 5552  |  Моб. и WhatsApp: +971 52 107 4972</a:t>
            </a:r>
            <a:endParaRPr lang="ru-RU" sz="1200" dirty="0"/>
          </a:p>
        </p:txBody>
      </p:sp>
      <p:pic>
        <p:nvPicPr>
          <p:cNvPr id="9" name="icon FaEnvelop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291840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25880" y="32461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2"/>
                </a:solidFill>
              </a:rPr>
              <a:t>ward.shueibi@rk-advocates.com  |  rk-advocates.com</a:t>
            </a:r>
            <a:endParaRPr lang="ru-RU" sz="1200" dirty="0"/>
          </a:p>
        </p:txBody>
      </p:sp>
      <p:pic>
        <p:nvPicPr>
          <p:cNvPr id="11" name="icon FaClo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9476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325880" y="3749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2"/>
                </a:solidFill>
              </a:rPr>
              <a:t>Пн – Пт, 8:30 – 17:30  |  Арабский · Английский · Китайский · Русский</a:t>
            </a:r>
            <a:endParaRPr lang="ru-RU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dnight Copper">
  <a:themeElements>
    <a:clrScheme name="Midnight Copper">
      <a:dk1>
        <a:srgbClr val="0E2238"/>
      </a:dk1>
      <a:lt1>
        <a:srgbClr val="FFFFFF"/>
      </a:lt1>
      <a:dk2>
        <a:srgbClr val="1F3A52"/>
      </a:dk2>
      <a:lt2>
        <a:srgbClr val="F4F1EB"/>
      </a:lt2>
      <a:accent1>
        <a:srgbClr val="B5723B"/>
      </a:accent1>
      <a:accent2>
        <a:srgbClr val="D9B38C"/>
      </a:accent2>
      <a:accent3>
        <a:srgbClr val="6E7B88"/>
      </a:accent3>
      <a:accent4>
        <a:srgbClr val="8C5527"/>
      </a:accent4>
      <a:accent5>
        <a:srgbClr val="E6E1D8"/>
      </a:accent5>
      <a:accent6>
        <a:srgbClr val="5B7A8C"/>
      </a:accent6>
      <a:hlink>
        <a:srgbClr val="B5723B"/>
      </a:hlink>
      <a:folHlink>
        <a:srgbClr val="8C5527"/>
      </a:folHlink>
    </a:clrScheme>
    <a:fontScheme name="Midnight Copp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Rashid Alkaitoob Advocates &amp; Legal Consultants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Защита ваших активов и семьи в ОАЭ</dc:title>
  <dc:subject>PptxGenJS Presentation</dc:subject>
  <dc:creator>Rashid Alkaitoob Advocates &amp; Legal Consultants</dc:creator>
  <cp:lastModifiedBy>Rashid Alkaitoob Advocates &amp; Legal Consultants</cp:lastModifiedBy>
  <cp:revision>1</cp:revision>
  <dcterms:created xsi:type="dcterms:W3CDTF">2026-10-27T14:33:27Z</dcterms:created>
  <dcterms:modified xsi:type="dcterms:W3CDTF">2026-10-27T14:33:27Z</dcterms:modified>
</cp:coreProperties>
</file>