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Добро пожаловать" id="{33c80791-2ff0-21af-c00d-af0064cbfa1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pic>
        <p:nvPicPr>
          <p:cNvPr id="3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4021000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 ваших активов и семьи в ОАЭ</a:t>
            </a:r>
            <a:endParaRPr lang="ru-RU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chemeClr val="accent2"/>
                </a:solidFill>
              </a:rPr>
              <a:t>Введение в варианты правового планирования для инвесторов и владельцев недвижимости</a:t>
            </a:r>
            <a:endParaRPr lang="ru-RU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Rashid Alkaitoob Advocates &amp; Legal Consultants · Дубай</a:t>
            </a:r>
            <a:endParaRPr lang="ru-RU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Добро пожаловать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СПАСИБО ЗА ВАШЕ ВРЕМЯ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pic>
        <p:nvPicPr>
          <p:cNvPr id="5" name="icon FaHandshak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03120"/>
            <a:ext cx="2651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Рады знакомству через нашего партнёра по недвижимости</a:t>
            </a:r>
            <a:endParaRPr lang="ru-RU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26664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chemeClr val="bg2"/>
                </a:solidFill>
              </a:rPr>
              <a:t>Наша команда специализируется на завещаниях, наследственном планировании и защите активов для иностранных инвесторов и владельцев недвижимости в ОАЭ.</a:t>
            </a:r>
            <a:endParaRPr lang="ru-RU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1887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•"/>
            </a:pPr>
            <a:r>
              <a:rPr lang="ru-RU" altLang="en-US" sz="1300" b="1" dirty="0">
                <a:solidFill>
                  <a:schemeClr val="tx1"/>
                </a:solidFill>
              </a:rPr>
              <a:t>Что вы получите от этой встречи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Ясную картину того, что происходит с вашими активами в ОАЭ, доступные варианты и подходящий именно вам.</a:t>
            </a:r>
            <a:endParaRPr lang="ru-RU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ru-RU" altLang="en-US" sz="1300" b="1" dirty="0">
                <a:solidFill>
                  <a:schemeClr val="tx1"/>
                </a:solidFill>
              </a:rPr>
              <a:t>Без обязательств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Эта первая консультация бесплатна. Затем вы получаете одно письменное предложение со всеми расходами.</a:t>
            </a:r>
            <a:endParaRPr lang="ru-RU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ru-RU" altLang="en-US" sz="1300" b="1" dirty="0">
                <a:solidFill>
                  <a:schemeClr val="tx1"/>
                </a:solidFill>
              </a:rPr>
              <a:t>На вашем языке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Арабский, английский, китайский, русский.</a:t>
            </a:r>
            <a:endParaRPr lang="ru-RU" sz="1300" dirty="0"/>
          </a:p>
        </p:txBody>
      </p:sp>
      <p:sp>
        <p:nvSpPr>
          <p:cNvPr id="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мы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RASHID ALKAITOOB ADVOCATES &amp; LEGAL CONSULTANTS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BuildingColumn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Лицензия с 2014 года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Лицензированная в ОАЭ юридическая фирма на Шейх Зайед Роуд, Дубай, представляющая частных лиц и компании в судах всех инстанций.</a:t>
            </a:r>
            <a:endParaRPr lang="ru-RU" sz="1250" dirty="0"/>
          </a:p>
        </p:txBody>
      </p:sp>
      <p:sp>
        <p:nvSpPr>
          <p:cNvPr id="7" name="Shape 4"/>
          <p:cNvSpPr/>
          <p:nvPr/>
        </p:nvSpPr>
        <p:spPr>
          <a:xfrm>
            <a:off x="32766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ScaleBalance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76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77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Более 10 направлений практики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Недвижимость, корпоративное право, арбитраж, семейное и наследственное право, комплаенс ПОД/ФТ, интеллектуальная собственность и другое.</a:t>
            </a:r>
            <a:endParaRPr lang="ru-RU" sz="1250" dirty="0"/>
          </a:p>
        </p:txBody>
      </p:sp>
      <p:sp>
        <p:nvSpPr>
          <p:cNvPr id="10" name="Shape 6"/>
          <p:cNvSpPr/>
          <p:nvPr/>
        </p:nvSpPr>
        <p:spPr>
          <a:xfrm>
            <a:off x="60960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Glob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971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Региональный и международный охват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Устойчивое присутствие в странах Залива и Азии, отдельный китайский отдел для инвесторов.</a:t>
            </a:r>
            <a:endParaRPr lang="ru-RU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Languag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12724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583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Четыре рабочих языка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Арабский, английский, китайский и русский: каждый клиент общается со своим юристом напрямую.</a:t>
            </a:r>
            <a:endParaRPr lang="ru-RU" sz="1250" dirty="0"/>
          </a:p>
        </p:txBody>
      </p:sp>
      <p:sp>
        <p:nvSpPr>
          <p:cNvPr id="16" name="Shape 10"/>
          <p:cNvSpPr/>
          <p:nvPr/>
        </p:nvSpPr>
        <p:spPr>
          <a:xfrm>
            <a:off x="32766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Handshak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7768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4777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Сначала мирное урегулирование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Где это возможно, мы ведём переговоры и медиацию до суда, чтобы получить лучший результат с наименьшими затратами.</a:t>
            </a:r>
            <a:endParaRPr lang="ru-RU" sz="1250" dirty="0"/>
          </a:p>
        </p:txBody>
      </p:sp>
      <p:sp>
        <p:nvSpPr>
          <p:cNvPr id="19" name="Shape 12"/>
          <p:cNvSpPr/>
          <p:nvPr/>
        </p:nvSpPr>
        <p:spPr>
          <a:xfrm>
            <a:off x="60960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UserShield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168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2971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Ориентация на клиента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Понятная коммуникация, регулярные обновления и практичные решения под каждое дело.</a:t>
            </a:r>
            <a:endParaRPr lang="ru-RU" sz="125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это важно для вас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БЕЗ ПЛАНИРОВАНИЯ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Банковские счета могут быть заморожены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До выдачи приказа о распределении наследства, что останавливает ежедневные расходы семьи.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99339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Передача недвижимости может задержаться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Процедуры различаются в зависимости от гражданства, религии и семейного положения.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hildr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81635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Дети и наследники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Без документа нет назначенного опекуна для несовершеннолетних и ясного порядка для наследников на родине или за рубежом.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PeopleArrow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63931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Семейные споры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Отсутствие ясности провоцирует конфликт в самое трудное время.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2636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Вот почему инвесторы планируют заранее</a:t>
            </a:r>
            <a:endParaRPr lang="ru-RU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2636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bg2"/>
                </a:solidFill>
              </a:rPr>
              <a:t>Простое решение сегодня защищает ваши инвестиции и семью и упрощает процедуры благодаря готовым документам.</a:t>
            </a:r>
            <a:endParaRPr lang="ru-RU" sz="1150" dirty="0"/>
          </a:p>
        </p:txBody>
      </p:sp>
      <p:sp>
        <p:nvSpPr>
          <p:cNvPr id="2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планированием и без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СРАВНЕНИЕ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accent2"/>
                </a:solidFill>
              </a:rPr>
              <a:t>Без завещания или структуры</a:t>
            </a:r>
            <a:endParaRPr lang="ru-RU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Юридические процедуры, различающиеся по ситуации и гражданству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Возможная заморозка счетов и недвижимости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Больше времени и расходов для наследников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Нет назначенного опекуна для детей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Возможные споры между наследниками</a:t>
            </a:r>
            <a:endParaRPr lang="ru-RU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 зарегистрированным завещанием и правильной структурой</a:t>
            </a:r>
            <a:endParaRPr lang="ru-RU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Чёткий порядок передачи собственности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Защищённые счета, недвижимость и компании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Назначенный опекун и определённые доли для детей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Предпочитаемое вами право или выбранная вами структура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Спокойствие для вас и вашей семьи</a:t>
            </a:r>
            <a:endParaRPr lang="ru-RU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можем защитить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ОБЪЁМ ЗАЩИТЫ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Hou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Недвижимость в ОАЭ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Жилые, коммерческие и строящиеся объекты.</a:t>
            </a:r>
            <a:endParaRPr lang="ru-RU" sz="1250" dirty="0"/>
          </a:p>
        </p:txBody>
      </p:sp>
      <p:sp>
        <p:nvSpPr>
          <p:cNvPr id="7" name="Shape 4"/>
          <p:cNvSpPr/>
          <p:nvPr/>
        </p:nvSpPr>
        <p:spPr>
          <a:xfrm>
            <a:off x="32766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Briefc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76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77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Компании и доли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Непрерывность бизнеса и передача долей.</a:t>
            </a:r>
            <a:endParaRPr lang="ru-RU" sz="1250" dirty="0"/>
          </a:p>
        </p:txBody>
      </p:sp>
      <p:sp>
        <p:nvSpPr>
          <p:cNvPr id="10" name="Shape 6"/>
          <p:cNvSpPr/>
          <p:nvPr/>
        </p:nvSpPr>
        <p:spPr>
          <a:xfrm>
            <a:off x="60960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BuildingColumn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971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Банковские счета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Кто и как их получает.</a:t>
            </a:r>
            <a:endParaRPr lang="ru-RU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hildre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12724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583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Дети и опека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Назначение опекуна, которому вы доверяете, для несовершеннолетних.</a:t>
            </a:r>
            <a:endParaRPr lang="ru-RU" sz="1250" dirty="0"/>
          </a:p>
        </p:txBody>
      </p:sp>
      <p:sp>
        <p:nvSpPr>
          <p:cNvPr id="16" name="Shape 10"/>
          <p:cNvSpPr/>
          <p:nvPr/>
        </p:nvSpPr>
        <p:spPr>
          <a:xfrm>
            <a:off x="32766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Glob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7768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4777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Наследники в ОАЭ и за рубежом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Согласование с любым завещанием в вашей стране.</a:t>
            </a:r>
            <a:endParaRPr lang="ru-RU" sz="1250" dirty="0"/>
          </a:p>
        </p:txBody>
      </p:sp>
      <p:sp>
        <p:nvSpPr>
          <p:cNvPr id="19" name="Shape 12"/>
          <p:cNvSpPr/>
          <p:nvPr/>
        </p:nvSpPr>
        <p:spPr>
          <a:xfrm>
            <a:off x="60960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LayerGroup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168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2971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Активы более чем в одной стране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Холдинговые структуры, фонды или трасты.</a:t>
            </a:r>
            <a:endParaRPr lang="ru-RU" sz="125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регистрируются завещания в ОАЭ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ПРАВОВАЯ БАЗА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and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Суды Дубая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Регистрация завещаний немусульман в судах Дубая по правилам личного статуса немусульман.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Land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Суды Абу-Даби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Регистрация в Судебном департаменте Абу-Даби для клиентов, предпочитающих этот путь.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BuildingColumn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Завещания DIFC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Реестр завещаний DIFC для немусульман, на английском языке, охватывает активы в ОАЭ.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uildingColumn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Завещания ADGM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Реестр завещаний ADGM для немусульман, альтернативный англоязычный путь.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caleBalance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Шариат или иностранное право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Применимое право определяем по гражданству, религии и пожеланиям клиента.</a:t>
            </a:r>
            <a:endParaRPr lang="ru-RU" sz="1300" dirty="0"/>
          </a:p>
        </p:txBody>
      </p:sp>
      <p:sp>
        <p:nvSpPr>
          <p:cNvPr id="19" name="Shape 12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2636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Каждый клиент — отдельный случай</a:t>
            </a:r>
            <a:endParaRPr lang="ru-RU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62636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bg2"/>
                </a:solidFill>
              </a:rPr>
              <a:t>Гражданство, религия, семейное положение и местонахождение активов определяют правильный путь. Поэтому мы всегда начинаем с ознакомительной встречи, а не с типа завещания.</a:t>
            </a:r>
            <a:endParaRPr lang="ru-RU" sz="1150" dirty="0"/>
          </a:p>
        </p:txBody>
      </p:sp>
      <p:sp>
        <p:nvSpPr>
          <p:cNvPr id="2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Виды услуг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ВАРИАНТЫ</a:t>
            </a:r>
            <a:endParaRPr lang="ru-RU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28346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Вид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Что охватывает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Кому подходит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Индивидуальное завещание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Ваши активы в ОАЭ, опекуны и исполнители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Любой инвестор или резидент с активами в ОАЭ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Супружеские (зеркальные) завещания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Два согласованных завещания для супругов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Супружеские пары, особенно с детьми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Завещание на недвижимость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Только недвижимость в ОАЭ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Инвестор в недвижимость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Завещание на бизнес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Доли в компаниях и непрерывность бизнеса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Владельцы компаний и партнёры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Корпоративное структурирование / холдинг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Холдинг или SPV, связанные с планом наследования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Крупные портфели и активы в нескольких странах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Фонд или траст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Семейное управление и капитал на протяжении поколений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Семьи и состоятельные частные лица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50" i="1" dirty="0">
                <a:solidFill>
                  <a:schemeClr val="accent3"/>
                </a:solidFill>
              </a:rPr>
              <a:t>Подходящий вид и реестр мы определяем для вас после ознакомительных вопросов на этой встрече.</a:t>
            </a:r>
            <a:endParaRPr lang="ru-RU" sz="95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мы работаем с вами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ПЯТЬ ШАГОВ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Ознакомительная встреча</a:t>
            </a:r>
            <a:endParaRPr lang="ru-RU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Мы узнаём ваше гражданство, семейное положение, активы, недвижимость, компании, детей и счета.</a:t>
            </a:r>
            <a:endParaRPr lang="ru-RU" sz="1050" dirty="0"/>
          </a:p>
        </p:txBody>
      </p:sp>
      <p:sp>
        <p:nvSpPr>
          <p:cNvPr id="9" name="Shape 7"/>
          <p:cNvSpPr/>
          <p:nvPr/>
        </p:nvSpPr>
        <p:spPr>
          <a:xfrm>
            <a:off x="213603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603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36038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Оценка рисков</a:t>
            </a:r>
            <a:endParaRPr lang="ru-RU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36038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Мы определяем, что вам действительно нужно: только завещание, DIFC или ADGM, корпоративное структурирование, фонд или холдинг.</a:t>
            </a:r>
            <a:endParaRPr lang="ru-RU" sz="1050" dirty="0"/>
          </a:p>
        </p:txBody>
      </p:sp>
      <p:sp>
        <p:nvSpPr>
          <p:cNvPr id="13" name="Shape 11"/>
          <p:cNvSpPr/>
          <p:nvPr/>
        </p:nvSpPr>
        <p:spPr>
          <a:xfrm>
            <a:off x="3814877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14877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14877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Предложение</a:t>
            </a:r>
            <a:endParaRPr lang="ru-RU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14877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Одно письменное предложение: объём, гонорар, сроки и стоимость регистрации.</a:t>
            </a:r>
            <a:endParaRPr lang="ru-RU" sz="1050" dirty="0"/>
          </a:p>
        </p:txBody>
      </p:sp>
      <p:sp>
        <p:nvSpPr>
          <p:cNvPr id="17" name="Shape 15"/>
          <p:cNvSpPr/>
          <p:nvPr/>
        </p:nvSpPr>
        <p:spPr>
          <a:xfrm>
            <a:off x="5493715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93715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93715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Составление</a:t>
            </a:r>
            <a:endParaRPr lang="ru-RU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93715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Завещание, перевод, свидетели и нотариальное заверение.</a:t>
            </a:r>
            <a:endParaRPr lang="ru-RU" sz="1050" dirty="0"/>
          </a:p>
        </p:txBody>
      </p:sp>
      <p:sp>
        <p:nvSpPr>
          <p:cNvPr id="21" name="Shape 19"/>
          <p:cNvSpPr/>
          <p:nvPr/>
        </p:nvSpPr>
        <p:spPr>
          <a:xfrm>
            <a:off x="717255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255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2554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Регистрация</a:t>
            </a:r>
            <a:endParaRPr lang="ru-RU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72554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В выбранном органе, с прямым сопровождением и доставкой вашего зарегистрированного экземпляра.</a:t>
            </a:r>
            <a:endParaRPr lang="ru-RU" sz="1050" dirty="0"/>
          </a:p>
        </p:txBody>
      </p:sp>
      <p:sp>
        <p:nvSpPr>
          <p:cNvPr id="25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нам нужно от вас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ДОКУМЕНТЫ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Passpor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Личность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Паспорт, Emirates ID или резидентская виза при наличии.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Недвижимость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Свидетельства о праве собственности или договоры купли-продажи объектов в ОАЭ.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Briefca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Компании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Торговые лицензии, учредительные документы и сведения о долях.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uildingColumn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Счета и другие активы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Список счетов и инвестиций; точные остатки не требуются.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User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Семья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Сведения о супруге, детях, наследниках, предполагаемых опекунах и исполнителях.</a:t>
            </a:r>
            <a:endParaRPr lang="ru-RU" sz="1300" dirty="0"/>
          </a:p>
        </p:txBody>
      </p:sp>
      <p:sp>
        <p:nvSpPr>
          <p:cNvPr id="19" name="Shape 12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2636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Остальное берём на себя</a:t>
            </a:r>
            <a:endParaRPr lang="ru-RU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62636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bg2"/>
                </a:solidFill>
              </a:rPr>
              <a:t>Юридический перевод, координация свидетелей, нотариальное заверение, запись на регистрацию и присутствие вместе с вами.</a:t>
            </a:r>
            <a:endParaRPr lang="ru-RU" sz="1150" dirty="0"/>
          </a:p>
        </p:txBody>
      </p:sp>
      <p:sp>
        <p:nvSpPr>
          <p:cNvPr id="2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Юридический сервис уровня консьерж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ПРЕМИАЛЬНЫЙ ОПЫТ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House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Мы приезжаем к вам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В офис или домой к клиенту.</a:t>
            </a:r>
            <a:endParaRPr lang="ru-RU" sz="1400" dirty="0"/>
          </a:p>
        </p:txBody>
      </p:sp>
      <p:sp>
        <p:nvSpPr>
          <p:cNvPr id="7" name="Shape 4"/>
          <p:cNvSpPr/>
          <p:nvPr/>
        </p:nvSpPr>
        <p:spPr>
          <a:xfrm>
            <a:off x="214884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r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5000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VIP-сервис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Персональный юрист для каждого клиента.</a:t>
            </a:r>
            <a:endParaRPr lang="ru-RU" sz="1400" dirty="0"/>
          </a:p>
        </p:txBody>
      </p:sp>
      <p:sp>
        <p:nvSpPr>
          <p:cNvPr id="10" name="Shape 6"/>
          <p:cNvSpPr/>
          <p:nvPr/>
        </p:nvSpPr>
        <p:spPr>
          <a:xfrm>
            <a:off x="384048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anguag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4164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Четыре языка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Арабский, английский, китайский, русский.</a:t>
            </a:r>
            <a:endParaRPr lang="ru-RU" sz="1400" dirty="0"/>
          </a:p>
        </p:txBody>
      </p:sp>
      <p:sp>
        <p:nvSpPr>
          <p:cNvPr id="13" name="Shape 8"/>
          <p:cNvSpPr/>
          <p:nvPr/>
        </p:nvSpPr>
        <p:spPr>
          <a:xfrm>
            <a:off x="553212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List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3328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Полная координация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Перевод, свидетели, нотариальное заверение, регистрация.</a:t>
            </a:r>
            <a:endParaRPr lang="ru-RU" sz="1400" dirty="0"/>
          </a:p>
        </p:txBody>
      </p:sp>
      <p:sp>
        <p:nvSpPr>
          <p:cNvPr id="16" name="Shape 10"/>
          <p:cNvSpPr/>
          <p:nvPr/>
        </p:nvSpPr>
        <p:spPr>
          <a:xfrm>
            <a:off x="722376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Bol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138988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42492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Ускоренная регистрация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Прямое взаимодействие с органами.</a:t>
            </a:r>
            <a:endParaRPr lang="ru-RU" sz="14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Какой вариант подходит вам?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ОЗНАКОМИТЕЛЬНЫЕ ВОПРОСЫ</a:t>
            </a:r>
            <a:endParaRPr lang="ru-RU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chemeClr val="accent1"/>
                </a:solidFill>
              </a:rPr>
              <a:t>ВОПРОС</a:t>
            </a:r>
            <a:endParaRPr lang="ru-RU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166360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chemeClr val="accent1"/>
                </a:solidFill>
              </a:rPr>
              <a:t>ВЕРОЯТНОЕ НАПРАВЛЕНИЕ</a:t>
            </a:r>
            <a:endParaRPr lang="ru-RU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318734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7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03535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1463040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У вас есть недвижимость в ОАЭ?</a:t>
            </a:r>
            <a:endParaRPr lang="ru-RU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166360" y="1463040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Завещание на недвижимость или индивидуальное</a:t>
            </a:r>
            <a:endParaRPr lang="ru-RU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854926"/>
            <a:ext cx="8229600" cy="318734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ircleQues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95421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1854926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У вас есть компании или доли?</a:t>
            </a:r>
            <a:endParaRPr lang="ru-RU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5166360" y="1854926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Завещание на бизнес или корпоративное структурирование</a:t>
            </a:r>
            <a:endParaRPr lang="ru-RU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246811"/>
            <a:ext cx="8229600" cy="318734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5" name="icon FaCircleQues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8730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" y="2246811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У вас есть дети?</a:t>
            </a:r>
            <a:endParaRPr lang="ru-RU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5166360" y="2246811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Положения об опеке, супружеские завещания</a:t>
            </a:r>
            <a:endParaRPr lang="ru-RU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638697"/>
            <a:ext cx="8229600" cy="318734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9" name="icon FaCircleQues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67919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4400" y="2638697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Ваши наследники находятся в ОАЭ или за рубежом?</a:t>
            </a:r>
            <a:endParaRPr lang="ru-RU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66360" y="2638697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Выбор реестра и применимого права</a:t>
            </a:r>
            <a:endParaRPr lang="ru-RU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030583"/>
            <a:ext cx="8229600" cy="318734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3" name="icon FaCircleQues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07107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4400" y="3030583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У вас есть местные банковские счета?</a:t>
            </a:r>
            <a:endParaRPr lang="ru-RU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5166360" y="3030583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Прямо указываются в завещании</a:t>
            </a:r>
            <a:endParaRPr lang="ru-RU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3422469"/>
            <a:ext cx="8229600" cy="318734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7" name="icon FaCircleQuesti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62963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14400" y="3422469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У вас есть активы более чем в одной стране?</a:t>
            </a:r>
            <a:endParaRPr lang="ru-RU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5166360" y="3422469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Фонд, траст или холдинговая компания</a:t>
            </a:r>
            <a:endParaRPr lang="ru-RU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3814354"/>
            <a:ext cx="8229600" cy="318734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31" name="icon FaCircleQuesti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854849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14400" y="3814354"/>
            <a:ext cx="402336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Право вашей страны или иная структура?</a:t>
            </a:r>
            <a:endParaRPr lang="ru-RU" sz="1150" dirty="0"/>
          </a:p>
        </p:txBody>
      </p:sp>
      <p:sp>
        <p:nvSpPr>
          <p:cNvPr id="33" name="Text 24"/>
          <p:cNvSpPr txBox="1"/>
          <p:nvPr/>
        </p:nvSpPr>
        <p:spPr>
          <a:xfrm>
            <a:off x="5166360" y="3814354"/>
            <a:ext cx="3520440" cy="318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DIFC, ADGM или местные суды</a:t>
            </a:r>
            <a:endParaRPr lang="ru-RU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50" i="1" dirty="0">
                <a:solidFill>
                  <a:schemeClr val="accent3"/>
                </a:solidFill>
              </a:rPr>
              <a:t>В конце встречи мы рекомендуем один понятный вариант и отправляем ваше предложение в течение 48 часов.</a:t>
            </a:r>
            <a:endParaRPr lang="ru-RU" sz="950" dirty="0"/>
          </a:p>
        </p:txBody>
      </p:sp>
      <p:sp>
        <p:nvSpPr>
          <p:cNvPr id="35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Вопросы, которые часто задают наши клиенты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FAQ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Могу ли я отложить это на потом?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Да, но большинство клиентов оформляют это сразу после покупки, пока процедуры проще всего и документы под рукой.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ircleQues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Охватывает ли завещание мои активы за пределами ОАЭ?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Мы составляем завещание для ваших активов в ОАЭ и согласуем его с любым завещанием в вашей стране.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ircleQues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На каком языке составляется завещание?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В зависимости от реестра: английский или арабский с заверенным юридическим переводом.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ircleQues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Могу ли я изменить его позже?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Да. Оно обновляется при изменении ваших активов или семьи, и мы сопровождаем это вместе с вами.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CircleQues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Сколько это занимает времени?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В предложении указаны точные сроки в зависимости от реестра и вида услуги.</a:t>
            </a:r>
            <a:endParaRPr lang="ru-RU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завещания: юридические отношения на всю жизнь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ВАШ ЮРИДИЧЕСКИЙ ПАРТНЁР В ОАЭ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pic>
        <p:nvPicPr>
          <p:cNvPr id="5" name="icon FaInfinit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031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юрист для всех ваших задач</a:t>
            </a:r>
            <a:endParaRPr lang="ru-RU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62072"/>
            <a:ext cx="2651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chemeClr val="bg2"/>
                </a:solidFill>
              </a:rPr>
              <a:t>Одна команда, знающая вашу ситуацию и активы, рядом с вами на каждом будущем инвестиционном или семейном шаге.</a:t>
            </a:r>
            <a:endParaRPr lang="ru-RU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1887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ru-RU" altLang="en-US" sz="1250" dirty="0">
                <a:solidFill>
                  <a:schemeClr val="tx1"/>
                </a:solidFill>
              </a:rPr>
              <a:t>Передача собственности и регистрация недвижимости</a:t>
            </a:r>
            <a:endParaRPr lang="ru-RU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ru-RU" altLang="en-US" sz="1250" dirty="0">
                <a:solidFill>
                  <a:schemeClr val="tx1"/>
                </a:solidFill>
              </a:rPr>
              <a:t>Регистрация компаний и налоговое структурирование</a:t>
            </a:r>
            <a:endParaRPr lang="ru-RU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ru-RU" altLang="en-US" sz="1250" dirty="0">
                <a:solidFill>
                  <a:schemeClr val="tx1"/>
                </a:solidFill>
              </a:rPr>
              <a:t>Семейный офис, фонды и трасты</a:t>
            </a:r>
            <a:endParaRPr lang="ru-RU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ru-RU" altLang="en-US" sz="1250" dirty="0">
                <a:solidFill>
                  <a:schemeClr val="tx1"/>
                </a:solidFill>
              </a:rPr>
              <a:t>Договоры, инвестиции и партнёрства</a:t>
            </a:r>
            <a:endParaRPr lang="ru-RU" sz="125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ru-RU" altLang="en-US" sz="1250" dirty="0">
                <a:solidFill>
                  <a:schemeClr val="tx1"/>
                </a:solidFill>
              </a:rPr>
              <a:t>Представительство в любом споре в судах и арбитраже</a:t>
            </a:r>
            <a:endParaRPr lang="ru-RU" sz="1250" dirty="0"/>
          </a:p>
        </p:txBody>
      </p:sp>
      <p:sp>
        <p:nvSpPr>
          <p:cNvPr id="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Завещание — о смерти; защита активов — об инвестициях и безопасности. То, что мы оформляем сегодня, защищает созданное вами и тех, кого вы любите.</a:t>
            </a:r>
            <a:endParaRPr lang="ru-RU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2"/>
                </a:solidFill>
              </a:rPr>
              <a:t>Rashid Alkaitoob Advocates &amp; Legal Consultants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 следующий шаг</a:t>
            </a:r>
            <a:endParaRPr lang="ru-RU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accent2"/>
                </a:solidFill>
              </a:rPr>
              <a:t>Мы отправляем ваше предложение в течение 48 часов и назначаем составление и регистрацию в удобное для вас время</a:t>
            </a:r>
            <a:endParaRPr lang="ru-RU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Шейх Зайед Роуд, Saeed Tower 2, офис 501, Дубай, ОАЭ</a:t>
            </a:r>
            <a:endParaRPr lang="ru-RU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+971 4 359 5552  |  Моб. и WhatsApp: +971 52 107 4972</a:t>
            </a:r>
            <a:endParaRPr lang="ru-RU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ru-RU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Пн – Пт, 8:30 – 17:30  |  Арабский · Английский · Китайский · Русский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ваших активов и семьи в ОАЭ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2026-10-27T13:23:58Z</dcterms:created>
  <dcterms:modified xsi:type="dcterms:W3CDTF">2026-10-27T13:23:58Z</dcterms:modified>
</cp:coreProperties>
</file>