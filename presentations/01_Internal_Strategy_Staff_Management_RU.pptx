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ab228fae-d5d9-8f9b-3d57-69d53ca81b65}">
          <p14:sldIdLst>
            <p14:sldId id="256"/>
            <p14:sldId id="257"/>
          </p14:sldIdLst>
        </p14:section>
        <p14:section name="Идея" id="{f48c9837-6875-e5d0-80e4-9cf574b870db}">
          <p14:sldIdLst>
            <p14:sldId id="258"/>
            <p14:sldId id="259"/>
            <p14:sldId id="260"/>
            <p14:sldId id="261"/>
          </p14:sldIdLst>
        </p14:section>
        <p14:section name="Брокеры" id="{5a641d30-79c8-126f-89d1-f0dc859d0371}">
          <p14:sldIdLst>
            <p14:sldId id="262"/>
            <p14:sldId id="263"/>
            <p14:sldId id="264"/>
          </p14:sldIdLst>
        </p14:section>
        <p14:section name="Модель сотрудничества" id="{fff35d71-0924-c9c3-6ca1-e51ee1308c13}">
          <p14:sldIdLst>
            <p14:sldId id="265"/>
            <p14:sldId id="266"/>
            <p14:sldId id="267"/>
          </p14:sldIdLst>
        </p14:section>
        <p14:section name="Рабочий процесс" id="{7f54adcf-d0ed-2ff3-05db-f2797f381be6}">
          <p14:sldIdLst>
            <p14:sldId id="268"/>
            <p14:sldId id="269"/>
            <p14:sldId id="270"/>
            <p14:sldId id="271"/>
          </p14:sldIdLst>
        </p14:section>
        <p14:section name="Доход и маркетинг" id="{d6273d8f-801d-adee-eeb3-5b7f81f6d42b}">
          <p14:sldIdLst>
            <p14:sldId id="272"/>
            <p14:sldId id="273"/>
            <p14:sldId id="274"/>
            <p14:sldId id="275"/>
          </p14:sldIdLst>
        </p14:section>
        <p14:section name="Роли и запуск" id="{8621d74f-d7a7-ad10-9b6a-aca6355338a1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Стратегия услуги по защите активов и завещаниям</a:t>
            </a:r>
            <a:endParaRPr lang="ru-RU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2"/>
                </a:solidFill>
              </a:rPr>
              <a:t>Внутренний брифинг для руководства и сотрудников — Этап первый: выход на рынок через агентства недвижимости</a:t>
            </a:r>
            <a:endParaRPr lang="ru-RU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Октябрь 2026 · Только для внутреннего пользования</a:t>
            </a: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Идея: от юридической фирмы к партнёру по правовой защите инвесторов</a:t>
            </a:r>
            <a:endParaRPr lang="ru-RU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Почему агентства недвижимости — точка входа</a:t>
            </a:r>
            <a:endParaRPr lang="ru-RU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Модель сотрудничества и правовая структура</a:t>
            </a:r>
            <a:endParaRPr lang="ru-RU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Рабочий процесс от брокера к клиенту</a:t>
            </a:r>
            <a:endParaRPr lang="ru-RU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Модель дохода и маркетинг</a:t>
            </a:r>
            <a:endParaRPr lang="ru-RU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Внутренние роли и план запуска</a:t>
            </a:r>
            <a:endParaRPr lang="ru-RU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Идея и позиционирование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Услуга — это не «написание завещания». Это комплексная защита активов и семьи инвестора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«юридической фирмы» к партнёру по правовой защите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ПРАВИЛЬНОЕ ПОЗИЦИОНИРОВАНИЕ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Партнёр по правовой защите инвесторов</a:t>
            </a:r>
            <a:endParaRPr lang="ru-RU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63824"/>
            <a:ext cx="26517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00" dirty="0">
                <a:solidFill>
                  <a:schemeClr val="bg2"/>
                </a:solidFill>
              </a:rPr>
              <a:t>Мы помогаем партнёрам защищать их клиентов, повышать ценность их услуг и укреплять доверие инвесторов.</a:t>
            </a:r>
            <a:endParaRPr lang="ru-RU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Защита активов и недвижимости в ОАЭ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Правовая конструкция, исключающая заморозку счетов и недвижимости после смерти.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Защита наследников и детей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Назначение опекунов и заблаговременное закрепление порядка наследования.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Завещания, совместимые с любым органом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Суды Дубая, суды Абу-Даби, DIFC, ADGM, а также шариат или иностранное право в зависимости от случая клиента.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Мы никогда не говорим брокеру «мы предлагаем завещания»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Мы говорим: мы защищаем вас, защищаем ваших клиентов и повышаем ценность того, что вы продаёте.</a:t>
            </a:r>
            <a:endParaRPr lang="ru-RU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Наши услуги по защите активов и наследству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КАТАЛОГ УСЛУГ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Составление завещания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Юридически выверенное завещание с учётом гражданства, семьи и активов клиента.</a:t>
            </a:r>
            <a:endParaRPr lang="ru-RU" sz="125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tam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Регистрация завещания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Регистрация в подходящем органе: суды Дубая, Абу-Даби, DIFC или ADGM.</a:t>
            </a:r>
            <a:endParaRPr lang="ru-RU" sz="125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Sitema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Структурирование наследства и активов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Заблаговременная организация наследования, чтобы исключить заморозку и споры.</a:t>
            </a:r>
            <a:endParaRPr lang="ru-RU" sz="125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Защита иностранного инвестора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Решения по шариату или иностранному праву в зависимости от ситуации клиента.</a:t>
            </a:r>
            <a:endParaRPr lang="ru-RU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Ke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Переход прав после смерти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Представление наследников и оформление перехода недвижимости и счетов.</a:t>
            </a:r>
            <a:endParaRPr lang="ru-RU" sz="1250" dirty="0"/>
          </a:p>
        </p:txBody>
      </p:sp>
      <p:sp>
        <p:nvSpPr>
          <p:cNvPr id="19" name="Shape 12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Buildin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1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Создание Holding / SPV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Холдинговые структуры, связанные с планом наследования, для защиты инвестиций.</a:t>
            </a:r>
            <a:endParaRPr lang="ru-RU" sz="1250" dirty="0"/>
          </a:p>
        </p:txBody>
      </p:sp>
      <p:sp>
        <p:nvSpPr>
          <p:cNvPr id="22" name="Shape 14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Hous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468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Завещания на недвижимость и бизнес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Завещания только на недвижимость или охватывающие доли в компаниях и бизнес.</a:t>
            </a:r>
            <a:endParaRPr lang="ru-RU" sz="1250" dirty="0"/>
          </a:p>
        </p:txBody>
      </p:sp>
      <p:sp>
        <p:nvSpPr>
          <p:cNvPr id="25" name="Shape 16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6" name="icon FaPeopleRoof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2018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Семейное управление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Семейный офис, фонды и трасты, партнёрские соглашения.</a:t>
            </a:r>
            <a:endParaRPr lang="ru-RU" sz="1250" dirty="0"/>
          </a:p>
        </p:txBody>
      </p:sp>
      <p:sp>
        <p:nvSpPr>
          <p:cNvPr id="28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регистрируются завещания в ОАЭ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ПРАВОВАЯ БАЗА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Суды Дубая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Регистрация завещаний немусульман в судах Дубая по правилам личного статуса немусульман.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Суды Абу-Даби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Регистрация в Судебном департаменте Абу-Даби для клиентов, предпочитающих этот путь.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Завещания DIFC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Реестр завещаний DIFC для немусульман, на английском языке, охватывает активы в ОАЭ.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Завещания ADGM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Реестр завещаний ADGM для немусульман, альтернативный англоязычный путь.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Шариат или иностранное право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Применимое право определяем по гражданству, религии и пожеланиям клиента.</a:t>
            </a:r>
            <a:endParaRPr lang="ru-RU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клиент — отдельный случай</a:t>
            </a:r>
            <a:endParaRPr lang="ru-RU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Гражданство, религия, семейное положение и местонахождение активов определяют правильный путь. Поэтому мы всегда начинаем с ознакомительной встречи, а не с типа завещания.</a:t>
            </a:r>
            <a:endParaRPr lang="ru-RU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агентства недвижимости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Брокер контактирует с иностранным инвестором именно в тот момент, когда нужна защита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брокер — это вход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ЛОГИКА ВХОДА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Большинство иностранных покупателей не знают правил наследования в ОАЭ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Они покупают на миллионы дирхамов без завещания и без правовой структуры.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Покупателю недвижимости, как правило, нужно завещание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Момент покупки — лучшее время, чтобы заговорить о защите.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Gem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У брокеров состоятельная клиентская база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Особенно у тех, кто продаёт элитную, инвестиционную и строящуюся недвижимость.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lu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Брокерам нужна дополнительная ценность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Мы даём им конкурентное отличие без какой-либо юридической нагрузки с их стороны.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получает брокер</a:t>
            </a:r>
            <a:endParaRPr lang="ru-RU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1. Доверие клиента: брокер заботится о защите, а не только о продаже.</a:t>
            </a:r>
            <a:endParaRPr lang="ru-RU" sz="1150" dirty="0"/>
          </a:p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2. Выше процент закрытия сделок: инвесторы спокойнее, когда есть правовая защита.</a:t>
            </a:r>
            <a:endParaRPr lang="ru-RU" sz="1150" dirty="0"/>
          </a:p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3. VIP-сервис: брокер становится полноценным инвестиционным советником.</a:t>
            </a:r>
            <a:endParaRPr lang="ru-RU" sz="1150" dirty="0"/>
          </a:p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4. Дополнительный доход через реферальную структуру.</a:t>
            </a:r>
            <a:endParaRPr lang="ru-RU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Наша целевая аудитория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ЦЕЛЕВЫЕ СЕГМЕНТЫ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Агентства недвижимости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Компании, продающие строящуюся недвижимость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Компании, работающие с русскими, европейскими и китайскими покупателями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Компании, обслуживающие состоятельных клиентов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Компании, продающие элитную и инвестиционную недвижимость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Иностранные инвесторы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Россияне, британцы, индийцы, китайцы, украинцы, европейцы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Владельцы недвижимости в ОАЭ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Владельцы компаний и долей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Те, у кого есть дети в ОАЭ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Держатели крупных банковских счетов</a:t>
            </a:r>
            <a:endParaRPr lang="ru-RU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сотрудничества и правовая структура</a:t>
            </a:r>
            <a:endParaRPr lang="ru-RU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Брокер открывает дверь; мы берём на себя каждый юридический шаг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распределяются роли с партнёром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МОДЕЛЬ, КОТОРАЯ РАБОТАЕТ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Агентство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Направляет клиента к нам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Представляет услугу как дополнительную ценность своего предложения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Получает реферальное вознаграждение или комиссию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Не даёт никаких юридических консультаций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Rashid Alkaitoob Advocates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Юридическая консультация и оценка рисков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Составление, перевод и нотариальное заверение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Регистрация и взаимодействие с органами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Защита брокера от любой юридической ответственности</a:t>
            </a:r>
            <a:endParaRPr lang="ru-RU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Реферальное соглашение о сотрудничестве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ПРЕДЛАГАЕМАЯ ПРАВОВАЯ СТРУКТУРА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Механизм направления клиентов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Стандартное представление от брокера и первый контакт с нашей стороны в течение одного рабочего дня.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Размер комиссии и порядок выплаты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Фиксированный процент или сумма за клиента с соблюдением профессиональных правил и местного законодательства.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Конфиденциальность и защита данных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NDA и защита данных клиентов в соответствии с законом.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Отсутствие юридической ответственности брокера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Брокер не даёт юридических консультаций и не гарантирует результатов.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Запрет обхода (non-circumvention)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Клиентские отношения каждой стороны защищены.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Рабочий процесс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От подписания с брокером до регистрации завещания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 первый: с агентством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ЗАПУСК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Подписание соглашения о сотрудничестве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Реферальная структура, NDA, структура комиссии и запрет обхода.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255574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57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Обучение команды брокера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Простой PDF, презентация и FAQ: что происходит с недвижимостью после смерти? Замораживаются ли счета? Как защитить семью?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Передача скрипта продаж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Одна фраза, которую брокер произносит в нужный момент, без юридических советов.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675284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5284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Совместный запуск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Бесплатный семинар для отдела продаж, бесплатная первая консультация для их клиентов и готовые маркетинговые материалы.</a:t>
            </a:r>
            <a:endParaRPr lang="ru-RU" sz="1050" dirty="0"/>
          </a:p>
        </p:txBody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 второй: после направления клиента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ПУТЬ КЛИЕНТА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Ознакомительная встреча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Гражданство, религия, семейное положение, активы, недвижимость, компании, дети, банковские счета.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Оценка рисков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Только завещание, завещание DIFC или ADGM, корпоративное структурирование, траст или фонд, либо холдинговая компания?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Предложение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Объём, гонорар, сроки и стоимость регистрации.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Составление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Завещание, перевод, свидетели и нотариальное заверение.</a:t>
            </a:r>
            <a:endParaRPr lang="ru-RU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Регистрация</a:t>
            </a:r>
            <a:endParaRPr lang="ru-RU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По органу: суды Дубая, DIFC, ADGM или нотариус.</a:t>
            </a:r>
            <a:endParaRPr lang="ru-RU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встрече: сначала ознакомительные вопросы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НИКОГДА НЕ НАЧИНАЙТЕ С «КАКОЕ ЗАВЕЩАНИЕ ВЫ ХОТИТЕ?»</a:t>
            </a:r>
            <a:endParaRPr lang="ru-RU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dirty="0">
                <a:solidFill>
                  <a:schemeClr val="accent1"/>
                </a:solidFill>
              </a:rPr>
              <a:t>ВОПРОС</a:t>
            </a:r>
            <a:endParaRPr lang="ru-RU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dirty="0">
                <a:solidFill>
                  <a:schemeClr val="accent1"/>
                </a:solidFill>
              </a:rPr>
              <a:t>НА ЧТО УКАЗЫВАЕТ</a:t>
            </a:r>
            <a:endParaRPr lang="ru-RU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недвижимость в ОАЭ?</a:t>
            </a:r>
            <a:endParaRPr lang="ru-RU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Завещание на недвижимость / суды Дубая или DIFC</a:t>
            </a:r>
            <a:endParaRPr lang="ru-RU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компании или доли?</a:t>
            </a:r>
            <a:endParaRPr lang="ru-RU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Завещание на бизнес / корпоративное структурирование / холдинг</a:t>
            </a:r>
            <a:endParaRPr lang="ru-RU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дети?</a:t>
            </a:r>
            <a:endParaRPr lang="ru-RU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Положения об опеке в завещании</a:t>
            </a:r>
            <a:endParaRPr lang="ru-RU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Наследники находятся в ОАЭ или за рубежом?</a:t>
            </a:r>
            <a:endParaRPr lang="ru-RU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Выбор реестра и применимого права</a:t>
            </a:r>
            <a:endParaRPr lang="ru-RU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активы более чем в одной стране?</a:t>
            </a:r>
            <a:endParaRPr lang="ru-RU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Фонд / траст / согласование с иностранными завещаниями</a:t>
            </a:r>
            <a:endParaRPr lang="ru-RU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Вы хотите право своей страны или иную структуру?</a:t>
            </a:r>
            <a:endParaRPr lang="ru-RU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DIFC / ADGM / местные суды</a:t>
            </a:r>
            <a:endParaRPr lang="ru-RU" sz="1100" dirty="0"/>
          </a:p>
        </p:txBody>
      </p:sp>
      <p:sp>
        <p:nvSpPr>
          <p:cNvPr id="3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дохода и маркетинг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Мы не продаём одно завещание. Мы строим юридические отношения на всю жизнь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дохода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ТРИ ПОТОКА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u-RU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Фиксированный гонорар за клиента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Индивидуальное завещание, завещания супругов, завещание на недвижимость, завещание на бизнес. Гонорары устанавливаются в соответствии с профессиональными правилами и местным законодательством.</a:t>
            </a:r>
            <a:endParaRPr lang="ru-RU" sz="1400" dirty="0"/>
          </a:p>
        </p:txBody>
      </p:sp>
      <p:sp>
        <p:nvSpPr>
          <p:cNvPr id="7" name="Shape 5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77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u-RU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77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Реферальная комиссия партнёру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Фиксированный процент или сумма за клиента, выплачивается ежемесячно по соглашению.</a:t>
            </a:r>
            <a:endParaRPr lang="ru-RU" sz="1400" dirty="0"/>
          </a:p>
        </p:txBody>
      </p:sp>
      <p:sp>
        <p:nvSpPr>
          <p:cNvPr id="10" name="Shape 8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71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u-RU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971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Дополнительные продажи после завещания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Регистрация компаний, налоговое структурирование, передача собственности, семейный офис, трасты и фонды, партнёрские договоры, структурирование наследства.</a:t>
            </a:r>
            <a:endParaRPr lang="ru-RU" sz="14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Главный маркетинговый тезис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ПОСЛАНИЕ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ea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Мы не продаём «завещание». Мы продаём защиту семьи, активов и инвестиций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Клиенты сначала действуют эмоционально, а потом по закону. Завещание ассоциируется со смертью; защита — с инвестициями и безопасностью.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halkboardUs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Каналы через брокеров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Семинары, вебинары, мероприятия для инвесторов и презентации новых проектов недвижимости.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ashta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Контент в социальных сетях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Что будет с вашей недвижимостью, если вы умрёте без завещания? Могут ли заморозить семейные счета? DIFC или ADGM. Ошибки иностранных инвесторов.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Сервис премиум-уровня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Встречи у клиента, VIP-сопровождение, многоязычная команда, полная координация и ускоренная регистрация.</a:t>
            </a:r>
            <a:endParaRPr lang="ru-RU" sz="13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Юридический сервис уровня консьерж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ПРЕМИАЛЬНЫЙ ОПЫТ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Мы приезжаем к вам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В офис или домой к клиенту.</a:t>
            </a:r>
            <a:endParaRPr lang="ru-RU" sz="1400" dirty="0"/>
          </a:p>
        </p:txBody>
      </p:sp>
      <p:sp>
        <p:nvSpPr>
          <p:cNvPr id="7" name="Shape 4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VIP-сервис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Персональный юрист для каждого клиента.</a:t>
            </a:r>
            <a:endParaRPr lang="ru-RU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Четыре языка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Арабский, английский, китайский, русский.</a:t>
            </a:r>
            <a:endParaRPr lang="ru-RU" sz="1400" dirty="0"/>
          </a:p>
        </p:txBody>
      </p:sp>
      <p:sp>
        <p:nvSpPr>
          <p:cNvPr id="13" name="Shape 8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Полная координация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Перевод, свидетели, нотариальное заверение, регистрация.</a:t>
            </a:r>
            <a:endParaRPr lang="ru-RU" sz="1400" dirty="0"/>
          </a:p>
        </p:txBody>
      </p:sp>
      <p:sp>
        <p:nvSpPr>
          <p:cNvPr id="16" name="Shape 10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Ускоренная регистрация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Прямое взаимодействие с органами.</a:t>
            </a:r>
            <a:endParaRPr lang="ru-RU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Внутренние роли и план запуска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Каждый отдел знает свою роль и свой KPI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за что отвечает внутри фирмы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ВНУТРЕННИЕ РОЛИ</a:t>
            </a:r>
            <a:endParaRPr lang="ru-RU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228600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Роль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Ответственность в рамках услуги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KPI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Менеджер по развитию бизнеса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Отбор целевых агентств, встречи с их владельцами, подписание соглашений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Активные партнёрства в месяц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Специалист по продажам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Обучение команд брокеров, сопровождение рефералов, конвертация в клиентов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Конверсия реферала в клиента ≥ 40%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Ассистент по развитию бизнеса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Учёт каждого реферала, первый контакт в течение одного рабочего дня, подготовка материалов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Ни одного реферала без ответа: 100%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Юридические консультанты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Ознакомительная встреча, оценка рисков, составление, присутствие при регистрации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Предложение в течение 48 часов после встречи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Руководитель юридических операций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Перевод, свидетели, нотариальное заверение, взаимодействие с органами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Соблюдение сроков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Аккаунт-менеджер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Информирование клиента и брокера на каждом этапе, измерение удовлетворённости, поиск возможностей допродаж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Удовлетворённость клиентов ≥ 90%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Финансы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Выставление счетов, сбор оплаты, ежемесячный расчёт реферальных комиссий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Уровень сбора оплаты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запуска: 90 дней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ГРАФИК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</a:rPr>
              <a:t>Месяц 1: Подготовка</a:t>
            </a:r>
            <a:endParaRPr lang="ru-RU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Инструменты и соглашения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Шаблон реферального соглашения о сотрудничестве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Обучающий набор: PDF, презентация, FAQ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Скрипты первого контакта и продаж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Шорт-лист из 20 целевых агентств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326136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852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</a:rPr>
              <a:t>Месяц 2: Партнёрство</a:t>
            </a:r>
            <a:endParaRPr lang="ru-RU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52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Первые пять партнёрств</a:t>
            </a:r>
            <a:endParaRPr lang="ru-RU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9852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Встречи с владельцами компаний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Подписание первых пяти соглашений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Бесплатный семинар для каждого отдела продаж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Запуск контента в социальных сетях</a:t>
            </a:r>
            <a:endParaRPr lang="ru-RU" sz="1050" dirty="0"/>
          </a:p>
        </p:txBody>
      </p:sp>
      <p:sp>
        <p:nvSpPr>
          <p:cNvPr id="14" name="Shape 12"/>
          <p:cNvSpPr/>
          <p:nvPr/>
        </p:nvSpPr>
        <p:spPr>
          <a:xfrm>
            <a:off x="606552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0268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</a:rPr>
              <a:t>Месяц 3: Рефералы</a:t>
            </a:r>
            <a:endParaRPr lang="ru-RU" sz="1200" dirty="0"/>
          </a:p>
        </p:txBody>
      </p:sp>
      <p:sp>
        <p:nvSpPr>
          <p:cNvPr id="16" name="Shape 14"/>
          <p:cNvSpPr/>
          <p:nvPr/>
        </p:nvSpPr>
        <p:spPr>
          <a:xfrm>
            <a:off x="606552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0268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Первые клиенты</a:t>
            </a:r>
            <a:endParaRPr lang="ru-RU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0268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Приём и учёт рефералов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Первые зарегистрированные завещания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Ежемесячный отчёт каждому партнёру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Анализ результатов и доработка модели</a:t>
            </a:r>
            <a:endParaRPr lang="ru-RU" sz="105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продавайте одно завещание. Стройте юридические отношения на всю жизнь: после завещания идут передача собственности, регистрация компаний, семейный офис, договоры и инвестиции.</a:t>
            </a:r>
            <a:endParaRPr lang="ru-RU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2"/>
                </a:solidFill>
              </a:rPr>
              <a:t>Золотое правило этой услуги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</a:t>
            </a:r>
            <a:endParaRPr lang="ru-RU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Будем рады вашим вопросам и предложениям</a:t>
            </a:r>
            <a:endParaRPr lang="ru-RU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Шейх Зайед Роуд, Saeed Tower 2, офис 501, Дубай, ОАЭ</a:t>
            </a:r>
            <a:endParaRPr lang="ru-RU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+971 4 359 5552  |  Моб. и WhatsApp: +971 52 107 4972</a:t>
            </a:r>
            <a:endParaRPr lang="ru-RU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ru-RU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Пн – Пт, 8:30 – 17:30  |  Арабский · Английский · Китайский · Русский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Стратегия услуги по защите активов и завещаниям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2026-10-27T13:23:56Z</dcterms:created>
  <dcterms:modified xsi:type="dcterms:W3CDTF">2026-10-27T13:23:56Z</dcterms:modified>
</cp:coreProperties>
</file>