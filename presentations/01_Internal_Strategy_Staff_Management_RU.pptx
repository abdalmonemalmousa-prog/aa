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38f86138-c708-b422-b042-e4ce6ce74f33}">
          <p14:sldIdLst>
            <p14:sldId id="256"/>
            <p14:sldId id="257"/>
          </p14:sldIdLst>
        </p14:section>
        <p14:section name="Идея" id="{8e47d605-af93-c10f-0029-d4067343a2a9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Брокеры" id="{5849900d-0216-a186-334c-2c5a1825cbda}">
          <p14:sldIdLst>
            <p14:sldId id="268"/>
            <p14:sldId id="269"/>
            <p14:sldId id="270"/>
          </p14:sldIdLst>
        </p14:section>
        <p14:section name="Модель сотрудничества" id="{4f969bef-7a10-13e2-4220-71c75af03b4a}">
          <p14:sldIdLst>
            <p14:sldId id="271"/>
            <p14:sldId id="272"/>
            <p14:sldId id="273"/>
          </p14:sldIdLst>
        </p14:section>
        <p14:section name="Рабочий процесс" id="{ff6f543f-fc4b-2532-9809-e1077ab50106}">
          <p14:sldIdLst>
            <p14:sldId id="274"/>
            <p14:sldId id="275"/>
            <p14:sldId id="276"/>
            <p14:sldId id="277"/>
          </p14:sldIdLst>
        </p14:section>
        <p14:section name="Доход и маркетинг" id="{145bc99c-e23c-30a4-c0ba-2f148563216b}">
          <p14:sldIdLst>
            <p14:sldId id="278"/>
            <p14:sldId id="279"/>
            <p14:sldId id="280"/>
            <p14:sldId id="281"/>
          </p14:sldIdLst>
        </p14:section>
        <p14:section name="Роли и запуск" id="{7925efd7-f22e-8dae-561e-622cc7c48f71}">
          <p14:sldIdLst>
            <p14:sldId id="282"/>
            <p14:sldId id="283"/>
            <p14:sldId id="284"/>
            <p14:sldId id="285"/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238"/>
                </a:solidFill>
                <a:latin typeface="+mj-lt"/>
              </a:defRPr>
            </a:pPr>
            <a:r>
              <a:rPr sz="1200" b="0" i="0" u="none" strike="noStrike">
                <a:solidFill>
                  <a:srgbClr val="0E2238"/>
                </a:solidFill>
                <a:latin typeface="+mj-lt"/>
              </a:rPr>
              <a:t>Число зарегистрированных завещаний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Зарегистрировано завещаний</c:v>
                </c:pt>
              </c:strCache>
            </c:strRef>
          </c:tx>
          <c:spPr>
            <a:solidFill>
              <a:srgbClr val="B572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E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 пол. 2023*</c:v>
                  </c:pt>
                  <c:pt idx="1">
                    <c:v>1 пол. 2024</c:v>
                  </c:pt>
                  <c:pt idx="2">
                    <c:v>1 пол. 2025</c:v>
                  </c:pt>
                  <c:pt idx="3">
                    <c:v>2024 год*</c:v>
                  </c:pt>
                  <c:pt idx="4">
                    <c:v>2025 год</c:v>
                  </c:pt>
                  <c:pt idx="5">
                    <c:v>1 кв. 2026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764</c:v>
                </c:pt>
                <c:pt idx="1">
                  <c:v>810</c:v>
                </c:pt>
                <c:pt idx="2">
                  <c:v>922</c:v>
                </c:pt>
                <c:pt idx="3">
                  <c:v>1820</c:v>
                </c:pt>
                <c:pt idx="4">
                  <c:v>2220</c:v>
                </c:pt>
                <c:pt idx="5">
                  <c:v>883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0E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1D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238"/>
                </a:solidFill>
                <a:latin typeface="+mj-lt"/>
              </a:defRPr>
            </a:pPr>
            <a:r>
              <a:rPr sz="1200" b="0" i="0" u="none" strike="noStrike">
                <a:solidFill>
                  <a:srgbClr val="0E2238"/>
                </a:solidFill>
                <a:latin typeface="+mj-lt"/>
              </a:rPr>
              <a:t>Средний срок в днях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Дней</c:v>
                </c:pt>
              </c:strCache>
            </c:strRef>
          </c:tx>
          <c:spPr>
            <a:solidFill>
              <a:srgbClr val="B5723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E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2023: суд, от подачи до решения</c:v>
                  </c:pt>
                  <c:pt idx="1">
                    <c:v>2023–24: первые 11 мес., мировое</c:v>
                  </c:pt>
                  <c:pt idx="2">
                    <c:v>2024: мировое</c:v>
                  </c:pt>
                  <c:pt idx="3">
                    <c:v>2025: мировое (раб. дни)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81</c:v>
                </c:pt>
                <c:pt idx="1">
                  <c:v>40</c:v>
                </c:pt>
                <c:pt idx="2">
                  <c:v>24</c:v>
                </c:pt>
                <c:pt idx="3">
                  <c:v>13.8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000" u="none">
                  <a:solidFill>
                    <a:srgbClr val="0E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1D8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aa/b81485da-2e22-5d10-878f-01904e6d5dc6/scratchpad/r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681728"/>
            <a:ext cx="1675417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aa/b81485da-2e22-5d10-878f-01904e6d5dc6/scratchpad/rk/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681728"/>
            <a:ext cx="1675417" cy="2743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E2238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_DARK">
    <p:bg>
      <p:bgPr>
        <a:solidFill>
          <a:srgbClr val="0E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22910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pic>
        <p:nvPicPr>
          <p:cNvPr id="3" name="Image 0" descr="/tmp/claude-0/-home-user-aa/b81485da-2e22-5d10-878f-01904e6d5dc6/scratchpad/r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868680"/>
            <a:ext cx="4021000" cy="6583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68680" y="1965960"/>
            <a:ext cx="7406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Стратегия услуги по защите активов и завещаниям</a:t>
            </a:r>
            <a:endParaRPr lang="ru-RU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868680" y="33832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chemeClr val="accent2"/>
                </a:solidFill>
              </a:rPr>
              <a:t>Внутренний брифинг для руководства и сотрудников — Этап первый: выход на рынок через агентства недвижимости</a:t>
            </a:r>
            <a:endParaRPr lang="ru-RU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402336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Октябрь 2026 · Только для внутреннего пользования</a:t>
            </a:r>
            <a:endParaRPr lang="ru-RU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Содержание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23444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50" dirty="0">
                <a:solidFill>
                  <a:schemeClr val="tx1"/>
                </a:solidFill>
              </a:rPr>
              <a:t>Идея: от юридической фирмы к партнёру по правовой защите инвесторов</a:t>
            </a:r>
            <a:endParaRPr lang="ru-RU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801368"/>
            <a:ext cx="4023360" cy="0"/>
          </a:xfrm>
          <a:prstGeom prst="line">
            <a:avLst/>
          </a:prstGeom>
          <a:noFill/>
          <a:ln w="6350">
            <a:solidFill>
              <a:srgbClr val="E6E1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856232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85623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50" dirty="0">
                <a:solidFill>
                  <a:schemeClr val="tx1"/>
                </a:solidFill>
              </a:rPr>
              <a:t>Почему агентства недвижимости — точка входа</a:t>
            </a:r>
            <a:endParaRPr lang="ru-RU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4023360" cy="0"/>
          </a:xfrm>
          <a:prstGeom prst="line">
            <a:avLst/>
          </a:prstGeom>
          <a:noFill/>
          <a:ln w="6350">
            <a:solidFill>
              <a:srgbClr val="E6E1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478024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47802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50" dirty="0">
                <a:solidFill>
                  <a:schemeClr val="tx1"/>
                </a:solidFill>
              </a:rPr>
              <a:t>Модель сотрудничества и правовая структура</a:t>
            </a:r>
            <a:endParaRPr lang="ru-RU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3044952"/>
            <a:ext cx="4023360" cy="0"/>
          </a:xfrm>
          <a:prstGeom prst="line">
            <a:avLst/>
          </a:prstGeom>
          <a:noFill/>
          <a:ln w="6350">
            <a:solidFill>
              <a:srgbClr val="E6E1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123444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212080" y="123444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50" dirty="0">
                <a:solidFill>
                  <a:schemeClr val="tx1"/>
                </a:solidFill>
              </a:rPr>
              <a:t>Рабочий процесс от брокера к клиенту</a:t>
            </a:r>
            <a:endParaRPr lang="ru-RU" sz="1350" dirty="0"/>
          </a:p>
        </p:txBody>
      </p:sp>
      <p:sp>
        <p:nvSpPr>
          <p:cNvPr id="14" name="Shape 12"/>
          <p:cNvSpPr/>
          <p:nvPr/>
        </p:nvSpPr>
        <p:spPr>
          <a:xfrm>
            <a:off x="4663440" y="1801368"/>
            <a:ext cx="4023360" cy="0"/>
          </a:xfrm>
          <a:prstGeom prst="line">
            <a:avLst/>
          </a:prstGeom>
          <a:noFill/>
          <a:ln w="6350">
            <a:solidFill>
              <a:srgbClr val="E6E1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63440" y="1856232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212080" y="185623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50" dirty="0">
                <a:solidFill>
                  <a:schemeClr val="tx1"/>
                </a:solidFill>
              </a:rPr>
              <a:t>Модель дохода и маркетинг</a:t>
            </a:r>
            <a:endParaRPr lang="ru-RU" sz="1350" dirty="0"/>
          </a:p>
        </p:txBody>
      </p:sp>
      <p:sp>
        <p:nvSpPr>
          <p:cNvPr id="17" name="Shape 15"/>
          <p:cNvSpPr/>
          <p:nvPr/>
        </p:nvSpPr>
        <p:spPr>
          <a:xfrm>
            <a:off x="4663440" y="2423160"/>
            <a:ext cx="4023360" cy="0"/>
          </a:xfrm>
          <a:prstGeom prst="line">
            <a:avLst/>
          </a:prstGeom>
          <a:noFill/>
          <a:ln w="6350">
            <a:solidFill>
              <a:srgbClr val="E6E1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63440" y="2478024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247802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50" dirty="0">
                <a:solidFill>
                  <a:schemeClr val="tx1"/>
                </a:solidFill>
              </a:rPr>
              <a:t>Внутренние роли и план запуска</a:t>
            </a:r>
            <a:endParaRPr lang="ru-RU" sz="1350" dirty="0"/>
          </a:p>
        </p:txBody>
      </p:sp>
      <p:sp>
        <p:nvSpPr>
          <p:cNvPr id="20" name="Shape 18"/>
          <p:cNvSpPr/>
          <p:nvPr/>
        </p:nvSpPr>
        <p:spPr>
          <a:xfrm>
            <a:off x="4663440" y="3044952"/>
            <a:ext cx="4023360" cy="0"/>
          </a:xfrm>
          <a:prstGeom prst="line">
            <a:avLst/>
          </a:prstGeom>
          <a:noFill/>
          <a:ln w="6350">
            <a:solidFill>
              <a:srgbClr val="E6E1D8"/>
            </a:solidFill>
            <a:prstDash val="solid"/>
          </a:ln>
        </p:spPr>
      </p:sp>
      <p:sp>
        <p:nvSpPr>
          <p:cNvPr id="21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ru-RU" alt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Идея и позиционирование</a:t>
            </a:r>
            <a:endParaRPr lang="ru-RU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758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400" dirty="0">
                <a:solidFill>
                  <a:schemeClr val="accent2"/>
                </a:solidFill>
              </a:rPr>
              <a:t>Услуга — это не «написание завещания». Это комплексная защита активов и семьи инвестора</a:t>
            </a:r>
            <a:endParaRPr lang="ru-RU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 «юридической фирмы» к партнёру по правовой защите</a:t>
            </a:r>
            <a:endParaRPr lang="ru-RU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ПРАВИЛЬНОЕ ПОЗИЦИОНИРОВАНИЕ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291840" cy="324612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pic>
        <p:nvPicPr>
          <p:cNvPr id="5" name="icon FaShieldHalved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103120"/>
            <a:ext cx="265176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Партнёр по правовой защите инвесторов</a:t>
            </a:r>
            <a:endParaRPr lang="ru-RU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163824"/>
            <a:ext cx="26517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100" dirty="0">
                <a:solidFill>
                  <a:schemeClr val="bg2"/>
                </a:solidFill>
              </a:rPr>
              <a:t>Мы помогаем партнёрам защищать их клиентов, повышать ценность их услуг и укреплять доверие инвесторов.</a:t>
            </a:r>
            <a:endParaRPr lang="ru-RU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023360" y="1188720"/>
            <a:ext cx="46634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buSzPct val="100000"/>
              <a:buChar char="•"/>
            </a:pPr>
            <a:r>
              <a:rPr lang="ru-RU" altLang="en-US" sz="1300" b="1" dirty="0">
                <a:solidFill>
                  <a:schemeClr val="tx1"/>
                </a:solidFill>
              </a:rPr>
              <a:t>Защита активов и недвижимости в ОАЭ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Правовая конструкция, исключающая заморозку счетов и недвижимости после смерти.</a:t>
            </a:r>
            <a:endParaRPr lang="ru-RU" sz="1300" dirty="0"/>
          </a:p>
          <a:p>
            <a:pPr algn="l" marL="177800" indent="-177800">
              <a:spcBef>
                <a:spcPts val="600"/>
              </a:spcBef>
              <a:buSzPct val="100000"/>
              <a:buChar char="•"/>
            </a:pPr>
            <a:r>
              <a:rPr lang="ru-RU" altLang="en-US" sz="1300" b="1" dirty="0">
                <a:solidFill>
                  <a:schemeClr val="tx1"/>
                </a:solidFill>
              </a:rPr>
              <a:t>Защита наследников и детей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Назначение опекунов и заблаговременное закрепление порядка наследования.</a:t>
            </a:r>
            <a:endParaRPr lang="ru-RU" sz="1300" dirty="0"/>
          </a:p>
          <a:p>
            <a:pPr algn="l" marL="177800" indent="-177800">
              <a:spcBef>
                <a:spcPts val="600"/>
              </a:spcBef>
              <a:buSzPct val="100000"/>
              <a:buChar char="•"/>
            </a:pPr>
            <a:r>
              <a:rPr lang="ru-RU" altLang="en-US" sz="1300" b="1" dirty="0">
                <a:solidFill>
                  <a:schemeClr val="tx1"/>
                </a:solidFill>
              </a:rPr>
              <a:t>Завещания, совместимые с любым органом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Суды Дубая, суды Абу-Даби, DIFC, ADGM, а также шариат или иностранное право в зависимости от случая клиента.</a:t>
            </a:r>
            <a:endParaRPr lang="ru-RU" sz="1300" dirty="0"/>
          </a:p>
          <a:p>
            <a:pPr algn="l" marL="177800" indent="-177800">
              <a:spcBef>
                <a:spcPts val="600"/>
              </a:spcBef>
              <a:buSzPct val="100000"/>
              <a:buChar char="•"/>
            </a:pPr>
            <a:r>
              <a:rPr lang="ru-RU" altLang="en-US" sz="1300" b="1" dirty="0">
                <a:solidFill>
                  <a:schemeClr val="tx1"/>
                </a:solidFill>
              </a:rPr>
              <a:t>Мы никогда не говорим брокеру «мы предлагаем завещания»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Мы говорим: мы защищаем вас, защищаем ваших клиентов и повышаем ценность того, что вы продаёте.</a:t>
            </a:r>
            <a:endParaRPr lang="ru-RU" sz="1300" dirty="0"/>
          </a:p>
        </p:txBody>
      </p:sp>
      <p:sp>
        <p:nvSpPr>
          <p:cNvPr id="9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Наши услуги по защите активов и наследству</a:t>
            </a:r>
            <a:endParaRPr lang="ru-RU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КАТАЛОГ УСЛУГ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88595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FileSignatur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89888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1828800"/>
            <a:ext cx="14836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Составление завещания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Юридически выверенное завещание с учётом гражданства, семьи и активов клиента.</a:t>
            </a:r>
            <a:endParaRPr lang="ru-RU" sz="1250" dirty="0"/>
          </a:p>
        </p:txBody>
      </p:sp>
      <p:sp>
        <p:nvSpPr>
          <p:cNvPr id="7" name="Shape 4"/>
          <p:cNvSpPr/>
          <p:nvPr/>
        </p:nvSpPr>
        <p:spPr>
          <a:xfrm>
            <a:off x="2571750" y="1188720"/>
            <a:ext cx="188595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Stam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918" y="1389888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772918" y="1828800"/>
            <a:ext cx="14836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Регистрация завещания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Регистрация в подходящем органе: суды Дубая, Абу-Даби, DIFC или ADGM.</a:t>
            </a:r>
            <a:endParaRPr lang="ru-RU" sz="1250" dirty="0"/>
          </a:p>
        </p:txBody>
      </p:sp>
      <p:sp>
        <p:nvSpPr>
          <p:cNvPr id="10" name="Shape 6"/>
          <p:cNvSpPr/>
          <p:nvPr/>
        </p:nvSpPr>
        <p:spPr>
          <a:xfrm>
            <a:off x="4686300" y="1188720"/>
            <a:ext cx="188595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Sitemap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7468" y="1389888"/>
            <a:ext cx="310896" cy="3108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887468" y="1828800"/>
            <a:ext cx="14836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Структурирование наследства и активов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Заблаговременная организация наследования, чтобы исключить заморозку и споры.</a:t>
            </a:r>
            <a:endParaRPr lang="ru-RU" sz="1250" dirty="0"/>
          </a:p>
        </p:txBody>
      </p:sp>
      <p:sp>
        <p:nvSpPr>
          <p:cNvPr id="13" name="Shape 8"/>
          <p:cNvSpPr/>
          <p:nvPr/>
        </p:nvSpPr>
        <p:spPr>
          <a:xfrm>
            <a:off x="6800850" y="1188720"/>
            <a:ext cx="188595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UserShield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2018" y="1389888"/>
            <a:ext cx="310896" cy="31089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002018" y="1828800"/>
            <a:ext cx="14836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Защита иностранного инвестора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Решения по шариату или иностранному праву в зависимости от ситуации клиента.</a:t>
            </a:r>
            <a:endParaRPr lang="ru-RU" sz="1250" dirty="0"/>
          </a:p>
        </p:txBody>
      </p:sp>
      <p:sp>
        <p:nvSpPr>
          <p:cNvPr id="16" name="Shape 10"/>
          <p:cNvSpPr/>
          <p:nvPr/>
        </p:nvSpPr>
        <p:spPr>
          <a:xfrm>
            <a:off x="457200" y="2926080"/>
            <a:ext cx="188595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7" name="icon FaKey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127248"/>
            <a:ext cx="310896" cy="31089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58368" y="3566160"/>
            <a:ext cx="14836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Переход прав после смерти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Представление наследников и оформление перехода недвижимости и счетов.</a:t>
            </a:r>
            <a:endParaRPr lang="ru-RU" sz="1250" dirty="0"/>
          </a:p>
        </p:txBody>
      </p:sp>
      <p:sp>
        <p:nvSpPr>
          <p:cNvPr id="19" name="Shape 12"/>
          <p:cNvSpPr/>
          <p:nvPr/>
        </p:nvSpPr>
        <p:spPr>
          <a:xfrm>
            <a:off x="2571750" y="2926080"/>
            <a:ext cx="188595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20" name="icon FaBuilding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2918" y="3127248"/>
            <a:ext cx="310896" cy="310896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2772918" y="3566160"/>
            <a:ext cx="14836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Создание Holding / SPV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Холдинговые структуры, связанные с планом наследования, для защиты инвестиций.</a:t>
            </a:r>
            <a:endParaRPr lang="ru-RU" sz="1250" dirty="0"/>
          </a:p>
        </p:txBody>
      </p:sp>
      <p:sp>
        <p:nvSpPr>
          <p:cNvPr id="22" name="Shape 14"/>
          <p:cNvSpPr/>
          <p:nvPr/>
        </p:nvSpPr>
        <p:spPr>
          <a:xfrm>
            <a:off x="4686300" y="2926080"/>
            <a:ext cx="188595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23" name="icon FaHous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7468" y="3127248"/>
            <a:ext cx="310896" cy="310896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4887468" y="3566160"/>
            <a:ext cx="14836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Завещания на недвижимость и бизнес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Завещания только на недвижимость или охватывающие доли в компаниях и бизнес.</a:t>
            </a:r>
            <a:endParaRPr lang="ru-RU" sz="1250" dirty="0"/>
          </a:p>
        </p:txBody>
      </p:sp>
      <p:sp>
        <p:nvSpPr>
          <p:cNvPr id="25" name="Shape 16"/>
          <p:cNvSpPr/>
          <p:nvPr/>
        </p:nvSpPr>
        <p:spPr>
          <a:xfrm>
            <a:off x="6800850" y="2926080"/>
            <a:ext cx="188595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26" name="icon FaPeopleRoof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02018" y="3127248"/>
            <a:ext cx="310896" cy="310896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7002018" y="3566160"/>
            <a:ext cx="14836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Семейное управление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Семейный офис, фонды и трасты, партнёрские соглашения.</a:t>
            </a:r>
            <a:endParaRPr lang="ru-RU" sz="1250" dirty="0"/>
          </a:p>
        </p:txBody>
      </p:sp>
      <p:sp>
        <p:nvSpPr>
          <p:cNvPr id="28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регистрируются завещания в ОАЭ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ПРАВОВАЯ БАЗА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Landmar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170432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Суды Дубая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950" dirty="0">
                <a:solidFill>
                  <a:schemeClr val="accent3"/>
                </a:solidFill>
              </a:rPr>
              <a:t>Регистрация завещаний немусульман в судах Дубая по правилам личного статуса немусульман.</a:t>
            </a:r>
            <a:endParaRPr lang="ru-RU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847088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Land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38528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1828800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Суды Абу-Даби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950" dirty="0">
                <a:solidFill>
                  <a:schemeClr val="accent3"/>
                </a:solidFill>
              </a:rPr>
              <a:t>Регистрация в Судебном департаменте Абу-Даби для клиентов, предпочитающих этот путь.</a:t>
            </a:r>
            <a:endParaRPr lang="ru-RU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505456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BuildingColumn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96896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2487168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Завещания DIFC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950" dirty="0">
                <a:solidFill>
                  <a:schemeClr val="accent3"/>
                </a:solidFill>
              </a:rPr>
              <a:t>Реестр завещаний DIFC для немусульман, на английском языке, охватывает активы в ОАЭ.</a:t>
            </a:r>
            <a:endParaRPr lang="ru-RU" sz="1300" dirty="0"/>
          </a:p>
        </p:txBody>
      </p:sp>
      <p:sp>
        <p:nvSpPr>
          <p:cNvPr id="13" name="Shape 8"/>
          <p:cNvSpPr/>
          <p:nvPr/>
        </p:nvSpPr>
        <p:spPr>
          <a:xfrm>
            <a:off x="457200" y="3163824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BuildingColumn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55264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97280" y="3145536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Завещания ADGM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950" dirty="0">
                <a:solidFill>
                  <a:schemeClr val="accent3"/>
                </a:solidFill>
              </a:rPr>
              <a:t>Реестр завещаний ADGM для немусульман, альтернативный англоязычный путь.</a:t>
            </a:r>
            <a:endParaRPr lang="ru-RU" sz="1300" dirty="0"/>
          </a:p>
        </p:txBody>
      </p:sp>
      <p:sp>
        <p:nvSpPr>
          <p:cNvPr id="16" name="Shape 10"/>
          <p:cNvSpPr/>
          <p:nvPr/>
        </p:nvSpPr>
        <p:spPr>
          <a:xfrm>
            <a:off x="457200" y="3822192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7" name="icon FaScaleBalanced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13632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97280" y="3803904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Шариат или иностранное право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950" dirty="0">
                <a:solidFill>
                  <a:schemeClr val="accent3"/>
                </a:solidFill>
              </a:rPr>
              <a:t>Применимое право определяем по гражданству, религии и пожеланиям клиента.</a:t>
            </a:r>
            <a:endParaRPr lang="ru-RU" sz="1300" dirty="0"/>
          </a:p>
        </p:txBody>
      </p:sp>
      <p:sp>
        <p:nvSpPr>
          <p:cNvPr id="19" name="Shape 12"/>
          <p:cNvSpPr/>
          <p:nvPr/>
        </p:nvSpPr>
        <p:spPr>
          <a:xfrm>
            <a:off x="5943600" y="1188720"/>
            <a:ext cx="2743200" cy="324612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6053328" y="1298448"/>
            <a:ext cx="2523744" cy="3026664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6263640" y="1508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Каждый клиент — отдельный случай</a:t>
            </a:r>
            <a:endParaRPr lang="ru-RU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6263640" y="2194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150" dirty="0">
                <a:solidFill>
                  <a:schemeClr val="bg2"/>
                </a:solidFill>
              </a:rPr>
              <a:t>Гражданство, религия, семейное положение и местонахождение активов определяют правильный путь. Поэтому мы всегда начинаем с ознакомительной встречи, а не с типа завещания.</a:t>
            </a:r>
            <a:endParaRPr lang="ru-RU" sz="1150" dirty="0"/>
          </a:p>
        </p:txBody>
      </p:sp>
      <p:sp>
        <p:nvSpPr>
          <p:cNvPr id="23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Реальность в четырёх цифрах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ЦИФРЫ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49%</a:t>
            </a:r>
            <a:endParaRPr lang="ru-RU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экспатов ОАЭ ещё не начали составлять завещание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Опрос YouGov, сентябрь 2026</a:t>
            </a:r>
            <a:endParaRPr lang="ru-RU" sz="1250" dirty="0"/>
          </a:p>
        </p:txBody>
      </p:sp>
      <p:sp>
        <p:nvSpPr>
          <p:cNvPr id="7" name="Shape 5"/>
          <p:cNvSpPr/>
          <p:nvPr/>
        </p:nvSpPr>
        <p:spPr>
          <a:xfrm>
            <a:off x="2564892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7772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35,000+</a:t>
            </a:r>
            <a:endParaRPr lang="ru-RU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747772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зарегистрированных завещаний немусульман с 2015 г.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DIFC (более 14 000) плюс Абу-Даби (21 000) при населении свыше 11 млн</a:t>
            </a:r>
            <a:endParaRPr lang="ru-RU" sz="1250" dirty="0"/>
          </a:p>
        </p:txBody>
      </p:sp>
      <p:sp>
        <p:nvSpPr>
          <p:cNvPr id="10" name="Shape 8"/>
          <p:cNvSpPr/>
          <p:nvPr/>
        </p:nvSpPr>
        <p:spPr>
          <a:xfrm>
            <a:off x="4672584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55464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13.8</a:t>
            </a:r>
            <a:endParaRPr lang="ru-RU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855464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рабочих дней: средний срок мирового урегулирования наследства в Дубае (2025)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против 24 дней в 2024 г. и 81 дня для судебных дел в 2023 г.</a:t>
            </a:r>
            <a:endParaRPr lang="ru-RU" sz="1250" dirty="0"/>
          </a:p>
        </p:txBody>
      </p:sp>
      <p:sp>
        <p:nvSpPr>
          <p:cNvPr id="13" name="Shape 11"/>
          <p:cNvSpPr/>
          <p:nvPr/>
        </p:nvSpPr>
        <p:spPr>
          <a:xfrm>
            <a:off x="6780276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63156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 трлн</a:t>
            </a:r>
            <a:endParaRPr lang="ru-RU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963156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активов семей стран Залива перейдёт следующему поколению к 2030 г.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и менее трети семейных компаний имеют план преемственности</a:t>
            </a:r>
            <a:endParaRPr lang="ru-RU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187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800" i="1" dirty="0">
                <a:solidFill>
                  <a:schemeClr val="accent3"/>
                </a:solidFill>
              </a:rPr>
              <a:t>Источники: DIFC Courts, Судебный департамент Абу-Даби, суды Дубая, опрос YouGov (сент. 2026), Khaleej Times / Gulf News. Полные ссылки в презентации «Завещания и наследство в ОАЭ: что говорят цифры».</a:t>
            </a:r>
            <a:endParaRPr lang="ru-RU" sz="800" dirty="0"/>
          </a:p>
        </p:txBody>
      </p:sp>
      <p:sp>
        <p:nvSpPr>
          <p:cNvPr id="17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 кого нет завещания: данные опросов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ЦИФРЫ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49%</a:t>
            </a:r>
            <a:endParaRPr lang="ru-RU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не начали составлять завещание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экспатов ОАЭ, 2026</a:t>
            </a:r>
            <a:endParaRPr lang="ru-RU" sz="1250" dirty="0"/>
          </a:p>
        </p:txBody>
      </p:sp>
      <p:sp>
        <p:nvSpPr>
          <p:cNvPr id="7" name="Shape 5"/>
          <p:cNvSpPr/>
          <p:nvPr/>
        </p:nvSpPr>
        <p:spPr>
          <a:xfrm>
            <a:off x="2564892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7772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56%</a:t>
            </a:r>
            <a:endParaRPr lang="ru-RU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2747772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считают, что супруг автоматически наследует всё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юридически ошибочное мнение</a:t>
            </a:r>
            <a:endParaRPr lang="ru-RU" sz="1250" dirty="0"/>
          </a:p>
        </p:txBody>
      </p:sp>
      <p:sp>
        <p:nvSpPr>
          <p:cNvPr id="10" name="Shape 8"/>
          <p:cNvSpPr/>
          <p:nvPr/>
        </p:nvSpPr>
        <p:spPr>
          <a:xfrm>
            <a:off x="4672584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55464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24%</a:t>
            </a:r>
            <a:endParaRPr lang="ru-RU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855464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родителей несовершеннолетних оформили опеку документально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при этом 73% полагают, что семья знает их пожелания</a:t>
            </a:r>
            <a:endParaRPr lang="ru-RU" sz="1250" dirty="0"/>
          </a:p>
        </p:txBody>
      </p:sp>
      <p:sp>
        <p:nvSpPr>
          <p:cNvPr id="13" name="Shape 11"/>
          <p:cNvSpPr/>
          <p:nvPr/>
        </p:nvSpPr>
        <p:spPr>
          <a:xfrm>
            <a:off x="6780276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63156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~90%</a:t>
            </a:r>
            <a:endParaRPr lang="ru-RU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963156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владельцев активов в Дубае не имели зарегистрированного в ОАЭ завещания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Опрос реестра DIFC, 2017: завещание было у «чуть более 10%»</a:t>
            </a:r>
            <a:endParaRPr lang="ru-RU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187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800" i="1" dirty="0">
                <a:solidFill>
                  <a:schemeClr val="accent3"/>
                </a:solidFill>
              </a:rPr>
              <a:t>YouGov для Blanket, 1 014 респондентов, сент. 2026 (Gulf News, окт. 2026); опрос реестра DIFC 2017 (Gulf News, ноя. 2018). Причины: 28% «недостаточно активов», 21% «не знаю, с чего начать».</a:t>
            </a:r>
            <a:endParaRPr lang="ru-RU" sz="800" dirty="0"/>
          </a:p>
        </p:txBody>
      </p:sp>
      <p:sp>
        <p:nvSpPr>
          <p:cNvPr id="17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DIFC: ежегодные регистрации ускоряются</a:t>
            </a:r>
            <a:endParaRPr lang="ru-RU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ЦИФРЫ</a:t>
            </a:r>
            <a:endParaRPr lang="ru-RU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2120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97880" y="1188720"/>
            <a:ext cx="2788920" cy="30175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26480" y="13258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+120%</a:t>
            </a:r>
            <a:endParaRPr lang="ru-RU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2057400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рост в 1 кв. 2026 к 1 кв. 2025</a:t>
            </a:r>
            <a:endParaRPr lang="ru-RU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2615184"/>
            <a:ext cx="233172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2025: 2 220 завещаний (+22%). Заявления об исполнении завещаний: 41 в 2025 г. (+37%), 27 приказов только за 1 пол. 2025.</a:t>
            </a:r>
            <a:endParaRPr lang="ru-RU" sz="1000" dirty="0"/>
          </a:p>
          <a:p>
            <a:pPr algn="l" indent="0" marL="0"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* Рассчитано по объявленным темпам роста.</a:t>
            </a:r>
            <a:endParaRPr lang="ru-RU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187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800" i="1" dirty="0">
                <a:solidFill>
                  <a:schemeClr val="accent3"/>
                </a:solidFill>
              </a:rPr>
              <a:t>Пресс-релизы DIFC Courts 2017–2026 и статистический портал</a:t>
            </a:r>
            <a:endParaRPr lang="ru-RU" sz="800" dirty="0"/>
          </a:p>
        </p:txBody>
      </p:sp>
      <p:sp>
        <p:nvSpPr>
          <p:cNvPr id="10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Дубай сократил срок урегулирования наследства с 81 дня до 13,8</a:t>
            </a:r>
            <a:endParaRPr lang="ru-RU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ЦИФРЫ</a:t>
            </a:r>
            <a:endParaRPr lang="ru-RU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2120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97880" y="1188720"/>
            <a:ext cx="2788920" cy="30175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26480" y="13258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 → 3</a:t>
            </a:r>
            <a:endParaRPr lang="ru-RU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20574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дней: срок процедур после запуска платформы «Джабр» (окт. 2025)</a:t>
            </a:r>
            <a:endParaRPr lang="ru-RU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283464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Требования сокращены с 10 до 4; 1 103 дела за первые три месяца. Правила Суда по наследству: подготовка ≤ 30 дней, процесс ≤ 12 месяцев. Дела вне Дубая, без завещания или спорные этими цифрами не охвачены.</a:t>
            </a:r>
            <a:endParaRPr lang="ru-RU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187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800" i="1" dirty="0">
                <a:solidFill>
                  <a:schemeClr val="accent3"/>
                </a:solidFill>
              </a:rPr>
              <a:t>Суды Дубая: годовые отчёты 2022–2025 и Медиа-офис правительства Дубая</a:t>
            </a:r>
            <a:endParaRPr lang="ru-RU" sz="800" dirty="0"/>
          </a:p>
        </p:txBody>
      </p:sp>
      <p:sp>
        <p:nvSpPr>
          <p:cNvPr id="10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Семейный бизнес Залива в цифрах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ЦИФРЫ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ru-RU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ВВП стран Залива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создаётся семейными компаниями</a:t>
            </a:r>
            <a:endParaRPr lang="ru-RU" sz="1250" dirty="0"/>
          </a:p>
        </p:txBody>
      </p:sp>
      <p:sp>
        <p:nvSpPr>
          <p:cNvPr id="7" name="Shape 5"/>
          <p:cNvSpPr/>
          <p:nvPr/>
        </p:nvSpPr>
        <p:spPr>
          <a:xfrm>
            <a:off x="2564892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7772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ru-RU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2747772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рабочей силы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занято в семейных компаниях</a:t>
            </a:r>
            <a:endParaRPr lang="ru-RU" sz="1250" dirty="0"/>
          </a:p>
        </p:txBody>
      </p:sp>
      <p:sp>
        <p:nvSpPr>
          <p:cNvPr id="10" name="Shape 8"/>
          <p:cNvSpPr/>
          <p:nvPr/>
        </p:nvSpPr>
        <p:spPr>
          <a:xfrm>
            <a:off x="4672584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55464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ru-RU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855464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частного сектора ОАЭ и Саудовской Аравии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принадлежит семьям</a:t>
            </a:r>
            <a:endParaRPr lang="ru-RU" sz="1250" dirty="0"/>
          </a:p>
        </p:txBody>
      </p:sp>
      <p:sp>
        <p:nvSpPr>
          <p:cNvPr id="13" name="Shape 11"/>
          <p:cNvSpPr/>
          <p:nvPr/>
        </p:nvSpPr>
        <p:spPr>
          <a:xfrm>
            <a:off x="6780276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63156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$1T</a:t>
            </a:r>
            <a:endParaRPr lang="ru-RU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6963156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активов перейдёт между поколениями к 2030 г.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по странам Залива</a:t>
            </a:r>
            <a:endParaRPr lang="ru-RU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187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800" i="1" dirty="0">
                <a:solidFill>
                  <a:schemeClr val="accent3"/>
                </a:solidFill>
              </a:rPr>
              <a:t>Gulf News, фев. 2023 (Jersey Finance); Khaleej Times, май 2026 (Georgetown McDonough, программа в Дубае).</a:t>
            </a:r>
            <a:endParaRPr lang="ru-RU" sz="800" dirty="0"/>
          </a:p>
        </p:txBody>
      </p:sp>
      <p:sp>
        <p:nvSpPr>
          <p:cNvPr id="17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задокументировано, а чего не существует</a:t>
            </a:r>
            <a:endParaRPr lang="ru-RU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ЦИФРЫ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00500" cy="548640"/>
          </a:xfrm>
          <a:prstGeom prst="rect">
            <a:avLst/>
          </a:prstGeom>
          <a:solidFill>
            <a:srgbClr val="B5723B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3726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Официально задокументировано</a:t>
            </a:r>
            <a:endParaRPr lang="ru-RU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4000500" cy="26974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874520"/>
            <a:ext cx="37261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Число завещаний в DIFC (с 2015) и Абу-Даби (с 2017)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Дела, суммы и сроки в судах Дубая (2022–2025)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Разделение дел Дубая на мусульман и немусульман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Общая численность населения и её рост (федеральная статистика)</a:t>
            </a:r>
            <a:endParaRPr lang="ru-RU" sz="1100" dirty="0"/>
          </a:p>
        </p:txBody>
      </p:sp>
      <p:sp>
        <p:nvSpPr>
          <p:cNvPr id="8" name="Shape 6"/>
          <p:cNvSpPr/>
          <p:nvPr/>
        </p:nvSpPr>
        <p:spPr>
          <a:xfrm>
            <a:off x="4686300" y="1188720"/>
            <a:ext cx="4000500" cy="54864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23460" y="1188720"/>
            <a:ext cx="3726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accent2"/>
                </a:solidFill>
              </a:rPr>
              <a:t>Отсутствует или не публикуется</a:t>
            </a:r>
            <a:endParaRPr lang="ru-RU" sz="1300" dirty="0"/>
          </a:p>
        </p:txBody>
      </p:sp>
      <p:sp>
        <p:nvSpPr>
          <p:cNvPr id="10" name="Shape 8"/>
          <p:cNvSpPr/>
          <p:nvPr/>
        </p:nvSpPr>
        <p:spPr>
          <a:xfrm>
            <a:off x="4686300" y="1737360"/>
            <a:ext cx="4000500" cy="26974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3460" y="1874520"/>
            <a:ext cx="37261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Официальное число умерших без завещания за любой год 2000–2026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Число завещаний в реестре судов Дубая для немусульман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Официальное сравнение сроков с завещанием и без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Свежая официальная доля экспатов после переписи 2010 г.</a:t>
            </a:r>
            <a:endParaRPr lang="ru-RU" sz="1100" dirty="0"/>
          </a:p>
        </p:txBody>
      </p:sp>
      <p:sp>
        <p:nvSpPr>
          <p:cNvPr id="12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ru-RU" alt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агентства недвижимости</a:t>
            </a:r>
            <a:endParaRPr lang="ru-RU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758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400" dirty="0">
                <a:solidFill>
                  <a:schemeClr val="accent2"/>
                </a:solidFill>
              </a:rPr>
              <a:t>Брокер контактирует с иностранным инвестором именно в тот момент, когда нужна защита</a:t>
            </a:r>
            <a:endParaRPr lang="ru-RU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брокер — это вход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ЛОГИКА ВХОДА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CircleQuest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170432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Большинство иностранных покупателей не знают правил наследования в ОАЭ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Они покупают на миллионы дирхамов без завещания и без правовой структуры.</a:t>
            </a:r>
            <a:endParaRPr lang="ru-RU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01168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Hous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1993392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Покупателю недвижимости, как правило, нужно завещание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Момент покупки — лучшее время, чтобы заговорить о защите.</a:t>
            </a:r>
            <a:endParaRPr lang="ru-RU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83464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Gem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2608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2816352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У брокеров состоятельная клиентская база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Особенно у тех, кто продаёт элитную, инвестиционную и строящуюся недвижимость.</a:t>
            </a:r>
            <a:endParaRPr lang="ru-RU" sz="1300" dirty="0"/>
          </a:p>
        </p:txBody>
      </p:sp>
      <p:sp>
        <p:nvSpPr>
          <p:cNvPr id="13" name="Shape 8"/>
          <p:cNvSpPr/>
          <p:nvPr/>
        </p:nvSpPr>
        <p:spPr>
          <a:xfrm>
            <a:off x="457200" y="365760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Plu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74904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97280" y="3639312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Брокерам нужна дополнительная ценность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Мы даём им конкурентное отличие без какой-либо юридической нагрузки с их стороны.</a:t>
            </a:r>
            <a:endParaRPr lang="ru-RU" sz="1300" dirty="0"/>
          </a:p>
        </p:txBody>
      </p:sp>
      <p:sp>
        <p:nvSpPr>
          <p:cNvPr id="16" name="Shape 10"/>
          <p:cNvSpPr/>
          <p:nvPr/>
        </p:nvSpPr>
        <p:spPr>
          <a:xfrm>
            <a:off x="5943600" y="1188720"/>
            <a:ext cx="2743200" cy="324612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6053328" y="1298448"/>
            <a:ext cx="2523744" cy="3026664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6263640" y="1508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получает брокер</a:t>
            </a:r>
            <a:endParaRPr lang="ru-RU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6263640" y="2194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150" dirty="0">
                <a:solidFill>
                  <a:schemeClr val="bg2"/>
                </a:solidFill>
              </a:rPr>
              <a:t>1. Доверие клиента: брокер заботится о защите, а не только о продаже.</a:t>
            </a:r>
            <a:endParaRPr lang="ru-RU" sz="1150" dirty="0"/>
          </a:p>
          <a:p>
            <a:pPr algn="l" indent="0" marL="0">
              <a:buNone/>
            </a:pPr>
            <a:r>
              <a:rPr lang="ru-RU" altLang="en-US" sz="1150" dirty="0">
                <a:solidFill>
                  <a:schemeClr val="bg2"/>
                </a:solidFill>
              </a:rPr>
              <a:t>2. Выше процент закрытия сделок: инвесторы спокойнее, когда есть правовая защита.</a:t>
            </a:r>
            <a:endParaRPr lang="ru-RU" sz="1150" dirty="0"/>
          </a:p>
          <a:p>
            <a:pPr algn="l" indent="0" marL="0">
              <a:buNone/>
            </a:pPr>
            <a:r>
              <a:rPr lang="ru-RU" altLang="en-US" sz="1150" dirty="0">
                <a:solidFill>
                  <a:schemeClr val="bg2"/>
                </a:solidFill>
              </a:rPr>
              <a:t>3. VIP-сервис: брокер становится полноценным инвестиционным советником.</a:t>
            </a:r>
            <a:endParaRPr lang="ru-RU" sz="1150" dirty="0"/>
          </a:p>
          <a:p>
            <a:pPr algn="l" indent="0" marL="0">
              <a:buNone/>
            </a:pPr>
            <a:r>
              <a:rPr lang="ru-RU" altLang="en-US" sz="1150" dirty="0">
                <a:solidFill>
                  <a:schemeClr val="bg2"/>
                </a:solidFill>
              </a:rPr>
              <a:t>4. Дополнительный доход через реферальную структуру.</a:t>
            </a:r>
            <a:endParaRPr lang="ru-RU" sz="1150" dirty="0"/>
          </a:p>
        </p:txBody>
      </p:sp>
      <p:sp>
        <p:nvSpPr>
          <p:cNvPr id="20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Наша целевая аудитория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ЦЕЛЕВЫЕ СЕГМЕНТЫ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00500" cy="548640"/>
          </a:xfrm>
          <a:prstGeom prst="rect">
            <a:avLst/>
          </a:prstGeom>
          <a:solidFill>
            <a:srgbClr val="B5723B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3726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Агентства недвижимости</a:t>
            </a:r>
            <a:endParaRPr lang="ru-RU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4000500" cy="26974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874520"/>
            <a:ext cx="37261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Компании, продающие строящуюся недвижимость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Компании, работающие с русскими, европейскими и китайскими покупателями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Компании, обслуживающие состоятельных клиентов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Компании, продающие элитную и инвестиционную недвижимость</a:t>
            </a:r>
            <a:endParaRPr lang="ru-RU" sz="1100" dirty="0"/>
          </a:p>
        </p:txBody>
      </p:sp>
      <p:sp>
        <p:nvSpPr>
          <p:cNvPr id="8" name="Shape 6"/>
          <p:cNvSpPr/>
          <p:nvPr/>
        </p:nvSpPr>
        <p:spPr>
          <a:xfrm>
            <a:off x="4686300" y="1188720"/>
            <a:ext cx="4000500" cy="54864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23460" y="1188720"/>
            <a:ext cx="3726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accent2"/>
                </a:solidFill>
              </a:rPr>
              <a:t>Иностранные инвесторы</a:t>
            </a:r>
            <a:endParaRPr lang="ru-RU" sz="1300" dirty="0"/>
          </a:p>
        </p:txBody>
      </p:sp>
      <p:sp>
        <p:nvSpPr>
          <p:cNvPr id="10" name="Shape 8"/>
          <p:cNvSpPr/>
          <p:nvPr/>
        </p:nvSpPr>
        <p:spPr>
          <a:xfrm>
            <a:off x="4686300" y="1737360"/>
            <a:ext cx="4000500" cy="26974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3460" y="1874520"/>
            <a:ext cx="37261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Россияне, британцы, индийцы, китайцы, украинцы, европейцы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Владельцы недвижимости в ОАЭ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Владельцы компаний и долей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Те, у кого есть дети в ОАЭ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Держатели крупных банковских счетов</a:t>
            </a:r>
            <a:endParaRPr lang="ru-RU" sz="1100" dirty="0"/>
          </a:p>
        </p:txBody>
      </p:sp>
      <p:sp>
        <p:nvSpPr>
          <p:cNvPr id="12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ru-RU" alt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Модель сотрудничества и правовая структура</a:t>
            </a:r>
            <a:endParaRPr lang="ru-RU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758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400" dirty="0">
                <a:solidFill>
                  <a:schemeClr val="accent2"/>
                </a:solidFill>
              </a:rPr>
              <a:t>Брокер открывает дверь; мы берём на себя каждый юридический шаг</a:t>
            </a:r>
            <a:endParaRPr lang="ru-RU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распределяются роли с партнёром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МОДЕЛЬ, КОТОРАЯ РАБОТАЕТ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00500" cy="54864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3726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accent2"/>
                </a:solidFill>
              </a:rPr>
              <a:t>Агентство</a:t>
            </a:r>
            <a:endParaRPr lang="ru-RU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4000500" cy="26974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874520"/>
            <a:ext cx="37261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Направляет клиента к нам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Представляет услугу как дополнительную ценность своего предложения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Получает реферальное вознаграждение или комиссию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Не даёт никаких юридических консультаций</a:t>
            </a:r>
            <a:endParaRPr lang="ru-RU" sz="1100" dirty="0"/>
          </a:p>
        </p:txBody>
      </p:sp>
      <p:sp>
        <p:nvSpPr>
          <p:cNvPr id="8" name="Shape 6"/>
          <p:cNvSpPr/>
          <p:nvPr/>
        </p:nvSpPr>
        <p:spPr>
          <a:xfrm>
            <a:off x="4686300" y="1188720"/>
            <a:ext cx="4000500" cy="548640"/>
          </a:xfrm>
          <a:prstGeom prst="rect">
            <a:avLst/>
          </a:prstGeom>
          <a:solidFill>
            <a:srgbClr val="B5723B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23460" y="1188720"/>
            <a:ext cx="3726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Rashid Alkaitoob Advocates</a:t>
            </a:r>
            <a:endParaRPr lang="ru-RU" sz="1300" dirty="0"/>
          </a:p>
        </p:txBody>
      </p:sp>
      <p:sp>
        <p:nvSpPr>
          <p:cNvPr id="10" name="Shape 8"/>
          <p:cNvSpPr/>
          <p:nvPr/>
        </p:nvSpPr>
        <p:spPr>
          <a:xfrm>
            <a:off x="4686300" y="1737360"/>
            <a:ext cx="4000500" cy="26974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3460" y="1874520"/>
            <a:ext cx="37261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Юридическая консультация и оценка рисков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Составление, перевод и нотариальное заверение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Регистрация и взаимодействие с органами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Защита брокера от любой юридической ответственности</a:t>
            </a:r>
            <a:endParaRPr lang="ru-RU" sz="1100" dirty="0"/>
          </a:p>
        </p:txBody>
      </p:sp>
      <p:sp>
        <p:nvSpPr>
          <p:cNvPr id="12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Реферальное соглашение о сотрудничестве</a:t>
            </a:r>
            <a:endParaRPr lang="ru-RU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ПРЕДЛАГАЕМАЯ ПРАВОВАЯ СТРУКТУРА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ArrowRightArrowLef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170432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Механизм направления клиентов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Стандартное представление от брокера и первый контакт с нашей стороны в течение одного рабочего дня.</a:t>
            </a:r>
            <a:endParaRPr lang="ru-RU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847088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Percen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38528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1828800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Размер комиссии и порядок выплаты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Фиксированный процент или сумма за клиента с соблюдением профессиональных правил и местного законодательства.</a:t>
            </a:r>
            <a:endParaRPr lang="ru-RU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505456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Lo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96896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2487168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Конфиденциальность и защита данных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NDA и защита данных клиентов в соответствии с законом.</a:t>
            </a:r>
            <a:endParaRPr lang="ru-RU" sz="1300" dirty="0"/>
          </a:p>
        </p:txBody>
      </p:sp>
      <p:sp>
        <p:nvSpPr>
          <p:cNvPr id="13" name="Shape 8"/>
          <p:cNvSpPr/>
          <p:nvPr/>
        </p:nvSpPr>
        <p:spPr>
          <a:xfrm>
            <a:off x="457200" y="3163824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UserShield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55264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97280" y="3145536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Отсутствие юридической ответственности брокера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Брокер не даёт юридических консультаций и не гарантирует результатов.</a:t>
            </a:r>
            <a:endParaRPr lang="ru-RU" sz="1300" dirty="0"/>
          </a:p>
        </p:txBody>
      </p:sp>
      <p:sp>
        <p:nvSpPr>
          <p:cNvPr id="16" name="Shape 10"/>
          <p:cNvSpPr/>
          <p:nvPr/>
        </p:nvSpPr>
        <p:spPr>
          <a:xfrm>
            <a:off x="457200" y="3822192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7" name="icon FaBa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13632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97280" y="3803904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Запрет обхода (non-circumvention)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Клиентские отношения каждой стороны защищены.</a:t>
            </a:r>
            <a:endParaRPr lang="ru-RU" sz="1300" dirty="0"/>
          </a:p>
        </p:txBody>
      </p:sp>
      <p:sp>
        <p:nvSpPr>
          <p:cNvPr id="19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ru-RU" alt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Рабочий процесс</a:t>
            </a:r>
            <a:endParaRPr lang="ru-RU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758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400" dirty="0">
                <a:solidFill>
                  <a:schemeClr val="accent2"/>
                </a:solidFill>
              </a:rPr>
              <a:t>От подписания с брокером до регистрации завещания</a:t>
            </a:r>
            <a:endParaRPr lang="ru-RU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Этап первый: с агентством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ЗАПУСК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7680960" cy="0"/>
          </a:xfrm>
          <a:prstGeom prst="line">
            <a:avLst/>
          </a:prstGeom>
          <a:noFill/>
          <a:ln w="9525">
            <a:solidFill>
              <a:srgbClr val="D9B3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57400"/>
            <a:ext cx="1933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Подписание соглашения о сотрудничестве</a:t>
            </a:r>
            <a:endParaRPr lang="ru-RU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606040"/>
            <a:ext cx="19339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Реферальная структура, NDA, структура комиссии и запрет обхода.</a:t>
            </a:r>
            <a:endParaRPr lang="ru-RU" sz="1050" dirty="0"/>
          </a:p>
        </p:txBody>
      </p:sp>
      <p:sp>
        <p:nvSpPr>
          <p:cNvPr id="9" name="Shape 7"/>
          <p:cNvSpPr/>
          <p:nvPr/>
        </p:nvSpPr>
        <p:spPr>
          <a:xfrm>
            <a:off x="2555748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55748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555748" y="2057400"/>
            <a:ext cx="1933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Обучение команды брокера</a:t>
            </a:r>
            <a:endParaRPr lang="ru-RU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555748" y="2606040"/>
            <a:ext cx="19339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Простой PDF, презентация и FAQ: что происходит с недвижимостью после смерти? Замораживаются ли счета? Как защитить семью?</a:t>
            </a:r>
            <a:endParaRPr lang="ru-RU" sz="1050" dirty="0"/>
          </a:p>
        </p:txBody>
      </p:sp>
      <p:sp>
        <p:nvSpPr>
          <p:cNvPr id="13" name="Shape 11"/>
          <p:cNvSpPr/>
          <p:nvPr/>
        </p:nvSpPr>
        <p:spPr>
          <a:xfrm>
            <a:off x="4654296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54296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654296" y="2057400"/>
            <a:ext cx="1933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Передача скрипта продаж</a:t>
            </a:r>
            <a:endParaRPr lang="ru-RU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654296" y="2606040"/>
            <a:ext cx="19339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Одна фраза, которую брокер произносит в нужный момент, без юридических советов.</a:t>
            </a:r>
            <a:endParaRPr lang="ru-RU" sz="1050" dirty="0"/>
          </a:p>
        </p:txBody>
      </p:sp>
      <p:sp>
        <p:nvSpPr>
          <p:cNvPr id="17" name="Shape 15"/>
          <p:cNvSpPr/>
          <p:nvPr/>
        </p:nvSpPr>
        <p:spPr>
          <a:xfrm>
            <a:off x="6752844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52844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752844" y="2057400"/>
            <a:ext cx="1933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Совместный запуск</a:t>
            </a:r>
            <a:endParaRPr lang="ru-RU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752844" y="2606040"/>
            <a:ext cx="19339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Бесплатный семинар для отдела продаж, бесплатная первая консультация для их клиентов и готовые маркетинговые материалы.</a:t>
            </a:r>
            <a:endParaRPr lang="ru-RU" sz="1050" dirty="0"/>
          </a:p>
        </p:txBody>
      </p:sp>
      <p:sp>
        <p:nvSpPr>
          <p:cNvPr id="21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Этап второй: после направления клиента</a:t>
            </a:r>
            <a:endParaRPr lang="ru-RU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ПУТЬ КЛИЕНТА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7680960" cy="0"/>
          </a:xfrm>
          <a:prstGeom prst="line">
            <a:avLst/>
          </a:prstGeom>
          <a:noFill/>
          <a:ln w="9525">
            <a:solidFill>
              <a:srgbClr val="D9B3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57400"/>
            <a:ext cx="15142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Ознакомительная встреча</a:t>
            </a:r>
            <a:endParaRPr lang="ru-RU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606040"/>
            <a:ext cx="151424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Гражданство, религия, семейное положение, активы, недвижимость, компании, дети, банковские счета.</a:t>
            </a:r>
            <a:endParaRPr lang="ru-RU" sz="1050" dirty="0"/>
          </a:p>
        </p:txBody>
      </p:sp>
      <p:sp>
        <p:nvSpPr>
          <p:cNvPr id="9" name="Shape 7"/>
          <p:cNvSpPr/>
          <p:nvPr/>
        </p:nvSpPr>
        <p:spPr>
          <a:xfrm>
            <a:off x="2136038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36038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136038" y="2057400"/>
            <a:ext cx="15142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Оценка рисков</a:t>
            </a:r>
            <a:endParaRPr lang="ru-RU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136038" y="2606040"/>
            <a:ext cx="151424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Только завещание, завещание DIFC или ADGM, корпоративное структурирование, траст или фонд, либо холдинговая компания?</a:t>
            </a:r>
            <a:endParaRPr lang="ru-RU" sz="1050" dirty="0"/>
          </a:p>
        </p:txBody>
      </p:sp>
      <p:sp>
        <p:nvSpPr>
          <p:cNvPr id="13" name="Shape 11"/>
          <p:cNvSpPr/>
          <p:nvPr/>
        </p:nvSpPr>
        <p:spPr>
          <a:xfrm>
            <a:off x="3814877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14877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814877" y="2057400"/>
            <a:ext cx="15142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Предложение</a:t>
            </a:r>
            <a:endParaRPr lang="ru-RU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814877" y="2606040"/>
            <a:ext cx="151424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Объём, гонорар, сроки и стоимость регистрации.</a:t>
            </a:r>
            <a:endParaRPr lang="ru-RU" sz="1050" dirty="0"/>
          </a:p>
        </p:txBody>
      </p:sp>
      <p:sp>
        <p:nvSpPr>
          <p:cNvPr id="17" name="Shape 15"/>
          <p:cNvSpPr/>
          <p:nvPr/>
        </p:nvSpPr>
        <p:spPr>
          <a:xfrm>
            <a:off x="5493715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93715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93715" y="2057400"/>
            <a:ext cx="15142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Составление</a:t>
            </a:r>
            <a:endParaRPr lang="ru-RU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93715" y="2606040"/>
            <a:ext cx="151424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Завещание, перевод, свидетели и нотариальное заверение.</a:t>
            </a:r>
            <a:endParaRPr lang="ru-RU" sz="1050" dirty="0"/>
          </a:p>
        </p:txBody>
      </p:sp>
      <p:sp>
        <p:nvSpPr>
          <p:cNvPr id="21" name="Shape 19"/>
          <p:cNvSpPr/>
          <p:nvPr/>
        </p:nvSpPr>
        <p:spPr>
          <a:xfrm>
            <a:off x="7172554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72554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172554" y="2057400"/>
            <a:ext cx="15142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Регистрация</a:t>
            </a:r>
            <a:endParaRPr lang="ru-RU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172554" y="2606040"/>
            <a:ext cx="151424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По органу: суды Дубая, DIFC, ADGM или нотариус.</a:t>
            </a:r>
            <a:endParaRPr lang="ru-RU" sz="1050" dirty="0"/>
          </a:p>
        </p:txBody>
      </p:sp>
      <p:sp>
        <p:nvSpPr>
          <p:cNvPr id="25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 встрече: сначала ознакомительные вопросы</a:t>
            </a:r>
            <a:endParaRPr lang="ru-RU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НИКОГДА НЕ НАЧИНАЙТЕ С «КАКОЕ ЗАВЕЩАНИЕ ВЫ ХОТИТЕ?»</a:t>
            </a:r>
            <a:endParaRPr lang="ru-RU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dirty="0">
                <a:solidFill>
                  <a:schemeClr val="accent1"/>
                </a:solidFill>
              </a:rPr>
              <a:t>ВОПРОС</a:t>
            </a:r>
            <a:endParaRPr lang="ru-RU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166360" y="11430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dirty="0">
                <a:solidFill>
                  <a:schemeClr val="accent1"/>
                </a:solidFill>
              </a:rPr>
              <a:t>НА ЧТО УКАЗЫВАЕТ</a:t>
            </a:r>
            <a:endParaRPr lang="ru-RU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384048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7" name="icon FaCircleQuest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36192"/>
            <a:ext cx="237744" cy="2377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14630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50" dirty="0">
                <a:solidFill>
                  <a:schemeClr val="tx1"/>
                </a:solidFill>
              </a:rPr>
              <a:t>У вас есть недвижимость в ОАЭ?</a:t>
            </a:r>
            <a:endParaRPr lang="ru-RU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5166360" y="14630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00" b="1" dirty="0">
                <a:solidFill>
                  <a:schemeClr val="accent4"/>
                </a:solidFill>
              </a:rPr>
              <a:t>Завещание на недвижимость / суды Дубая или DIFC</a:t>
            </a:r>
            <a:endParaRPr lang="ru-RU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1920240"/>
            <a:ext cx="8229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CircleQuesti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93392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14400" y="1920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50" dirty="0">
                <a:solidFill>
                  <a:schemeClr val="tx1"/>
                </a:solidFill>
              </a:rPr>
              <a:t>У вас есть компании или доли?</a:t>
            </a:r>
            <a:endParaRPr lang="ru-RU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5166360" y="19202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00" b="1" dirty="0">
                <a:solidFill>
                  <a:schemeClr val="accent4"/>
                </a:solidFill>
              </a:rPr>
              <a:t>Завещание на бизнес / корпоративное структурирование / холдинг</a:t>
            </a:r>
            <a:endParaRPr lang="ru-RU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2377440"/>
            <a:ext cx="8229600" cy="384048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5" name="icon FaCircleQuesti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450592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14400" y="23774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50" dirty="0">
                <a:solidFill>
                  <a:schemeClr val="tx1"/>
                </a:solidFill>
              </a:rPr>
              <a:t>У вас есть дети?</a:t>
            </a:r>
            <a:endParaRPr lang="ru-RU" sz="1150" dirty="0"/>
          </a:p>
        </p:txBody>
      </p:sp>
      <p:sp>
        <p:nvSpPr>
          <p:cNvPr id="17" name="Text 12"/>
          <p:cNvSpPr txBox="1"/>
          <p:nvPr/>
        </p:nvSpPr>
        <p:spPr>
          <a:xfrm>
            <a:off x="5166360" y="23774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00" b="1" dirty="0">
                <a:solidFill>
                  <a:schemeClr val="accent4"/>
                </a:solidFill>
              </a:rPr>
              <a:t>Положения об опеке в завещании</a:t>
            </a:r>
            <a:endParaRPr lang="ru-RU" sz="1100" dirty="0"/>
          </a:p>
        </p:txBody>
      </p:sp>
      <p:sp>
        <p:nvSpPr>
          <p:cNvPr id="18" name="Shape 13"/>
          <p:cNvSpPr/>
          <p:nvPr/>
        </p:nvSpPr>
        <p:spPr>
          <a:xfrm>
            <a:off x="457200" y="2834640"/>
            <a:ext cx="8229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9" name="icon FaCircleQuesti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2907792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14400" y="28346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50" dirty="0">
                <a:solidFill>
                  <a:schemeClr val="tx1"/>
                </a:solidFill>
              </a:rPr>
              <a:t>Наследники находятся в ОАЭ или за рубежом?</a:t>
            </a:r>
            <a:endParaRPr lang="ru-RU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66360" y="28346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00" b="1" dirty="0">
                <a:solidFill>
                  <a:schemeClr val="accent4"/>
                </a:solidFill>
              </a:rPr>
              <a:t>Выбор реестра и применимого права</a:t>
            </a:r>
            <a:endParaRPr lang="ru-RU" sz="1100" dirty="0"/>
          </a:p>
        </p:txBody>
      </p:sp>
      <p:sp>
        <p:nvSpPr>
          <p:cNvPr id="22" name="Shape 16"/>
          <p:cNvSpPr/>
          <p:nvPr/>
        </p:nvSpPr>
        <p:spPr>
          <a:xfrm>
            <a:off x="457200" y="3291840"/>
            <a:ext cx="8229600" cy="384048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23" name="icon FaCircleQuesti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364992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14400" y="32918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50" dirty="0">
                <a:solidFill>
                  <a:schemeClr val="tx1"/>
                </a:solidFill>
              </a:rPr>
              <a:t>У вас есть активы более чем в одной стране?</a:t>
            </a:r>
            <a:endParaRPr lang="ru-RU" sz="1150" dirty="0"/>
          </a:p>
        </p:txBody>
      </p:sp>
      <p:sp>
        <p:nvSpPr>
          <p:cNvPr id="25" name="Text 18"/>
          <p:cNvSpPr txBox="1"/>
          <p:nvPr/>
        </p:nvSpPr>
        <p:spPr>
          <a:xfrm>
            <a:off x="5166360" y="32918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00" b="1" dirty="0">
                <a:solidFill>
                  <a:schemeClr val="accent4"/>
                </a:solidFill>
              </a:rPr>
              <a:t>Фонд / траст / согласование с иностранными завещаниями</a:t>
            </a:r>
            <a:endParaRPr lang="ru-RU" sz="1100" dirty="0"/>
          </a:p>
        </p:txBody>
      </p:sp>
      <p:sp>
        <p:nvSpPr>
          <p:cNvPr id="26" name="Shape 19"/>
          <p:cNvSpPr/>
          <p:nvPr/>
        </p:nvSpPr>
        <p:spPr>
          <a:xfrm>
            <a:off x="457200" y="3749040"/>
            <a:ext cx="8229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27" name="icon FaCircleQuesti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3822192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914400" y="37490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50" dirty="0">
                <a:solidFill>
                  <a:schemeClr val="tx1"/>
                </a:solidFill>
              </a:rPr>
              <a:t>Вы хотите право своей страны или иную структуру?</a:t>
            </a:r>
            <a:endParaRPr lang="ru-RU" sz="1150" dirty="0"/>
          </a:p>
        </p:txBody>
      </p:sp>
      <p:sp>
        <p:nvSpPr>
          <p:cNvPr id="29" name="Text 21"/>
          <p:cNvSpPr txBox="1"/>
          <p:nvPr/>
        </p:nvSpPr>
        <p:spPr>
          <a:xfrm>
            <a:off x="5166360" y="37490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00" b="1" dirty="0">
                <a:solidFill>
                  <a:schemeClr val="accent4"/>
                </a:solidFill>
              </a:rPr>
              <a:t>DIFC / ADGM / местные суды</a:t>
            </a:r>
            <a:endParaRPr lang="ru-RU" sz="1100" dirty="0"/>
          </a:p>
        </p:txBody>
      </p:sp>
      <p:sp>
        <p:nvSpPr>
          <p:cNvPr id="30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ru-RU" alt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Модель дохода и маркетинг</a:t>
            </a:r>
            <a:endParaRPr lang="ru-RU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758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400" dirty="0">
                <a:solidFill>
                  <a:schemeClr val="accent2"/>
                </a:solidFill>
              </a:rPr>
              <a:t>Мы не продаём одно завещание. Мы строим юридические отношения на всю жизнь</a:t>
            </a:r>
            <a:endParaRPr lang="ru-RU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Модель дохода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ТРИ ПОТОКА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9080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344168"/>
            <a:ext cx="2188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ru-RU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847088"/>
            <a:ext cx="218846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400" b="1" dirty="0">
                <a:solidFill>
                  <a:schemeClr val="tx1"/>
                </a:solidFill>
              </a:rPr>
              <a:t>Фиксированный гонорар за клиента</a:t>
            </a:r>
            <a:endParaRPr lang="ru-RU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150" dirty="0">
                <a:solidFill>
                  <a:schemeClr val="accent3"/>
                </a:solidFill>
              </a:rPr>
              <a:t>Индивидуальное завещание, завещания супругов, завещание на недвижимость, завещание на бизнес. Гонорары устанавливаются в соответствии с профессиональными правилами и местным законодательством.</a:t>
            </a:r>
            <a:endParaRPr lang="ru-RU" sz="1400" dirty="0"/>
          </a:p>
        </p:txBody>
      </p:sp>
      <p:sp>
        <p:nvSpPr>
          <p:cNvPr id="7" name="Shape 5"/>
          <p:cNvSpPr/>
          <p:nvPr/>
        </p:nvSpPr>
        <p:spPr>
          <a:xfrm>
            <a:off x="3276600" y="1188720"/>
            <a:ext cx="259080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7768" y="1344168"/>
            <a:ext cx="2188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ru-RU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477768" y="1847088"/>
            <a:ext cx="218846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400" b="1" dirty="0">
                <a:solidFill>
                  <a:schemeClr val="tx1"/>
                </a:solidFill>
              </a:rPr>
              <a:t>Реферальная комиссия партнёру</a:t>
            </a:r>
            <a:endParaRPr lang="ru-RU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150" dirty="0">
                <a:solidFill>
                  <a:schemeClr val="accent3"/>
                </a:solidFill>
              </a:rPr>
              <a:t>Фиксированный процент или сумма за клиента, выплачивается ежемесячно по соглашению.</a:t>
            </a:r>
            <a:endParaRPr lang="ru-RU" sz="1400" dirty="0"/>
          </a:p>
        </p:txBody>
      </p:sp>
      <p:sp>
        <p:nvSpPr>
          <p:cNvPr id="10" name="Shape 8"/>
          <p:cNvSpPr/>
          <p:nvPr/>
        </p:nvSpPr>
        <p:spPr>
          <a:xfrm>
            <a:off x="6096000" y="1188720"/>
            <a:ext cx="259080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97168" y="1344168"/>
            <a:ext cx="2188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ru-RU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297168" y="1847088"/>
            <a:ext cx="218846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400" b="1" dirty="0">
                <a:solidFill>
                  <a:schemeClr val="tx1"/>
                </a:solidFill>
              </a:rPr>
              <a:t>Дополнительные продажи после завещания</a:t>
            </a:r>
            <a:endParaRPr lang="ru-RU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150" dirty="0">
                <a:solidFill>
                  <a:schemeClr val="accent3"/>
                </a:solidFill>
              </a:rPr>
              <a:t>Регистрация компаний, налоговое структурирование, передача собственности, семейный офис, трасты и фонды, партнёрские договоры, структурирование наследства.</a:t>
            </a:r>
            <a:endParaRPr lang="ru-RU" sz="1400" dirty="0"/>
          </a:p>
        </p:txBody>
      </p:sp>
      <p:sp>
        <p:nvSpPr>
          <p:cNvPr id="13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Главный маркетинговый тезис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ПОСЛАНИЕ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Hear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170432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Мы не продаём «завещание». Мы продаём защиту семьи, активов и инвестиций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Клиенты сначала действуют эмоционально, а потом по закону. Завещание ассоциируется со смертью; защита — с инвестициями и безопасностью.</a:t>
            </a:r>
            <a:endParaRPr lang="ru-RU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01168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ChalkboardUse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1993392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Каналы через брокеров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Семинары, вебинары, мероприятия для инвесторов и презентации новых проектов недвижимости.</a:t>
            </a:r>
            <a:endParaRPr lang="ru-RU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83464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Hashta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2608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2816352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Контент в социальных сетях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Что будет с вашей недвижимостью, если вы умрёте без завещания? Могут ли заморозить семейные счета? DIFC или ADGM. Ошибки иностранных инвесторов.</a:t>
            </a:r>
            <a:endParaRPr lang="ru-RU" sz="1300" dirty="0"/>
          </a:p>
        </p:txBody>
      </p:sp>
      <p:sp>
        <p:nvSpPr>
          <p:cNvPr id="13" name="Shape 8"/>
          <p:cNvSpPr/>
          <p:nvPr/>
        </p:nvSpPr>
        <p:spPr>
          <a:xfrm>
            <a:off x="457200" y="365760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Crow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74904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97280" y="3639312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Сервис премиум-уровня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Встречи у клиента, VIP-сопровождение, многоязычная команда, полная координация и ускоренная регистрация.</a:t>
            </a:r>
            <a:endParaRPr lang="ru-RU" sz="1300" dirty="0"/>
          </a:p>
        </p:txBody>
      </p:sp>
      <p:sp>
        <p:nvSpPr>
          <p:cNvPr id="16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Юридический сервис уровня консьерж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ПРЕМИАЛЬНЫЙ ОПЫТ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46304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HouseUs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89888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1828800"/>
            <a:ext cx="106070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400" b="1" dirty="0">
                <a:solidFill>
                  <a:schemeClr val="tx1"/>
                </a:solidFill>
              </a:rPr>
              <a:t>Мы приезжаем к вам</a:t>
            </a:r>
            <a:endParaRPr lang="ru-RU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150" dirty="0">
                <a:solidFill>
                  <a:schemeClr val="accent3"/>
                </a:solidFill>
              </a:rPr>
              <a:t>В офис или домой к клиенту.</a:t>
            </a:r>
            <a:endParaRPr lang="ru-RU" sz="1400" dirty="0"/>
          </a:p>
        </p:txBody>
      </p:sp>
      <p:sp>
        <p:nvSpPr>
          <p:cNvPr id="7" name="Shape 4"/>
          <p:cNvSpPr/>
          <p:nvPr/>
        </p:nvSpPr>
        <p:spPr>
          <a:xfrm>
            <a:off x="2148840" y="1188720"/>
            <a:ext cx="146304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Crow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008" y="1389888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50008" y="1828800"/>
            <a:ext cx="106070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400" b="1" dirty="0">
                <a:solidFill>
                  <a:schemeClr val="tx1"/>
                </a:solidFill>
              </a:rPr>
              <a:t>VIP-сервис</a:t>
            </a:r>
            <a:endParaRPr lang="ru-RU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150" dirty="0">
                <a:solidFill>
                  <a:schemeClr val="accent3"/>
                </a:solidFill>
              </a:rPr>
              <a:t>Персональный юрист для каждого клиента.</a:t>
            </a:r>
            <a:endParaRPr lang="ru-RU" sz="1400" dirty="0"/>
          </a:p>
        </p:txBody>
      </p:sp>
      <p:sp>
        <p:nvSpPr>
          <p:cNvPr id="10" name="Shape 6"/>
          <p:cNvSpPr/>
          <p:nvPr/>
        </p:nvSpPr>
        <p:spPr>
          <a:xfrm>
            <a:off x="3840480" y="1188720"/>
            <a:ext cx="146304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Languag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648" y="1389888"/>
            <a:ext cx="310896" cy="3108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041648" y="1828800"/>
            <a:ext cx="106070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400" b="1" dirty="0">
                <a:solidFill>
                  <a:schemeClr val="tx1"/>
                </a:solidFill>
              </a:rPr>
              <a:t>Четыре языка</a:t>
            </a:r>
            <a:endParaRPr lang="ru-RU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150" dirty="0">
                <a:solidFill>
                  <a:schemeClr val="accent3"/>
                </a:solidFill>
              </a:rPr>
              <a:t>Арабский, английский, китайский, русский.</a:t>
            </a:r>
            <a:endParaRPr lang="ru-RU" sz="1400" dirty="0"/>
          </a:p>
        </p:txBody>
      </p:sp>
      <p:sp>
        <p:nvSpPr>
          <p:cNvPr id="13" name="Shape 8"/>
          <p:cNvSpPr/>
          <p:nvPr/>
        </p:nvSpPr>
        <p:spPr>
          <a:xfrm>
            <a:off x="5532120" y="1188720"/>
            <a:ext cx="146304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ListChe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3288" y="1389888"/>
            <a:ext cx="310896" cy="31089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733288" y="1828800"/>
            <a:ext cx="106070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400" b="1" dirty="0">
                <a:solidFill>
                  <a:schemeClr val="tx1"/>
                </a:solidFill>
              </a:rPr>
              <a:t>Полная координация</a:t>
            </a:r>
            <a:endParaRPr lang="ru-RU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150" dirty="0">
                <a:solidFill>
                  <a:schemeClr val="accent3"/>
                </a:solidFill>
              </a:rPr>
              <a:t>Перевод, свидетели, нотариальное заверение, регистрация.</a:t>
            </a:r>
            <a:endParaRPr lang="ru-RU" sz="1400" dirty="0"/>
          </a:p>
        </p:txBody>
      </p:sp>
      <p:sp>
        <p:nvSpPr>
          <p:cNvPr id="16" name="Shape 10"/>
          <p:cNvSpPr/>
          <p:nvPr/>
        </p:nvSpPr>
        <p:spPr>
          <a:xfrm>
            <a:off x="7223760" y="1188720"/>
            <a:ext cx="146304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7" name="icon FaBolt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4928" y="1389888"/>
            <a:ext cx="310896" cy="31089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424928" y="1828800"/>
            <a:ext cx="106070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400" b="1" dirty="0">
                <a:solidFill>
                  <a:schemeClr val="tx1"/>
                </a:solidFill>
              </a:rPr>
              <a:t>Ускоренная регистрация</a:t>
            </a:r>
            <a:endParaRPr lang="ru-RU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150" dirty="0">
                <a:solidFill>
                  <a:schemeClr val="accent3"/>
                </a:solidFill>
              </a:rPr>
              <a:t>Прямое взаимодействие с органами.</a:t>
            </a:r>
            <a:endParaRPr lang="ru-RU" sz="1400" dirty="0"/>
          </a:p>
        </p:txBody>
      </p:sp>
      <p:sp>
        <p:nvSpPr>
          <p:cNvPr id="19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ru-RU" alt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Внутренние роли и план запуска</a:t>
            </a:r>
            <a:endParaRPr lang="ru-RU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758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400" dirty="0">
                <a:solidFill>
                  <a:schemeClr val="accent2"/>
                </a:solidFill>
              </a:rPr>
              <a:t>Каждый отдел знает свою роль и свой KPI</a:t>
            </a:r>
            <a:endParaRPr lang="ru-RU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Кто за что отвечает внутри фирмы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ВНУТРЕННИЕ РОЛИ</a:t>
            </a:r>
            <a:endParaRPr lang="ru-RU" sz="1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931920"/>
                <a:gridCol w="2286000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9B38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Роль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9B38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Ответственность в рамках услуги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9B38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KPI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23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Менеджер по развитию бизнеса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Отбор целевых агентств, встречи с их владельцами, подписание соглашений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Активные партнёрства в месяц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23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Специалист по продажам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Обучение команд брокеров, сопровождение рефералов, конвертация в клиентов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Конверсия реферала в клиента ≥ 40%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23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Ассистент по развитию бизнеса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Учёт каждого реферала, первый контакт в течение одного рабочего дня, подготовка материалов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Ни одного реферала без ответа: 100%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23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Юридические консультанты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Ознакомительная встреча, оценка рисков, составление, присутствие при регистрации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Предложение в течение 48 часов после встречи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23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Руководитель юридических операций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Перевод, свидетели, нотариальное заверение, взаимодействие с органами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Соблюдение сроков ≥ 95%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23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Аккаунт-менеджер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Информирование клиента и брокера на каждом этапе, измерение удовлетворённости, поиск возможностей допродаж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Удовлетворённость клиентов ≥ 90%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23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Финансы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Выставление счетов, сбор оплаты, ежемесячный расчёт реферальных комиссий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Уровень сбора оплаты ≥ 95%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</a:tr>
            </a:tbl>
          </a:graphicData>
        </a:graphic>
      </p:graphicFrame>
      <p:sp>
        <p:nvSpPr>
          <p:cNvPr id="5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 запуска: 90 дней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ГРАФИК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21280" cy="50292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b="1" dirty="0">
                <a:solidFill>
                  <a:schemeClr val="accent1"/>
                </a:solidFill>
              </a:rPr>
              <a:t>Месяц 1: Подготовка</a:t>
            </a:r>
            <a:endParaRPr lang="ru-RU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621280" cy="274320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828800"/>
            <a:ext cx="234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Инструменты и соглашения</a:t>
            </a:r>
            <a:endParaRPr lang="ru-RU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286000"/>
            <a:ext cx="23469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ru-RU" altLang="en-US" sz="1050" dirty="0">
                <a:solidFill>
                  <a:schemeClr val="accent3"/>
                </a:solidFill>
              </a:rPr>
              <a:t>Шаблон реферального соглашения о сотрудничестве</a:t>
            </a:r>
            <a:endParaRPr lang="ru-RU" sz="10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ru-RU" altLang="en-US" sz="1050" dirty="0">
                <a:solidFill>
                  <a:schemeClr val="accent3"/>
                </a:solidFill>
              </a:rPr>
              <a:t>Обучающий набор: PDF, презентация, FAQ</a:t>
            </a:r>
            <a:endParaRPr lang="ru-RU" sz="10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ru-RU" altLang="en-US" sz="1050" dirty="0">
                <a:solidFill>
                  <a:schemeClr val="accent3"/>
                </a:solidFill>
              </a:rPr>
              <a:t>Скрипты первого контакта и продаж</a:t>
            </a:r>
            <a:endParaRPr lang="ru-RU" sz="10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ru-RU" altLang="en-US" sz="1050" dirty="0">
                <a:solidFill>
                  <a:schemeClr val="accent3"/>
                </a:solidFill>
              </a:rPr>
              <a:t>Шорт-лист из 20 целевых агентств</a:t>
            </a:r>
            <a:endParaRPr lang="ru-RU" sz="1050" dirty="0"/>
          </a:p>
        </p:txBody>
      </p:sp>
      <p:sp>
        <p:nvSpPr>
          <p:cNvPr id="9" name="Shape 7"/>
          <p:cNvSpPr/>
          <p:nvPr/>
        </p:nvSpPr>
        <p:spPr>
          <a:xfrm>
            <a:off x="3261360" y="1188720"/>
            <a:ext cx="2621280" cy="50292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98520" y="118872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b="1" dirty="0">
                <a:solidFill>
                  <a:schemeClr val="accent1"/>
                </a:solidFill>
              </a:rPr>
              <a:t>Месяц 2: Партнёрство</a:t>
            </a:r>
            <a:endParaRPr lang="ru-RU" sz="1200" dirty="0"/>
          </a:p>
        </p:txBody>
      </p:sp>
      <p:sp>
        <p:nvSpPr>
          <p:cNvPr id="11" name="Shape 9"/>
          <p:cNvSpPr/>
          <p:nvPr/>
        </p:nvSpPr>
        <p:spPr>
          <a:xfrm>
            <a:off x="3261360" y="1691640"/>
            <a:ext cx="2621280" cy="274320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98520" y="1828800"/>
            <a:ext cx="234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Первые пять партнёрств</a:t>
            </a:r>
            <a:endParaRPr lang="ru-RU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398520" y="2286000"/>
            <a:ext cx="23469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ru-RU" altLang="en-US" sz="1050" dirty="0">
                <a:solidFill>
                  <a:schemeClr val="accent3"/>
                </a:solidFill>
              </a:rPr>
              <a:t>Встречи с владельцами компаний</a:t>
            </a:r>
            <a:endParaRPr lang="ru-RU" sz="10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ru-RU" altLang="en-US" sz="1050" dirty="0">
                <a:solidFill>
                  <a:schemeClr val="accent3"/>
                </a:solidFill>
              </a:rPr>
              <a:t>Подписание первых пяти соглашений</a:t>
            </a:r>
            <a:endParaRPr lang="ru-RU" sz="10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ru-RU" altLang="en-US" sz="1050" dirty="0">
                <a:solidFill>
                  <a:schemeClr val="accent3"/>
                </a:solidFill>
              </a:rPr>
              <a:t>Бесплатный семинар для каждого отдела продаж</a:t>
            </a:r>
            <a:endParaRPr lang="ru-RU" sz="10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ru-RU" altLang="en-US" sz="1050" dirty="0">
                <a:solidFill>
                  <a:schemeClr val="accent3"/>
                </a:solidFill>
              </a:rPr>
              <a:t>Запуск контента в социальных сетях</a:t>
            </a:r>
            <a:endParaRPr lang="ru-RU" sz="1050" dirty="0"/>
          </a:p>
        </p:txBody>
      </p:sp>
      <p:sp>
        <p:nvSpPr>
          <p:cNvPr id="14" name="Shape 12"/>
          <p:cNvSpPr/>
          <p:nvPr/>
        </p:nvSpPr>
        <p:spPr>
          <a:xfrm>
            <a:off x="6065520" y="1188720"/>
            <a:ext cx="2621280" cy="50292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02680" y="118872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b="1" dirty="0">
                <a:solidFill>
                  <a:schemeClr val="accent1"/>
                </a:solidFill>
              </a:rPr>
              <a:t>Месяц 3: Рефералы</a:t>
            </a:r>
            <a:endParaRPr lang="ru-RU" sz="1200" dirty="0"/>
          </a:p>
        </p:txBody>
      </p:sp>
      <p:sp>
        <p:nvSpPr>
          <p:cNvPr id="16" name="Shape 14"/>
          <p:cNvSpPr/>
          <p:nvPr/>
        </p:nvSpPr>
        <p:spPr>
          <a:xfrm>
            <a:off x="6065520" y="1691640"/>
            <a:ext cx="2621280" cy="274320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02680" y="1828800"/>
            <a:ext cx="234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Первые клиенты</a:t>
            </a:r>
            <a:endParaRPr lang="ru-RU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202680" y="2286000"/>
            <a:ext cx="23469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ru-RU" altLang="en-US" sz="1050" dirty="0">
                <a:solidFill>
                  <a:schemeClr val="accent3"/>
                </a:solidFill>
              </a:rPr>
              <a:t>Приём и учёт рефералов</a:t>
            </a:r>
            <a:endParaRPr lang="ru-RU" sz="10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ru-RU" altLang="en-US" sz="1050" dirty="0">
                <a:solidFill>
                  <a:schemeClr val="accent3"/>
                </a:solidFill>
              </a:rPr>
              <a:t>Первые зарегистрированные завещания</a:t>
            </a:r>
            <a:endParaRPr lang="ru-RU" sz="10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ru-RU" altLang="en-US" sz="1050" dirty="0">
                <a:solidFill>
                  <a:schemeClr val="accent3"/>
                </a:solidFill>
              </a:rPr>
              <a:t>Ежемесячный отчёт каждому партнёру</a:t>
            </a:r>
            <a:endParaRPr lang="ru-RU" sz="10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ru-RU" altLang="en-US" sz="1050" dirty="0">
                <a:solidFill>
                  <a:schemeClr val="accent3"/>
                </a:solidFill>
              </a:rPr>
              <a:t>Анализ результатов и доработка модели</a:t>
            </a:r>
            <a:endParaRPr lang="ru-RU" sz="1050" dirty="0"/>
          </a:p>
        </p:txBody>
      </p:sp>
      <p:sp>
        <p:nvSpPr>
          <p:cNvPr id="19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02336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64008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46304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продавайте одно завещание. Стройте юридические отношения на всю жизнь: после завещания идут передача собственности, регистрация компаний, семейный офис, договоры и инвестиции.</a:t>
            </a:r>
            <a:endParaRPr lang="ru-RU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accent2"/>
                </a:solidFill>
              </a:rPr>
              <a:t>Золотое правило этой услуги</a:t>
            </a:r>
            <a:endParaRPr lang="ru-RU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22910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68680" y="777240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</a:t>
            </a:r>
            <a:endParaRPr lang="ru-RU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15544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chemeClr val="accent2"/>
                </a:solidFill>
              </a:rPr>
              <a:t>Будем рады вашим вопросам и предложениям</a:t>
            </a:r>
            <a:endParaRPr lang="ru-RU" sz="1300" dirty="0"/>
          </a:p>
        </p:txBody>
      </p:sp>
      <p:pic>
        <p:nvPicPr>
          <p:cNvPr id="5" name="icon FaLocationDo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860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22402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bg2"/>
                </a:solidFill>
              </a:rPr>
              <a:t>Шейх Зайед Роуд, Saeed Tower 2, офис 501, Дубай, ОАЭ</a:t>
            </a:r>
            <a:endParaRPr lang="ru-RU" sz="1200" dirty="0"/>
          </a:p>
        </p:txBody>
      </p:sp>
      <p:pic>
        <p:nvPicPr>
          <p:cNvPr id="7" name="icon FaPh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78892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7432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bg2"/>
                </a:solidFill>
              </a:rPr>
              <a:t>+971 4 359 5552  |  Моб. и WhatsApp: +971 52 107 4972</a:t>
            </a:r>
            <a:endParaRPr lang="ru-RU" sz="1200" dirty="0"/>
          </a:p>
        </p:txBody>
      </p:sp>
      <p:pic>
        <p:nvPicPr>
          <p:cNvPr id="9" name="icon FaEnvelop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9184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325880" y="32461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bg2"/>
                </a:solidFill>
              </a:rPr>
              <a:t>ward.shueibi@rk-advocates.com  |  rk-advocates.com</a:t>
            </a:r>
            <a:endParaRPr lang="ru-RU" sz="1200" dirty="0"/>
          </a:p>
        </p:txBody>
      </p:sp>
      <p:pic>
        <p:nvPicPr>
          <p:cNvPr id="11" name="icon FaClo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79476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325880" y="3749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bg2"/>
                </a:solidFill>
              </a:rPr>
              <a:t>Пн – Пт, 8:30 – 17:30  |  Арабский · Английский · Китайский · Русский</a:t>
            </a:r>
            <a:endParaRPr lang="ru-RU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dnight Copper">
  <a:themeElements>
    <a:clrScheme name="Midnight Copper">
      <a:dk1>
        <a:srgbClr val="0E2238"/>
      </a:dk1>
      <a:lt1>
        <a:srgbClr val="FFFFFF"/>
      </a:lt1>
      <a:dk2>
        <a:srgbClr val="1F3A52"/>
      </a:dk2>
      <a:lt2>
        <a:srgbClr val="F4F1EB"/>
      </a:lt2>
      <a:accent1>
        <a:srgbClr val="B5723B"/>
      </a:accent1>
      <a:accent2>
        <a:srgbClr val="D9B38C"/>
      </a:accent2>
      <a:accent3>
        <a:srgbClr val="6E7B88"/>
      </a:accent3>
      <a:accent4>
        <a:srgbClr val="8C5527"/>
      </a:accent4>
      <a:accent5>
        <a:srgbClr val="E6E1D8"/>
      </a:accent5>
      <a:accent6>
        <a:srgbClr val="5B7A8C"/>
      </a:accent6>
      <a:hlink>
        <a:srgbClr val="B5723B"/>
      </a:hlink>
      <a:folHlink>
        <a:srgbClr val="8C5527"/>
      </a:folHlink>
    </a:clrScheme>
    <a:fontScheme name="Midnight Copp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Rashid Alkaitoob Advocates &amp; Legal Consultants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Стратегия услуги по защите активов и завещаниям</dc:title>
  <dc:subject>PptxGenJS Presentation</dc:subject>
  <dc:creator>Rashid Alkaitoob Advocates &amp; Legal Consultants</dc:creator>
  <cp:lastModifiedBy>Rashid Alkaitoob Advocates &amp; Legal Consultants</cp:lastModifiedBy>
  <cp:revision>1</cp:revision>
  <dcterms:created xsi:type="dcterms:W3CDTF">2026-10-27T14:33:25Z</dcterms:created>
  <dcterms:modified xsi:type="dcterms:W3CDTF">2026-10-27T14:33:25Z</dcterms:modified>
</cp:coreProperties>
</file>