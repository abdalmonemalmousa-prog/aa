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1024246"/>
            <a:ext cx="9225966" cy="3532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000000"/>
                </a:solidFill>
                <a:latin typeface="Arial"/>
              </a:rPr>
              <a:t>Establish a clear organizationalstructure for all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4562" y="1622157"/>
            <a:ext cx="4062426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0" sz="1950">
                <a:solidFill>
                  <a:srgbClr val="000000"/>
                </a:solidFill>
                <a:latin typeface="Arial"/>
              </a:rPr>
              <a:t>RK Organizational Chart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375" y="2139150"/>
            <a:ext cx="5254012" cy="401316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0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8.</a:t>
            </a:r>
            <a:r>
              <a:rPr b="1" sz="1650">
                <a:solidFill>
                  <a:srgbClr val="000000"/>
                </a:solidFill>
                <a:latin typeface="Arial"/>
              </a:rPr>
              <a:t> Legal Consultant</a:t>
            </a:r>
            <a:r>
              <a:rPr b="0" sz="1650">
                <a:solidFill>
                  <a:srgbClr val="000000"/>
                </a:solidFill>
                <a:latin typeface="Arial"/>
              </a:rPr>
              <a:t> - Dr. Mahmoud Abdulmonaem</a:t>
            </a:r>
          </a:p>
          <a:p>
            <a:pPr marL="0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9.</a:t>
            </a:r>
            <a:r>
              <a:rPr b="1" sz="1650">
                <a:solidFill>
                  <a:srgbClr val="000000"/>
                </a:solidFill>
                <a:latin typeface="Arial"/>
              </a:rPr>
              <a:t> Legal Consultant AND</a:t>
            </a:r>
            <a:r>
              <a:rPr b="0" sz="1650">
                <a:solidFill>
                  <a:srgbClr val="000000"/>
                </a:solidFill>
                <a:latin typeface="Arial"/>
              </a:rPr>
              <a:t> - Hossam Saad</a:t>
            </a:r>
          </a:p>
          <a:p>
            <a:pPr marL="0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10.</a:t>
            </a:r>
            <a:r>
              <a:rPr b="1" sz="1650">
                <a:solidFill>
                  <a:srgbClr val="000000"/>
                </a:solidFill>
                <a:latin typeface="Arial"/>
              </a:rPr>
              <a:t> Legal Researche</a:t>
            </a:r>
            <a:r>
              <a:rPr b="0" sz="1650">
                <a:solidFill>
                  <a:srgbClr val="000000"/>
                </a:solidFill>
                <a:latin typeface="Arial"/>
              </a:rPr>
              <a:t> r - Shriff Arafa</a:t>
            </a:r>
          </a:p>
          <a:p>
            <a:pPr marL="0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11.</a:t>
            </a:r>
            <a:r>
              <a:rPr b="1" sz="1650">
                <a:solidFill>
                  <a:srgbClr val="000000"/>
                </a:solidFill>
                <a:latin typeface="Arial"/>
              </a:rPr>
              <a:t> Legal Researcher</a:t>
            </a:r>
            <a:r>
              <a:rPr b="0" sz="1650">
                <a:solidFill>
                  <a:srgbClr val="000000"/>
                </a:solidFill>
                <a:latin typeface="Arial"/>
              </a:rPr>
              <a:t> - Riham</a:t>
            </a:r>
          </a:p>
          <a:p>
            <a:pPr marL="50800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12</a:t>
            </a:r>
            <a:r>
              <a:rPr b="1" sz="1650">
                <a:solidFill>
                  <a:srgbClr val="000000"/>
                </a:solidFill>
                <a:latin typeface="Arial"/>
              </a:rPr>
              <a:t> . Legal Operations Manager</a:t>
            </a:r>
            <a:r>
              <a:rPr b="0" sz="1650">
                <a:solidFill>
                  <a:srgbClr val="000000"/>
                </a:solidFill>
                <a:latin typeface="Arial"/>
              </a:rPr>
              <a:t> Eiad Esber</a:t>
            </a:r>
          </a:p>
          <a:p>
            <a:pPr marL="0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13.</a:t>
            </a:r>
            <a:r>
              <a:rPr b="1" sz="1650">
                <a:solidFill>
                  <a:srgbClr val="000000"/>
                </a:solidFill>
                <a:latin typeface="Arial"/>
              </a:rPr>
              <a:t> Account Manager and follow up</a:t>
            </a:r>
            <a:r>
              <a:rPr b="0" sz="1650">
                <a:solidFill>
                  <a:srgbClr val="000000"/>
                </a:solidFill>
                <a:latin typeface="Arial"/>
              </a:rPr>
              <a:t> -Jamil Kabbani</a:t>
            </a:r>
          </a:p>
          <a:p>
            <a:pPr marL="92372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14. I</a:t>
            </a:r>
            <a:r>
              <a:rPr b="1" sz="1650">
                <a:solidFill>
                  <a:srgbClr val="000000"/>
                </a:solidFill>
                <a:latin typeface="Arial"/>
              </a:rPr>
              <a:t> T And FinTech Manager</a:t>
            </a:r>
            <a:r>
              <a:rPr b="0" sz="1650">
                <a:solidFill>
                  <a:srgbClr val="000000"/>
                </a:solidFill>
                <a:latin typeface="Arial"/>
              </a:rPr>
              <a:t> OmarAlAli</a:t>
            </a:r>
          </a:p>
          <a:p>
            <a:pPr marL="92571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15.</a:t>
            </a:r>
            <a:r>
              <a:rPr b="1" sz="1650">
                <a:solidFill>
                  <a:srgbClr val="000000"/>
                </a:solidFill>
                <a:latin typeface="Arial"/>
              </a:rPr>
              <a:t> S&amp;M Mananger</a:t>
            </a:r>
          </a:p>
          <a:p>
            <a:pPr marL="80268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16.</a:t>
            </a:r>
            <a:r>
              <a:rPr b="1" sz="1650">
                <a:solidFill>
                  <a:srgbClr val="000000"/>
                </a:solidFill>
                <a:latin typeface="Arial"/>
              </a:rPr>
              <a:t> BD Assistant</a:t>
            </a:r>
          </a:p>
          <a:p>
            <a:pPr marL="94654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17.</a:t>
            </a:r>
            <a:r>
              <a:rPr b="1" sz="1650">
                <a:solidFill>
                  <a:srgbClr val="000000"/>
                </a:solidFill>
                <a:latin typeface="Arial"/>
              </a:rPr>
              <a:t> BD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603" y="2272954"/>
            <a:ext cx="4858324" cy="27558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37108">
              <a:lnSpc>
                <a:spcPts val="20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1.</a:t>
            </a:r>
            <a:r>
              <a:rPr b="1" sz="1650">
                <a:solidFill>
                  <a:srgbClr val="000000"/>
                </a:solidFill>
                <a:latin typeface="Arial"/>
              </a:rPr>
              <a:t> Founder</a:t>
            </a:r>
            <a:r>
              <a:rPr b="0" sz="1650">
                <a:solidFill>
                  <a:srgbClr val="000000"/>
                </a:solidFill>
                <a:latin typeface="Arial"/>
              </a:rPr>
              <a:t> - Dr. Rashid Al Kaitoob</a:t>
            </a:r>
          </a:p>
          <a:p>
            <a:pPr marL="17363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2.</a:t>
            </a:r>
            <a:r>
              <a:rPr b="1" sz="1650">
                <a:solidFill>
                  <a:srgbClr val="000000"/>
                </a:solidFill>
                <a:latin typeface="Arial"/>
              </a:rPr>
              <a:t> CEO</a:t>
            </a:r>
            <a:r>
              <a:rPr b="0" sz="1650">
                <a:solidFill>
                  <a:srgbClr val="000000"/>
                </a:solidFill>
                <a:latin typeface="Arial"/>
              </a:rPr>
              <a:t> ,</a:t>
            </a:r>
            <a:r>
              <a:rPr b="1" sz="1650">
                <a:solidFill>
                  <a:srgbClr val="000000"/>
                </a:solidFill>
                <a:latin typeface="Arial"/>
              </a:rPr>
              <a:t> General Manager</a:t>
            </a:r>
            <a:r>
              <a:rPr b="0" sz="1650">
                <a:solidFill>
                  <a:srgbClr val="000000"/>
                </a:solidFill>
                <a:latin typeface="Arial"/>
              </a:rPr>
              <a:t> - Dr.Mahmoud Awad</a:t>
            </a:r>
          </a:p>
          <a:p>
            <a:pPr marL="14585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3.</a:t>
            </a:r>
            <a:r>
              <a:rPr b="1" sz="1650">
                <a:solidFill>
                  <a:srgbClr val="000000"/>
                </a:solidFill>
                <a:latin typeface="Arial"/>
              </a:rPr>
              <a:t> Deputy General Manager</a:t>
            </a:r>
            <a:r>
              <a:rPr b="0" sz="1650">
                <a:solidFill>
                  <a:srgbClr val="000000"/>
                </a:solidFill>
                <a:latin typeface="Arial"/>
              </a:rPr>
              <a:t> - Abdullah Al Ali</a:t>
            </a:r>
          </a:p>
          <a:p>
            <a:pPr marL="12105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4.</a:t>
            </a:r>
            <a:r>
              <a:rPr b="1" sz="1650">
                <a:solidFill>
                  <a:srgbClr val="000000"/>
                </a:solidFill>
                <a:latin typeface="Arial"/>
              </a:rPr>
              <a:t> Business Development and international</a:t>
            </a:r>
          </a:p>
          <a:p>
            <a:pPr marL="188912">
              <a:lnSpc>
                <a:spcPts val="3300"/>
              </a:lnSpc>
            </a:pPr>
            <a:r>
              <a:rPr b="1" sz="1650">
                <a:solidFill>
                  <a:srgbClr val="000000"/>
                </a:solidFill>
                <a:latin typeface="Arial"/>
              </a:rPr>
              <a:t>Relations Manager</a:t>
            </a:r>
            <a:r>
              <a:rPr b="0" sz="1650">
                <a:solidFill>
                  <a:srgbClr val="000000"/>
                </a:solidFill>
                <a:latin typeface="Arial"/>
              </a:rPr>
              <a:t> Dr. Ward Shueibi</a:t>
            </a:r>
          </a:p>
          <a:p>
            <a:pPr marL="12303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5.</a:t>
            </a:r>
            <a:r>
              <a:rPr b="1" sz="1650">
                <a:solidFill>
                  <a:srgbClr val="000000"/>
                </a:solidFill>
                <a:latin typeface="Arial"/>
              </a:rPr>
              <a:t> Finance, HR and Audit</a:t>
            </a:r>
            <a:r>
              <a:rPr b="0" sz="1650">
                <a:solidFill>
                  <a:srgbClr val="000000"/>
                </a:solidFill>
                <a:latin typeface="Arial"/>
              </a:rPr>
              <a:t> Aaya Morgan</a:t>
            </a:r>
          </a:p>
          <a:p>
            <a:pPr marL="0">
              <a:lnSpc>
                <a:spcPts val="3300"/>
              </a:lnSpc>
            </a:pPr>
            <a:r>
              <a:rPr b="0" sz="1650">
                <a:solidFill>
                  <a:srgbClr val="000000"/>
                </a:solidFill>
                <a:latin typeface="Arial"/>
              </a:rPr>
              <a:t>6.</a:t>
            </a:r>
            <a:r>
              <a:rPr b="1" sz="1650">
                <a:solidFill>
                  <a:srgbClr val="000000"/>
                </a:solidFill>
                <a:latin typeface="Arial"/>
              </a:rPr>
              <a:t> Account Officer</a:t>
            </a:r>
            <a:r>
              <a:rPr b="0" sz="1650">
                <a:solidFill>
                  <a:srgbClr val="000000"/>
                </a:solidFill>
                <a:latin typeface="Arial"/>
              </a:rPr>
              <a:t> - Erica Cornes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798" y="854289"/>
            <a:ext cx="10820372" cy="16933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2080" y="2764848"/>
            <a:ext cx="10701625" cy="4806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4308"/>
              </a:lnSpc>
            </a:pPr>
            <a:r>
              <a:rPr b="0" sz="3600">
                <a:solidFill>
                  <a:srgbClr val="000000"/>
                </a:solidFill>
                <a:latin typeface="Arial"/>
              </a:rPr>
              <a:t>Define roles, responsibilities, and decision 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9764" y="3393496"/>
            <a:ext cx="5746348" cy="4806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4308"/>
              </a:lnSpc>
            </a:pPr>
            <a:r>
              <a:rPr b="0" sz="3600">
                <a:solidFill>
                  <a:srgbClr val="000000"/>
                </a:solidFill>
                <a:latin typeface="Arial"/>
              </a:rPr>
              <a:t>authority for each position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948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5472" y="21632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5472" y="25737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4115" y="298422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5472" y="36550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5472" y="40655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91428" y="21632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91428" y="25737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90070" y="298422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91428" y="36550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91428" y="40655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648" y="412590"/>
            <a:ext cx="3832361" cy="147263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1357">
              <a:lnSpc>
                <a:spcPts val="2600"/>
              </a:lnSpc>
            </a:pPr>
            <a:r>
              <a:rPr b="1" sz="2150">
                <a:solidFill>
                  <a:srgbClr val="868164"/>
                </a:solidFill>
                <a:latin typeface="Arial"/>
              </a:rPr>
              <a:t>Dr. Rashid Sultan Alkaitoob</a:t>
            </a:r>
          </a:p>
          <a:p>
            <a:pPr marL="0">
              <a:lnSpc>
                <a:spcPts val="525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Founder</a:t>
            </a:r>
          </a:p>
          <a:p>
            <a:pPr marL="1357">
              <a:lnSpc>
                <a:spcPts val="395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604" y="1665126"/>
            <a:ext cx="791638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78" y="2138430"/>
            <a:ext cx="4485611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Define long term strategy, mission, and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7234" y="2138430"/>
            <a:ext cx="3732963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Annual firm revenue growth ≥25–30%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1278" y="2548930"/>
            <a:ext cx="4945222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Approve major decisions, budgets, and expansions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7234" y="2548930"/>
            <a:ext cx="4143916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3–5 strategic partnerships signed per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921" y="2959430"/>
            <a:ext cx="5064453" cy="4850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Represent the firm with government, VIP clients,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and strategic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5876" y="2959430"/>
            <a:ext cx="3557240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Successful launch of new legal 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78" y="3630280"/>
            <a:ext cx="4808252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Ensure ethical standards and governance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7234" y="3630280"/>
            <a:ext cx="2512531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Client satisfaction ≥4.7/5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78" y="4040780"/>
            <a:ext cx="4800451" cy="4850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51395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Support major client acquisition and relationship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building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7234" y="4040780"/>
            <a:ext cx="4387901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Policy and compliance framework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5472" y="21632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5472" y="25737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4115" y="320012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5472" y="36550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5472" y="40655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91428" y="21632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91428" y="25737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90070" y="30413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91428" y="35153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5648" y="398645"/>
            <a:ext cx="2953382" cy="9788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1357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Mahmoud Avad</a:t>
            </a:r>
          </a:p>
          <a:p>
            <a:pPr marL="0">
              <a:lnSpc>
                <a:spcPts val="492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General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648" y="1665126"/>
            <a:ext cx="1050455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604" y="1665126"/>
            <a:ext cx="791638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78" y="2138430"/>
            <a:ext cx="5206765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Manage day to day operations across all departments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7234" y="2138430"/>
            <a:ext cx="3297361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Department KPIs achieved ≥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921" y="2548930"/>
            <a:ext cx="4759680" cy="8510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1357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Ensure execution of strategic plans approved by</a:t>
            </a:r>
          </a:p>
          <a:p>
            <a:pPr marL="135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the Founder</a:t>
            </a:r>
          </a:p>
          <a:p>
            <a:pPr marL="0">
              <a:lnSpc>
                <a:spcPts val="28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Monitor performance, KPIs, and financial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7234" y="2548930"/>
            <a:ext cx="3808109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Operational efficiency improved ≥ 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5876" y="3016580"/>
            <a:ext cx="3022728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Zero major operational delays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7234" y="3490580"/>
            <a:ext cx="4096616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Monthly reports submitted on time 100%.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78" y="3630280"/>
            <a:ext cx="4788496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Lead hiring, staffing, and departmental oversight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78" y="4040780"/>
            <a:ext cx="4683989" cy="4850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Resolve operational issues and ensure workflow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4172698" cy="10233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Abdulla AL Ali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Deputy General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48" y="1665126"/>
            <a:ext cx="7420757" cy="44246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2279"/>
              </a:lnSpc>
            </a:pPr>
            <a:r>
              <a:rPr b="1" sz="1200">
                <a:solidFill>
                  <a:srgbClr val="000000"/>
                </a:solidFill>
                <a:latin typeface="Arial"/>
              </a:rPr>
              <a:t>Operational Oversight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1. Oversee daily operations across HR, administration, and internal departments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2. Ensure smooth coordination between all departments and functions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3. Monitor operational efficiency and implement improvements where needed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4. Ensure all internal processes are aligned with company policies and standards</a:t>
            </a:r>
          </a:p>
          <a:p>
            <a:pPr marL="0">
              <a:lnSpc>
                <a:spcPts val="1600"/>
              </a:lnSpc>
            </a:pPr>
            <a:r>
              <a:rPr b="1" sz="1200">
                <a:solidFill>
                  <a:srgbClr val="000000"/>
                </a:solidFill>
                <a:latin typeface="Arial"/>
              </a:rPr>
              <a:t>HR &amp; Administration Management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1. Supervise HR functions including recruitment, onboarding, and employee performance tracking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2. Oversee administrative operations, including office management and facilities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3. Ensure proper allocation of resources and staff across departments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4. Monitor employee discipline, attendance, and compliance with internal policies</a:t>
            </a:r>
          </a:p>
          <a:p>
            <a:pPr marL="0">
              <a:lnSpc>
                <a:spcPts val="1600"/>
              </a:lnSpc>
            </a:pPr>
            <a:r>
              <a:rPr b="1" sz="1200">
                <a:solidFill>
                  <a:srgbClr val="000000"/>
                </a:solidFill>
                <a:latin typeface="Arial"/>
              </a:rPr>
              <a:t>Support to General Manager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1. Assist the General Manager in strategic planning and decision making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2. Provide operational insights and reports to support executive decisions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3. Identify risks, challenges, and operational gaps and propose solutions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4. Act on behalf of the General Manager when required</a:t>
            </a:r>
          </a:p>
          <a:p>
            <a:pPr marL="0">
              <a:lnSpc>
                <a:spcPts val="1600"/>
              </a:lnSpc>
            </a:pPr>
            <a:r>
              <a:rPr b="1" sz="1200">
                <a:solidFill>
                  <a:srgbClr val="000000"/>
                </a:solidFill>
                <a:latin typeface="Arial"/>
              </a:rPr>
              <a:t>Systems, Resources &amp; Procurement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1. Maintain and oversee office systems, infrastructure, and internal tools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2. Manage procurement processes, including vendor selection and cost control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3. Ensure availability and proper utilization of company resources</a:t>
            </a:r>
          </a:p>
          <a:p>
            <a:pPr marL="114597">
              <a:lnSpc>
                <a:spcPts val="1600"/>
              </a:lnSpc>
            </a:pPr>
            <a:r>
              <a:rPr b="0" sz="1200">
                <a:solidFill>
                  <a:srgbClr val="000000"/>
                </a:solidFill>
                <a:latin typeface="Arial"/>
              </a:rPr>
              <a:t>4. Monitor operational costs and support budget control initiatives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4172698" cy="10233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Abdulla AL Ali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Deputy General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48" y="1665126"/>
            <a:ext cx="6843032" cy="34546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42466">
              <a:lnSpc>
                <a:spcPts val="1941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VIP Client Management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Manage relationships with VIP and high value clients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premium client experience and service delivery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Handle escalations and sensitive client matters professionally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Coordinate with legal and BD teams to ensure client satisfaction and retention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Internal Control &amp; Compliance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Ensure compliance with company policies, procedures, and governance framework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Monitor internal controls across departments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Support internal audits and ensure corrective actions are implemented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Maintain proper documentation and reporting structures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Reporting &amp; Performance Monitoring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Monitor departmental performance and KPIs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Prepare reports for the General Manager on operations and performance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timely reporting across all departments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Drive accountability and performance improvements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20103" y="4483587"/>
            <a:ext cx="127297" cy="12700"/>
          </a:xfrm>
          <a:prstGeom prst="rect">
            <a:avLst/>
          </a:prstGeom>
          <a:solidFill>
            <a:srgbClr val="AE191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5648" y="354195"/>
            <a:ext cx="4172698" cy="10233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Abdulla AL Ali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Deputy General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648" y="1665126"/>
            <a:ext cx="1050455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1231" y="1665126"/>
            <a:ext cx="791638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648" y="2282434"/>
            <a:ext cx="5367577" cy="27060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2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Coordination &amp; Leadership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Ensure strong communication between departments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Support team leaders in achieving their targets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Promote a professional, disciplined, and high-performance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culture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Resolve internal conflicts and operational issues efficiently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Additional Responsibilities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Handle special projects and tasks assigned by the General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Manager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Support continuous improvement and organizational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development initiatives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the firm operates at a high professional and operational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0852" y="2455135"/>
            <a:ext cx="5418300" cy="312518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2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Operations Efficiency: ≥ 90% overall departmental performance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Policy Compliance: 100% adherence to internal systems and SOPs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HR Performance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Execution of GM Decisions: 100% on time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VIP Client Management: ≥ 95% satisfaction &amp; immediate response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6. Reporting Accuracy: ≥ 98% with 100% on time submission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7. Issue Resolution: ≥ 90% within (24–48h)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8. Internal Coordination: ≥ 90% efficiency (no delays/conflicts)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9. Audit &amp; Compliance: 0 major findings</a:t>
            </a:r>
          </a:p>
          <a:p>
            <a:pPr marL="6548">
              <a:lnSpc>
                <a:spcPts val="1650"/>
              </a:lnSpc>
            </a:pPr>
            <a:r>
              <a:rPr b="1" sz="1250" u="sng">
                <a:solidFill>
                  <a:srgbClr val="AE1919"/>
                </a:solidFill>
                <a:latin typeface="Arial"/>
              </a:rPr>
              <a:t>Critical KPIs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VIP client failure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Operational breakdown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Policy breach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Delay in GM instructions</a:t>
            </a:r>
          </a:p>
          <a:p>
            <a:pPr marL="0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128" y="354195"/>
            <a:ext cx="9136654" cy="51697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3552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Ward Shueibi</a:t>
            </a:r>
          </a:p>
          <a:p>
            <a:pPr marL="3552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Head of Business Development &amp; International Relations</a:t>
            </a:r>
          </a:p>
          <a:p>
            <a:pPr marL="35520">
              <a:lnSpc>
                <a:spcPts val="34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112117">
              <a:lnSpc>
                <a:spcPts val="2506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Lead firm growth strategy and expansion plans (local &amp; international)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Drive client acquisition, focusing on high value and strategic clients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Follow Up On VVIP Clients and matters assigned by Line Manager And Founder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Manage international relations, partnerships, and cross border communications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5. Lead and operate the Chinese Desk, including partnerships and investor relations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6. Supervise Marketing, Sales, and BD Assistants and ensure performance alignment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7. Oversee preparation of proposals, MOUs, pricing structures, and deal negotiations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8. Manage the existing system or CRM system (pipeline, leads, tracking, reporting)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9. Oversee client onboarding process and ensure premium client experience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10. Represent the firm in international meetings, conferences, and strategic events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11. Lead BD Team to achieve and exceed monthly revenue targets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12. Align BD strategy with legal departments for service delivery optimization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13. Develop partnerships with law firms, investors, and corporate entities globally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14. propose and present yearly Development plan to the Manegement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9101134" cy="56770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Ward Shueibi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Head of Business Development &amp; International Relations</a:t>
            </a:r>
          </a:p>
          <a:p>
            <a:pPr marL="0">
              <a:lnSpc>
                <a:spcPts val="3615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279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Revenue &amp; Growth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Monthly team revenue target achievement: ≥ 100% (as assigned by management)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Direct contribution to revenue (personal deals/clients/Compnanies)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Annual revenue growth rate: ≥ 20%+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Expansion into new markets (China, international corridors, etc.)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5. Expansion Locally</a:t>
            </a:r>
          </a:p>
          <a:p>
            <a:pPr marL="51395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Client Acquisition &amp; Portfolio Quality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Number of high value clients acquired monthly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Average deal size and client value growth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Conversion rate from leads to signed clients: ≥ 30%+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Strategic clients onboarded (corporate / investors / high end wealthy )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Business Development Leadership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BD team performance vs targets: 100% achievement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Pipeline management accuracy (systeam discipline): 100% updated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Number of proposals/MOUs successfully converted into deals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Efficiency of sales funnel (lead → meeting → closing)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9101134" cy="54167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Ward Shueibi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Head of Business Development &amp; International Relations</a:t>
            </a:r>
          </a:p>
          <a:p>
            <a:pPr marL="0">
              <a:lnSpc>
                <a:spcPts val="3615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279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International Relations &amp; Partnerships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Number of active international partnerships established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Strategic alliances (law firms, investors, funds, corporates)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Cross border deal flow generated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Chinese Desk performance and revenue contribution</a:t>
            </a:r>
          </a:p>
          <a:p>
            <a:pPr marL="51395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Operations &amp; Process Control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Quality and turnaround time of proposals and MOUs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Pricing strategy optimization and deal structuring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working system or CRM, onboarding, and internal coordination efficiency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Alignment between BD, legal, and operations teams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Team Leadership &amp; Management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Performance of Marketing, Sales, and BD Assistants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Team discipline, reporting, and KPI tracking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Training and development of BD team members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Staff retention and performance improvement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9101134" cy="34790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Ward Shueibi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Head of Business Development &amp; International Relations</a:t>
            </a:r>
          </a:p>
          <a:p>
            <a:pPr marL="0">
              <a:lnSpc>
                <a:spcPts val="256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422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Brand Representation &amp; Market Presence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Representation in international events and conferences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Strategic visibility of the firm in target markets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Contribution to firm positioning (premium / high-end legal brand)</a:t>
            </a:r>
          </a:p>
          <a:p>
            <a:pPr marL="51395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strategic Execution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Implementation of growth strategies within defined timelines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Achievement of expansion goals (new desks, new markets)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Innovation in BD approaches and revenue generation models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1024246"/>
            <a:ext cx="7001466" cy="467051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Assistant</a:t>
            </a:r>
          </a:p>
          <a:p>
            <a:pPr marL="0">
              <a:lnSpc>
                <a:spcPts val="2564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Duties</a:t>
            </a:r>
          </a:p>
          <a:p>
            <a:pPr marL="0">
              <a:lnSpc>
                <a:spcPts val="253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Lead Management &amp; CRM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Manage and update all leads and client data within the system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all client interactions, follow ups, and updates are recorded accurately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Track pipeline progress and maintain organized reporting on leads and</a:t>
            </a:r>
          </a:p>
          <a:p>
            <a:pPr marL="27543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opportunities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Monitor lead status and ensure no missed follow ups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Communication &amp; Follow-Up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Follow up with potential and existing clients in a timely and professional manner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Coordinate with VVIP clients and handle assigned matters with priority and report to</a:t>
            </a:r>
          </a:p>
          <a:p>
            <a:pPr marL="27543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the line manager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Respond to client inquiries and ensure proper communication flow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Maintain consistent communication to support client conversion and retention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Proposal &amp; Documentation Support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Assist in preparing proposals, MOUs, and client presentations by collecting all the</a:t>
            </a:r>
          </a:p>
          <a:p>
            <a:pPr marL="27543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documents and information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Coordinate with legal teams to ensure accuracy and compliance of documents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all documents are professionally formatted and ready for submission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Maintain organized records of all proposals and agreements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798" y="1024246"/>
            <a:ext cx="6737237" cy="29433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985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Assistant</a:t>
            </a:r>
          </a:p>
          <a:p>
            <a:pPr marL="69850">
              <a:lnSpc>
                <a:spcPts val="2564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Duties</a:t>
            </a:r>
          </a:p>
          <a:p>
            <a:pPr marL="0">
              <a:lnSpc>
                <a:spcPts val="253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Acquisition Support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Support business development activities by identifying and following up on leads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Assist in scheduling meetings and calls between clients and management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Prepare meeting agendas and required materials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Track outcomes of meetings and update system accordingly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Onboarding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Assist in onboarding new clients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Coordinate KYC documentation and internal processes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a smooth and professional onboarding experience</a:t>
            </a:r>
          </a:p>
          <a:p>
            <a:pPr marL="121741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Maintain proper records of client files and onboarding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1024246"/>
            <a:ext cx="5487832" cy="48829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Assistant</a:t>
            </a:r>
          </a:p>
          <a:p>
            <a:pPr marL="0">
              <a:lnSpc>
                <a:spcPts val="2564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Duties</a:t>
            </a:r>
          </a:p>
          <a:p>
            <a:pPr marL="0">
              <a:lnSpc>
                <a:spcPts val="2553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International Relations Support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Assist in coordinating communication with international clients</a:t>
            </a:r>
          </a:p>
          <a:p>
            <a:pPr marL="274030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and partners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Support cross border business development activities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Prepare and follow up on international meetings and</a:t>
            </a:r>
          </a:p>
          <a:p>
            <a:pPr marL="274030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communications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Maintain records of partnerships and ongoing discussions</a:t>
            </a:r>
          </a:p>
          <a:p>
            <a:pPr marL="42550">
              <a:lnSpc>
                <a:spcPts val="1697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Event &amp; Meeting Coordination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Assist in organizing and attending meetings, conferences, and</a:t>
            </a:r>
          </a:p>
          <a:p>
            <a:pPr marL="274030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business events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all materials and logistics are prepared in advance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Support management during meetings when required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Prepare summaries and follow up reports after meetings</a:t>
            </a:r>
          </a:p>
          <a:p>
            <a:pPr marL="0">
              <a:lnSpc>
                <a:spcPts val="1697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Reporting &amp; Administrative Support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Prepare daily, weekly, and monthly reports on leads and</a:t>
            </a:r>
          </a:p>
          <a:p>
            <a:pPr marL="274030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activities with sales team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Track assigned tasks and ensure timely completion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Maintain structured documentation and reporting systems</a:t>
            </a:r>
          </a:p>
          <a:p>
            <a:pPr marL="121243">
              <a:lnSpc>
                <a:spcPts val="169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Provide administrative support to the BD team and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353" y="1846173"/>
            <a:ext cx="5880389" cy="228698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2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Coordination with Internal Teams</a:t>
            </a:r>
          </a:p>
          <a:p>
            <a:pPr marL="782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Coordinate with legal, sales, and marketing teams to support business</a:t>
            </a:r>
          </a:p>
          <a:p>
            <a:pPr marL="230881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development activities</a:t>
            </a:r>
          </a:p>
          <a:p>
            <a:pPr marL="782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alignment between client requirements and internal service</a:t>
            </a:r>
          </a:p>
          <a:p>
            <a:pPr marL="230881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delivery</a:t>
            </a:r>
          </a:p>
          <a:p>
            <a:pPr marL="782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Facilitate smooth communication between departments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Professional Conduct &amp; Compliance</a:t>
            </a:r>
          </a:p>
          <a:p>
            <a:pPr marL="782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Maintain confidentiality of all client and company information</a:t>
            </a:r>
          </a:p>
          <a:p>
            <a:pPr marL="782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compliance with company policies and procedures</a:t>
            </a:r>
          </a:p>
          <a:p>
            <a:pPr marL="782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Represent the firm in a professional manner at all times</a:t>
            </a:r>
          </a:p>
          <a:p>
            <a:pPr marL="782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Ensure all work is conducted through official systems (CRM, email, etc.)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8239" y="997945"/>
            <a:ext cx="6521384" cy="484300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Assistant</a:t>
            </a:r>
          </a:p>
          <a:p>
            <a:pPr marL="0">
              <a:lnSpc>
                <a:spcPts val="2419"/>
              </a:lnSpc>
            </a:pPr>
            <a:r>
              <a:rPr b="1" sz="16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1583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Lead Management &amp; working system …CRM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Lead data entry accuracy: 100% (no missing or incorrect data)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System update compliance: Real-time / same-day updates (100%)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Pipeline visibility: 0 missing leads / full tracking at all times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Lead handling volume: As per monthly target set by management for the team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Follow Up &amp; Responsiveness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Response time to inquiries: Within 1–2 hours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Follow up completion rate: 100% (no missed follow ups)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VVIP client handling: Immediate priority (0 delays)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Communication quality: ≥ 90% internally and externally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Meeting Coordination &amp; Conversion Support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Meeting scheduling accuracy: 100% (no conflicts or delays)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Lead to meeting conversion rate: ≥ 60%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Meeting preparation readiness: 100% (agenda, documents prepared)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Post meeting follow up: Within same day (100%)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Proposal &amp; MOU Support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Turnaround time (proposals/MOUs): Within 24–48 hours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Document accuracy: ≥ 98% (minimal revisions required)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Formatting &amp; presentation quality: Premium standard (no rework)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Coordination with legal team: 100% compliance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8250" y="997945"/>
            <a:ext cx="5820768" cy="338881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Assistant</a:t>
            </a:r>
          </a:p>
          <a:p>
            <a:pPr marL="0">
              <a:lnSpc>
                <a:spcPts val="2452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Onboarding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Onboarding completion rate: 100% structured and documented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Onboarding turnaround time: Within 24–48 hours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KYC completeness: 100% (no missing documents)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Client onboarding experience: ≥ 90% satisfaction</a:t>
            </a:r>
          </a:p>
          <a:p>
            <a:pPr marL="42466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Reporting &amp; Task Management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Daily/weekly reports submission: 100% on time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Report accuracy: ≥ 98%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Task completion rate: ≥ 95% within deadlines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Zero pending tasks beyond deadline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Coordination &amp; Internal Alignment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Internal response time (team coordination): Within same working day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Task execution from manager instructions: 100% compliance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Communication clarity (internal feedback): ≥ 90%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8250" y="997945"/>
            <a:ext cx="5816041" cy="38032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Assistant</a:t>
            </a:r>
          </a:p>
          <a:p>
            <a:pPr marL="0">
              <a:lnSpc>
                <a:spcPts val="3265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KPIs</a:t>
            </a:r>
          </a:p>
          <a:p>
            <a:pPr marL="0">
              <a:lnSpc>
                <a:spcPts val="24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International &amp; Partnership Support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Coordination of international meetings: 100% accuracy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Follow up on partnerships: Within 24 hours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Documentation tracking: 100% logged in system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Cross border communication efficiency: No missed actions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Professionalism &amp; Compliance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Adherence to company policies: 100% compliance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System usage: 100% mandatory (no offline tracking)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Confidentiality compliance: Zero breaches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Professional conduct: Zero complaints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Productivity &amp; Efficiency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Multi task handling efficiency: Measured monthly by output volume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Error rate in work 0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Time management efficiency: ≥ 95% task completion within deadlines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0243" y="1826710"/>
            <a:ext cx="4056109" cy="312518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2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Development &amp; Growth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Training participation: Minimum 1 session per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quarter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Improvement in performance score: Quarterly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measurable growth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Understanding of services &amp; legal basics: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Continuous improvement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learning langueges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Critical Violations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(Immediate Action by line manger)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Missed client follow up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Incorrect information shared with clients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Failure to update working system or CRM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Mishandling of VVIP clients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Breach of confidentiality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8250" y="997945"/>
            <a:ext cx="5892231" cy="41436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( SALES )</a:t>
            </a:r>
          </a:p>
          <a:p>
            <a:pPr marL="0">
              <a:lnSpc>
                <a:spcPts val="3265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1831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Acquisition &amp; Revenue Generation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Identify, target, and acquire high value and strategic clients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Generate qualified leads and convert them into active clients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Achieve and exceed monthly and annual revenue targets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Focus on premium services and high margin deals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Sales Pipeline &amp; system Management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Manage and maintain the full sales pipeline (leads, prospects, deals)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all activities are recorded in the system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Track deal progress and ensure no lost opportunities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Prepare accurate sales forecasts and pipeline reports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Relationship Management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Build and maintain strong relationships with clients, especially VIP and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VVIP clients along with the line manger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high client satisfaction and long term retention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Handle client inquiries, negotiations, and follow ups professionally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Manage client expectations and ensure premium service delivery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8250" y="997945"/>
            <a:ext cx="5286085" cy="76796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( SALES )</a:t>
            </a:r>
          </a:p>
          <a:p>
            <a:pPr marL="0">
              <a:lnSpc>
                <a:spcPts val="3265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798" y="1934660"/>
            <a:ext cx="5825918" cy="37538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42466">
              <a:lnSpc>
                <a:spcPts val="152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Proposals, Pricing &amp; Deal Structuring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Prepare and present proposals, offers, and engagement structures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Coordinate with legal teams on MOUs, contracts, and service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agreements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Develop pricing strategies aligned with firm positioning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Lead negotiations to successfully close deals individuals and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corporates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Strategic Partnerships &amp; International Relations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Develop partnerships with law firms, investors, and corporate entities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locally and internationally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Manage cross border client relationships and communications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Support expansion into new markets and strategic regions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Maintain and grow international networks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Market Development &amp; Growth Strategy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Identify new business opportunities, sectors, and markets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Contribute to the firm’s growth and expansion plans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Provide market insights and competitor analysis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Support the development of annual business growth strategies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8250" y="997945"/>
            <a:ext cx="5927711" cy="474251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( SALES )</a:t>
            </a:r>
          </a:p>
          <a:p>
            <a:pPr marL="0">
              <a:lnSpc>
                <a:spcPts val="3265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1596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Coordination with Internal Departments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Align with legal teams to ensure proper service delivery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Work closely with operations for smooth client onboarding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internal communication and alignment across departments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Onboarding &amp; Experience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Oversee onboarding of new clients (KYC, documentation, engagement)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a smooth, structured, and premium client experience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Monitor client journey from acquisition to service delivery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Resolve any onboarding issues promptly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Reporting &amp; Performance Tracking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Prepare daily, weekly, and monthly sales reports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Track individual and team performance against targets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Monitor conversion rates, deal values, and revenue metrics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Provide insights and recommendations to management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Representation &amp; Business Development Activities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Represent the firm in meetings, conferences, and networking events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Promote the firm’s services and brand positioning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Build and maintain a strong professional presence in the market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Support client engagement initiatives and events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2298" y="4056616"/>
            <a:ext cx="40217" cy="402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2298" y="4266166"/>
            <a:ext cx="40217" cy="402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2298" y="4475715"/>
            <a:ext cx="40217" cy="402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8250" y="997945"/>
            <a:ext cx="5286085" cy="7381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( SALES )</a:t>
            </a:r>
          </a:p>
          <a:p>
            <a:pPr marL="0">
              <a:lnSpc>
                <a:spcPts val="303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3181" y="1905398"/>
            <a:ext cx="4086389" cy="27060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2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Pipeline Management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(current system or CRM Discipline)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usage: 100% mandatory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Pipeline accuracy: ≥ 98%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Active lead follow up: 100%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Acquisition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New clients acquired: as per monthly target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High value clients: minimum 30% of total deals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VVIP clients: minimum 1–2 per quarter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Relationship &amp; Retention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Client satisfaction: ≥ 90%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Client retention: ≥ 85%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Upselling and cross selling: ≥ 20% of 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50" y="1979556"/>
            <a:ext cx="4933140" cy="365049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64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Revenue Target Quarterly Growth Model</a:t>
            </a:r>
          </a:p>
          <a:p>
            <a:pPr marL="0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Individual Targets (Per Sales Executive)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Q1: AED 300,000 per month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Q2: AED 400,000 per month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Q3: AED 500,000 per month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Q4: AED 600,000 per month</a:t>
            </a:r>
          </a:p>
          <a:p>
            <a:pPr marL="0">
              <a:lnSpc>
                <a:spcPts val="1700"/>
              </a:lnSpc>
            </a:pPr>
            <a:r>
              <a:rPr b="1" sz="1300" u="sng">
                <a:solidFill>
                  <a:srgbClr val="000000"/>
                </a:solidFill>
                <a:latin typeface="Arial"/>
              </a:rPr>
              <a:t>Increase25% every 3 months</a:t>
            </a:r>
          </a:p>
          <a:p>
            <a:pPr marL="0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Team Revenue Targets (4–5 Members)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Q1: AED 1.2M Per month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Q2: AED 1.6M per month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Q3: AED 2.0M per month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Q4: AED 2.4M per month</a:t>
            </a:r>
          </a:p>
          <a:p>
            <a:pPr marL="0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Conversion &amp; Sales Performance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Lead to meeting conversion: ≥ 60%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Meeting to deal conversion: ≥ 40%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Overall closing ratio: ≥ 30%</a:t>
            </a:r>
          </a:p>
          <a:p>
            <a:pPr marL="124618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Average deal value: increase by minimum 10% quarterly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2281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8250" y="997945"/>
            <a:ext cx="5286085" cy="353642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Business Development ( SALES )</a:t>
            </a:r>
          </a:p>
          <a:p>
            <a:pPr marL="0">
              <a:lnSpc>
                <a:spcPts val="303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421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Proposals &amp; Deal Execution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Proposal turnaround: within 24–48 hours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Proposal accuracy: ≥ 98%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Negotiation success rate: ≥ 70%</a:t>
            </a:r>
          </a:p>
          <a:p>
            <a:pPr marL="0">
              <a:lnSpc>
                <a:spcPts val="1634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Activity KPIs (Execution Discipline)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Daily outreach (calls/messages): 40-80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Weekly meetings: minimum 10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Follow up completion: 100%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New opportunities added weekly: minimum 10</a:t>
            </a:r>
          </a:p>
          <a:p>
            <a:pPr marL="42432">
              <a:lnSpc>
                <a:spcPts val="1634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Reporting &amp; Forecasting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system updates: 100% real time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Weekly reporting: 100% on time</a:t>
            </a:r>
          </a:p>
          <a:p>
            <a:pPr marL="120945">
              <a:lnSpc>
                <a:spcPts val="1634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Forecast accuracy: ≥ 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4566" y="1750919"/>
            <a:ext cx="4849259" cy="396326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19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Team Discipline &amp; Compliance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Attendance and discipline: ≥ 98%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Internal coordination: no delays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Compliance with pricing and approvals: 100%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Growth &amp; Development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Quarterly performance improvement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Full understanding of services and offerings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Contribution to team strategy and feedback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Bonus &amp; Performance Structure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100% target achieved: standard commission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120% target achieved: +30% bonus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150% target achieved: +50% bonus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Below 70%: performance improvement plan (PIP)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below 50% : performance leads into an immediate action</a:t>
            </a:r>
          </a:p>
          <a:p>
            <a:pPr marL="0">
              <a:lnSpc>
                <a:spcPts val="1650"/>
              </a:lnSpc>
            </a:pPr>
            <a:r>
              <a:rPr b="1" sz="1250" u="sng">
                <a:solidFill>
                  <a:srgbClr val="AE1919"/>
                </a:solidFill>
                <a:latin typeface="Arial"/>
              </a:rPr>
              <a:t>Critical Violations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Any deal not recorded in the system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Misrepresentation to clients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Neglecting qualified leads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Unauthorized pricing or discounting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6031684" cy="50941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Eiad Esber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Operations Manager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199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Daily Legal Operations Management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Oversee the day to day operations across all legal departments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(Corporate, Litigation, M&amp;A, etc.)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Ensure proper allocation of cases and balanced workload distribution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among legal staff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Monitor and enforce adherence to deadlines and deliverables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Manage and supervise assigned case files, including VIP clients,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under delegation from the General Manager</a:t>
            </a:r>
          </a:p>
          <a:p>
            <a:pPr marL="0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Operational Efficiency and Process Optimization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Develop and implement Standard Operating Procedures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Improve workflow efficiency and reduce turnaround time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Introduce and manage Legal Technology tools to enhance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productivity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Organize legal workflows and ensure smooth coordination between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departments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5. Monitor operational disruptions, identify causes, and implement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corrective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6392" y="1281919"/>
            <a:ext cx="5586471" cy="46417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71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Quality Control and Performance Management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Review legal work before final delivery to clients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Ensure compliance with UAE laws and international legal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standards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Minimize legal errors and maintain high quality output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Oversee the quality of legal consultations and responses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provided to clients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5. Monitor all cases, contracts, and procedures to ensure accuracy,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compliance, and procedural integrity</a:t>
            </a:r>
          </a:p>
          <a:p>
            <a:pPr marL="0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Team Management and Development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support lawyers, paralegals, and support staff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Lead training programs and professional development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initiatives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Coordinate reassignment or transfer of cases between legal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consultants upon GM approval</a:t>
            </a:r>
          </a:p>
          <a:p>
            <a:pPr marL="0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Client Experience and Relationship Management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Ensure timely communication and responsiveness to clients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Monitor client satisfaction and service quality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Handle escalations, complaints, and retention strategies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Follow up with companies, respond to inquiries, and ensure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professional communication standard.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4399221" cy="9750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Eiad Esber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Operations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6011" y="1170794"/>
            <a:ext cx="5195041" cy="464177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71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Reporting and Strategic Oversight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Prepare periodic reports on case status and legal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procedures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Planning the strategy of each case with the legal consultats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and following up on the execustions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Provide recommendations and action plans to the General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Manager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Discuss and develop operational strategies with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management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5. Ensure transparency and visibility on all legal activitieS</a:t>
            </a:r>
          </a:p>
          <a:p>
            <a:pPr marL="0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External Coordination and Representation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Execute external tasks related to case follow ups with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private and government entities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Represent the firm in operational follow ups where require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Ensure proper handling of sensitive and high level external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interactions</a:t>
            </a:r>
          </a:p>
          <a:p>
            <a:pPr marL="0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Cross-Department Coordination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Work closely with Business Development, Finance, HR, and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Marketing teams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Align legal operations with overall business objectives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Ensure seamless communication between departments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648" y="1652426"/>
            <a:ext cx="5943175" cy="411978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2278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Financial Oversight and Profitability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Monitor cost per case and operational expenses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Improve billing efficiency and collection rates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Follow up on unpaid invoices and contractual financial obligations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Coordinate with the finance department on contracts and collections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5. Ensure profitability and financial discipline across legal operations</a:t>
            </a:r>
          </a:p>
          <a:p>
            <a:pPr marL="0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Compliance and Risk Management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Ensure adherence to UAE regulations (Mainland, DIFC, DMCC, etc.)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Identify and mitigate legal and operational risks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Review high risk or sensitive legal matters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Ensure compliance with internal policies and regulatory frameworkS</a:t>
            </a:r>
          </a:p>
          <a:p>
            <a:pPr marL="0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Legal Drafting and Publications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</a:t>
            </a:r>
            <a:r>
              <a:rPr b="1" sz="1300">
                <a:solidFill>
                  <a:srgbClr val="000000"/>
                </a:solidFill>
                <a:latin typeface="Arial"/>
              </a:rPr>
              <a:t> D</a:t>
            </a:r>
            <a:r>
              <a:rPr b="0" sz="1300">
                <a:solidFill>
                  <a:srgbClr val="000000"/>
                </a:solidFill>
                <a:latin typeface="Arial"/>
              </a:rPr>
              <a:t> raft contracts, agreements, and legal documents related to client</a:t>
            </a:r>
          </a:p>
          <a:p>
            <a:pPr marL="282674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matters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Supervise contractual accuracy and compliance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Manage legal publications, journals, and content platforms</a:t>
            </a:r>
          </a:p>
          <a:p>
            <a:pPr marL="125115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Prepare legal articles and materials when required by management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4399221" cy="9750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Eiad Esber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Operations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48" y="1640071"/>
            <a:ext cx="791638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648" y="2138338"/>
            <a:ext cx="3754175" cy="19747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71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Key Performance Indicators (KPIs)</a:t>
            </a:r>
          </a:p>
          <a:p>
            <a:pPr marL="0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1.Operational Efficiency &gt;95 percent</a:t>
            </a:r>
          </a:p>
          <a:p>
            <a:pPr marL="0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Financial Performance Collection rate &gt; 90</a:t>
            </a:r>
          </a:p>
          <a:p>
            <a:pPr marL="0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percent</a:t>
            </a:r>
          </a:p>
          <a:p>
            <a:pPr marL="0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3.Client Satisfaction target &gt; 90 percent</a:t>
            </a:r>
          </a:p>
          <a:p>
            <a:pPr marL="0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Quality of Work Legal error rate = 0</a:t>
            </a:r>
          </a:p>
          <a:p>
            <a:pPr marL="0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5. Team Performance</a:t>
            </a:r>
          </a:p>
          <a:p>
            <a:pPr marL="0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6. Process Improvement</a:t>
            </a:r>
          </a:p>
          <a:p>
            <a:pPr marL="0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7. Compliance and Risk 100% effecicy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198" y="404995"/>
            <a:ext cx="4839886" cy="9725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Jamil Al kabbani</a:t>
            </a:r>
          </a:p>
          <a:p>
            <a:pPr marL="0">
              <a:lnSpc>
                <a:spcPts val="48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 Manager/Follow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023" y="1665126"/>
            <a:ext cx="5802930" cy="387357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12626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194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Relationship Management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Follow up with potential and existing clients on a daily and structured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basis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Build and maintain long term client relationships with a high level of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trust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prompt, professional, and solution-oriented responses to all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client inquiries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Manage client expectations and deliver a premium client experience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Monitor client satisfaction and handle complaints or escalations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effectively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Follow Up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follow up on all incoming leads from the BD department and convert</a:t>
            </a:r>
          </a:p>
          <a:p>
            <a:pPr marL="2733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them into active clients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Manage and maintain a clear and organized sales pipeline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no potential client is lost due to lack of follow-up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Prepare daily and weekly follow up and pipeline reports</a:t>
            </a:r>
          </a:p>
          <a:p>
            <a:pPr marL="120947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Utilize systems to document all client interactions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626" y="1854329"/>
            <a:ext cx="5806634" cy="386260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48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Communication &amp; Coordination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Organize and coordinate meetings between clients and lawyers online</a:t>
            </a:r>
          </a:p>
          <a:p>
            <a:pPr marL="289253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and in person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Act as the main communication bridge between clients and legal teams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clarity, accuracy, and efficiency in all communications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Follow up on client requests internally until full execution and closure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Coordinate with internal departments to ensure smooth workfloW</a:t>
            </a:r>
          </a:p>
          <a:p>
            <a:pPr marL="0">
              <a:lnSpc>
                <a:spcPts val="1608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Translation &amp; Language Support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Provide live translation support ( Arabic ↔ English,</a:t>
            </a:r>
          </a:p>
          <a:p>
            <a:pPr marL="289253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Russian ↔ English/Arabic)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Translate legal and supporting documents from Russian into Arabic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accuracy and legal consistency in all translated materials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Support legal teams in handling international clients</a:t>
            </a:r>
          </a:p>
          <a:p>
            <a:pPr marL="0">
              <a:lnSpc>
                <a:spcPts val="1608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Business Development Support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Identify new business opportunities and potential clients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Build and expand a strong network of clients and partners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Support in closing deals and client acquisition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Propose strategies to increase revenue and client base</a:t>
            </a:r>
          </a:p>
          <a:p>
            <a:pPr marL="117847">
              <a:lnSpc>
                <a:spcPts val="1608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Participate in meetings, events, and external engagements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198" y="404995"/>
            <a:ext cx="4884336" cy="9725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Jamil Al kabbani</a:t>
            </a:r>
          </a:p>
          <a:p>
            <a:pPr marL="44450">
              <a:lnSpc>
                <a:spcPts val="48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 Manager/Follow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48" y="1665126"/>
            <a:ext cx="5558094" cy="270515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2639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Administrative &amp; Reporting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Prepare daily, weekly, and monthly performance reports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Document all meetings, communications, and client interactions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Track contracts, agreements, and client progress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Maintain organized and structured client files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Ensure adherence to company policies and procedures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Compliance &amp; Professional Standards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Ensure compliance with KYC and AML requirements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Maintain strict confidentiality of client information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Represent the firm with a high level of professionalism at all times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Adhere to local and international legal and regulatory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604" y="1665126"/>
            <a:ext cx="4962946" cy="372910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452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Sales &amp; Conversion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Lead conversion rate (Target: 30%)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Number of new clients acquired monthly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Revenue generated from managed and converted clients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Follow Up Efficiency\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Response time to clients (Target: within 1–2 hours)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Number of follow ups per lead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Follow up completion rate (Target: 100%)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Client Satisfaction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Client satisfaction rate (Target: 90%+)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Number of successfully resolved complaints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Client retention rate 100%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Operational Efficiency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Number of meetings scheduled weekly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Accuracy of communication between client and legal team</a:t>
            </a:r>
          </a:p>
          <a:p>
            <a:pPr marL="12074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Deadline adherence rate (Target: 95%+)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198" y="404995"/>
            <a:ext cx="4884336" cy="39342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Jamil Al kabbani</a:t>
            </a:r>
          </a:p>
          <a:p>
            <a:pPr marL="44450">
              <a:lnSpc>
                <a:spcPts val="48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 Manager/Follow Up</a:t>
            </a:r>
          </a:p>
          <a:p>
            <a:pPr marL="44450">
              <a:lnSpc>
                <a:spcPts val="30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171450">
              <a:lnSpc>
                <a:spcPts val="2077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Translation Accuracy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Translation accuracy rate (Target: 95%+)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Turnaround time for translations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Number of revisions required</a:t>
            </a:r>
          </a:p>
          <a:p>
            <a:pPr marL="17145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Reporting &amp; system Usage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Daily updates (Target: 100%)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Accuracy and clarity of reports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visibility and tracking efficiency</a:t>
            </a:r>
          </a:p>
          <a:p>
            <a:pPr marL="4445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Business Development Contribution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Number of new opportunities identified monthly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Number of partnerships and relationships established</a:t>
            </a:r>
          </a:p>
          <a:p>
            <a:pPr marL="165199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Contribution to closed deals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014" y="4587020"/>
            <a:ext cx="6886019" cy="102938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17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Performance Standard</a:t>
            </a:r>
          </a:p>
          <a:p>
            <a:pPr marL="783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Must be highly responsive, organized, and client-oriented</a:t>
            </a:r>
          </a:p>
          <a:p>
            <a:pPr marL="783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Any failure in follow up or communication is considered a critical performance issue</a:t>
            </a:r>
          </a:p>
          <a:p>
            <a:pPr marL="783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results driven (Revenue + Client Experience)</a:t>
            </a:r>
          </a:p>
          <a:p>
            <a:pPr marL="78383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Performance is measured by outcomes, not effort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5472" y="21632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5472" y="258007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4115" y="30413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5472" y="349632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91428" y="216322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91428" y="2580071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90070" y="304137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90070" y="3496320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5648" y="1024246"/>
            <a:ext cx="5749239" cy="3532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Marketing &amp;Social Media Executive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648" y="1665126"/>
            <a:ext cx="1050455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604" y="1665126"/>
            <a:ext cx="791638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1278" y="2138430"/>
            <a:ext cx="4313189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Manage social media platforms and 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7234" y="2138430"/>
            <a:ext cx="3376682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20% growth in followers quarterly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78" y="2555280"/>
            <a:ext cx="4269064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Design marketing materials and 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7234" y="2555280"/>
            <a:ext cx="2748032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Minimum 3 posts per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921" y="3016580"/>
            <a:ext cx="2934919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Support BD in brand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5876" y="3016580"/>
            <a:ext cx="3714328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Leads from marketing ≥10 per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78" y="3471530"/>
            <a:ext cx="3239273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Track analytics and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5876" y="3471530"/>
            <a:ext cx="2484708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Brand consistency 100%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5472" y="199498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5472" y="232293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4115" y="282868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5472" y="335348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79591" y="199498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79591" y="232293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78234" y="282868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78234" y="325078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4115" y="370575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5472" y="4281357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6829" y="4622007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5472" y="493090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6829" y="5487457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4115" y="6037657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79591" y="3677173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79591" y="4100373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5648" y="335145"/>
            <a:ext cx="2706328" cy="3532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Mahmoud Avad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648" y="1024246"/>
            <a:ext cx="4568381" cy="73744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Department Manager</a:t>
            </a:r>
          </a:p>
          <a:p>
            <a:pPr marL="0">
              <a:lnSpc>
                <a:spcPts val="3025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9767" y="1496894"/>
            <a:ext cx="791638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921" y="1970199"/>
            <a:ext cx="6170632" cy="426733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1357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Lead and supervise all legal department operations</a:t>
            </a:r>
          </a:p>
          <a:p>
            <a:pPr marL="1357">
              <a:lnSpc>
                <a:spcPts val="25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Assign cases and legal files to legal consultants and</a:t>
            </a:r>
          </a:p>
          <a:p>
            <a:pPr marL="135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researchers</a:t>
            </a:r>
          </a:p>
          <a:p>
            <a:pPr marL="0">
              <a:lnSpc>
                <a:spcPts val="19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Review, approve, and control legal drafting, pleadings,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and submissions</a:t>
            </a:r>
          </a:p>
          <a:p>
            <a:pPr marL="1357">
              <a:lnSpc>
                <a:spcPts val="20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Oversee litigation ,and advisory matters</a:t>
            </a:r>
          </a:p>
          <a:p>
            <a:pPr marL="0">
              <a:lnSpc>
                <a:spcPts val="2774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Ensure compliance with court procedures, deadlines, and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professional ethics</a:t>
            </a:r>
          </a:p>
          <a:p>
            <a:pPr marL="1357">
              <a:lnSpc>
                <a:spcPts val="24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Supervise quality, accuracy, and consistency of legal work</a:t>
            </a:r>
          </a:p>
          <a:p>
            <a:pPr marL="2715">
              <a:lnSpc>
                <a:spcPts val="26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Mentor legal consultants, senior lawyers, and legal researchers</a:t>
            </a:r>
          </a:p>
          <a:p>
            <a:pPr marL="1357">
              <a:lnSpc>
                <a:spcPts val="24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Coordinate with Founder and General Manager on sensitive and</a:t>
            </a:r>
          </a:p>
          <a:p>
            <a:pPr marL="135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high-risk cases</a:t>
            </a:r>
          </a:p>
          <a:p>
            <a:pPr marL="2715">
              <a:lnSpc>
                <a:spcPts val="23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Support Business Development in legal meetings with key and</a:t>
            </a:r>
          </a:p>
          <a:p>
            <a:pPr marL="2715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VIP clients</a:t>
            </a:r>
          </a:p>
          <a:p>
            <a:pPr marL="0">
              <a:lnSpc>
                <a:spcPts val="22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Develop legal department policies, structure, and workflows.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5398" y="1970199"/>
            <a:ext cx="4285648" cy="5526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Legal department performance ≥ 80%</a:t>
            </a:r>
          </a:p>
          <a:p>
            <a:pPr marL="0">
              <a:lnSpc>
                <a:spcPts val="25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On time court filings and submissions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4040" y="2803899"/>
            <a:ext cx="3754262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Zero critical legal or procedural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4040" y="3225998"/>
            <a:ext cx="3138357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Legal draft approval rate ≥ 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5398" y="3652383"/>
            <a:ext cx="2563877" cy="22466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Client satisfaction ≥ 4.7/5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5398" y="4075583"/>
            <a:ext cx="5064491" cy="48501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Team training and development sessions more than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 per year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44424"/>
            <a:ext cx="4746020" cy="13768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Dr. Mahmoud Abdulmonaem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</a:t>
            </a:r>
          </a:p>
          <a:p>
            <a:pPr marL="84806">
              <a:lnSpc>
                <a:spcPts val="34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128" y="2070122"/>
            <a:ext cx="8790631" cy="412990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112117">
              <a:lnSpc>
                <a:spcPts val="184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Handle selected cases as assigned by the Legal Department Manager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Prepare and draft legal memoranda, pleadings, regulations, and appeals across all courts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Conduct legal research and support senior lawyers in complex matters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Assist in contract review, drafting, and preparation of legal opinions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5. Attend court hearings and expert meetings, and prepare detailed summaries and reports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6. Meet with clients, understand their legal issues, and provide appropriate legal guidance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7. Maintain continuous communication with clients and provide timely updates on case</a:t>
            </a:r>
          </a:p>
          <a:p>
            <a:pPr marL="29666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progress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8. Deliver high end client service and ensure client satisfaction and retention</a:t>
            </a:r>
          </a:p>
          <a:p>
            <a:pPr marL="11211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9. Introduce and attract high end clients to the firm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10. Support Business Development (BD) team in meetings and client acquisition activities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11. Coordinate with internal departments and relevant authorities when required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12. Notify and follow up with the secretariat and relevant entities regarding case procedures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13. Ensure compliance with UAE laws, regulations, and internal firm policies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14. Maintain proper documentation and case file organization</a:t>
            </a:r>
          </a:p>
          <a:p>
            <a:pPr marL="0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15. Commit to continuous self development and specialization in a specific legal field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44424"/>
            <a:ext cx="4746020" cy="9331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Dr. Mahmoud Abdulmonaem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48" y="1709575"/>
            <a:ext cx="7386573" cy="42414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76237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51395">
              <a:lnSpc>
                <a:spcPts val="2537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Case Management &amp; Deadlines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Timely handling of assigned cases and full adherence to deadlines: 100%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compliance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On time submission of all legal documents, filings, and deliverables: 100%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Zero missed court deadlines or procedural violations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Effective case load management as per department allocation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Legal Drafting &amp; Quality Control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Draft approval rate (without major amendments): ≥ 80%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Quality and accuracy of legal documents and submissions: ≥ 95%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Error rate in legal drafting: ≤ 5%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Compliance with UAE laws and internal firm standards: 100%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Legal Research &amp; Analytical Performance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Research accuracy and reliability: ≥ 95%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Ability to provide strong legal arguments and structured analysis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Timely delivery of research outputs within agreed timelines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" y="6149896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900" y="721023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510" y="-218775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750" y="311158"/>
            <a:ext cx="7213813" cy="538830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Dr. Mahmoud Abdulmonaem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</a:t>
            </a:r>
          </a:p>
          <a:p>
            <a:pPr marL="0">
              <a:lnSpc>
                <a:spcPts val="34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887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Client Experience &amp; Retention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Client satisfaction level: ≥ 90%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Client retention and relationship continuity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Response time to clients: within 2–4 working hours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Ability to understand client needs and provide high-end legal service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Business Development Contribution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Contribution to acquiring new clients (high end clients):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Quarterly target defined by management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Active participation in BD meetings and initiatives: 100% when required.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Support in converting leads into signed clients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Hearings &amp; Representation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Attendance in hearings, expert meetings, and client meetings: 100%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attendance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Quality of hearing summaries and reports: ≥ 90% standard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Professional representation of the firm in all external interactions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" y="6149896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900" y="721023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510" y="-218775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798" y="311158"/>
            <a:ext cx="7248480" cy="583427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9951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Dr. Mahmoud Abdulmonaem</a:t>
            </a:r>
          </a:p>
          <a:p>
            <a:pPr marL="69951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</a:t>
            </a:r>
          </a:p>
          <a:p>
            <a:pPr marL="69951">
              <a:lnSpc>
                <a:spcPts val="34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298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Team Support &amp; Internal Collaboration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Effective support to senior lawyers in complex matters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Coordination with BD team and internal departments efficiently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Contribution to team performance and workflow efficiency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Training &amp; Knowledge Transfer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Training sessions delivered to junior staff: Minimum 4 sessions per year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Active participation in internal knowledge sharing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Mentorship contribution within the legal team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Compliance &amp; Internal Discipline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Full compliance with firm policies, confidentiality, and governance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framework: 100%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Proper case documentation and CRM/system updates: 100% compliance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No internal violations or disciplinary issues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Professional Development &amp; Specialization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Continuous professional development and specialization progress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Completion of professional certifications/training: Minimum 2 per year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Demonstrated improvement in expertise within a defined legal field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" y="6172931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900" y="721023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510" y="-218775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750" y="311158"/>
            <a:ext cx="7191708" cy="553211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Dr. Mahmoud Abdulmonaem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</a:t>
            </a:r>
          </a:p>
          <a:p>
            <a:pPr marL="0">
              <a:lnSpc>
                <a:spcPts val="34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1837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Revenue &amp; Target Income KPI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Monthly revenue target: AED 150,000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Annual revenue target: AED 1,800,000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Performance Metrics: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Monthly target achievement: ≥ 100% (AED 150,000)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Minimum self generated revenue (own clients): ≥ 30% of monthly target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(AED 45,000)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Billing efficiency (work converted into billed fees): ≥ 90%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Collection rate (fees collected vs billed): ≥ 95%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5. Growth in average case value and client portfolio quality</a:t>
            </a:r>
          </a:p>
          <a:p>
            <a:pPr marL="0">
              <a:lnSpc>
                <a:spcPts val="2182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Overall Performance Evaluation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Quarterly KPI based evaluation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Performance Improvement Plan (PIP) triggered after 2 consecutive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underperformance cycles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Eligibility for promotion based on consistent KPI achievement and BD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contribution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3931" y="444424"/>
            <a:ext cx="9612658" cy="56060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522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Hossam Saad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 and Head Of Compliance</a:t>
            </a:r>
          </a:p>
          <a:p>
            <a:pPr marL="6522">
              <a:lnSpc>
                <a:spcPts val="34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6522">
              <a:lnSpc>
                <a:spcPts val="1851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Legal Practice &amp; Case Management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Handle selected cases as assigned by the Legal Department Manager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Prepare and draft legal memoranda, pleadings, regulations, and appeals across all courts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Provide legal opinions and advisory services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Attend court hearings, expert sessions, and heirs’ meetings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5. Manage estate and inheritance files (follow up, submissions, updates, communication with heirs/guardians)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6. Conduct legal research and support complex cases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7. Assist in contract drafting, review, and structuring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8. Prepare detailed reports and hearing summaries</a:t>
            </a:r>
          </a:p>
          <a:p>
            <a:pPr marL="6522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Client Management &amp; Service Excellence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Meet with clients, assess legal matters, and provide structured legal guidance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Maintain continuous communication and provide timely updates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Deliver high end legal service ensuring client satisfaction and retention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Handle sensitive and high value clients professionally</a:t>
            </a:r>
          </a:p>
          <a:p>
            <a:pPr marL="6522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Business Development Contribution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Introduce and attract high-end clients to the firm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Support BD team in meetings, negotiations, and client acquisition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Contribute to strengthening client portfolio and revenue generation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3931" y="444424"/>
            <a:ext cx="6922924" cy="9331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522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Hossam Saad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 and Head Of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48" y="1638989"/>
            <a:ext cx="6795131" cy="43294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232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Compliance &amp; AML Leadership (Head of Compliance)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Lead compliance function across the firm (KYC / AML / 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Conduct due diligence on clients and ensure full regulatory compliance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Monitor and report suspicious transactions (AML 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Review client onboarding files and ensure proper documentation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5. Ensure firm-wide compliance with UAE regulations and internal policies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6. Establish and enforce compliance procedures and controls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Quality Control &amp; Legal Review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Review memoranda, regulations, and legal documents before submission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Approve and validate legal work (including stamping and final verification)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Ensure high quality legal output aligned with firm standards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Minimize errors and maintain consistency in all deliverables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Team Supervision &amp; Development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Supervise legal researchers and junior staff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Provide guidance, training, and mentorship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Follow up on assigned tasks and ensure workflow efficiency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Conduct internal knowledge sharing and performance improvement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3931" y="444424"/>
            <a:ext cx="6922924" cy="9331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522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Hossam Saad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 and Head Of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48" y="1638989"/>
            <a:ext cx="6369198" cy="40932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46930">
              <a:lnSpc>
                <a:spcPts val="231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Administrative &amp; Operational Responsibilities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Coordinate with secretariat and relevant entities for legal procedures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Ensure proper documentation and case file organization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Maintain structured communication between departments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Support internal operations and reporting requirements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Compliance with Policies &amp; Professional Standards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Ensure adherence to UAE laws, regulations, and internal governance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framework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Maintain confidentiality and professional ethics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Ensure proper record keeping and system updates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Professional Development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Commit to continuous self development and specialization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Stay updated with UAE legal developments and compliance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regulations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Enhance expertise in compliance, litigation, and advisory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improve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30144" y="2062996"/>
            <a:ext cx="3927992" cy="208764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67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Legal Research &amp; Execution Support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Follow up on legal implementations and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procedures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Submit requests and track progress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with courts and competent authorities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Provide updates to clients regarding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ongoing procedures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Ensure accuracy and reliability of legal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research outputs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3931" y="444424"/>
            <a:ext cx="6922924" cy="12879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522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Hossam Saad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 and Head Of Compliance</a:t>
            </a:r>
          </a:p>
          <a:p>
            <a:pPr marL="6522">
              <a:lnSpc>
                <a:spcPts val="27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2704" y="1874367"/>
            <a:ext cx="5937809" cy="396723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67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Legal Research &amp; Technical Strength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Research accuracy and legal argument strength: ≥ 95%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Turnaround time for complex research: within agreed deadlines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(100%)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Contribution to high level case strategies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Client Management &amp; High End Service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Client satisfaction score: ≥ 95%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Client retention rate: ≥ 90%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Response time: within 2–4 working hours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Ability to manage high end / sensitive clients professionally</a:t>
            </a:r>
          </a:p>
          <a:p>
            <a:pPr marL="4693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Business Development Contribution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High value clients introduced: Minimum quarterly target set by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management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Contribution to firm revenue (direct or support): Measured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monthly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Participation in BD meetings: 100% when required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Conversion support rate (lead → client): ≥ 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0454" y="1943014"/>
            <a:ext cx="4978668" cy="32623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67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Case Management &amp; Delivery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Timely handling of assigned cases: 100% compliance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On time submission of filings and legal deliverables: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100%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Zero missed court deadlines or procedural errors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Effective management of complex and high value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cases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Legal Drafting &amp; Quality Control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Draft approval rate ≥ 90% (higher due to seniority)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Accuracy of legal documents and submissions: ≥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97%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Error rate: ≤ 3%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Quality of legal opinions and memoranda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(Senior/Management evaluation): ≥ 95%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3931" y="444424"/>
            <a:ext cx="6922924" cy="506069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522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Hossam Saad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 and Head Of Compliance</a:t>
            </a:r>
          </a:p>
          <a:p>
            <a:pPr marL="6522">
              <a:lnSpc>
                <a:spcPts val="27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6522">
              <a:lnSpc>
                <a:spcPts val="1957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Hearings, Experts &amp; Representation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Attendance of hearings, expert sessions, and client</a:t>
            </a:r>
          </a:p>
          <a:p>
            <a:pPr marL="308742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meetings: 100%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Quality of reports and hearing summaries: ≥ 95%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Professional representation of the firm</a:t>
            </a:r>
          </a:p>
          <a:p>
            <a:pPr marL="6522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Compliance &amp; AML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KYC completion accuracy: 100%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AML compliance adherence: 100%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Suspicious activity reporting (SAR) accuracy and</a:t>
            </a:r>
          </a:p>
          <a:p>
            <a:pPr marL="308742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timeliness: 100% compliance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Zero regulatory violations or compliance breaches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5. Client onboarding compliance review: 100% verified</a:t>
            </a:r>
          </a:p>
          <a:p>
            <a:pPr marL="308742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before engagement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6. Internal compliance audits conducted: Quarterly (100%)</a:t>
            </a:r>
          </a:p>
          <a:p>
            <a:pPr marL="14017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7. Implementation of compliance policies across</a:t>
            </a:r>
          </a:p>
          <a:p>
            <a:pPr marL="308742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6556" y="1746165"/>
            <a:ext cx="5632756" cy="34973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67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Quality Review &amp; Approval Authority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Legal work reviewed before submission: 100%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Reduction of errors from junior/research team: ≥ 50%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improvement rate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Approval turnaround time: within 24–48 hours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Team Leadership &amp; Development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Supervision effectiveness of legal researchers: ≥ 90%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performance rating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Training and mentoring sessions: Minimum 6 per year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Team productivity improvement under supervision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Operational Efficiency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Case documentation and file organization: 100% compliance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Coordination with internal departments: No delays /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escalations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Secretariat and authority follow ups completed on time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3931" y="444424"/>
            <a:ext cx="6922924" cy="12879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522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Hossam Saad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Consultant and Head Of Compliance</a:t>
            </a:r>
          </a:p>
          <a:p>
            <a:pPr marL="6522">
              <a:lnSpc>
                <a:spcPts val="27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454" y="1943014"/>
            <a:ext cx="6598156" cy="23225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67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Revenue &amp; Target Income KPI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Monthly revenue target: AED 150,000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Annual revenue target: AED 1,800,000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Performance Metrics: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Monthly target achievement: ≥ 100% (AED 150,000)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Minimum self-generated revenue (own clients): ≥ 30% of monthly target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(AED 45,000)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Billing efficiency (work converted into billed fees): ≥ 90%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Collection rate (fees collected vs billed): ≥ 95%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5. Growth in average case value and client portfolio quality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44424"/>
            <a:ext cx="8696752" cy="572109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2715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Shriff Shaban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Senior Legal Researcher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1957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Court Session Management &amp; Litigation Follow-Up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Attend morning court sessions before Case Management Offices and Dispute Resolution Centers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Monitor and follow up with lawyers during hearings until completion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Provide lawyers with all required requests and documents as instructed by legal consultants</a:t>
            </a:r>
          </a:p>
          <a:p>
            <a:pPr marL="302220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through the system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Case Management &amp; Legal Procedures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Execute all case-related requests, including notifications, investigations, and procedural actions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Monitor ongoing cases through the Roll System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Register cases of all types (Civil, Commercial, Criminal)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File and follow up on criminal complaints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5. Register and manage enforcement files and execution procedures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Client Communication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Respond to client inquiries via phone and WhatsApp in a professional and timely manner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Provide regular updates to clients regarding case status and progress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Coordinate with the secretariat to ensure accurate and timely information flow</a:t>
            </a:r>
          </a:p>
          <a:p>
            <a:pPr marL="0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Legal Consultants Support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Follow up on the preparation and submission of legal memoranda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Track appeal deadlines and legal procedures</a:t>
            </a:r>
          </a:p>
          <a:p>
            <a:pPr marL="133647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Monitor expert appointment dates and technical reportS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18437" y="2600366"/>
            <a:ext cx="51117" cy="511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18437" y="2841635"/>
            <a:ext cx="51117" cy="511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8437" y="3082905"/>
            <a:ext cx="51117" cy="511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18437" y="3324174"/>
            <a:ext cx="51117" cy="511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18437" y="4289252"/>
            <a:ext cx="51117" cy="511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18437" y="4530522"/>
            <a:ext cx="51117" cy="511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648" y="444424"/>
            <a:ext cx="6323960" cy="567268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2715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Shriff Shaban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Senior Legal Researcher</a:t>
            </a:r>
          </a:p>
          <a:p>
            <a:pPr marL="2715">
              <a:lnSpc>
                <a:spcPts val="27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2715">
              <a:lnSpc>
                <a:spcPts val="2230"/>
              </a:lnSpc>
            </a:pPr>
            <a:r>
              <a:rPr b="1" sz="1450">
                <a:solidFill>
                  <a:srgbClr val="000000"/>
                </a:solidFill>
                <a:latin typeface="Arial"/>
              </a:rPr>
              <a:t>External Representation &amp; Attendance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1. Attend expert meetings in case of scheduling conflicts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2. Liaise with and represent the firm before:</a:t>
            </a:r>
          </a:p>
          <a:p>
            <a:pPr marL="625994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Courts</a:t>
            </a:r>
          </a:p>
          <a:p>
            <a:pPr marL="625994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Police Departments</a:t>
            </a:r>
          </a:p>
          <a:p>
            <a:pPr marL="625994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Dispute Resolution Centers</a:t>
            </a:r>
          </a:p>
          <a:p>
            <a:pPr marL="625994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Government and semi-government entities</a:t>
            </a:r>
          </a:p>
          <a:p>
            <a:pPr marL="2715">
              <a:lnSpc>
                <a:spcPts val="1900"/>
              </a:lnSpc>
            </a:pPr>
            <a:r>
              <a:rPr b="1" sz="1450">
                <a:solidFill>
                  <a:srgbClr val="000000"/>
                </a:solidFill>
                <a:latin typeface="Arial"/>
              </a:rPr>
              <a:t>Reporting &amp; Case Tracking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1. Continuously monitor case progress and developments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2. Prepare periodic reports, including:</a:t>
            </a:r>
          </a:p>
          <a:p>
            <a:pPr marL="625994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Weekly reports</a:t>
            </a:r>
          </a:p>
          <a:p>
            <a:pPr marL="625994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Monthly reports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3. Analyze case performance and evaluate consultants’ outcomes</a:t>
            </a:r>
          </a:p>
          <a:p>
            <a:pPr marL="2715">
              <a:lnSpc>
                <a:spcPts val="1900"/>
              </a:lnSpc>
            </a:pPr>
            <a:r>
              <a:rPr b="1" sz="1450">
                <a:solidFill>
                  <a:srgbClr val="000000"/>
                </a:solidFill>
                <a:latin typeface="Arial"/>
              </a:rPr>
              <a:t>Legal Research &amp; Knowledge Management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1. Conduct in-depth legal research across all practice areas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2. Prepare legal bundles, references, indexes, and case law materials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3. Supervise and guide junior legal researchers</a:t>
            </a:r>
          </a:p>
          <a:p>
            <a:pPr marL="140652">
              <a:lnSpc>
                <a:spcPts val="1900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4. Maintain and update legal databases, templates, and precedents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7003" y="1818846"/>
            <a:ext cx="4077850" cy="144684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742"/>
              </a:lnSpc>
            </a:pPr>
            <a:r>
              <a:rPr b="1" sz="1450">
                <a:solidFill>
                  <a:srgbClr val="000000"/>
                </a:solidFill>
                <a:latin typeface="Arial"/>
              </a:rPr>
              <a:t>Professional Development</a:t>
            </a:r>
          </a:p>
          <a:p>
            <a:pPr marL="138640">
              <a:lnSpc>
                <a:spcPts val="1941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1. Commit to continuous self-development</a:t>
            </a:r>
          </a:p>
          <a:p>
            <a:pPr marL="313348">
              <a:lnSpc>
                <a:spcPts val="1941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and legal specialization</a:t>
            </a:r>
          </a:p>
          <a:p>
            <a:pPr marL="138640">
              <a:lnSpc>
                <a:spcPts val="1941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2. Progress toward becoming a Legal</a:t>
            </a:r>
          </a:p>
          <a:p>
            <a:pPr marL="313348">
              <a:lnSpc>
                <a:spcPts val="1941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Consultant through structured learning</a:t>
            </a:r>
          </a:p>
          <a:p>
            <a:pPr marL="313348">
              <a:lnSpc>
                <a:spcPts val="1941"/>
              </a:lnSpc>
            </a:pPr>
            <a:r>
              <a:rPr b="0" sz="1450">
                <a:solidFill>
                  <a:srgbClr val="000000"/>
                </a:solidFill>
                <a:latin typeface="Arial"/>
              </a:rPr>
              <a:t>and practical exposure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44424"/>
            <a:ext cx="6804908" cy="503905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2715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Shriff Shaban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Senior Legal Researcher</a:t>
            </a:r>
          </a:p>
          <a:p>
            <a:pPr marL="2715">
              <a:lnSpc>
                <a:spcPts val="27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2715">
              <a:lnSpc>
                <a:spcPts val="2887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Court &amp; Session Management</a:t>
            </a:r>
          </a:p>
          <a:p>
            <a:pPr marL="149161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Attendance Rate for Court Sessions: 100% compliance</a:t>
            </a:r>
          </a:p>
          <a:p>
            <a:pPr marL="149161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Punctuality for Hearings and Appointments: Zero delays tolerated</a:t>
            </a:r>
          </a:p>
          <a:p>
            <a:pPr marL="149161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Session Follow Up Completion: 100% same day reporting after each</a:t>
            </a:r>
          </a:p>
          <a:p>
            <a:pPr marL="333708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hearing</a:t>
            </a:r>
          </a:p>
          <a:p>
            <a:pPr marL="149161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Accuracy of Information Delivered to Lawyers: ≥ 98% accuracy rate</a:t>
            </a:r>
          </a:p>
          <a:p>
            <a:pPr marL="2715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Case Management &amp; Procedures</a:t>
            </a:r>
          </a:p>
          <a:p>
            <a:pPr marL="149161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Case Registration Accuracy: ≥ 98% error-free filings</a:t>
            </a:r>
          </a:p>
          <a:p>
            <a:pPr marL="149161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Timely Execution of Legal Procedures (notifications, filings, etc.):</a:t>
            </a:r>
          </a:p>
          <a:p>
            <a:pPr marL="333708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Within deadlines – 100% compliance</a:t>
            </a:r>
          </a:p>
          <a:p>
            <a:pPr marL="149161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Roll System Updates: Real-time updates with no backlog (0 pending</a:t>
            </a:r>
          </a:p>
          <a:p>
            <a:pPr marL="333708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cases &gt;24h)</a:t>
            </a:r>
          </a:p>
          <a:p>
            <a:pPr marL="149161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Execution File Handling Efficiency: All execution actions completed</a:t>
            </a:r>
          </a:p>
          <a:p>
            <a:pPr marL="333708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within assigned timelines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44424"/>
            <a:ext cx="6978240" cy="5769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2715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Shriff Shaban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Senior Legal Researcher</a:t>
            </a:r>
          </a:p>
          <a:p>
            <a:pPr marL="2715">
              <a:lnSpc>
                <a:spcPts val="27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46368">
              <a:lnSpc>
                <a:spcPts val="1997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Client Communication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Response Time to Client Inquiries: Within 2–4 working hours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Client Update Frequency: Minimum 1 update per week per active case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Client Satisfaction Score (internal evaluation): ≥ 90%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Communication Accuracy and Professionalism: Zero complaints</a:t>
            </a:r>
          </a:p>
          <a:p>
            <a:pPr marL="0">
              <a:lnSpc>
                <a:spcPts val="184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Support to Legal Consultants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Timely Follow-Up on Memoranda &amp; Submissions: 100% on schedule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Appeal Deadline Tracking: Zero missed deadlines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Expert Appointment Monitoring: 100% attendance or reporting compliance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Document Readiness for Lawyers: Delivered at least 24h before deadlines</a:t>
            </a:r>
          </a:p>
          <a:p>
            <a:pPr marL="0">
              <a:lnSpc>
                <a:spcPts val="184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External Representation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Attendance Compliance (Courts, Police, Government Entities): 100%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Completion of External Tasks: Within assigned timeframe – 100% compliance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Professional Conduct Evaluation: No negative feedback from external entities</a:t>
            </a:r>
          </a:p>
          <a:p>
            <a:pPr marL="0">
              <a:lnSpc>
                <a:spcPts val="1849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Reporting &amp; Performance Tracking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Weekly Reports Submission: Every week – no delay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Monthly Reports Submission: On time – 100% compliance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Accuracy of Reports: ≥ 98%</a:t>
            </a:r>
          </a:p>
          <a:p>
            <a:pPr marL="132121">
              <a:lnSpc>
                <a:spcPts val="1849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Case Progress Tracking: Full visibility with zero missing data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44424"/>
            <a:ext cx="9178899" cy="576533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2715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Shriff Shaban</a:t>
            </a:r>
          </a:p>
          <a:p>
            <a:pPr marL="0">
              <a:lnSpc>
                <a:spcPts val="456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Senior Legal Researcher</a:t>
            </a:r>
          </a:p>
          <a:p>
            <a:pPr marL="2715">
              <a:lnSpc>
                <a:spcPts val="27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2715">
              <a:lnSpc>
                <a:spcPts val="1955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Legal Research &amp; Knowledge Management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Quality of Legal Research (internal evaluation): ≥ 90% acceptance rate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Turnaround Time for Research Tasks: Within assigned deadlines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Preparation of Legal Bundles &amp; Case Law: 100% completeness and accuracy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Database Updates (templates, precedents): Weekly updates minimum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5. Supervision of Junior Researchers: Measured by team error reduction ≥ 20%</a:t>
            </a:r>
          </a:p>
          <a:p>
            <a:pPr marL="2715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Productivity &amp; Efficiency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Number of Cases Managed Simultaneously: As per department capacity (benchmark set internally)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Task Completion Rate: ≥ 95% within deadlines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Error Rate in Work Output: ≤ 2%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4. System Usage Compliance ( current System , work system / Case System): 100% usage – no offline work</a:t>
            </a:r>
          </a:p>
          <a:p>
            <a:pPr marL="2715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Compliance &amp; Internal Policies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Adherence to RK Policies &amp; Procedures: 100% compliance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Documentation &amp; File Organization: Fully structured – zero missing documents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Confidentiality Compliance: Zero breaches (strict termination trigger)</a:t>
            </a:r>
          </a:p>
          <a:p>
            <a:pPr marL="2715">
              <a:lnSpc>
                <a:spcPts val="1850"/>
              </a:lnSpc>
            </a:pPr>
            <a:r>
              <a:rPr b="1" sz="1400">
                <a:solidFill>
                  <a:srgbClr val="000000"/>
                </a:solidFill>
                <a:latin typeface="Arial"/>
              </a:rPr>
              <a:t>Professional Development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1. Training &amp; Development Participation: Minimum 1 program per quarter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2. Legal Specialization Progress: Clear track within 6–12 months</a:t>
            </a:r>
          </a:p>
          <a:p>
            <a:pPr marL="135668">
              <a:lnSpc>
                <a:spcPts val="1850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3. Internal Evaluation Improvement: Continuous quarterly improvement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0315" y="3834350"/>
            <a:ext cx="52917" cy="529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0315" y="4094699"/>
            <a:ext cx="52917" cy="529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0315" y="4355049"/>
            <a:ext cx="52917" cy="529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15" y="4615398"/>
            <a:ext cx="52917" cy="52917"/>
          </a:xfrm>
          <a:prstGeom prst="ellipse">
            <a:avLst/>
          </a:prstGeom>
          <a:noFill/>
          <a:ln w="9525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798" y="402497"/>
            <a:ext cx="6272523" cy="566592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985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Riham</a:t>
            </a:r>
          </a:p>
          <a:p>
            <a:pPr marL="6985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Researcher</a:t>
            </a:r>
          </a:p>
          <a:p>
            <a:pPr marL="69850">
              <a:lnSpc>
                <a:spcPts val="349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2693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Case Management and Legal Procedures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Register all types of cases and execution files across all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applicable legal systems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Attend and follow up on case management hearings and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settlement sessions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Submit all required applications and requests related to cases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and execution matters, including: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legal notices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Investigations and inquiries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Enforcement procedures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Follow up on execution files until full recovery of amounts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and final closure of the file</a:t>
            </a:r>
          </a:p>
          <a:p>
            <a:pPr marL="51395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Legal Drafting and Documentation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Prepare and draft enforcement pleadings and legal notices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Draft rental (tenancy) pleadings and related notices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Follow up on rental disputes and attend related hearings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2911336" cy="9750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Riham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Researcher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648" y="1665126"/>
            <a:ext cx="6633743" cy="44581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2192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Liaison with Authorities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Review and follow up on procedures with: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Courts of all levels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Government authorities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Police departments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5. Submit complaints across various Public Prosecution systems and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follow up accordingly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6. Attend investigation sessions and monitor criminal procedures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Expert Support and Technical Procedures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Attend expert meetings and hearings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Follow up on expert reports and all related procedures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Client Relationship Management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Handle direct communication with clients and respond to their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inquiries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Provide periodic reports on case progress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Ensure continuous and professional updates to 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1684" y="1954266"/>
            <a:ext cx="4510348" cy="256780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84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Internal Coordination and Legal</a:t>
            </a:r>
          </a:p>
          <a:p>
            <a:pPr marL="0">
              <a:lnSpc>
                <a:spcPts val="2050"/>
              </a:lnSpc>
            </a:pPr>
            <a:r>
              <a:rPr b="1" sz="1550">
                <a:solidFill>
                  <a:srgbClr val="000000"/>
                </a:solidFill>
                <a:latin typeface="Arial"/>
              </a:rPr>
              <a:t>Follow Up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1. Maintain continuous coordination with the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legal consultant responsible for the case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2. Provide regular updates on case</a:t>
            </a:r>
          </a:p>
          <a:p>
            <a:pPr marL="330993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developments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3. Monitor deadlines related to: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4. Appeals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5. Cassation</a:t>
            </a:r>
          </a:p>
          <a:p>
            <a:pPr marL="146447">
              <a:lnSpc>
                <a:spcPts val="2050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6. All relevant legal procedures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798" y="402497"/>
            <a:ext cx="6594247" cy="43876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985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Riham</a:t>
            </a:r>
          </a:p>
          <a:p>
            <a:pPr marL="6985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Researcher</a:t>
            </a:r>
          </a:p>
          <a:p>
            <a:pPr marL="6985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427"/>
              </a:lnSpc>
            </a:pPr>
            <a:r>
              <a:rPr b="1" sz="1500">
                <a:solidFill>
                  <a:srgbClr val="000000"/>
                </a:solidFill>
                <a:latin typeface="Arial"/>
              </a:rPr>
              <a:t>Case Management Efficiency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1. Number of cases registered and handled per month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2. Percentage of cases processed within required deadlines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3. Average turnaround time for case filings and execution procedures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4. Percentage of execution files successfully completed and closed</a:t>
            </a:r>
          </a:p>
          <a:p>
            <a:pPr marL="0">
              <a:lnSpc>
                <a:spcPts val="2000"/>
              </a:lnSpc>
            </a:pPr>
            <a:r>
              <a:rPr b="1" sz="1500">
                <a:solidFill>
                  <a:srgbClr val="000000"/>
                </a:solidFill>
                <a:latin typeface="Arial"/>
              </a:rPr>
              <a:t>Legal Documentation and Drafting Quality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1. Accuracy rate of drafted pleadings and legal documents (minimal</a:t>
            </a:r>
          </a:p>
          <a:p>
            <a:pPr marL="321865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revisions required)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2. Number of documents prepared per month (pleadings, notices,</a:t>
            </a:r>
          </a:p>
          <a:p>
            <a:pPr marL="321865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applications)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3. Compliance with legal standards and internal quality requirements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4. Error rate in submissions and filings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2911336" cy="128538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Riham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Researcher</a:t>
            </a:r>
          </a:p>
          <a:p>
            <a:pPr marL="72691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339" y="1964564"/>
            <a:ext cx="7359729" cy="250543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789"/>
              </a:lnSpc>
            </a:pPr>
            <a:r>
              <a:rPr b="1" sz="1500">
                <a:solidFill>
                  <a:srgbClr val="000000"/>
                </a:solidFill>
                <a:latin typeface="Arial"/>
              </a:rPr>
              <a:t>Court and Authority Handling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1. Attendance rate for scheduled hearings, investigations, and expert sessions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2. Timeliness in completing court procedures and government transactions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3. Success rate in completing filings without rejection or delay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4. Efficiency in handling prosecution and police-related procedures</a:t>
            </a:r>
          </a:p>
          <a:p>
            <a:pPr marL="0">
              <a:lnSpc>
                <a:spcPts val="2000"/>
              </a:lnSpc>
            </a:pPr>
            <a:r>
              <a:rPr b="1" sz="1500">
                <a:solidFill>
                  <a:srgbClr val="000000"/>
                </a:solidFill>
                <a:latin typeface="Arial"/>
              </a:rPr>
              <a:t>Execution and Recovery Performance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1. Total value of execution amounts successfully recovered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2. Percentage of execution cases completed vs. assigned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3. Average time taken to close execution files</a:t>
            </a:r>
          </a:p>
          <a:p>
            <a:pPr marL="14237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4. Efficiency in following up enforcement actions until completion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6826581" cy="520045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Riham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legal Researcher</a:t>
            </a:r>
          </a:p>
          <a:p>
            <a:pPr marL="72691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72691">
              <a:lnSpc>
                <a:spcPts val="2827"/>
              </a:lnSpc>
            </a:pPr>
            <a:r>
              <a:rPr b="1" sz="1500">
                <a:solidFill>
                  <a:srgbClr val="000000"/>
                </a:solidFill>
                <a:latin typeface="Arial"/>
              </a:rPr>
              <a:t>Client Management and Satisfaction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1. Response time to client inquiries (target: within 2–4 hours)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2. Frequency and consistency of client updates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3. Client satisfaction rate (based on feedback or retention)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4. Number of client complaints or escalations</a:t>
            </a:r>
          </a:p>
          <a:p>
            <a:pPr marL="72691">
              <a:lnSpc>
                <a:spcPts val="2000"/>
              </a:lnSpc>
            </a:pPr>
            <a:r>
              <a:rPr b="1" sz="1500">
                <a:solidFill>
                  <a:srgbClr val="000000"/>
                </a:solidFill>
                <a:latin typeface="Arial"/>
              </a:rPr>
              <a:t>Internal Coordination and Reporting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1. Timeliness and accuracy of updates provided to legal consultants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2. Adherence to internal reporting standards (weekly/monthly reports)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3. Coordination efficiency with internal teams (legal, admin, secretariat)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4. Compliance with internal policies and procedures</a:t>
            </a:r>
          </a:p>
          <a:p>
            <a:pPr marL="72691">
              <a:lnSpc>
                <a:spcPts val="2000"/>
              </a:lnSpc>
            </a:pPr>
            <a:r>
              <a:rPr b="1" sz="1500">
                <a:solidFill>
                  <a:srgbClr val="000000"/>
                </a:solidFill>
                <a:latin typeface="Arial"/>
              </a:rPr>
              <a:t>Professional Development and Growth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1. Participation in legal training and development programs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2. Progress toward specialization in a defined legal field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3. Improvement in handling complex cases independently</a:t>
            </a:r>
          </a:p>
          <a:p>
            <a:pPr marL="215069">
              <a:lnSpc>
                <a:spcPts val="2000"/>
              </a:lnSpc>
            </a:pPr>
            <a:r>
              <a:rPr b="0" sz="1500">
                <a:solidFill>
                  <a:srgbClr val="000000"/>
                </a:solidFill>
                <a:latin typeface="Arial"/>
              </a:rPr>
              <a:t>4. Contribution to team knowledge and support of junior staff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5838" y="4198814"/>
            <a:ext cx="147500" cy="147500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45838" y="4537502"/>
            <a:ext cx="147500" cy="147500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5838" y="4893816"/>
            <a:ext cx="147500" cy="147500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500" y="5264385"/>
            <a:ext cx="185937" cy="185937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5648" y="402497"/>
            <a:ext cx="5934907" cy="476132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868164"/>
                </a:solidFill>
                <a:latin typeface="Arial"/>
              </a:rPr>
              <a:t>Shahd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paralegal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115904">
              <a:lnSpc>
                <a:spcPts val="217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1. Manage case files, legal submissions, and schedules efficiently</a:t>
            </a:r>
          </a:p>
          <a:p>
            <a:pPr marL="115904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2. Coordinate hearing dates, court filings, and all legal deadlines</a:t>
            </a:r>
          </a:p>
          <a:p>
            <a:pPr marL="115904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3. Maintain structured communication between legal teams and</a:t>
            </a:r>
          </a:p>
          <a:p>
            <a:pPr marL="277927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stakeholders</a:t>
            </a:r>
          </a:p>
          <a:p>
            <a:pPr marL="115904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4. Provide timely follow-ups and updates to clients</a:t>
            </a:r>
          </a:p>
          <a:p>
            <a:pPr marL="115904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5. Prepare and draft legal contracts, agreements, and memoranda</a:t>
            </a:r>
          </a:p>
          <a:p>
            <a:pPr marL="115904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6. Review legal documents to ensure accuracy and compliance with</a:t>
            </a:r>
          </a:p>
          <a:p>
            <a:pPr marL="277927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applicable laws</a:t>
            </a:r>
          </a:p>
          <a:p>
            <a:pPr marL="115904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7. Organize and maintain case files and legal documentation</a:t>
            </a:r>
          </a:p>
          <a:p>
            <a:pPr marL="115904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8. Monitor court sessions, legal procedures, and key milestones</a:t>
            </a:r>
          </a:p>
          <a:p>
            <a:pPr marL="115904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9. Follow up on all legal correspondence, including emails and official</a:t>
            </a:r>
          </a:p>
          <a:p>
            <a:pPr marL="277927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communications</a:t>
            </a:r>
          </a:p>
          <a:p>
            <a:pPr marL="17578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10. Communicate with clients to collect required information and</a:t>
            </a:r>
          </a:p>
          <a:p>
            <a:pPr marL="277927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documentation</a:t>
            </a:r>
          </a:p>
          <a:p>
            <a:pPr marL="17578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11. Ensure compliance with laws, regulations, and internal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1285" y="1956538"/>
            <a:ext cx="5639687" cy="134544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617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12. Process KYC and AML documentation in accordance with</a:t>
            </a:r>
          </a:p>
          <a:p>
            <a:pPr marL="285484">
              <a:lnSpc>
                <a:spcPts val="1801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regulatory standards</a:t>
            </a:r>
          </a:p>
          <a:p>
            <a:pPr marL="0">
              <a:lnSpc>
                <a:spcPts val="1801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13. Follow up on company licenses and regulatory procedures</a:t>
            </a:r>
          </a:p>
          <a:p>
            <a:pPr marL="0">
              <a:lnSpc>
                <a:spcPts val="1801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14. Maintain proper archiving and legal filing systems</a:t>
            </a:r>
          </a:p>
          <a:p>
            <a:pPr marL="0">
              <a:lnSpc>
                <a:spcPts val="1801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15. Manage and update legal databases and records</a:t>
            </a:r>
          </a:p>
          <a:p>
            <a:pPr marL="0">
              <a:lnSpc>
                <a:spcPts val="1801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16. Track legal invoices, reports, and financial-related legal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7371" y="3724683"/>
            <a:ext cx="791638" cy="2744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4132" y="4175244"/>
            <a:ext cx="3594904" cy="90540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702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Zero missed deadlines</a:t>
            </a:r>
          </a:p>
          <a:p>
            <a:pPr marL="0">
              <a:lnSpc>
                <a:spcPts val="2667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Filing accuracy ≥ 98%</a:t>
            </a:r>
          </a:p>
          <a:p>
            <a:pPr marL="0">
              <a:lnSpc>
                <a:spcPts val="2806"/>
              </a:lnSpc>
            </a:pPr>
            <a:r>
              <a:rPr b="0" sz="1400">
                <a:solidFill>
                  <a:srgbClr val="000000"/>
                </a:solidFill>
                <a:latin typeface="Arial"/>
              </a:rPr>
              <a:t>Communication turnaround ≤ 24 hours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798" y="854289"/>
            <a:ext cx="10820372" cy="16933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050" y="2764848"/>
            <a:ext cx="9703643" cy="48067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4308"/>
              </a:lnSpc>
            </a:pPr>
            <a:r>
              <a:rPr b="0" sz="3600">
                <a:solidFill>
                  <a:srgbClr val="000000"/>
                </a:solidFill>
                <a:latin typeface="Arial"/>
              </a:rPr>
              <a:t>COMPLIANCE, FINANCE &amp;ADMINISTRATION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5472" y="237836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5472" y="267251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4115" y="296871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5472" y="327126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5472" y="357381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4115" y="387636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5472" y="4519656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5472" y="4813805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4115" y="5110006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5472" y="5412556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5472" y="5715106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4115" y="6017657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69651" y="237836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9651" y="267251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68294" y="296871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9651" y="327126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9651" y="357381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9651" y="4545056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9651" y="4839205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68294" y="5135406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9651" y="5437956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5648" y="1024246"/>
            <a:ext cx="8201884" cy="3532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HR Compliance, Finance &amp; Administration 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648" y="1969188"/>
            <a:ext cx="5270926" cy="424224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HR Compliance</a:t>
            </a:r>
          </a:p>
          <a:p>
            <a:pPr marL="235630">
              <a:lnSpc>
                <a:spcPts val="2587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Ensure compliance with UAE Labor Law and MOHRE</a:t>
            </a:r>
          </a:p>
          <a:p>
            <a:pPr marL="235630">
              <a:lnSpc>
                <a:spcPts val="2316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Prepare and manage employee contracts</a:t>
            </a:r>
          </a:p>
          <a:p>
            <a:pPr marL="234273">
              <a:lnSpc>
                <a:spcPts val="23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Maintain employee files and records</a:t>
            </a:r>
          </a:p>
          <a:p>
            <a:pPr marL="235630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Handle disciplinary actions and grievances</a:t>
            </a:r>
          </a:p>
          <a:p>
            <a:pPr marL="235630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Update HR policies and procedures</a:t>
            </a:r>
          </a:p>
          <a:p>
            <a:pPr marL="234273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Coordinate with legal advisors on HR matters</a:t>
            </a:r>
          </a:p>
          <a:p>
            <a:pPr marL="0">
              <a:lnSpc>
                <a:spcPts val="2679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Finance</a:t>
            </a:r>
          </a:p>
          <a:p>
            <a:pPr marL="235630">
              <a:lnSpc>
                <a:spcPts val="2387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Monitor budgets and expenses</a:t>
            </a:r>
          </a:p>
          <a:p>
            <a:pPr marL="235630">
              <a:lnSpc>
                <a:spcPts val="2316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Approve invoices and payments</a:t>
            </a:r>
          </a:p>
          <a:p>
            <a:pPr marL="234273">
              <a:lnSpc>
                <a:spcPts val="23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Coordinate with accountants and auditors</a:t>
            </a:r>
          </a:p>
          <a:p>
            <a:pPr marL="235630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Ensure salary and EOSB (end of service benefits)</a:t>
            </a:r>
          </a:p>
          <a:p>
            <a:pPr marL="235630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Accuracy monitor receivables and payables</a:t>
            </a:r>
          </a:p>
          <a:p>
            <a:pPr marL="234273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Ensure VAT and financial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9827" y="1969188"/>
            <a:ext cx="4791178" cy="179840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Administration</a:t>
            </a:r>
          </a:p>
          <a:p>
            <a:pPr marL="235630">
              <a:lnSpc>
                <a:spcPts val="2587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Manage office operations and vendors</a:t>
            </a:r>
          </a:p>
          <a:p>
            <a:pPr marL="235630">
              <a:lnSpc>
                <a:spcPts val="2316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Handle trade license and document renewals</a:t>
            </a:r>
          </a:p>
          <a:p>
            <a:pPr marL="234273">
              <a:lnSpc>
                <a:spcPts val="23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Maintain contracts and corporate records</a:t>
            </a:r>
          </a:p>
          <a:p>
            <a:pPr marL="235630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Oversee office and service providers</a:t>
            </a:r>
          </a:p>
          <a:p>
            <a:pPr marL="235630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Ensure smooth daily administrative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9827" y="4135875"/>
            <a:ext cx="4263909" cy="149585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Payroll &amp; Employee Services</a:t>
            </a:r>
          </a:p>
          <a:p>
            <a:pPr marL="235630">
              <a:lnSpc>
                <a:spcPts val="2587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Process monthly payroll on time</a:t>
            </a:r>
          </a:p>
          <a:p>
            <a:pPr marL="235630">
              <a:lnSpc>
                <a:spcPts val="2316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Manage leaves, attendance, and benefits</a:t>
            </a:r>
          </a:p>
          <a:p>
            <a:pPr marL="234273">
              <a:lnSpc>
                <a:spcPts val="23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Handle on boarding and off boarding</a:t>
            </a:r>
          </a:p>
          <a:p>
            <a:pPr marL="235630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Respond to employee HR inquieres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5472" y="237836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5472" y="267251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4115" y="296871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69651" y="237836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69651" y="267251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8294" y="2968718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69651" y="3271269"/>
            <a:ext cx="160785" cy="160785"/>
          </a:xfrm>
          <a:prstGeom prst="ellipse">
            <a:avLst/>
          </a:prstGeom>
          <a:noFill/>
          <a:ln w="9525">
            <a:solidFill>
              <a:srgbClr val="25282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5648" y="1024246"/>
            <a:ext cx="8201884" cy="3532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HR Compliance, Finance &amp; Administration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648" y="1969188"/>
            <a:ext cx="4841587" cy="119330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Reporting</a:t>
            </a:r>
          </a:p>
          <a:p>
            <a:pPr marL="235630">
              <a:lnSpc>
                <a:spcPts val="2587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Prepare monthly HR and finance reports</a:t>
            </a:r>
          </a:p>
          <a:p>
            <a:pPr marL="235630">
              <a:lnSpc>
                <a:spcPts val="2316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Support audits and inspections</a:t>
            </a:r>
          </a:p>
          <a:p>
            <a:pPr marL="234273">
              <a:lnSpc>
                <a:spcPts val="23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Provide management with operational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9827" y="1969188"/>
            <a:ext cx="4805782" cy="149585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320"/>
              </a:lnSpc>
            </a:pPr>
            <a:r>
              <a:rPr b="1" sz="1950">
                <a:solidFill>
                  <a:srgbClr val="000000"/>
                </a:solidFill>
                <a:latin typeface="Arial"/>
              </a:rPr>
              <a:t>KPIs</a:t>
            </a:r>
          </a:p>
          <a:p>
            <a:pPr marL="235630">
              <a:lnSpc>
                <a:spcPts val="2587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standard operating procedurE implementation</a:t>
            </a:r>
          </a:p>
          <a:p>
            <a:pPr marL="235630">
              <a:lnSpc>
                <a:spcPts val="2316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Zero compliance violations</a:t>
            </a:r>
          </a:p>
          <a:p>
            <a:pPr marL="234273">
              <a:lnSpc>
                <a:spcPts val="233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Financial reporting accuracy 100%</a:t>
            </a:r>
          </a:p>
          <a:p>
            <a:pPr marL="235630">
              <a:lnSpc>
                <a:spcPts val="2382"/>
              </a:lnSpc>
            </a:pPr>
            <a:r>
              <a:rPr b="0" sz="1550">
                <a:solidFill>
                  <a:srgbClr val="000000"/>
                </a:solidFill>
                <a:latin typeface="Arial"/>
              </a:rPr>
              <a:t>Employee satisfaction ≥ 85%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5144" y="354195"/>
            <a:ext cx="10445293" cy="575268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40504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Erika Cornes</a:t>
            </a:r>
          </a:p>
          <a:p>
            <a:pPr marL="40504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 Officer</a:t>
            </a:r>
          </a:p>
          <a:p>
            <a:pPr marL="40504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95654">
              <a:lnSpc>
                <a:spcPts val="1895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Issue and file client invoices</a:t>
            </a:r>
          </a:p>
          <a:p>
            <a:pPr marL="95654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Issue and file client receipts</a:t>
            </a:r>
          </a:p>
          <a:p>
            <a:pPr marL="95654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Audit petty cash in accordance with the petty cash reports</a:t>
            </a:r>
          </a:p>
          <a:p>
            <a:pPr marL="95654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Manage accounts receivable and follow up with clients on outstanding payments based on case progress and agreed terms, in</a:t>
            </a:r>
          </a:p>
          <a:p>
            <a:pPr marL="253157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coordination with legal consultants</a:t>
            </a:r>
          </a:p>
          <a:p>
            <a:pPr marL="95654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5. Communicate with clients regarding financial reports, account balances, and statements of account (SOA)</a:t>
            </a:r>
          </a:p>
          <a:p>
            <a:pPr marL="95654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6. Update and maintain client SOA records</a:t>
            </a:r>
          </a:p>
          <a:p>
            <a:pPr marL="95654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7. Perform reconciliations and process cheque payments to suppliers (optional)</a:t>
            </a:r>
          </a:p>
          <a:p>
            <a:pPr marL="95654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8. Handle supplier payments and financial coordination (optional)</a:t>
            </a:r>
          </a:p>
          <a:p>
            <a:pPr marL="95654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9. Prepare monthly income reports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10. Act as procurement officer for office supplies (paper, toner, etc.)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11. Handle cheque encashment and deposits (optional), including for government fee payments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12. Deposit cash and cheques received from clients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13. File VAT returns on a quarterly basis and ensure tax compliance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14. File Corporate Tax returns as per reporting requirements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15. Perform monthly bank reconciliations for ADIB and NBQ accounts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16. Monitor and manage bank balances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17. Request cheque books and manage banking documentation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18. Maintain accurate data entry in Zoho Books</a:t>
            </a:r>
          </a:p>
          <a:p>
            <a:pPr marL="0">
              <a:lnSpc>
                <a:spcPts val="1732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19. Audit government fee payments in line with client balances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5764672" cy="583974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Erika Cornes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 Officer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1481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invoicing &amp; Receipts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100% of invoices issued within 24 hours of instruction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100% accuracy in invoices and receipts (zero financial discrepancies)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Proper filing and documentation compliance at 100%</a:t>
            </a:r>
          </a:p>
          <a:p>
            <a:pPr marL="0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Accounts Receivable &amp; Collections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Achieve ≥ 90–95% collection rate within agreed timelines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Reduce overdue receivables by minimum 20% monthly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Average collection period (DSO) ≤ 30 days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Weekly follow-up reports submitted without delay</a:t>
            </a:r>
          </a:p>
          <a:p>
            <a:pPr marL="0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Client Communication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Response time to client financial inquiries: within 2–4 hours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Client satisfaction score ≥ 90% (internal evaluation)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Zero missed or delayed financial updates</a:t>
            </a:r>
          </a:p>
          <a:p>
            <a:pPr marL="42962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SOA Management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100% accuracy in Statements of Account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SOA updated weekly or after every transaction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Zero discrepancies between SOA and actual balance</a:t>
            </a:r>
          </a:p>
          <a:p>
            <a:pPr marL="0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Reconciliation &amp; Payments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Monthly bank reconciliations completed by month-end + 3 days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100% accuracy in reconciliations (no unexplained variances)</a:t>
            </a:r>
          </a:p>
          <a:p>
            <a:pPr marL="1223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Supplier payments processed on time: ≥ 95%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4113" y="1703039"/>
            <a:ext cx="5265735" cy="319239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31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Financial Reporting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Monthly income reports submitted by month-end + 5 days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Accuracy rate ≥ 99%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Reports aligned with management and audit standards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Procurement Efficiency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Office supply availability maintained at 100% (no shortages)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6. Procurement requests processed within 24–48 hours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7. Cost optimization target: 5–10% savings annually</a:t>
            </a:r>
          </a:p>
          <a:p>
            <a:pPr marL="0">
              <a:lnSpc>
                <a:spcPts val="1687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Cash &amp; Cheque Handling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100% secure handling of cash and cheques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Same-day deposit for all received payments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Zero incidents of financial mismanagement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No financial penalties or audit issues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Full compliance with UAE financial regulations</a:t>
            </a:r>
          </a:p>
          <a:p>
            <a:pPr marL="121770">
              <a:lnSpc>
                <a:spcPts val="1687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6. Contribution to improving firm cash flow and financial control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6067145" cy="509854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Erika Cornes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 Officer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645"/>
              </a:lnSpc>
            </a:pPr>
            <a:r>
              <a:rPr b="1" sz="1350">
                <a:solidFill>
                  <a:srgbClr val="000000"/>
                </a:solidFill>
                <a:latin typeface="Arial"/>
              </a:rPr>
              <a:t>Tax Compliance (VAT &amp; Corporate Tax)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1. 100% on-time filing of VAT and Corporate Tax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2. Zero fines, penalties, or compliance violations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3. Full documentation readiness for audits at all times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4. 10. Banking &amp; Cash Flow Management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5. Daily monitoring of bank balances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6. Maintain sufficient liquidity (no operational disruptions)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7. Zero missed banking requirements or delays</a:t>
            </a:r>
          </a:p>
          <a:p>
            <a:pPr marL="45045">
              <a:lnSpc>
                <a:spcPts val="1800"/>
              </a:lnSpc>
            </a:pPr>
            <a:r>
              <a:rPr b="1" sz="1350">
                <a:solidFill>
                  <a:srgbClr val="000000"/>
                </a:solidFill>
                <a:latin typeface="Arial"/>
              </a:rPr>
              <a:t>Zoho Books &amp; Data Entry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1. 100% real-time or same-day data entry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2. Accuracy rate ≥ 99%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3. System always audit-ready</a:t>
            </a:r>
          </a:p>
          <a:p>
            <a:pPr marL="0">
              <a:lnSpc>
                <a:spcPts val="1800"/>
              </a:lnSpc>
            </a:pPr>
            <a:r>
              <a:rPr b="1" sz="1350">
                <a:solidFill>
                  <a:srgbClr val="000000"/>
                </a:solidFill>
                <a:latin typeface="Arial"/>
              </a:rPr>
              <a:t>Government Fees Audit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1. 100% alignment between client balances and government payments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2. Zero financial discrepancies</a:t>
            </a:r>
          </a:p>
          <a:p>
            <a:pPr marL="128389">
              <a:lnSpc>
                <a:spcPts val="1800"/>
              </a:lnSpc>
            </a:pPr>
            <a:r>
              <a:rPr b="0" sz="1350">
                <a:solidFill>
                  <a:srgbClr val="000000"/>
                </a:solidFill>
                <a:latin typeface="Arial"/>
              </a:rPr>
              <a:t>3. Full audit trail available for every transaction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6955504" cy="54195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Rola Esber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Accountant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Duties</a:t>
            </a:r>
          </a:p>
          <a:p>
            <a:pPr marL="0">
              <a:lnSpc>
                <a:spcPts val="2473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Financial Operations &amp; Accounting System (Zoho Books)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Record all financial transactions (revenues and expenses) accurately in Zoho Books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Maintain up to date, structured, and well-organized accounting records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all entries are supported by valid documentation (invoices, receipts, approvals)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Monitor daily financial activities to ensure accurate and compliant bookkeeping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Bank Reconciliation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Perform periodic bank reconciliations against accounting records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Identify, investigate, and resolve discrepancies in a timely manner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full alignment between bank statements and internal financial records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Expense Management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Track, record, and classify all company expenses accurately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Verify supporting documents (invoices, receipts) prior to recording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all expenses are approved in accordance with company policies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Monitor expense trends and report any irregularities or concerns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Petty Cash Management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Manage and control petty cash funds in line with company policies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Record all petty cash transactions on a daily basis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cash balance accuracy and perform regular reconciliation</a:t>
            </a:r>
          </a:p>
          <a:p>
            <a:pPr marL="118765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Prepare periodic petty cash reports (weekly and monthly).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6820134" cy="571662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Rola Esber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Accountant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505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Payments Management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Execute payments to clients, suppliers, and third parties in a timely manner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Verify payment details, approvals, and supporting documents prior to processing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Maintain accurate documentation and proper records for all payment transactions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Coordinate with relevant departments regarding payment requests and approvals</a:t>
            </a:r>
          </a:p>
          <a:p>
            <a:pPr marL="42545">
              <a:lnSpc>
                <a:spcPts val="1685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Financial Reporting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Prepare periodic financial reports (weekly and monthly) in a timely manner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Provide accurate and reliable financial data to management when required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Assist in preparing financial summaries, reports, and analysis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Support management decision-making through clear and structured reporting</a:t>
            </a:r>
          </a:p>
          <a:p>
            <a:pPr marL="42545">
              <a:lnSpc>
                <a:spcPts val="1685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Internal Control &amp; Compliance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Ensure full compliance with company financial policies and procedures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Maintain proper filing and documentation of all financial records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Support internal and external audit processes when required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Safeguard the confidentiality, integrity, and security of financial data</a:t>
            </a:r>
          </a:p>
          <a:p>
            <a:pPr marL="0">
              <a:lnSpc>
                <a:spcPts val="1685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Coordination &amp; Internal Support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Coordinate with internal departments to support financial operations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Respond to finance-related inquiries in a professional and timely manner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Assist team members with financial data, documentation, and requirements</a:t>
            </a:r>
          </a:p>
          <a:p>
            <a:pPr marL="121253">
              <a:lnSpc>
                <a:spcPts val="1685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Perform additional administrative and financial tasks as assigned by management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548" y="354195"/>
            <a:ext cx="6464329" cy="554128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3810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Rola Esber</a:t>
            </a:r>
          </a:p>
          <a:p>
            <a:pPr marL="3810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Accountant</a:t>
            </a:r>
          </a:p>
          <a:p>
            <a:pPr marL="3810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531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Financial Operations &amp; Accounting System (Zoho Books)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Daily recording of financial transactions: 100% same-day entry (Zero backlog)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Accuracy of accounting entries: ≥ 99%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Proper documentation attachment (invoices/receipts): 100% compliance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System usage compliance (Zoho Books): 100% – no offline processing</a:t>
            </a:r>
          </a:p>
          <a:p>
            <a:pPr marL="0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Bank Reconciliation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Completion of bank reconciliations: Weekly – 100% on time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Unresolved discrepancies: 0 tolerance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Resolution time for discrepancies: Within 24–48 hours</a:t>
            </a:r>
          </a:p>
          <a:p>
            <a:pPr marL="0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Expense Management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Expense recording timeline: Within 24 hours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Accuracy in expense classification: ≥ 98%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Approved expenses only: 100% compliance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Missing supporting documents: 0 tolerance</a:t>
            </a:r>
          </a:p>
          <a:p>
            <a:pPr marL="0">
              <a:lnSpc>
                <a:spcPts val="170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Petty Cash Management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Daily petty cash reconciliation: 100% accuracy (Zero variance)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Recording of petty cash transactions: Same-day entry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Petty cash reporting: Weekly &amp; Monthly 100% on time</a:t>
            </a:r>
          </a:p>
          <a:p>
            <a:pPr marL="122436">
              <a:lnSpc>
                <a:spcPts val="170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Cash discrepancies: 0 AED (Immediate escalation required)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7311186" cy="477386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Rola Esber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Accountant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79090">
              <a:lnSpc>
                <a:spcPts val="2588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Payments Management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Timeliness of payments: 100% on schedule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Verification before payment: 100% compliance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Payment error rate: 0% (Zero tolerance)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Documentation of payments: 100% recorded and archived</a:t>
            </a:r>
          </a:p>
          <a:p>
            <a:pPr marL="123143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Financial Reporting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Weekly and monthly reports submission: 100% on time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Accuracy of financial reports: ≥ 99%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Readiness of reports for management decision-making: 100% clarity &amp; completeness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Response time for ad-hoc reports: Within 24 hours</a:t>
            </a:r>
          </a:p>
          <a:p>
            <a:pPr marL="79090">
              <a:lnSpc>
                <a:spcPts val="1750"/>
              </a:lnSpc>
            </a:pPr>
            <a:r>
              <a:rPr b="1" sz="1300">
                <a:solidFill>
                  <a:srgbClr val="000000"/>
                </a:solidFill>
                <a:latin typeface="Arial"/>
              </a:rPr>
              <a:t>Internal Control &amp; Compliance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1. Compliance with financial policies: 100% adherence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2. Document organization and filing: Zero missing records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3. Audit results: Zero major findings</a:t>
            </a:r>
          </a:p>
          <a:p>
            <a:pPr marL="204602">
              <a:lnSpc>
                <a:spcPts val="1750"/>
              </a:lnSpc>
            </a:pPr>
            <a:r>
              <a:rPr b="0" sz="1300">
                <a:solidFill>
                  <a:srgbClr val="000000"/>
                </a:solidFill>
                <a:latin typeface="Arial"/>
              </a:rPr>
              <a:t>4. Data confidentiality breaches: 0 tolerance (critical KPI)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354195"/>
            <a:ext cx="5490906" cy="521063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Rola Esber</a:t>
            </a:r>
          </a:p>
          <a:p>
            <a:pPr marL="0">
              <a:lnSpc>
                <a:spcPts val="527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Accountant</a:t>
            </a:r>
          </a:p>
          <a:p>
            <a:pPr marL="0">
              <a:lnSpc>
                <a:spcPts val="2444"/>
              </a:lnSpc>
            </a:pPr>
            <a:r>
              <a:rPr b="1" sz="1950">
                <a:solidFill>
                  <a:srgbClr val="868164"/>
                </a:solidFill>
                <a:latin typeface="Arial"/>
              </a:rPr>
              <a:t>KPIs</a:t>
            </a:r>
          </a:p>
          <a:p>
            <a:pPr marL="0">
              <a:lnSpc>
                <a:spcPts val="2477"/>
              </a:lnSpc>
            </a:pPr>
            <a:r>
              <a:rPr b="1" sz="1250" u="sng">
                <a:solidFill>
                  <a:srgbClr val="000000"/>
                </a:solidFill>
                <a:latin typeface="Arial"/>
              </a:rPr>
              <a:t>Coordination &amp; Internal Support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Response time to internal requests: Same working day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Accuracy of shared financial data: ≥ 98%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Internal complaints related to finance: 0 tolerance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Cooperation with departments: 100% compliance</a:t>
            </a:r>
          </a:p>
          <a:p>
            <a:pPr marL="0">
              <a:lnSpc>
                <a:spcPts val="1650"/>
              </a:lnSpc>
            </a:pPr>
            <a:r>
              <a:rPr b="1" sz="1250" u="sng">
                <a:solidFill>
                  <a:srgbClr val="000000"/>
                </a:solidFill>
                <a:latin typeface="Arial"/>
              </a:rPr>
              <a:t>Productivity &amp; Efficiency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Task completion rate: ≥ 95% within deadlines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Daily workload management: Zero backlog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Error rate reduction: Continuous monthly improvement</a:t>
            </a:r>
          </a:p>
          <a:p>
            <a:pPr marL="0">
              <a:lnSpc>
                <a:spcPts val="1650"/>
              </a:lnSpc>
            </a:pPr>
            <a:r>
              <a:rPr b="1" sz="1250" u="sng">
                <a:solidFill>
                  <a:srgbClr val="000000"/>
                </a:solidFill>
                <a:latin typeface="Arial"/>
              </a:rPr>
              <a:t>Professional Conduct &amp; Development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Adherence to company standards: 100% compliance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Participation in training: Minimum 1 program every 6 months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Performance improvement: Quarterly measurable progress</a:t>
            </a:r>
          </a:p>
          <a:p>
            <a:pPr marL="0">
              <a:lnSpc>
                <a:spcPts val="1650"/>
              </a:lnSpc>
            </a:pPr>
            <a:r>
              <a:rPr b="1" sz="1250" u="sng">
                <a:solidFill>
                  <a:srgbClr val="AE1919"/>
                </a:solidFill>
                <a:latin typeface="Arial"/>
              </a:rPr>
              <a:t>Critical Violations (Immediate Action)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Any financial loss due to error or negligence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Any unexplained cash discrepancy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Missing or manipulated financial records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Processing transactions outside approved systems or procedures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7204252" cy="545097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Omar Al Ali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IT &amp; FinTech Manager</a:t>
            </a:r>
          </a:p>
          <a:p>
            <a:pPr marL="0">
              <a:lnSpc>
                <a:spcPts val="2244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IT Infrastructure Management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Manage and maintain all IT infrastructure, including servers (on-premises and cloud)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Oversee internal networks (LAN / WAN / Wi-Fi) and ensure stability and performance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Manage and maintain all company devices (computers, printers, scanners, work phones)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Ensure high system availability and minimize downtime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Systems &amp; Applications Management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Administer and maintain Case Management Systems and legal file systems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Manage CRM systems and ensure proper functionality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Administer Microsoft 365 (emails, accounts, permissions, security settings)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Monitor HR and accounting systems from a technical perspective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Perform system updates, upgrades, and security patching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IT Support (Help Desk)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Provide daily technical support to all employees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Troubleshoot and resolve hardware, software, and network issues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Set up new user accounts and deactivate accounts for departing employees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Train employees on systems, tools, and best practices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Data Management &amp; Backup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Implement and manage data backup policies and procedures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Perform regular backup checks and ensure data recoverability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Test and maintain disaster recovery plans</a:t>
            </a:r>
          </a:p>
          <a:p>
            <a:pPr marL="120154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Ensure data integrity, availability, and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4480" y="1055427"/>
            <a:ext cx="1074564" cy="2961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529"/>
              </a:lnSpc>
            </a:pPr>
            <a:r>
              <a:rPr b="1" sz="210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6703375" cy="50321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Omar Al Ali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IT &amp; FinTech Manager</a:t>
            </a:r>
          </a:p>
          <a:p>
            <a:pPr marL="0">
              <a:lnSpc>
                <a:spcPts val="2246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Vendor &amp; Technology Management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Manage relationships with IT vendors and service providers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Evaluate and recommend new technologies and solutions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Obtain and compare quotations for IT services and equipment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Coordinate subscriptions, renewals, and contracts with Finance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Information Security &amp; Cybersecurity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Ensure the protection of client and firm data (Confidential / Highly Confidential)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Implement access control, encryption, and security protocols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Protect systems against cyber threats (firewalls, malware, ransomware, phishing)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Enforce multi-factor authentication (MFA) and secure password policies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identity &amp; Access Management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Manage user access rights and permissions across all systems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Conduct periodic reviews and updates of user access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Ensure no unauthorized access to sensitive data</a:t>
            </a:r>
          </a:p>
          <a:p>
            <a:pPr marL="0">
              <a:lnSpc>
                <a:spcPts val="165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Security Policies &amp; Compliance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Develop and maintain IT and information security policies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Ensure compliance with local and international data protection regulations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Support internal and external audits</a:t>
            </a:r>
          </a:p>
          <a:p>
            <a:pPr marL="120848">
              <a:lnSpc>
                <a:spcPts val="165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Maintain documentation of IT and security procedures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4480" y="1055427"/>
            <a:ext cx="1074564" cy="2961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529"/>
              </a:lnSpc>
            </a:pPr>
            <a:r>
              <a:rPr b="1" sz="210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6265765" cy="493695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Omar Al Ali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IT &amp; FinTech Manager</a:t>
            </a:r>
          </a:p>
          <a:p>
            <a:pPr marL="0">
              <a:lnSpc>
                <a:spcPts val="2296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Security Incident Management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Monitor systems for potential security incidents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Respond to incidents promptly, including outside working hours if required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Investigate breaches or data leaks and prepare incident reports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Implement corrective and preventive actions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Training &amp; Awareness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Conduct regular IT and cybersecurity awareness sessions for staff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Educate employees on system usage, risks, and best practices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Perform periodic phishing simulations and security assessments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Digital Transformation &amp; Innovation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Support the firm’s digital transformation initiatives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Implement technology solutions to improve efficiency and automation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Enable secure remote work environments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Support decentralized and scalable working models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Confidentiality &amp; Firm Protection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Ensure full confidentiality of legal data, evidence, and client information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Protect the firm’s reputation through strong IT governance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Maintain high standards of data security and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4480" y="1055427"/>
            <a:ext cx="1074564" cy="2961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529"/>
              </a:lnSpc>
            </a:pPr>
            <a:r>
              <a:rPr b="1" sz="2100">
                <a:solidFill>
                  <a:srgbClr val="868164"/>
                </a:solidFill>
                <a:latin typeface="Arial"/>
              </a:rPr>
              <a:t>Duties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3641427" cy="9750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Omar Al Ali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IT &amp; FinTech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192" y="1094847"/>
            <a:ext cx="808292" cy="29610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528"/>
              </a:lnSpc>
            </a:pPr>
            <a:r>
              <a:rPr b="1" sz="2100">
                <a:solidFill>
                  <a:srgbClr val="000000"/>
                </a:solidFill>
                <a:latin typeface="Arial"/>
              </a:rPr>
              <a:t>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648" y="1567094"/>
            <a:ext cx="5156331" cy="450967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22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System Availability &amp; Infrastructure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System uptime (servers, network, systems): ≥ 99.9%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Critical system downtime: 0 tolerance (immediate escalation)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Network stability (no major disruptions): ≥ 99% reliability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Preventive maintenance completion: 100% as scheduled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IT Support (Help Desk Performance)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Response time to IT requests: Within 15–30 minutes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Resolution time (standard issues): Within 2–4 hours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Resolution time (critical issues): Within 1 hour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User satisfaction rate: ≥ 90%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 Reopened tickets: ≤ 5%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Systems &amp; Applications Management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System update &amp; patching compliance: 100% on schedule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System errors / failures: ≤ 2% monthly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CRM / Case System functionality uptime: ≥ 99%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Microsoft 365 service continuity: Zero disruption incidents</a:t>
            </a:r>
          </a:p>
          <a:p>
            <a:pPr marL="42565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Data Management &amp; Backup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Backup completion rate: 100% (daily/automated)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Backup testing 100% success rate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Data loss incidents: 0 tolerance</a:t>
            </a:r>
          </a:p>
          <a:p>
            <a:pPr marL="121047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Recovery time objective for example &lt;4 hours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798" y="402497"/>
            <a:ext cx="5143905" cy="472105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6985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Omar Al Ali</a:t>
            </a:r>
          </a:p>
          <a:p>
            <a:pPr marL="6985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IT &amp; FinTech Manager</a:t>
            </a:r>
          </a:p>
          <a:p>
            <a:pPr marL="42565">
              <a:lnSpc>
                <a:spcPts val="2296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Cybersecurity &amp; Information Security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Security incidents (breaches, leaks): 0 tolerance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Vulnerability patching: Within 24–72 hours of detection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Antivirus / endpoint protection coverage: 100% devices</a:t>
            </a:r>
          </a:p>
          <a:p>
            <a:pPr marL="273942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protected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Phishing success rate (staff testing): ≤ 5% failure rate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Identity &amp; Access Management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User access accuracy: 100% correct permissions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Deactivation of leavers’ accounts: Within same day (max 2</a:t>
            </a:r>
          </a:p>
          <a:p>
            <a:pPr marL="273942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hours)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MFA implementation: 100% for all critical systems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Unauthorized access incidents: 0 tolerance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IT Security Compliance &amp; Governance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Compliance with IT &amp; Security policies: 100% adherence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Audit findings (internal/external): 0 major findings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Documentation completeness: 100% updated and accessible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Policy updates: Quarterly review minimum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4480" y="1055427"/>
            <a:ext cx="788198" cy="29615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529"/>
              </a:lnSpc>
            </a:pPr>
            <a:r>
              <a:rPr b="0" sz="210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9340" y="1438057"/>
            <a:ext cx="5726565" cy="3646197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23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Vendor &amp; Technology Management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Vendor response time management: Within SLA (100%)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Cost optimization (IT expenses): Annual reduction or efficiency</a:t>
            </a:r>
          </a:p>
          <a:p>
            <a:pPr marL="273942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improvement target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Evaluation of new solutions: Minimum 2 proposals per need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Contract &amp; subscription renewals: 0 missed renewals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Incident Management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Incident response time: Immediate (within 15 minutes)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Incident resolution time: Within defined SLA (based on severity)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Incident reporting: 100% documented within 24 hours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Repeat incidents (same root cause): ≤ 5%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1Training &amp; Awareness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Staff IT/security training sessions: Monthly / Bi-weekly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Staff attendance rate: ≥ 90%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Awareness improvement (phishing tests / assessments): Continuous</a:t>
            </a:r>
          </a:p>
          <a:p>
            <a:pPr marL="273942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improvement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 Training documentation: 100% recorded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83163"/>
            <a:ext cx="12192230" cy="507762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798" y="854289"/>
            <a:ext cx="10820373" cy="19050"/>
          </a:xfrm>
          <a:prstGeom prst="rect">
            <a:avLst/>
          </a:prstGeom>
          <a:solidFill>
            <a:srgbClr val="8681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407" y="-85509"/>
            <a:ext cx="3065355" cy="939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648" y="402497"/>
            <a:ext cx="3641427" cy="97504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3080"/>
              </a:lnSpc>
            </a:pPr>
            <a:r>
              <a:rPr b="0" sz="2550">
                <a:solidFill>
                  <a:srgbClr val="868164"/>
                </a:solidFill>
                <a:latin typeface="Arial"/>
              </a:rPr>
              <a:t>Omar Al Ali</a:t>
            </a:r>
          </a:p>
          <a:p>
            <a:pPr marL="0">
              <a:lnSpc>
                <a:spcPts val="4896"/>
              </a:lnSpc>
            </a:pPr>
            <a:r>
              <a:rPr b="1" sz="2550">
                <a:solidFill>
                  <a:srgbClr val="000000"/>
                </a:solidFill>
                <a:latin typeface="Arial"/>
              </a:rPr>
              <a:t>IT &amp; FinTech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4480" y="1063737"/>
            <a:ext cx="808292" cy="296103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2528"/>
              </a:lnSpc>
            </a:pPr>
            <a:r>
              <a:rPr b="1" sz="2100">
                <a:solidFill>
                  <a:srgbClr val="868164"/>
                </a:solidFill>
                <a:latin typeface="Arial"/>
              </a:rPr>
              <a:t>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648" y="1687632"/>
            <a:ext cx="6892044" cy="29984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marL="0">
              <a:lnSpc>
                <a:spcPts val="1523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Digital Transformation &amp; Efficiency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Automation initiatives implemented: Minimum 1 improvement per quarter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Process efficiency improvement: Measured quarterly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Reduction in manual work through IT solutions: Ongoing measurable improvement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000000"/>
                </a:solidFill>
                <a:latin typeface="Arial"/>
              </a:rPr>
              <a:t>Confidentiality &amp; Risk Management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 Data confidentiality breaches: 0 tolerance (critical KPI)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 Legal data protection compliance: 100%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 Risk identification &amp; mitigation actions: Proactive monthly reporting</a:t>
            </a:r>
          </a:p>
          <a:p>
            <a:pPr marL="0">
              <a:lnSpc>
                <a:spcPts val="1700"/>
              </a:lnSpc>
            </a:pPr>
            <a:r>
              <a:rPr b="1" sz="1250">
                <a:solidFill>
                  <a:srgbClr val="AE1919"/>
                </a:solidFill>
                <a:latin typeface="Arial"/>
              </a:rPr>
              <a:t>Critical Violations (Immediate Action)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1.</a:t>
            </a:r>
            <a:r>
              <a:rPr b="1" sz="1250">
                <a:solidFill>
                  <a:srgbClr val="000000"/>
                </a:solidFill>
                <a:latin typeface="Arial"/>
              </a:rPr>
              <a:t> Any data breach or leak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2.</a:t>
            </a:r>
            <a:r>
              <a:rPr b="1" sz="1250">
                <a:solidFill>
                  <a:srgbClr val="000000"/>
                </a:solidFill>
                <a:latin typeface="Arial"/>
              </a:rPr>
              <a:t> System failure due to negligence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3.</a:t>
            </a:r>
            <a:r>
              <a:rPr b="1" sz="1250">
                <a:solidFill>
                  <a:srgbClr val="000000"/>
                </a:solidFill>
                <a:latin typeface="Arial"/>
              </a:rPr>
              <a:t> Unauthorized access or permission misuse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4.</a:t>
            </a:r>
            <a:r>
              <a:rPr b="1" sz="1250">
                <a:solidFill>
                  <a:srgbClr val="000000"/>
                </a:solidFill>
                <a:latin typeface="Arial"/>
              </a:rPr>
              <a:t> Failure to maintain backups or recover data</a:t>
            </a:r>
          </a:p>
          <a:p>
            <a:pPr marL="121146">
              <a:lnSpc>
                <a:spcPts val="1700"/>
              </a:lnSpc>
            </a:pPr>
            <a:r>
              <a:rPr b="0" sz="1250">
                <a:solidFill>
                  <a:srgbClr val="000000"/>
                </a:solidFill>
                <a:latin typeface="Arial"/>
              </a:rPr>
              <a:t>5.</a:t>
            </a:r>
            <a:r>
              <a:rPr b="1" sz="1250">
                <a:solidFill>
                  <a:srgbClr val="000000"/>
                </a:solidFill>
                <a:latin typeface="Arial"/>
              </a:rPr>
              <a:t> Ignoring critical security vulnerabilities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